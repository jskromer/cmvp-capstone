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Uncertainty Remaining (%)</c:v>
                </c:pt>
              </c:strCache>
            </c:strRef>
          </c:tx>
          <c:spPr>
            <a:solidFill>
              <a:srgbClr val="065A82"/>
            </a:solidFill>
            <a:ln w="38100" cap="flat">
              <a:solidFill>
                <a:srgbClr val="065A8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$0</c:v>
                  </c:pt>
                  <c:pt idx="1">
                    <c:v>$2k</c:v>
                  </c:pt>
                  <c:pt idx="2">
                    <c:v>$5k</c:v>
                  </c:pt>
                  <c:pt idx="3">
                    <c:v>$10k</c:v>
                  </c:pt>
                  <c:pt idx="4">
                    <c:v>$18k</c:v>
                  </c:pt>
                  <c:pt idx="5">
                    <c:v>$25k</c:v>
                  </c:pt>
                  <c:pt idx="6">
                    <c:v>$30k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100</c:v>
                </c:pt>
                <c:pt idx="1">
                  <c:v>72</c:v>
                </c:pt>
                <c:pt idx="2">
                  <c:v>45</c:v>
                </c:pt>
                <c:pt idx="3">
                  <c:v>28</c:v>
                </c:pt>
                <c:pt idx="4">
                  <c:v>18</c:v>
                </c:pt>
                <c:pt idx="5">
                  <c:v>15</c:v>
                </c:pt>
                <c:pt idx="6">
                  <c:v>13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73736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Much Should You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Spend on M&amp;V?</a:t>
            </a:r>
            <a:endParaRPr lang="en-US" sz="3800" dirty="0"/>
          </a:p>
        </p:txBody>
      </p:sp>
      <p:sp>
        <p:nvSpPr>
          <p:cNvPr id="5" name="Text 2"/>
          <p:cNvSpPr/>
          <p:nvPr/>
        </p:nvSpPr>
        <p:spPr>
          <a:xfrm>
            <a:off x="457200" y="32004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Uncertainty Budget Algorithm</a:t>
            </a:r>
            <a:endParaRPr lang="en-US" sz="18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Greenfield Municipal Center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200400" y="4114800"/>
            <a:ext cx="27432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 Kromer, P.E., CMVP #1  |  Counterfactual Designs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Core Question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005840"/>
            <a:ext cx="73152" cy="14630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97280"/>
            <a:ext cx="6949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M&amp;V costs money. Uncertainty costs money.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do you allocate a limited budget to get the</a:t>
            </a:r>
            <a:endParaRPr lang="en-US" sz="1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900" i="1" dirty="0">
                <a:solidFill>
                  <a:srgbClr val="2D374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greatest reduction in risk?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31520" y="2834640"/>
            <a:ext cx="3566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2834640"/>
            <a:ext cx="73152" cy="16459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Spend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291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Meters &amp; sensors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 &amp; analysis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review &amp; reporting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846320" y="2834640"/>
            <a:ext cx="35661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46320" y="2834640"/>
            <a:ext cx="73152" cy="164592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3" name="Text 11"/>
          <p:cNvSpPr/>
          <p:nvPr/>
        </p:nvSpPr>
        <p:spPr>
          <a:xfrm>
            <a:off x="512064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Get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120640" y="3291840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settlement risk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savings claims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decision-making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Uncertainty Budget Algorithm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005840" y="960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457200" y="16002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all sources of uncertainty: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aleatory, epistemic, ontological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011680" y="17830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▶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697480" y="960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269748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2148840" y="16002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14884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240280" y="2011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 cost &amp; benefit of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reduction action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703320" y="17830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▶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389120" y="960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438912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40480" y="16002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84048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3931920" y="2011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$ where marginal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 is greatest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17830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▶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080760" y="960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3" name="Text 21"/>
          <p:cNvSpPr/>
          <p:nvPr/>
        </p:nvSpPr>
        <p:spPr>
          <a:xfrm>
            <a:off x="608076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532120" y="16002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53212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623560" y="2011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meters, models,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protocols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086600" y="1783080"/>
            <a:ext cx="137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843"/>
                </a:solidFill>
              </a:rPr>
              <a:t>▶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7772400" y="9601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0" y="960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7223760" y="160020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7223760" y="16459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7315200" y="2011680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as new data</a:t>
            </a:r>
            <a:endParaRPr lang="en-US" sz="11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arrives; re-optimize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31520" y="3291840"/>
            <a:ext cx="7680960" cy="11887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4" name="Text 32"/>
          <p:cNvSpPr/>
          <p:nvPr/>
        </p:nvSpPr>
        <p:spPr>
          <a:xfrm>
            <a:off x="914400" y="3337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Optimization Problem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914400" y="37033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Maximize:  Σ Uncertainty_Reduction(i)    subject to:  Σ Cost(i) ≤ Budget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914400" y="40690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Allocate the next dollar where the marginal benefit-to-cost ratio is highest.  Stop when the budget is exhausted.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Greenfield Municipal Center — 4 ECMs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62,000 sq ft  |  Mid-Atlantic  |  15-year ESPC  |  Combined savings: 122,390 kWh (10.5%)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23444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ECM-1: LED Lighting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48640" y="2240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157,146 kWh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48640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Isolation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Parameter (Option A)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1520" y="3200400"/>
            <a:ext cx="1417320" cy="32004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11" name="Text 8"/>
          <p:cNvSpPr/>
          <p:nvPr/>
        </p:nvSpPr>
        <p:spPr>
          <a:xfrm>
            <a:off x="731520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LOW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548640" y="36118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wattage measured;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stipulated. Stable.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2578608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4408" y="1234440"/>
            <a:ext cx="548640" cy="54864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70048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ECM-2: Chiller/DX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70048" y="2240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w/ WF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2670048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Facility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(Student decides)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2852928" y="3200400"/>
            <a:ext cx="141732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9" name="Text 15"/>
          <p:cNvSpPr/>
          <p:nvPr/>
        </p:nvSpPr>
        <p:spPr>
          <a:xfrm>
            <a:off x="2852928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MEDIUM</a:t>
            </a:r>
            <a:endParaRPr lang="en-US" sz="1000" dirty="0"/>
          </a:p>
        </p:txBody>
      </p:sp>
      <p:sp>
        <p:nvSpPr>
          <p:cNvPr id="20" name="Text 16"/>
          <p:cNvSpPr/>
          <p:nvPr/>
        </p:nvSpPr>
        <p:spPr>
          <a:xfrm>
            <a:off x="2670048" y="36118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 from nameplate;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effects present.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4700016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5816" y="1234440"/>
            <a:ext cx="548640" cy="54864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4791456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ECM-3: Roof Insulation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4791456" y="2240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Combined w/ WF</a:t>
            </a:r>
            <a:endParaRPr lang="en-US" sz="1100" dirty="0"/>
          </a:p>
        </p:txBody>
      </p:sp>
      <p:sp>
        <p:nvSpPr>
          <p:cNvPr id="25" name="Text 20"/>
          <p:cNvSpPr/>
          <p:nvPr/>
        </p:nvSpPr>
        <p:spPr>
          <a:xfrm>
            <a:off x="4791456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Facility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Inverse Model (Option C)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4974336" y="3200400"/>
            <a:ext cx="14173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7" name="Text 22"/>
          <p:cNvSpPr/>
          <p:nvPr/>
        </p:nvSpPr>
        <p:spPr>
          <a:xfrm>
            <a:off x="4974336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HIGH</a:t>
            </a:r>
            <a:endParaRPr lang="en-US" sz="1000" dirty="0"/>
          </a:p>
        </p:txBody>
      </p:sp>
      <p:sp>
        <p:nvSpPr>
          <p:cNvPr id="28" name="Text 23"/>
          <p:cNvSpPr/>
          <p:nvPr/>
        </p:nvSpPr>
        <p:spPr>
          <a:xfrm>
            <a:off x="4791456" y="36118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isolate. Only 12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points for regression.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821424" y="1097280"/>
            <a:ext cx="19659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7224" y="1234440"/>
            <a:ext cx="548640" cy="54864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6912864" y="1828800"/>
            <a:ext cx="1783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ECM-4: VFDs on AHUs</a:t>
            </a:r>
            <a:endParaRPr lang="en-US" sz="1300" dirty="0"/>
          </a:p>
        </p:txBody>
      </p:sp>
      <p:sp>
        <p:nvSpPr>
          <p:cNvPr id="32" name="Text 26"/>
          <p:cNvSpPr/>
          <p:nvPr/>
        </p:nvSpPr>
        <p:spPr>
          <a:xfrm>
            <a:off x="6912864" y="2240280"/>
            <a:ext cx="1783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Varies w/ load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912864" y="2560320"/>
            <a:ext cx="1783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Retrofit Isolation</a:t>
            </a:r>
            <a:endParaRPr lang="en-US" sz="10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(Option B)</a:t>
            </a:r>
            <a:endParaRPr lang="en-US" sz="1000" dirty="0"/>
          </a:p>
        </p:txBody>
      </p:sp>
      <p:sp>
        <p:nvSpPr>
          <p:cNvPr id="34" name="Shape 28"/>
          <p:cNvSpPr/>
          <p:nvPr/>
        </p:nvSpPr>
        <p:spPr>
          <a:xfrm>
            <a:off x="7095744" y="3200400"/>
            <a:ext cx="1417320" cy="32004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35" name="Text 29"/>
          <p:cNvSpPr/>
          <p:nvPr/>
        </p:nvSpPr>
        <p:spPr>
          <a:xfrm>
            <a:off x="7095744" y="3200400"/>
            <a:ext cx="1417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Uncertainty: MEDIUM</a:t>
            </a:r>
            <a:endParaRPr lang="en-US" sz="1000" dirty="0"/>
          </a:p>
        </p:txBody>
      </p:sp>
      <p:sp>
        <p:nvSpPr>
          <p:cNvPr id="36" name="Text 30"/>
          <p:cNvSpPr/>
          <p:nvPr/>
        </p:nvSpPr>
        <p:spPr>
          <a:xfrm>
            <a:off x="6912864" y="361188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672 hourly points; fan law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validation. Load-dependent.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Applying the Algorithm to Greenfield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640080"/>
                <a:gridCol w="822960"/>
                <a:gridCol w="1645920"/>
                <a:gridCol w="822960"/>
                <a:gridCol w="640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M&amp;V Action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Uncertainty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Reduced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Benefit/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Ratio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Spot-measure LED wattage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(620 fixtures, sampling plan)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ECM-1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(validates 157k kWh stipulation)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3 fan kW submeters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(AHU-1, AHU-2, AHU-3)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ECM-4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(continuous verification 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variable-load savings)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Whole-facility utility meters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(12-month baseline regression)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ECM-2,3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(model uncertainty remains;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only 12 monthly points)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NRA protocol for data center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expansion (expert judgment)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(masks 100k kWh of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 savings without it)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F855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★★★★★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5303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#1*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Additional interval metering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(15-min electric data)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ECM-2,3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Low-Medium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(more data points but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D69E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★★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EE2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 NRA protocol is #1 by impact: without it, data center expansion hides ~100,000 kWh of true savings.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Diminishing Returns — Where to Stop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100584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760720" y="1005840"/>
            <a:ext cx="54864" cy="685800"/>
          </a:xfrm>
          <a:prstGeom prst="rect">
            <a:avLst/>
          </a:prstGeom>
          <a:solidFill>
            <a:srgbClr val="2F855A"/>
          </a:solidFill>
          <a:ln/>
        </p:spPr>
      </p:sp>
      <p:sp>
        <p:nvSpPr>
          <p:cNvPr id="7" name="Text 4"/>
          <p:cNvSpPr/>
          <p:nvPr/>
        </p:nvSpPr>
        <p:spPr>
          <a:xfrm>
            <a:off x="5943600" y="1024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855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$2k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675120" y="105156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spot measurements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 stipulation risk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760720" y="182880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760720" y="1828800"/>
            <a:ext cx="54864" cy="6858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8"/>
          <p:cNvSpPr/>
          <p:nvPr/>
        </p:nvSpPr>
        <p:spPr>
          <a:xfrm>
            <a:off x="5943600" y="184708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$10k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675120" y="187452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submeters + regression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 80% of uncertainty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760720" y="265176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760720" y="2651760"/>
            <a:ext cx="54864" cy="685800"/>
          </a:xfrm>
          <a:prstGeom prst="rect">
            <a:avLst/>
          </a:prstGeom>
          <a:solidFill>
            <a:srgbClr val="D69E2E"/>
          </a:solidFill>
          <a:ln/>
        </p:spPr>
      </p:sp>
      <p:sp>
        <p:nvSpPr>
          <p:cNvPr id="15" name="Text 12"/>
          <p:cNvSpPr/>
          <p:nvPr/>
        </p:nvSpPr>
        <p:spPr>
          <a:xfrm>
            <a:off x="5943600" y="267004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69E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$18k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675120" y="269748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protocol ensures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doesn't mask savings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760720" y="3474720"/>
            <a:ext cx="301752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760720" y="3474720"/>
            <a:ext cx="54864" cy="6858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6"/>
          <p:cNvSpPr/>
          <p:nvPr/>
        </p:nvSpPr>
        <p:spPr>
          <a:xfrm>
            <a:off x="5943600" y="349300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$30k+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675120" y="3520440"/>
            <a:ext cx="20116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Diminishing returns.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spend adds little.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Uncertainty Types → Three Strategies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914400"/>
            <a:ext cx="2651760" cy="5486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Aleatory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Irreducible randomness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data points.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 baselines.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statistical models.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743200"/>
            <a:ext cx="2377440" cy="9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Greenfield: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statssheets residuals;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mv-workbench diagnostics;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baseline regression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977640"/>
            <a:ext cx="2103120" cy="32004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mv-workbench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91840" y="914400"/>
            <a:ext cx="265176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329184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Epistemic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291840" y="1234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Reducible by better knowledge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42900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instruments.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Submetering.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 updating.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analysis.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29000" y="2743200"/>
            <a:ext cx="2377440" cy="9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22" name="Text 20"/>
          <p:cNvSpPr/>
          <p:nvPr/>
        </p:nvSpPr>
        <p:spPr>
          <a:xfrm>
            <a:off x="342900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Greenfield: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42900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spot measurement;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VFD continuous metering;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bayesian-mv-module posteriors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566160" y="3977640"/>
            <a:ext cx="2103120" cy="3200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25" name="Text 23"/>
          <p:cNvSpPr/>
          <p:nvPr/>
        </p:nvSpPr>
        <p:spPr>
          <a:xfrm>
            <a:off x="356616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bayesian-mv-module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26480" y="914400"/>
            <a:ext cx="265176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26480" y="914400"/>
            <a:ext cx="2651760" cy="5486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8" name="Text 26"/>
          <p:cNvSpPr/>
          <p:nvPr/>
        </p:nvSpPr>
        <p:spPr>
          <a:xfrm>
            <a:off x="6126480" y="91440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Ontological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6126480" y="1234440"/>
            <a:ext cx="2651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World doesn't fit your model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63640" y="160020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Strategy: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187452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NRA protocols.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 planning.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Contingency reserves.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judgment.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263640" y="2743200"/>
            <a:ext cx="2377440" cy="9144"/>
          </a:xfrm>
          <a:prstGeom prst="rect">
            <a:avLst/>
          </a:prstGeom>
          <a:solidFill>
            <a:srgbClr val="DEE2E6"/>
          </a:solidFill>
          <a:ln/>
        </p:spPr>
      </p:sp>
      <p:sp>
        <p:nvSpPr>
          <p:cNvPr id="33" name="Text 31"/>
          <p:cNvSpPr/>
          <p:nvPr/>
        </p:nvSpPr>
        <p:spPr>
          <a:xfrm>
            <a:off x="6263640" y="283464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Greenfield: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263640" y="3063240"/>
            <a:ext cx="2377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center expansion;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entropy-audit-tool Critical zones;</a:t>
            </a:r>
            <a:endParaRPr lang="en-US" sz="1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CMVP_JTA governance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0" y="3977640"/>
            <a:ext cx="2103120" cy="32004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39776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entropy-audit-tool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14300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43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371600" y="105156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M&amp;V spending follows diminishing returns. The first $10k eliminates ~70% of uncertainty. After $20k, you're polishing.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210312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103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71600" y="201168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by marginal benefit-to-cost ratio, not by ECM size. The NRA protocol ($5k) may be the single highest-value investment.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306324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632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71600" y="297180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investment to the uncertainty type. Don't spend on better meters when the real risk is ontological (the world changing on you).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40080" y="4023360"/>
            <a:ext cx="457200" cy="457200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371600" y="393192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counterfactual is a designed artifact. Your M&amp;V budget is the construction budget for that artifact.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200400" y="4572000"/>
            <a:ext cx="2743200" cy="18288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counterfactual-designs.com  |  cmvp-capstone.vercel.app  |  mnvexample.streamlit.app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Much Should You Spend on M&amp;V?</dc:title>
  <dc:subject>PptxGenJS Presentation</dc:subject>
  <dc:creator>Steve Kromer, P.E., CMVP #1</dc:creator>
  <cp:lastModifiedBy>Steve Kromer, P.E., CMVP #1</cp:lastModifiedBy>
  <cp:revision>1</cp:revision>
  <dcterms:created xsi:type="dcterms:W3CDTF">2026-03-23T00:14:21Z</dcterms:created>
  <dcterms:modified xsi:type="dcterms:W3CDTF">2026-03-23T00:14:21Z</dcterms:modified>
</cp:coreProperties>
</file>