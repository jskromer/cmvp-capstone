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Uncertainty Remaining (%)</c:v>
                </c:pt>
              </c:strCache>
            </c:strRef>
          </c:tx>
          <c:spPr>
            <a:solidFill>
              <a:srgbClr val="065A82"/>
            </a:solidFill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$0</c:v>
                  </c:pt>
                  <c:pt idx="1">
                    <c:v>$2k</c:v>
                  </c:pt>
                  <c:pt idx="2">
                    <c:v>$5k</c:v>
                  </c:pt>
                  <c:pt idx="3">
                    <c:v>$10k</c:v>
                  </c:pt>
                  <c:pt idx="4">
                    <c:v>$18k</c:v>
                  </c:pt>
                  <c:pt idx="5">
                    <c:v>$25k</c:v>
                  </c:pt>
                  <c:pt idx="6">
                    <c:v>$30k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72</c:v>
                </c:pt>
                <c:pt idx="2">
                  <c:v>45</c:v>
                </c:pt>
                <c:pt idx="3">
                  <c:v>28</c:v>
                </c:pt>
                <c:pt idx="4">
                  <c:v>18</c:v>
                </c:pt>
                <c:pt idx="5">
                  <c:v>15</c:v>
                </c:pt>
                <c:pt idx="6">
                  <c:v>13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7315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Much Should You</a:t>
            </a:r>
            <a:endParaRPr lang="en-US" sz="3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 on M&amp;V?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200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Uncertainty Budget Algorithm</a:t>
            </a:r>
            <a:endParaRPr lang="en-US" sz="1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Counterfactual Headquarters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4114800"/>
            <a:ext cx="2743200" cy="1828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Kromer, P.E., CMVP #1  |  Counterfactual Designs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Question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73152" cy="14630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0972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2D37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M&amp;V costs money. Uncertainty costs money.</a:t>
            </a:r>
            <a:endParaRPr lang="en-US" sz="1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2D37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you allocate a limited budget to get the</a:t>
            </a:r>
            <a:endParaRPr lang="en-US" sz="1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2D37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greatest reduction in risk?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35661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834640"/>
            <a:ext cx="73152" cy="1645920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Spend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29184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Meters &amp; sensors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analysis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review &amp; reporting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2834640"/>
            <a:ext cx="35661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2834640"/>
            <a:ext cx="73152" cy="1645920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329184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settlement risk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savings claims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 decision-making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Uncertainty Budget Algorithm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" y="960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554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645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sources of uncertainty: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aleatory, epistemic, ontological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11680" y="1783080"/>
            <a:ext cx="137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97480" y="960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148840" y="1600200"/>
            <a:ext cx="1554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148840" y="1645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4028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&amp; benefit of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reduction action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03320" y="1783080"/>
            <a:ext cx="137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120" y="960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840480" y="1600200"/>
            <a:ext cx="1554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840480" y="1645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$ where marginal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 is greatest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94960" y="1783080"/>
            <a:ext cx="137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80760" y="960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608076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532120" y="1600200"/>
            <a:ext cx="1554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532120" y="1645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62356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meters, models,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protocols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86600" y="1783080"/>
            <a:ext cx="137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0" y="960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223760" y="1600200"/>
            <a:ext cx="1554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223760" y="1645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20116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as new data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arrives; re-optimize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3291840"/>
            <a:ext cx="7680960" cy="1188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Optimization Problem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4400" y="3703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Maximize:  Σ Uncertainty_Reduction(i)    subject to:  Σ Cost(i) ≤ Budget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4400" y="4069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the next dollar where the marginal benefit-to-cost ratio is highest.  Stop when the budget is exhausted.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Counterfactual Headquarters — 2 ECMs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12,000 sq ft  |  Mid-Atlantic  |  Zone 4A  |  Gas heat, DX cooling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2344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82880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ECM-1: LED Lighting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2402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~17,500 kWh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Isolation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 Measurement (cf. Option A)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3200400"/>
            <a:ext cx="1417320" cy="320040"/>
          </a:xfrm>
          <a:prstGeom prst="rect">
            <a:avLst/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31520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Uncertainty: LOW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361188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wattage measured;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stipulated. Stable.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78608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23444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70048" y="182880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ECM-2: HVAC Controls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70048" y="22402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Whole facility savings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2670048" y="2560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Facility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Model (cf. Option C)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2852928" y="3200400"/>
            <a:ext cx="1417320" cy="320040"/>
          </a:xfrm>
          <a:prstGeom prst="rect">
            <a:avLst/>
          </a:prstGeom>
          <a:solidFill>
            <a:srgbClr val="D69E2E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2852928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Uncertainty: HIGH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2670048" y="361188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savings invisible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meter. Inverse model required.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00016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1234440"/>
            <a:ext cx="548640" cy="5486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791456" y="182880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Increase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791456" y="22402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Interactive effect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4791456" y="2560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— less lighting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→ more gas heating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4974336" y="3200400"/>
            <a:ext cx="1417320" cy="32004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4974336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Uncertainty: MEDIUM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791456" y="361188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 building owner: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makes it legible.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821424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234440"/>
            <a:ext cx="548640" cy="5486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12864" y="182880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NRA: Community Room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6912864" y="22402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9 expansion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6912864" y="2560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Pre-documented trigger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estimate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7095744" y="3200400"/>
            <a:ext cx="1417320" cy="320040"/>
          </a:xfrm>
          <a:prstGeom prst="rect">
            <a:avLst/>
          </a:prstGeom>
          <a:solidFill>
            <a:srgbClr val="D69E2E"/>
          </a:solidFill>
          <a:ln/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7095744" y="3200400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Uncertainty: CRITICAL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6912864" y="361188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NRA: controls savings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 negative. With NRA: real.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Applying the Algorithm to Counterfactual Headquarters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40080"/>
                <a:gridCol w="822960"/>
                <a:gridCol w="1645920"/>
                <a:gridCol w="822960"/>
                <a:gridCol w="640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M&amp;V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Est.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Benefit/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Spot-measure LED wattage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(sample of 180 fixtures, sampling plan)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ECM-1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(validates stipulated wattage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8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8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Whole-facility utility meters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(12-month baseline regression)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ECM-2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(model uncertainty remains;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12 monthly points)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8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8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Stipulate operating hours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(document &amp; defend assumption)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ECM-1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(stable parameter;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defensible with timeclock data)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69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69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NRA protocol for community room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 (expert judgment)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(masks true controls savings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pre-documentation)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8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53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Additional interval metering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(15-min electric data)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ECM-2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(more granularity but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diminishing returns)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69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NRA protocol is #1 by impact: without it, community room expansion hides true controls savings.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Diminishing Returns — Where to Stop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91440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005840"/>
            <a:ext cx="30175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760720" y="1005840"/>
            <a:ext cx="54864" cy="685800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0" y="10241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$1.5k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675120" y="105156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spot measurements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wattage stipulation risk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60720" y="1828800"/>
            <a:ext cx="30175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1828800"/>
            <a:ext cx="54864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0" y="1847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$5k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675120" y="18745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 protocol protects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controls savings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60720" y="2651760"/>
            <a:ext cx="30175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760720" y="2651760"/>
            <a:ext cx="54864" cy="6858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9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$10k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675120" y="26974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model + regression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80% of model uncertainty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60720" y="3474720"/>
            <a:ext cx="30175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760720" y="3474720"/>
            <a:ext cx="54864" cy="6858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0" y="34930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$20k+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675120" y="35204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Diminishing returns.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spend adds little.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Uncertainty Types → Three Strategies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5486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914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Aleatory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 randomness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data points.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baselines.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statistical models.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743200"/>
            <a:ext cx="2377440" cy="9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Counterfactual Headquarters: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0632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monthly baseline;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change-point model fitting;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diagnostic plots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977640"/>
            <a:ext cx="2103120" cy="3200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9776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91440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91840" y="914400"/>
            <a:ext cx="2651760" cy="5486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291840" y="914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Epistemic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291840" y="12344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Reducible by better knowledge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29000" y="1600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29000" y="18745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instruments.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Submetering.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updating.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analysis.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9000" y="2743200"/>
            <a:ext cx="2377440" cy="9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Counterfactual Headquarters: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29000" y="30632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wattage spot measurements;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model with monthly data;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GoF statistics (R², CV(RMSE))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66160" y="3977640"/>
            <a:ext cx="210312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566160" y="39776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26480" y="91440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126480" y="914400"/>
            <a:ext cx="2651760" cy="54864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126480" y="914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Ontological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26480" y="12344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doesn't fit your model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63640" y="1600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63640" y="18745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 protocols.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planning.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reserves.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judgment.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640" y="2743200"/>
            <a:ext cx="2377440" cy="9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6364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Counterfactual Headquarters: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63640" y="30632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room expansion;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 pre-documentation;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judgment protocol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77640"/>
            <a:ext cx="2103120" cy="32004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0" y="39776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05156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M&amp;V spending follows diminishing returns. The first $10k eliminates ~70% of uncertainty. After $20k, you're polishing.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201168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by marginal benefit-to-cost ratio, not by ECM size. The NRA protocol ($3k) may be the single highest-value investment.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9718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investment to the uncertainty type. Don't spend on better meters when the real risk is ontological (the world changing on you).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counterfactual is a designed artifact. Your M&amp;V budget is the construction budget for that artifact.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00400" y="4572000"/>
            <a:ext cx="2743200" cy="1828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counterfactual-designs.com  |  cmvp-capstone.vercel.app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Much Should You Spend on M&amp;V?</dc:title>
  <dc:subject>PptxGenJS Presentation</dc:subject>
  <dc:creator>Steve Kromer, P.E., CMVP #1</dc:creator>
  <cp:lastModifiedBy>Steve Kromer, P.E., CMVP #1</cp:lastModifiedBy>
  <cp:revision>1</cp:revision>
  <dcterms:created xsi:type="dcterms:W3CDTF">2026-03-23T00:14:21Z</dcterms:created>
  <dcterms:modified xsi:type="dcterms:W3CDTF">2026-03-23T00:14:21Z</dcterms:modified>
</cp:coreProperties>
</file>