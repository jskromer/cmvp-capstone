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2" r:id="rId4"/>
    <p:sldMasterId id="2147483759" r:id="rId5"/>
    <p:sldMasterId id="2147483791" r:id="rId6"/>
    <p:sldMasterId id="2147483772" r:id="rId7"/>
  </p:sldMasterIdLst>
  <p:notesMasterIdLst>
    <p:notesMasterId r:id="rId51"/>
  </p:notesMasterIdLst>
  <p:handoutMasterIdLst>
    <p:handoutMasterId r:id="rId52"/>
  </p:handoutMasterIdLst>
  <p:sldIdLst>
    <p:sldId id="338" r:id="rId8"/>
    <p:sldId id="494" r:id="rId9"/>
    <p:sldId id="343" r:id="rId10"/>
    <p:sldId id="441" r:id="rId11"/>
    <p:sldId id="442" r:id="rId12"/>
    <p:sldId id="443" r:id="rId13"/>
    <p:sldId id="444" r:id="rId14"/>
    <p:sldId id="445" r:id="rId15"/>
    <p:sldId id="447" r:id="rId16"/>
    <p:sldId id="448" r:id="rId17"/>
    <p:sldId id="449" r:id="rId18"/>
    <p:sldId id="450" r:id="rId19"/>
    <p:sldId id="451" r:id="rId20"/>
    <p:sldId id="452" r:id="rId21"/>
    <p:sldId id="453" r:id="rId22"/>
    <p:sldId id="607" r:id="rId23"/>
    <p:sldId id="454" r:id="rId24"/>
    <p:sldId id="455" r:id="rId25"/>
    <p:sldId id="456" r:id="rId26"/>
    <p:sldId id="608" r:id="rId27"/>
    <p:sldId id="457" r:id="rId28"/>
    <p:sldId id="458" r:id="rId29"/>
    <p:sldId id="459" r:id="rId30"/>
    <p:sldId id="460" r:id="rId31"/>
    <p:sldId id="466" r:id="rId32"/>
    <p:sldId id="461" r:id="rId33"/>
    <p:sldId id="462" r:id="rId34"/>
    <p:sldId id="463" r:id="rId35"/>
    <p:sldId id="464" r:id="rId36"/>
    <p:sldId id="465" r:id="rId37"/>
    <p:sldId id="467" r:id="rId38"/>
    <p:sldId id="468" r:id="rId39"/>
    <p:sldId id="634" r:id="rId40"/>
    <p:sldId id="2825" r:id="rId41"/>
    <p:sldId id="2826" r:id="rId42"/>
    <p:sldId id="2827" r:id="rId43"/>
    <p:sldId id="2828" r:id="rId44"/>
    <p:sldId id="2829" r:id="rId45"/>
    <p:sldId id="2830" r:id="rId46"/>
    <p:sldId id="635" r:id="rId47"/>
    <p:sldId id="533" r:id="rId48"/>
    <p:sldId id="469" r:id="rId49"/>
    <p:sldId id="2764" r:id="rId50"/>
  </p:sldIdLst>
  <p:sldSz cx="12192000" cy="6858000"/>
  <p:notesSz cx="7315200" cy="9601200"/>
  <p:embeddedFontLst>
    <p:embeddedFont>
      <p:font typeface="Segoe UI Light" panose="020B0502040204020203" pitchFamily="34" charset="0"/>
      <p:regular r:id="rId53"/>
      <p:italic r:id="rId54"/>
    </p:embeddedFont>
    <p:embeddedFont>
      <p:font typeface="Segoe UI Semibold" panose="020B0702040204020203" pitchFamily="34" charset="0"/>
      <p:regular r:id="rId55"/>
      <p:bold r:id="rId56"/>
      <p:italic r:id="rId57"/>
      <p:boldItalic r:id="rId58"/>
    </p:embeddedFont>
    <p:embeddedFont>
      <p:font typeface="Verdana" panose="020B0604030504040204" pitchFamily="34" charset="0"/>
      <p:regular r:id="rId59"/>
      <p:bold r:id="rId60"/>
      <p:italic r:id="rId61"/>
      <p:boldItalic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8" id="{C3907686-BA85-3740-AFE7-D680CAC5197E}">
          <p14:sldIdLst>
            <p14:sldId id="338"/>
            <p14:sldId id="494"/>
            <p14:sldId id="343"/>
            <p14:sldId id="441"/>
            <p14:sldId id="442"/>
            <p14:sldId id="443"/>
            <p14:sldId id="444"/>
            <p14:sldId id="445"/>
            <p14:sldId id="447"/>
            <p14:sldId id="448"/>
            <p14:sldId id="449"/>
            <p14:sldId id="450"/>
            <p14:sldId id="451"/>
            <p14:sldId id="452"/>
            <p14:sldId id="453"/>
            <p14:sldId id="607"/>
            <p14:sldId id="454"/>
            <p14:sldId id="455"/>
            <p14:sldId id="456"/>
            <p14:sldId id="608"/>
            <p14:sldId id="457"/>
            <p14:sldId id="458"/>
            <p14:sldId id="459"/>
            <p14:sldId id="460"/>
            <p14:sldId id="466"/>
            <p14:sldId id="461"/>
            <p14:sldId id="462"/>
            <p14:sldId id="463"/>
            <p14:sldId id="464"/>
            <p14:sldId id="465"/>
            <p14:sldId id="467"/>
            <p14:sldId id="468"/>
            <p14:sldId id="634"/>
            <p14:sldId id="2825"/>
            <p14:sldId id="2826"/>
            <p14:sldId id="2827"/>
            <p14:sldId id="2828"/>
            <p14:sldId id="2829"/>
            <p14:sldId id="2830"/>
            <p14:sldId id="635"/>
            <p14:sldId id="533"/>
            <p14:sldId id="469"/>
            <p14:sldId id="2764"/>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0E661A-16D0-5403-552F-030E5600146C}" name="Steve Kromer" initials="SK" userId="S::steve@counterfactual-designs.com::3422a2b1-b5f1-46bb-a09f-17841b28c920" providerId="AD"/>
  <p188:author id="{F929B92B-5FBA-2421-6909-2730212124E6}" name="Chris Balbach" initials="CB" userId="Chris Balbach" providerId="None"/>
  <p188:author id="{42565433-F785-EC19-A8EF-41BF281547A8}" name="Erick Piller" initials="EP" userId="S::erick@counterfactual-designs.com::69ba48c4-f2f4-4312-a5bd-1ff860b9d88b" providerId="AD"/>
  <p188:author id="{817C43A2-646B-8A36-C16B-0D72086A9FB8}" name="Hassan Ali Younes" initials="HAY" userId="S::hassan@grfn.global::6ea118d4-3ea0-471c-921f-4ae10ac6ccc8" providerId="AD"/>
  <p188:author id="{CE599FF2-E437-F2DC-FA8A-1EA3C907C036}" name="Erick Piller" initials="EP" userId="Erick Piller" providerId="None"/>
  <p188:author id="{456971F8-98E7-7C77-B56E-D29A03818428}" name="Sam Day" initials="SD" userId="S::sam.day@clearesult.com::6df82dd2-643e-45b8-8786-7555ffc582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FB3"/>
    <a:srgbClr val="F05D5E"/>
    <a:srgbClr val="4A66AC"/>
    <a:srgbClr val="DC965A"/>
    <a:srgbClr val="609ED0"/>
    <a:srgbClr val="59A2AE"/>
    <a:srgbClr val="2C2A4A"/>
    <a:srgbClr val="DB2955"/>
    <a:srgbClr val="44455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33"/>
    <p:restoredTop sz="95822"/>
  </p:normalViewPr>
  <p:slideViewPr>
    <p:cSldViewPr snapToGrid="0">
      <p:cViewPr varScale="1">
        <p:scale>
          <a:sx n="105" d="100"/>
          <a:sy n="105" d="100"/>
        </p:scale>
        <p:origin x="200" y="544"/>
      </p:cViewPr>
      <p:guideLst>
        <p:guide pos="3840"/>
        <p:guide orient="horz" pos="2160"/>
      </p:guideLst>
    </p:cSldViewPr>
  </p:slideViewPr>
  <p:notesTextViewPr>
    <p:cViewPr>
      <p:scale>
        <a:sx n="1" d="1"/>
        <a:sy n="1" d="1"/>
      </p:scale>
      <p:origin x="0" y="0"/>
    </p:cViewPr>
  </p:notesTextViewPr>
  <p:notesViewPr>
    <p:cSldViewPr snapToGrid="0">
      <p:cViewPr varScale="1">
        <p:scale>
          <a:sx n="91" d="100"/>
          <a:sy n="91" d="100"/>
        </p:scale>
        <p:origin x="4320" y="2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font" Target="fonts/font3.fntdata"/><Relationship Id="rId63"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font" Target="fonts/font9.fntdata"/><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font" Target="fonts/font4.fntdata"/><Relationship Id="rId64"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font" Target="fonts/font7.fntdata"/><Relationship Id="rId67" Type="http://schemas.microsoft.com/office/2018/10/relationships/authors" Target="author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font" Target="fonts/font2.fntdata"/><Relationship Id="rId62"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font" Target="fonts/font5.fntdata"/><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handoutMaster" Target="handoutMasters/handoutMaster1.xml"/><Relationship Id="rId60" Type="http://schemas.openxmlformats.org/officeDocument/2006/relationships/font" Target="fonts/font8.fntdata"/><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6D42F0-1C68-644A-9F9D-AAC8CDEA7C3C}" type="doc">
      <dgm:prSet loTypeId="urn:microsoft.com/office/officeart/2005/8/layout/hProcess11" loCatId="" qsTypeId="urn:microsoft.com/office/officeart/2005/8/quickstyle/simple1" qsCatId="simple" csTypeId="urn:microsoft.com/office/officeart/2005/8/colors/accent1_2" csCatId="accent1" phldr="1"/>
      <dgm:spPr/>
      <dgm:t>
        <a:bodyPr/>
        <a:lstStyle/>
        <a:p>
          <a:endParaRPr lang="en-US"/>
        </a:p>
      </dgm:t>
    </dgm:pt>
    <dgm:pt modelId="{E2745D70-426B-FA4B-B6C7-0E64DA3D399A}">
      <dgm:prSet custT="1"/>
      <dgm:spPr/>
      <dgm:t>
        <a:bodyPr/>
        <a:lstStyle/>
        <a:p>
          <a:r>
            <a:rPr lang="en-US" sz="1500" b="0" i="0">
              <a:latin typeface="Verdana" panose="020B0604030504040204" pitchFamily="34" charset="0"/>
            </a:rPr>
            <a:t>Plan</a:t>
          </a:r>
        </a:p>
      </dgm:t>
    </dgm:pt>
    <dgm:pt modelId="{2437E627-3560-A542-AD3D-E79D88F9BEAA}" type="parTrans" cxnId="{60EA15D4-0687-A741-8727-DA5C094468A1}">
      <dgm:prSet/>
      <dgm:spPr/>
      <dgm:t>
        <a:bodyPr/>
        <a:lstStyle/>
        <a:p>
          <a:endParaRPr lang="en-US">
            <a:latin typeface="Semplicita Pro" panose="02000000000000000000" pitchFamily="2" charset="77"/>
          </a:endParaRPr>
        </a:p>
      </dgm:t>
    </dgm:pt>
    <dgm:pt modelId="{6D58AEAD-2732-BA48-B08C-F1FC26DBE76D}" type="sibTrans" cxnId="{60EA15D4-0687-A741-8727-DA5C094468A1}">
      <dgm:prSet/>
      <dgm:spPr/>
      <dgm:t>
        <a:bodyPr/>
        <a:lstStyle/>
        <a:p>
          <a:endParaRPr lang="en-US">
            <a:latin typeface="Semplicita Pro" panose="02000000000000000000" pitchFamily="2" charset="77"/>
          </a:endParaRPr>
        </a:p>
      </dgm:t>
    </dgm:pt>
    <dgm:pt modelId="{AA662399-51CF-AD42-9556-C1DCDE9C9C62}">
      <dgm:prSet custT="1"/>
      <dgm:spPr/>
      <dgm:t>
        <a:bodyPr/>
        <a:lstStyle/>
        <a:p>
          <a:r>
            <a:rPr lang="en-US" sz="1500" b="0" i="0">
              <a:latin typeface="Verdana" panose="020B0604030504040204" pitchFamily="34" charset="0"/>
            </a:rPr>
            <a:t>Measure and collect data</a:t>
          </a:r>
        </a:p>
      </dgm:t>
    </dgm:pt>
    <dgm:pt modelId="{D5877486-D275-AC47-8C32-7080E0875FFF}" type="parTrans" cxnId="{336C4A7B-8F12-6540-AC71-44072245EFC4}">
      <dgm:prSet/>
      <dgm:spPr/>
      <dgm:t>
        <a:bodyPr/>
        <a:lstStyle/>
        <a:p>
          <a:endParaRPr lang="en-US">
            <a:latin typeface="Semplicita Pro" panose="02000000000000000000" pitchFamily="2" charset="77"/>
          </a:endParaRPr>
        </a:p>
      </dgm:t>
    </dgm:pt>
    <dgm:pt modelId="{C33289C0-1568-714D-B6F8-9D46E115EA00}" type="sibTrans" cxnId="{336C4A7B-8F12-6540-AC71-44072245EFC4}">
      <dgm:prSet/>
      <dgm:spPr/>
      <dgm:t>
        <a:bodyPr/>
        <a:lstStyle/>
        <a:p>
          <a:endParaRPr lang="en-US">
            <a:latin typeface="Semplicita Pro" panose="02000000000000000000" pitchFamily="2" charset="77"/>
          </a:endParaRPr>
        </a:p>
      </dgm:t>
    </dgm:pt>
    <dgm:pt modelId="{2BA9969F-9D4E-CB44-8F47-7D7420B186EB}">
      <dgm:prSet custT="1"/>
      <dgm:spPr/>
      <dgm:t>
        <a:bodyPr/>
        <a:lstStyle/>
        <a:p>
          <a:r>
            <a:rPr lang="en-US" sz="1500" b="0" i="0">
              <a:latin typeface="Verdana" panose="020B0604030504040204" pitchFamily="34" charset="0"/>
            </a:rPr>
            <a:t>Develop baseline model</a:t>
          </a:r>
        </a:p>
      </dgm:t>
    </dgm:pt>
    <dgm:pt modelId="{FA1EE3FB-F579-8849-BEAE-72AD4BC818BE}" type="parTrans" cxnId="{DEAE0FE7-0969-A94C-B711-C997A467E811}">
      <dgm:prSet/>
      <dgm:spPr/>
      <dgm:t>
        <a:bodyPr/>
        <a:lstStyle/>
        <a:p>
          <a:endParaRPr lang="en-US">
            <a:latin typeface="Semplicita Pro" panose="02000000000000000000" pitchFamily="2" charset="77"/>
          </a:endParaRPr>
        </a:p>
      </dgm:t>
    </dgm:pt>
    <dgm:pt modelId="{A67C3E2E-177C-B942-AC87-52A4B64EBFD5}" type="sibTrans" cxnId="{DEAE0FE7-0969-A94C-B711-C997A467E811}">
      <dgm:prSet/>
      <dgm:spPr/>
      <dgm:t>
        <a:bodyPr/>
        <a:lstStyle/>
        <a:p>
          <a:endParaRPr lang="en-US">
            <a:latin typeface="Semplicita Pro" panose="02000000000000000000" pitchFamily="2" charset="77"/>
          </a:endParaRPr>
        </a:p>
      </dgm:t>
    </dgm:pt>
    <dgm:pt modelId="{95BBFADB-2275-AC40-8B91-3CC09C9CC180}">
      <dgm:prSet custT="1"/>
      <dgm:spPr/>
      <dgm:t>
        <a:bodyPr/>
        <a:lstStyle/>
        <a:p>
          <a:r>
            <a:rPr lang="en-US" sz="1500" b="0" i="0">
              <a:latin typeface="Verdana" panose="020B0604030504040204" pitchFamily="34" charset="0"/>
            </a:rPr>
            <a:t>Measure and collect data</a:t>
          </a:r>
        </a:p>
      </dgm:t>
    </dgm:pt>
    <dgm:pt modelId="{966772C4-17F3-0B43-8A0F-4AC4C41F3959}" type="parTrans" cxnId="{22087668-84DD-6A42-8DEC-77DF9118625B}">
      <dgm:prSet/>
      <dgm:spPr/>
      <dgm:t>
        <a:bodyPr/>
        <a:lstStyle/>
        <a:p>
          <a:endParaRPr lang="en-US">
            <a:latin typeface="Semplicita Pro" panose="02000000000000000000" pitchFamily="2" charset="77"/>
          </a:endParaRPr>
        </a:p>
      </dgm:t>
    </dgm:pt>
    <dgm:pt modelId="{60DA2BBE-38E7-484C-8031-E4B70B799C0C}" type="sibTrans" cxnId="{22087668-84DD-6A42-8DEC-77DF9118625B}">
      <dgm:prSet/>
      <dgm:spPr/>
      <dgm:t>
        <a:bodyPr/>
        <a:lstStyle/>
        <a:p>
          <a:endParaRPr lang="en-US">
            <a:latin typeface="Semplicita Pro" panose="02000000000000000000" pitchFamily="2" charset="77"/>
          </a:endParaRPr>
        </a:p>
      </dgm:t>
    </dgm:pt>
    <dgm:pt modelId="{8FD49B5C-06C5-3C4A-AA23-418CB6F7FCF0}">
      <dgm:prSet custT="1"/>
      <dgm:spPr/>
      <dgm:t>
        <a:bodyPr/>
        <a:lstStyle/>
        <a:p>
          <a:r>
            <a:rPr lang="en-US" sz="1500" b="0" i="0">
              <a:latin typeface="Verdana" panose="020B0604030504040204" pitchFamily="34" charset="0"/>
            </a:rPr>
            <a:t>Report</a:t>
          </a:r>
        </a:p>
      </dgm:t>
    </dgm:pt>
    <dgm:pt modelId="{9283967F-8529-454A-8713-D38C61C258A3}" type="parTrans" cxnId="{038FACCB-0856-0F43-B61C-3DB8A6495A46}">
      <dgm:prSet/>
      <dgm:spPr/>
      <dgm:t>
        <a:bodyPr/>
        <a:lstStyle/>
        <a:p>
          <a:endParaRPr lang="en-US">
            <a:latin typeface="Semplicita Pro" panose="02000000000000000000" pitchFamily="2" charset="77"/>
          </a:endParaRPr>
        </a:p>
      </dgm:t>
    </dgm:pt>
    <dgm:pt modelId="{29A7714B-0DB3-314E-837A-30EE013D2BB4}" type="sibTrans" cxnId="{038FACCB-0856-0F43-B61C-3DB8A6495A46}">
      <dgm:prSet/>
      <dgm:spPr/>
      <dgm:t>
        <a:bodyPr/>
        <a:lstStyle/>
        <a:p>
          <a:endParaRPr lang="en-US">
            <a:latin typeface="Semplicita Pro" panose="02000000000000000000" pitchFamily="2" charset="77"/>
          </a:endParaRPr>
        </a:p>
      </dgm:t>
    </dgm:pt>
    <dgm:pt modelId="{359C6299-C5E6-4941-B0D8-3B7FC2F1DC9B}">
      <dgm:prSet custT="1"/>
      <dgm:spPr/>
      <dgm:t>
        <a:bodyPr/>
        <a:lstStyle/>
        <a:p>
          <a:r>
            <a:rPr lang="en-US" sz="1500" b="0" i="0">
              <a:latin typeface="Verdana" panose="020B0604030504040204" pitchFamily="34" charset="0"/>
            </a:rPr>
            <a:t>Adjust baseline model</a:t>
          </a:r>
        </a:p>
      </dgm:t>
    </dgm:pt>
    <dgm:pt modelId="{B35B887A-13AB-1343-B10A-7C9BC299DFCF}" type="parTrans" cxnId="{23916ABB-51EE-5940-AFC2-0D17BBB65672}">
      <dgm:prSet/>
      <dgm:spPr/>
      <dgm:t>
        <a:bodyPr/>
        <a:lstStyle/>
        <a:p>
          <a:endParaRPr lang="en-US"/>
        </a:p>
      </dgm:t>
    </dgm:pt>
    <dgm:pt modelId="{D2D586C4-B904-7B46-9FAF-D683C47F8D6C}" type="sibTrans" cxnId="{23916ABB-51EE-5940-AFC2-0D17BBB65672}">
      <dgm:prSet/>
      <dgm:spPr/>
      <dgm:t>
        <a:bodyPr/>
        <a:lstStyle/>
        <a:p>
          <a:endParaRPr lang="en-US"/>
        </a:p>
      </dgm:t>
    </dgm:pt>
    <dgm:pt modelId="{88BC120A-2807-A24D-B345-B2BD3B376A37}">
      <dgm:prSet custT="1"/>
      <dgm:spPr/>
      <dgm:t>
        <a:bodyPr/>
        <a:lstStyle/>
        <a:p>
          <a:r>
            <a:rPr lang="en-US" sz="1500" b="0" i="0">
              <a:latin typeface="Verdana" panose="020B0604030504040204" pitchFamily="34" charset="0"/>
            </a:rPr>
            <a:t>Installation of ECM</a:t>
          </a:r>
        </a:p>
      </dgm:t>
    </dgm:pt>
    <dgm:pt modelId="{534FB500-710C-6543-87C4-E03751AE162F}" type="sibTrans" cxnId="{39D8D5A4-2621-9B47-8071-CD97C9F50259}">
      <dgm:prSet/>
      <dgm:spPr/>
      <dgm:t>
        <a:bodyPr/>
        <a:lstStyle/>
        <a:p>
          <a:endParaRPr lang="en-US">
            <a:latin typeface="Semplicita Pro" panose="02000000000000000000" pitchFamily="2" charset="77"/>
          </a:endParaRPr>
        </a:p>
      </dgm:t>
    </dgm:pt>
    <dgm:pt modelId="{FA1151D5-41FA-2845-8DD1-20793DB0BBE8}" type="parTrans" cxnId="{39D8D5A4-2621-9B47-8071-CD97C9F50259}">
      <dgm:prSet/>
      <dgm:spPr/>
      <dgm:t>
        <a:bodyPr/>
        <a:lstStyle/>
        <a:p>
          <a:endParaRPr lang="en-US">
            <a:latin typeface="Semplicita Pro" panose="02000000000000000000" pitchFamily="2" charset="77"/>
          </a:endParaRPr>
        </a:p>
      </dgm:t>
    </dgm:pt>
    <dgm:pt modelId="{D06FD5FD-A93E-5C44-B1F9-443860DC44FB}" type="pres">
      <dgm:prSet presAssocID="{EE6D42F0-1C68-644A-9F9D-AAC8CDEA7C3C}" presName="Name0" presStyleCnt="0">
        <dgm:presLayoutVars>
          <dgm:dir/>
          <dgm:resizeHandles val="exact"/>
        </dgm:presLayoutVars>
      </dgm:prSet>
      <dgm:spPr/>
    </dgm:pt>
    <dgm:pt modelId="{69F2A90E-6373-DF42-A6CD-049758145B1B}" type="pres">
      <dgm:prSet presAssocID="{EE6D42F0-1C68-644A-9F9D-AAC8CDEA7C3C}" presName="arrow" presStyleLbl="bgShp" presStyleIdx="0" presStyleCnt="1"/>
      <dgm:spPr/>
    </dgm:pt>
    <dgm:pt modelId="{C35CAFBC-1FD5-AA40-8C23-02E504690762}" type="pres">
      <dgm:prSet presAssocID="{EE6D42F0-1C68-644A-9F9D-AAC8CDEA7C3C}" presName="points" presStyleCnt="0"/>
      <dgm:spPr/>
    </dgm:pt>
    <dgm:pt modelId="{CC4585A4-96D8-5B48-9D1F-B6EC1D008D37}" type="pres">
      <dgm:prSet presAssocID="{E2745D70-426B-FA4B-B6C7-0E64DA3D399A}" presName="compositeA" presStyleCnt="0"/>
      <dgm:spPr/>
    </dgm:pt>
    <dgm:pt modelId="{60D5F69F-8CA6-474F-892E-BB3B3A1F6DAE}" type="pres">
      <dgm:prSet presAssocID="{E2745D70-426B-FA4B-B6C7-0E64DA3D399A}" presName="textA" presStyleLbl="revTx" presStyleIdx="0" presStyleCnt="7">
        <dgm:presLayoutVars>
          <dgm:bulletEnabled val="1"/>
        </dgm:presLayoutVars>
      </dgm:prSet>
      <dgm:spPr/>
    </dgm:pt>
    <dgm:pt modelId="{614091D0-FF01-2A41-8FEC-3CA9BD3D8F71}" type="pres">
      <dgm:prSet presAssocID="{E2745D70-426B-FA4B-B6C7-0E64DA3D399A}" presName="circleA" presStyleLbl="node1" presStyleIdx="0" presStyleCnt="7"/>
      <dgm:spPr/>
    </dgm:pt>
    <dgm:pt modelId="{054F1A60-E084-504C-9B81-7864E6595D0F}" type="pres">
      <dgm:prSet presAssocID="{E2745D70-426B-FA4B-B6C7-0E64DA3D399A}" presName="spaceA" presStyleCnt="0"/>
      <dgm:spPr/>
    </dgm:pt>
    <dgm:pt modelId="{37D0B44D-BBAD-A64E-9197-01A30D831DF2}" type="pres">
      <dgm:prSet presAssocID="{6D58AEAD-2732-BA48-B08C-F1FC26DBE76D}" presName="space" presStyleCnt="0"/>
      <dgm:spPr/>
    </dgm:pt>
    <dgm:pt modelId="{BDE98568-3D84-934F-BAB9-7A0978B5ADB4}" type="pres">
      <dgm:prSet presAssocID="{AA662399-51CF-AD42-9556-C1DCDE9C9C62}" presName="compositeB" presStyleCnt="0"/>
      <dgm:spPr/>
    </dgm:pt>
    <dgm:pt modelId="{7D3991B5-B402-E045-A922-12ECE6931B21}" type="pres">
      <dgm:prSet presAssocID="{AA662399-51CF-AD42-9556-C1DCDE9C9C62}" presName="textB" presStyleLbl="revTx" presStyleIdx="1" presStyleCnt="7">
        <dgm:presLayoutVars>
          <dgm:bulletEnabled val="1"/>
        </dgm:presLayoutVars>
      </dgm:prSet>
      <dgm:spPr/>
    </dgm:pt>
    <dgm:pt modelId="{8697F6B8-AD2D-8C48-9ABD-336C1BBEBBD7}" type="pres">
      <dgm:prSet presAssocID="{AA662399-51CF-AD42-9556-C1DCDE9C9C62}" presName="circleB" presStyleLbl="node1" presStyleIdx="1" presStyleCnt="7"/>
      <dgm:spPr>
        <a:solidFill>
          <a:srgbClr val="F05D5E"/>
        </a:solidFill>
      </dgm:spPr>
    </dgm:pt>
    <dgm:pt modelId="{8C44613E-D9E7-AF48-9E5B-6BE5B7C6EA40}" type="pres">
      <dgm:prSet presAssocID="{AA662399-51CF-AD42-9556-C1DCDE9C9C62}" presName="spaceB" presStyleCnt="0"/>
      <dgm:spPr/>
    </dgm:pt>
    <dgm:pt modelId="{3DF2F14A-4221-C245-B9DD-DD1EFF146F1C}" type="pres">
      <dgm:prSet presAssocID="{C33289C0-1568-714D-B6F8-9D46E115EA00}" presName="space" presStyleCnt="0"/>
      <dgm:spPr/>
    </dgm:pt>
    <dgm:pt modelId="{0F90A73D-1656-8F47-A04D-69D3A3018053}" type="pres">
      <dgm:prSet presAssocID="{2BA9969F-9D4E-CB44-8F47-7D7420B186EB}" presName="compositeA" presStyleCnt="0"/>
      <dgm:spPr/>
    </dgm:pt>
    <dgm:pt modelId="{3BF9B44D-426A-BD44-B22C-D096155871BB}" type="pres">
      <dgm:prSet presAssocID="{2BA9969F-9D4E-CB44-8F47-7D7420B186EB}" presName="textA" presStyleLbl="revTx" presStyleIdx="2" presStyleCnt="7">
        <dgm:presLayoutVars>
          <dgm:bulletEnabled val="1"/>
        </dgm:presLayoutVars>
      </dgm:prSet>
      <dgm:spPr/>
    </dgm:pt>
    <dgm:pt modelId="{E8E86469-CAA0-6C48-AF04-F8E9680AC545}" type="pres">
      <dgm:prSet presAssocID="{2BA9969F-9D4E-CB44-8F47-7D7420B186EB}" presName="circleA" presStyleLbl="node1" presStyleIdx="2" presStyleCnt="7"/>
      <dgm:spPr>
        <a:solidFill>
          <a:schemeClr val="accent1"/>
        </a:solidFill>
      </dgm:spPr>
    </dgm:pt>
    <dgm:pt modelId="{E497D9B2-FF1D-6345-8B7A-C4BC074BEC52}" type="pres">
      <dgm:prSet presAssocID="{2BA9969F-9D4E-CB44-8F47-7D7420B186EB}" presName="spaceA" presStyleCnt="0"/>
      <dgm:spPr/>
    </dgm:pt>
    <dgm:pt modelId="{7AF4B02F-847D-2A46-9384-B82F86E98A59}" type="pres">
      <dgm:prSet presAssocID="{A67C3E2E-177C-B942-AC87-52A4B64EBFD5}" presName="space" presStyleCnt="0"/>
      <dgm:spPr/>
    </dgm:pt>
    <dgm:pt modelId="{3676BC99-4927-684C-853F-36C3CD8490AD}" type="pres">
      <dgm:prSet presAssocID="{88BC120A-2807-A24D-B345-B2BD3B376A37}" presName="compositeB" presStyleCnt="0"/>
      <dgm:spPr/>
    </dgm:pt>
    <dgm:pt modelId="{30E55ED1-452E-8E4E-8E1B-0704E1F6B3C5}" type="pres">
      <dgm:prSet presAssocID="{88BC120A-2807-A24D-B345-B2BD3B376A37}" presName="textB" presStyleLbl="revTx" presStyleIdx="3" presStyleCnt="7">
        <dgm:presLayoutVars>
          <dgm:bulletEnabled val="1"/>
        </dgm:presLayoutVars>
      </dgm:prSet>
      <dgm:spPr/>
    </dgm:pt>
    <dgm:pt modelId="{9AF72B61-47BD-0C41-93DF-1D3EFB97D40E}" type="pres">
      <dgm:prSet presAssocID="{88BC120A-2807-A24D-B345-B2BD3B376A37}" presName="circleB" presStyleLbl="node1" presStyleIdx="3" presStyleCnt="7"/>
      <dgm:spPr>
        <a:solidFill>
          <a:schemeClr val="bg1"/>
        </a:solidFill>
      </dgm:spPr>
    </dgm:pt>
    <dgm:pt modelId="{532E94B6-A895-E242-BFDA-13826CBFF567}" type="pres">
      <dgm:prSet presAssocID="{88BC120A-2807-A24D-B345-B2BD3B376A37}" presName="spaceB" presStyleCnt="0"/>
      <dgm:spPr/>
    </dgm:pt>
    <dgm:pt modelId="{BAEC0EC1-12A7-8441-AA08-B9DBAAECEA13}" type="pres">
      <dgm:prSet presAssocID="{534FB500-710C-6543-87C4-E03751AE162F}" presName="space" presStyleCnt="0"/>
      <dgm:spPr/>
    </dgm:pt>
    <dgm:pt modelId="{2F2E9EDC-0DE6-274A-9D27-20A47DED08B8}" type="pres">
      <dgm:prSet presAssocID="{95BBFADB-2275-AC40-8B91-3CC09C9CC180}" presName="compositeA" presStyleCnt="0"/>
      <dgm:spPr/>
    </dgm:pt>
    <dgm:pt modelId="{5A6A5F06-52E7-BB4C-B757-930F8572F5BA}" type="pres">
      <dgm:prSet presAssocID="{95BBFADB-2275-AC40-8B91-3CC09C9CC180}" presName="textA" presStyleLbl="revTx" presStyleIdx="4" presStyleCnt="7">
        <dgm:presLayoutVars>
          <dgm:bulletEnabled val="1"/>
        </dgm:presLayoutVars>
      </dgm:prSet>
      <dgm:spPr/>
    </dgm:pt>
    <dgm:pt modelId="{D42E69B9-3A96-B64F-A243-EF914D98A5D9}" type="pres">
      <dgm:prSet presAssocID="{95BBFADB-2275-AC40-8B91-3CC09C9CC180}" presName="circleA" presStyleLbl="node1" presStyleIdx="4" presStyleCnt="7"/>
      <dgm:spPr>
        <a:solidFill>
          <a:srgbClr val="F05D5E"/>
        </a:solidFill>
      </dgm:spPr>
    </dgm:pt>
    <dgm:pt modelId="{9B004BB5-BDA2-124F-86EF-42BB60176E78}" type="pres">
      <dgm:prSet presAssocID="{95BBFADB-2275-AC40-8B91-3CC09C9CC180}" presName="spaceA" presStyleCnt="0"/>
      <dgm:spPr/>
    </dgm:pt>
    <dgm:pt modelId="{3E10F75E-0B66-7E4B-B938-A2DD47D24581}" type="pres">
      <dgm:prSet presAssocID="{60DA2BBE-38E7-484C-8031-E4B70B799C0C}" presName="space" presStyleCnt="0"/>
      <dgm:spPr/>
    </dgm:pt>
    <dgm:pt modelId="{F81988D2-CF31-0748-B9DF-EFC3CD922F00}" type="pres">
      <dgm:prSet presAssocID="{359C6299-C5E6-4941-B0D8-3B7FC2F1DC9B}" presName="compositeB" presStyleCnt="0"/>
      <dgm:spPr/>
    </dgm:pt>
    <dgm:pt modelId="{B183C049-EFBE-7242-973D-6D857830733B}" type="pres">
      <dgm:prSet presAssocID="{359C6299-C5E6-4941-B0D8-3B7FC2F1DC9B}" presName="textB" presStyleLbl="revTx" presStyleIdx="5" presStyleCnt="7">
        <dgm:presLayoutVars>
          <dgm:bulletEnabled val="1"/>
        </dgm:presLayoutVars>
      </dgm:prSet>
      <dgm:spPr/>
    </dgm:pt>
    <dgm:pt modelId="{647E0C18-FD54-0649-A6F9-1C49098F32E2}" type="pres">
      <dgm:prSet presAssocID="{359C6299-C5E6-4941-B0D8-3B7FC2F1DC9B}" presName="circleB" presStyleLbl="node1" presStyleIdx="5" presStyleCnt="7"/>
      <dgm:spPr>
        <a:solidFill>
          <a:schemeClr val="accent1"/>
        </a:solidFill>
      </dgm:spPr>
    </dgm:pt>
    <dgm:pt modelId="{651A20BE-D03E-D448-98EB-668B9A6CA7F0}" type="pres">
      <dgm:prSet presAssocID="{359C6299-C5E6-4941-B0D8-3B7FC2F1DC9B}" presName="spaceB" presStyleCnt="0"/>
      <dgm:spPr/>
    </dgm:pt>
    <dgm:pt modelId="{CD7A8938-8B26-E945-AD75-32638EE4E906}" type="pres">
      <dgm:prSet presAssocID="{D2D586C4-B904-7B46-9FAF-D683C47F8D6C}" presName="space" presStyleCnt="0"/>
      <dgm:spPr/>
    </dgm:pt>
    <dgm:pt modelId="{B9A58F17-0FB5-7B40-A2D9-3937BA4A4AFC}" type="pres">
      <dgm:prSet presAssocID="{8FD49B5C-06C5-3C4A-AA23-418CB6F7FCF0}" presName="compositeA" presStyleCnt="0"/>
      <dgm:spPr/>
    </dgm:pt>
    <dgm:pt modelId="{25E66557-3491-1C49-999C-B9E27F1145DD}" type="pres">
      <dgm:prSet presAssocID="{8FD49B5C-06C5-3C4A-AA23-418CB6F7FCF0}" presName="textA" presStyleLbl="revTx" presStyleIdx="6" presStyleCnt="7">
        <dgm:presLayoutVars>
          <dgm:bulletEnabled val="1"/>
        </dgm:presLayoutVars>
      </dgm:prSet>
      <dgm:spPr/>
    </dgm:pt>
    <dgm:pt modelId="{9E03863F-C95F-7E48-9F4E-6C417F127C30}" type="pres">
      <dgm:prSet presAssocID="{8FD49B5C-06C5-3C4A-AA23-418CB6F7FCF0}" presName="circleA" presStyleLbl="node1" presStyleIdx="6" presStyleCnt="7"/>
      <dgm:spPr/>
    </dgm:pt>
    <dgm:pt modelId="{3D2684BA-DBD8-AA40-9475-4287E894D942}" type="pres">
      <dgm:prSet presAssocID="{8FD49B5C-06C5-3C4A-AA23-418CB6F7FCF0}" presName="spaceA" presStyleCnt="0"/>
      <dgm:spPr/>
    </dgm:pt>
  </dgm:ptLst>
  <dgm:cxnLst>
    <dgm:cxn modelId="{358C8F26-E9BB-9A43-8565-796F1C8319E6}" type="presOf" srcId="{359C6299-C5E6-4941-B0D8-3B7FC2F1DC9B}" destId="{B183C049-EFBE-7242-973D-6D857830733B}" srcOrd="0" destOrd="0" presId="urn:microsoft.com/office/officeart/2005/8/layout/hProcess11"/>
    <dgm:cxn modelId="{A9E2352C-CFC2-BC43-9E0A-C8439B1F7419}" type="presOf" srcId="{EE6D42F0-1C68-644A-9F9D-AAC8CDEA7C3C}" destId="{D06FD5FD-A93E-5C44-B1F9-443860DC44FB}" srcOrd="0" destOrd="0" presId="urn:microsoft.com/office/officeart/2005/8/layout/hProcess11"/>
    <dgm:cxn modelId="{904D2738-0D03-0141-8908-9AD961AA2275}" type="presOf" srcId="{8FD49B5C-06C5-3C4A-AA23-418CB6F7FCF0}" destId="{25E66557-3491-1C49-999C-B9E27F1145DD}" srcOrd="0" destOrd="0" presId="urn:microsoft.com/office/officeart/2005/8/layout/hProcess11"/>
    <dgm:cxn modelId="{607D7244-37A1-2B40-BF43-A0417A71AC31}" type="presOf" srcId="{2BA9969F-9D4E-CB44-8F47-7D7420B186EB}" destId="{3BF9B44D-426A-BD44-B22C-D096155871BB}" srcOrd="0" destOrd="0" presId="urn:microsoft.com/office/officeart/2005/8/layout/hProcess11"/>
    <dgm:cxn modelId="{22087668-84DD-6A42-8DEC-77DF9118625B}" srcId="{EE6D42F0-1C68-644A-9F9D-AAC8CDEA7C3C}" destId="{95BBFADB-2275-AC40-8B91-3CC09C9CC180}" srcOrd="4" destOrd="0" parTransId="{966772C4-17F3-0B43-8A0F-4AC4C41F3959}" sibTransId="{60DA2BBE-38E7-484C-8031-E4B70B799C0C}"/>
    <dgm:cxn modelId="{336C4A7B-8F12-6540-AC71-44072245EFC4}" srcId="{EE6D42F0-1C68-644A-9F9D-AAC8CDEA7C3C}" destId="{AA662399-51CF-AD42-9556-C1DCDE9C9C62}" srcOrd="1" destOrd="0" parTransId="{D5877486-D275-AC47-8C32-7080E0875FFF}" sibTransId="{C33289C0-1568-714D-B6F8-9D46E115EA00}"/>
    <dgm:cxn modelId="{DA081B7E-7B19-424F-81F6-AA7D51F15098}" type="presOf" srcId="{95BBFADB-2275-AC40-8B91-3CC09C9CC180}" destId="{5A6A5F06-52E7-BB4C-B757-930F8572F5BA}" srcOrd="0" destOrd="0" presId="urn:microsoft.com/office/officeart/2005/8/layout/hProcess11"/>
    <dgm:cxn modelId="{D536A684-E000-8D4F-BA27-7978EF771510}" type="presOf" srcId="{E2745D70-426B-FA4B-B6C7-0E64DA3D399A}" destId="{60D5F69F-8CA6-474F-892E-BB3B3A1F6DAE}" srcOrd="0" destOrd="0" presId="urn:microsoft.com/office/officeart/2005/8/layout/hProcess11"/>
    <dgm:cxn modelId="{C947B29B-97FE-0844-8705-FD5CABEA87AD}" type="presOf" srcId="{AA662399-51CF-AD42-9556-C1DCDE9C9C62}" destId="{7D3991B5-B402-E045-A922-12ECE6931B21}" srcOrd="0" destOrd="0" presId="urn:microsoft.com/office/officeart/2005/8/layout/hProcess11"/>
    <dgm:cxn modelId="{39D8D5A4-2621-9B47-8071-CD97C9F50259}" srcId="{EE6D42F0-1C68-644A-9F9D-AAC8CDEA7C3C}" destId="{88BC120A-2807-A24D-B345-B2BD3B376A37}" srcOrd="3" destOrd="0" parTransId="{FA1151D5-41FA-2845-8DD1-20793DB0BBE8}" sibTransId="{534FB500-710C-6543-87C4-E03751AE162F}"/>
    <dgm:cxn modelId="{23916ABB-51EE-5940-AFC2-0D17BBB65672}" srcId="{EE6D42F0-1C68-644A-9F9D-AAC8CDEA7C3C}" destId="{359C6299-C5E6-4941-B0D8-3B7FC2F1DC9B}" srcOrd="5" destOrd="0" parTransId="{B35B887A-13AB-1343-B10A-7C9BC299DFCF}" sibTransId="{D2D586C4-B904-7B46-9FAF-D683C47F8D6C}"/>
    <dgm:cxn modelId="{038FACCB-0856-0F43-B61C-3DB8A6495A46}" srcId="{EE6D42F0-1C68-644A-9F9D-AAC8CDEA7C3C}" destId="{8FD49B5C-06C5-3C4A-AA23-418CB6F7FCF0}" srcOrd="6" destOrd="0" parTransId="{9283967F-8529-454A-8713-D38C61C258A3}" sibTransId="{29A7714B-0DB3-314E-837A-30EE013D2BB4}"/>
    <dgm:cxn modelId="{60EA15D4-0687-A741-8727-DA5C094468A1}" srcId="{EE6D42F0-1C68-644A-9F9D-AAC8CDEA7C3C}" destId="{E2745D70-426B-FA4B-B6C7-0E64DA3D399A}" srcOrd="0" destOrd="0" parTransId="{2437E627-3560-A542-AD3D-E79D88F9BEAA}" sibTransId="{6D58AEAD-2732-BA48-B08C-F1FC26DBE76D}"/>
    <dgm:cxn modelId="{ED8F30E6-F388-0A49-808F-D9FA47B12324}" type="presOf" srcId="{88BC120A-2807-A24D-B345-B2BD3B376A37}" destId="{30E55ED1-452E-8E4E-8E1B-0704E1F6B3C5}" srcOrd="0" destOrd="0" presId="urn:microsoft.com/office/officeart/2005/8/layout/hProcess11"/>
    <dgm:cxn modelId="{DEAE0FE7-0969-A94C-B711-C997A467E811}" srcId="{EE6D42F0-1C68-644A-9F9D-AAC8CDEA7C3C}" destId="{2BA9969F-9D4E-CB44-8F47-7D7420B186EB}" srcOrd="2" destOrd="0" parTransId="{FA1EE3FB-F579-8849-BEAE-72AD4BC818BE}" sibTransId="{A67C3E2E-177C-B942-AC87-52A4B64EBFD5}"/>
    <dgm:cxn modelId="{894AED3C-5AF4-504E-9974-755261D871BF}" type="presParOf" srcId="{D06FD5FD-A93E-5C44-B1F9-443860DC44FB}" destId="{69F2A90E-6373-DF42-A6CD-049758145B1B}" srcOrd="0" destOrd="0" presId="urn:microsoft.com/office/officeart/2005/8/layout/hProcess11"/>
    <dgm:cxn modelId="{18C13995-09DC-FE47-A094-E23DB145F231}" type="presParOf" srcId="{D06FD5FD-A93E-5C44-B1F9-443860DC44FB}" destId="{C35CAFBC-1FD5-AA40-8C23-02E504690762}" srcOrd="1" destOrd="0" presId="urn:microsoft.com/office/officeart/2005/8/layout/hProcess11"/>
    <dgm:cxn modelId="{2FA5E395-3172-474E-A2CB-FC77D82D81FB}" type="presParOf" srcId="{C35CAFBC-1FD5-AA40-8C23-02E504690762}" destId="{CC4585A4-96D8-5B48-9D1F-B6EC1D008D37}" srcOrd="0" destOrd="0" presId="urn:microsoft.com/office/officeart/2005/8/layout/hProcess11"/>
    <dgm:cxn modelId="{93E58E97-539E-3542-A1A1-1EBCE38AFAA9}" type="presParOf" srcId="{CC4585A4-96D8-5B48-9D1F-B6EC1D008D37}" destId="{60D5F69F-8CA6-474F-892E-BB3B3A1F6DAE}" srcOrd="0" destOrd="0" presId="urn:microsoft.com/office/officeart/2005/8/layout/hProcess11"/>
    <dgm:cxn modelId="{AEF9BF5B-D1AF-C047-AD53-DB929A0A5613}" type="presParOf" srcId="{CC4585A4-96D8-5B48-9D1F-B6EC1D008D37}" destId="{614091D0-FF01-2A41-8FEC-3CA9BD3D8F71}" srcOrd="1" destOrd="0" presId="urn:microsoft.com/office/officeart/2005/8/layout/hProcess11"/>
    <dgm:cxn modelId="{1A07BB43-6653-7641-87B9-8D950F161EAB}" type="presParOf" srcId="{CC4585A4-96D8-5B48-9D1F-B6EC1D008D37}" destId="{054F1A60-E084-504C-9B81-7864E6595D0F}" srcOrd="2" destOrd="0" presId="urn:microsoft.com/office/officeart/2005/8/layout/hProcess11"/>
    <dgm:cxn modelId="{D89FAE18-9CB2-5F4A-9063-CF6398AFA76F}" type="presParOf" srcId="{C35CAFBC-1FD5-AA40-8C23-02E504690762}" destId="{37D0B44D-BBAD-A64E-9197-01A30D831DF2}" srcOrd="1" destOrd="0" presId="urn:microsoft.com/office/officeart/2005/8/layout/hProcess11"/>
    <dgm:cxn modelId="{81DAFA7B-331A-0441-B6BC-7AADD0A96C7E}" type="presParOf" srcId="{C35CAFBC-1FD5-AA40-8C23-02E504690762}" destId="{BDE98568-3D84-934F-BAB9-7A0978B5ADB4}" srcOrd="2" destOrd="0" presId="urn:microsoft.com/office/officeart/2005/8/layout/hProcess11"/>
    <dgm:cxn modelId="{D3F6369C-5F6A-AE45-9724-C9094AF20D84}" type="presParOf" srcId="{BDE98568-3D84-934F-BAB9-7A0978B5ADB4}" destId="{7D3991B5-B402-E045-A922-12ECE6931B21}" srcOrd="0" destOrd="0" presId="urn:microsoft.com/office/officeart/2005/8/layout/hProcess11"/>
    <dgm:cxn modelId="{91D26C41-B630-B941-9D0E-4AB1B32A4AFF}" type="presParOf" srcId="{BDE98568-3D84-934F-BAB9-7A0978B5ADB4}" destId="{8697F6B8-AD2D-8C48-9ABD-336C1BBEBBD7}" srcOrd="1" destOrd="0" presId="urn:microsoft.com/office/officeart/2005/8/layout/hProcess11"/>
    <dgm:cxn modelId="{ECE1E109-EDA0-5E45-8B96-C581A0DCE125}" type="presParOf" srcId="{BDE98568-3D84-934F-BAB9-7A0978B5ADB4}" destId="{8C44613E-D9E7-AF48-9E5B-6BE5B7C6EA40}" srcOrd="2" destOrd="0" presId="urn:microsoft.com/office/officeart/2005/8/layout/hProcess11"/>
    <dgm:cxn modelId="{7548256F-9397-094C-A571-5F64724997ED}" type="presParOf" srcId="{C35CAFBC-1FD5-AA40-8C23-02E504690762}" destId="{3DF2F14A-4221-C245-B9DD-DD1EFF146F1C}" srcOrd="3" destOrd="0" presId="urn:microsoft.com/office/officeart/2005/8/layout/hProcess11"/>
    <dgm:cxn modelId="{2B7B5649-6686-9946-AC17-8F320DBAD661}" type="presParOf" srcId="{C35CAFBC-1FD5-AA40-8C23-02E504690762}" destId="{0F90A73D-1656-8F47-A04D-69D3A3018053}" srcOrd="4" destOrd="0" presId="urn:microsoft.com/office/officeart/2005/8/layout/hProcess11"/>
    <dgm:cxn modelId="{542082DD-C53D-3841-B7D2-3ABAB1AD528B}" type="presParOf" srcId="{0F90A73D-1656-8F47-A04D-69D3A3018053}" destId="{3BF9B44D-426A-BD44-B22C-D096155871BB}" srcOrd="0" destOrd="0" presId="urn:microsoft.com/office/officeart/2005/8/layout/hProcess11"/>
    <dgm:cxn modelId="{D650B354-FF5B-A24B-8754-3CA3868D9E08}" type="presParOf" srcId="{0F90A73D-1656-8F47-A04D-69D3A3018053}" destId="{E8E86469-CAA0-6C48-AF04-F8E9680AC545}" srcOrd="1" destOrd="0" presId="urn:microsoft.com/office/officeart/2005/8/layout/hProcess11"/>
    <dgm:cxn modelId="{00F1288C-A4E8-F047-A586-1A2E4513B869}" type="presParOf" srcId="{0F90A73D-1656-8F47-A04D-69D3A3018053}" destId="{E497D9B2-FF1D-6345-8B7A-C4BC074BEC52}" srcOrd="2" destOrd="0" presId="urn:microsoft.com/office/officeart/2005/8/layout/hProcess11"/>
    <dgm:cxn modelId="{D8D0B340-C207-3B4D-9162-38F455AE9DFB}" type="presParOf" srcId="{C35CAFBC-1FD5-AA40-8C23-02E504690762}" destId="{7AF4B02F-847D-2A46-9384-B82F86E98A59}" srcOrd="5" destOrd="0" presId="urn:microsoft.com/office/officeart/2005/8/layout/hProcess11"/>
    <dgm:cxn modelId="{DF6307A2-AF5A-CD44-920D-33F1795A0E48}" type="presParOf" srcId="{C35CAFBC-1FD5-AA40-8C23-02E504690762}" destId="{3676BC99-4927-684C-853F-36C3CD8490AD}" srcOrd="6" destOrd="0" presId="urn:microsoft.com/office/officeart/2005/8/layout/hProcess11"/>
    <dgm:cxn modelId="{66DCB9F9-1D5D-814F-91C2-18DE2B462D22}" type="presParOf" srcId="{3676BC99-4927-684C-853F-36C3CD8490AD}" destId="{30E55ED1-452E-8E4E-8E1B-0704E1F6B3C5}" srcOrd="0" destOrd="0" presId="urn:microsoft.com/office/officeart/2005/8/layout/hProcess11"/>
    <dgm:cxn modelId="{1D99A6E4-F4D3-0746-9EFB-6844809EA963}" type="presParOf" srcId="{3676BC99-4927-684C-853F-36C3CD8490AD}" destId="{9AF72B61-47BD-0C41-93DF-1D3EFB97D40E}" srcOrd="1" destOrd="0" presId="urn:microsoft.com/office/officeart/2005/8/layout/hProcess11"/>
    <dgm:cxn modelId="{F6F2B072-E253-A14C-B2A6-38659B7F3FCD}" type="presParOf" srcId="{3676BC99-4927-684C-853F-36C3CD8490AD}" destId="{532E94B6-A895-E242-BFDA-13826CBFF567}" srcOrd="2" destOrd="0" presId="urn:microsoft.com/office/officeart/2005/8/layout/hProcess11"/>
    <dgm:cxn modelId="{48FACE55-B994-9B4E-AB64-F5FE54D41EC5}" type="presParOf" srcId="{C35CAFBC-1FD5-AA40-8C23-02E504690762}" destId="{BAEC0EC1-12A7-8441-AA08-B9DBAAECEA13}" srcOrd="7" destOrd="0" presId="urn:microsoft.com/office/officeart/2005/8/layout/hProcess11"/>
    <dgm:cxn modelId="{DFE96C61-F818-9041-90B7-9079478C023D}" type="presParOf" srcId="{C35CAFBC-1FD5-AA40-8C23-02E504690762}" destId="{2F2E9EDC-0DE6-274A-9D27-20A47DED08B8}" srcOrd="8" destOrd="0" presId="urn:microsoft.com/office/officeart/2005/8/layout/hProcess11"/>
    <dgm:cxn modelId="{BC7D216D-1F69-8246-9FC1-76CB7DC83CE0}" type="presParOf" srcId="{2F2E9EDC-0DE6-274A-9D27-20A47DED08B8}" destId="{5A6A5F06-52E7-BB4C-B757-930F8572F5BA}" srcOrd="0" destOrd="0" presId="urn:microsoft.com/office/officeart/2005/8/layout/hProcess11"/>
    <dgm:cxn modelId="{AF670325-CC4D-084C-BD20-04740C5E9D8C}" type="presParOf" srcId="{2F2E9EDC-0DE6-274A-9D27-20A47DED08B8}" destId="{D42E69B9-3A96-B64F-A243-EF914D98A5D9}" srcOrd="1" destOrd="0" presId="urn:microsoft.com/office/officeart/2005/8/layout/hProcess11"/>
    <dgm:cxn modelId="{E8EF9539-1660-8440-A7A7-110C69F6CE5D}" type="presParOf" srcId="{2F2E9EDC-0DE6-274A-9D27-20A47DED08B8}" destId="{9B004BB5-BDA2-124F-86EF-42BB60176E78}" srcOrd="2" destOrd="0" presId="urn:microsoft.com/office/officeart/2005/8/layout/hProcess11"/>
    <dgm:cxn modelId="{15E538D1-B318-9345-8507-2AC2137D0EA4}" type="presParOf" srcId="{C35CAFBC-1FD5-AA40-8C23-02E504690762}" destId="{3E10F75E-0B66-7E4B-B938-A2DD47D24581}" srcOrd="9" destOrd="0" presId="urn:microsoft.com/office/officeart/2005/8/layout/hProcess11"/>
    <dgm:cxn modelId="{DE7ED6DD-B521-B542-833A-044D166B1234}" type="presParOf" srcId="{C35CAFBC-1FD5-AA40-8C23-02E504690762}" destId="{F81988D2-CF31-0748-B9DF-EFC3CD922F00}" srcOrd="10" destOrd="0" presId="urn:microsoft.com/office/officeart/2005/8/layout/hProcess11"/>
    <dgm:cxn modelId="{6E2D18D1-2294-134D-9CBA-460208D4F21E}" type="presParOf" srcId="{F81988D2-CF31-0748-B9DF-EFC3CD922F00}" destId="{B183C049-EFBE-7242-973D-6D857830733B}" srcOrd="0" destOrd="0" presId="urn:microsoft.com/office/officeart/2005/8/layout/hProcess11"/>
    <dgm:cxn modelId="{0017D639-067A-FF4C-B23F-EA49AC3FE4C4}" type="presParOf" srcId="{F81988D2-CF31-0748-B9DF-EFC3CD922F00}" destId="{647E0C18-FD54-0649-A6F9-1C49098F32E2}" srcOrd="1" destOrd="0" presId="urn:microsoft.com/office/officeart/2005/8/layout/hProcess11"/>
    <dgm:cxn modelId="{C7F7C361-7275-C24E-AE8B-CD9BE7E81C19}" type="presParOf" srcId="{F81988D2-CF31-0748-B9DF-EFC3CD922F00}" destId="{651A20BE-D03E-D448-98EB-668B9A6CA7F0}" srcOrd="2" destOrd="0" presId="urn:microsoft.com/office/officeart/2005/8/layout/hProcess11"/>
    <dgm:cxn modelId="{43F0BA66-6C3F-AE44-9A37-DBE127A52BD7}" type="presParOf" srcId="{C35CAFBC-1FD5-AA40-8C23-02E504690762}" destId="{CD7A8938-8B26-E945-AD75-32638EE4E906}" srcOrd="11" destOrd="0" presId="urn:microsoft.com/office/officeart/2005/8/layout/hProcess11"/>
    <dgm:cxn modelId="{C44627E2-CC89-CC48-902F-D97CD3358621}" type="presParOf" srcId="{C35CAFBC-1FD5-AA40-8C23-02E504690762}" destId="{B9A58F17-0FB5-7B40-A2D9-3937BA4A4AFC}" srcOrd="12" destOrd="0" presId="urn:microsoft.com/office/officeart/2005/8/layout/hProcess11"/>
    <dgm:cxn modelId="{1A780BC9-4A86-0547-B11A-CDED332BB0A6}" type="presParOf" srcId="{B9A58F17-0FB5-7B40-A2D9-3937BA4A4AFC}" destId="{25E66557-3491-1C49-999C-B9E27F1145DD}" srcOrd="0" destOrd="0" presId="urn:microsoft.com/office/officeart/2005/8/layout/hProcess11"/>
    <dgm:cxn modelId="{84700321-0DD5-3B44-B086-F7C1311C3BC5}" type="presParOf" srcId="{B9A58F17-0FB5-7B40-A2D9-3937BA4A4AFC}" destId="{9E03863F-C95F-7E48-9F4E-6C417F127C30}" srcOrd="1" destOrd="0" presId="urn:microsoft.com/office/officeart/2005/8/layout/hProcess11"/>
    <dgm:cxn modelId="{A945A103-4994-F84F-908B-598711B03D6A}" type="presParOf" srcId="{B9A58F17-0FB5-7B40-A2D9-3937BA4A4AFC}" destId="{3D2684BA-DBD8-AA40-9475-4287E894D942}"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F2A90E-6373-DF42-A6CD-049758145B1B}">
      <dsp:nvSpPr>
        <dsp:cNvPr id="0" name=""/>
        <dsp:cNvSpPr/>
      </dsp:nvSpPr>
      <dsp:spPr>
        <a:xfrm>
          <a:off x="0" y="1305401"/>
          <a:ext cx="10515600" cy="174053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5F69F-8CA6-474F-892E-BB3B3A1F6DAE}">
      <dsp:nvSpPr>
        <dsp:cNvPr id="0" name=""/>
        <dsp:cNvSpPr/>
      </dsp:nvSpPr>
      <dsp:spPr>
        <a:xfrm>
          <a:off x="808"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Plan</a:t>
          </a:r>
        </a:p>
      </dsp:txBody>
      <dsp:txXfrm>
        <a:off x="808" y="0"/>
        <a:ext cx="1296222" cy="1740535"/>
      </dsp:txXfrm>
    </dsp:sp>
    <dsp:sp modelId="{614091D0-FF01-2A41-8FEC-3CA9BD3D8F71}">
      <dsp:nvSpPr>
        <dsp:cNvPr id="0" name=""/>
        <dsp:cNvSpPr/>
      </dsp:nvSpPr>
      <dsp:spPr>
        <a:xfrm>
          <a:off x="431352" y="1958102"/>
          <a:ext cx="435133" cy="4351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3991B5-B402-E045-A922-12ECE6931B21}">
      <dsp:nvSpPr>
        <dsp:cNvPr id="0" name=""/>
        <dsp:cNvSpPr/>
      </dsp:nvSpPr>
      <dsp:spPr>
        <a:xfrm>
          <a:off x="1361842"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1361842" y="2610802"/>
        <a:ext cx="1296222" cy="1740535"/>
      </dsp:txXfrm>
    </dsp:sp>
    <dsp:sp modelId="{8697F6B8-AD2D-8C48-9ABD-336C1BBEBBD7}">
      <dsp:nvSpPr>
        <dsp:cNvPr id="0" name=""/>
        <dsp:cNvSpPr/>
      </dsp:nvSpPr>
      <dsp:spPr>
        <a:xfrm>
          <a:off x="1792386" y="1958102"/>
          <a:ext cx="435133" cy="435133"/>
        </a:xfrm>
        <a:prstGeom prst="ellipse">
          <a:avLst/>
        </a:prstGeom>
        <a:solidFill>
          <a:srgbClr val="F05D5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F9B44D-426A-BD44-B22C-D096155871BB}">
      <dsp:nvSpPr>
        <dsp:cNvPr id="0" name=""/>
        <dsp:cNvSpPr/>
      </dsp:nvSpPr>
      <dsp:spPr>
        <a:xfrm>
          <a:off x="2722875"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Develop baseline model</a:t>
          </a:r>
        </a:p>
      </dsp:txBody>
      <dsp:txXfrm>
        <a:off x="2722875" y="0"/>
        <a:ext cx="1296222" cy="1740535"/>
      </dsp:txXfrm>
    </dsp:sp>
    <dsp:sp modelId="{E8E86469-CAA0-6C48-AF04-F8E9680AC545}">
      <dsp:nvSpPr>
        <dsp:cNvPr id="0" name=""/>
        <dsp:cNvSpPr/>
      </dsp:nvSpPr>
      <dsp:spPr>
        <a:xfrm>
          <a:off x="3153419"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E55ED1-452E-8E4E-8E1B-0704E1F6B3C5}">
      <dsp:nvSpPr>
        <dsp:cNvPr id="0" name=""/>
        <dsp:cNvSpPr/>
      </dsp:nvSpPr>
      <dsp:spPr>
        <a:xfrm>
          <a:off x="4083908"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Installation of ECM</a:t>
          </a:r>
        </a:p>
      </dsp:txBody>
      <dsp:txXfrm>
        <a:off x="4083908" y="2610802"/>
        <a:ext cx="1296222" cy="1740535"/>
      </dsp:txXfrm>
    </dsp:sp>
    <dsp:sp modelId="{9AF72B61-47BD-0C41-93DF-1D3EFB97D40E}">
      <dsp:nvSpPr>
        <dsp:cNvPr id="0" name=""/>
        <dsp:cNvSpPr/>
      </dsp:nvSpPr>
      <dsp:spPr>
        <a:xfrm>
          <a:off x="4514453" y="1958102"/>
          <a:ext cx="435133" cy="435133"/>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A5F06-52E7-BB4C-B757-930F8572F5BA}">
      <dsp:nvSpPr>
        <dsp:cNvPr id="0" name=""/>
        <dsp:cNvSpPr/>
      </dsp:nvSpPr>
      <dsp:spPr>
        <a:xfrm>
          <a:off x="5444942"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5444942" y="0"/>
        <a:ext cx="1296222" cy="1740535"/>
      </dsp:txXfrm>
    </dsp:sp>
    <dsp:sp modelId="{D42E69B9-3A96-B64F-A243-EF914D98A5D9}">
      <dsp:nvSpPr>
        <dsp:cNvPr id="0" name=""/>
        <dsp:cNvSpPr/>
      </dsp:nvSpPr>
      <dsp:spPr>
        <a:xfrm>
          <a:off x="5875486" y="1958102"/>
          <a:ext cx="435133" cy="435133"/>
        </a:xfrm>
        <a:prstGeom prst="ellipse">
          <a:avLst/>
        </a:prstGeom>
        <a:solidFill>
          <a:srgbClr val="F05D5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83C049-EFBE-7242-973D-6D857830733B}">
      <dsp:nvSpPr>
        <dsp:cNvPr id="0" name=""/>
        <dsp:cNvSpPr/>
      </dsp:nvSpPr>
      <dsp:spPr>
        <a:xfrm>
          <a:off x="6805975"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Adjust baseline model</a:t>
          </a:r>
        </a:p>
      </dsp:txBody>
      <dsp:txXfrm>
        <a:off x="6805975" y="2610802"/>
        <a:ext cx="1296222" cy="1740535"/>
      </dsp:txXfrm>
    </dsp:sp>
    <dsp:sp modelId="{647E0C18-FD54-0649-A6F9-1C49098F32E2}">
      <dsp:nvSpPr>
        <dsp:cNvPr id="0" name=""/>
        <dsp:cNvSpPr/>
      </dsp:nvSpPr>
      <dsp:spPr>
        <a:xfrm>
          <a:off x="7236519"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E66557-3491-1C49-999C-B9E27F1145DD}">
      <dsp:nvSpPr>
        <dsp:cNvPr id="0" name=""/>
        <dsp:cNvSpPr/>
      </dsp:nvSpPr>
      <dsp:spPr>
        <a:xfrm>
          <a:off x="8167009"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Report</a:t>
          </a:r>
        </a:p>
      </dsp:txBody>
      <dsp:txXfrm>
        <a:off x="8167009" y="0"/>
        <a:ext cx="1296222" cy="1740535"/>
      </dsp:txXfrm>
    </dsp:sp>
    <dsp:sp modelId="{9E03863F-C95F-7E48-9F4E-6C417F127C30}">
      <dsp:nvSpPr>
        <dsp:cNvPr id="0" name=""/>
        <dsp:cNvSpPr/>
      </dsp:nvSpPr>
      <dsp:spPr>
        <a:xfrm>
          <a:off x="8597553" y="1958102"/>
          <a:ext cx="435133" cy="4351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AC3932-3886-AF3B-4577-2492C2720727}"/>
              </a:ext>
            </a:extLst>
          </p:cNvPr>
          <p:cNvSpPr>
            <a:spLocks noGrp="1"/>
          </p:cNvSpPr>
          <p:nvPr>
            <p:ph type="ftr" sz="quarter" idx="2"/>
          </p:nvPr>
        </p:nvSpPr>
        <p:spPr>
          <a:xfrm>
            <a:off x="628000" y="9120188"/>
            <a:ext cx="2542238" cy="481012"/>
          </a:xfrm>
          <a:prstGeom prst="rect">
            <a:avLst/>
          </a:prstGeom>
        </p:spPr>
        <p:txBody>
          <a:bodyPr vert="horz" lIns="91440" tIns="45720" rIns="91440" bIns="45720" rtlCol="0" anchor="ctr"/>
          <a:lstStyle>
            <a:lvl1pPr algn="l">
              <a:defRPr sz="1200"/>
            </a:lvl1pPr>
          </a:lstStyle>
          <a:p>
            <a:r>
              <a:rPr lang="en-US" dirty="0">
                <a:latin typeface="Verdana" panose="020B0604030504040204" pitchFamily="34" charset="0"/>
                <a:ea typeface="Verdana" panose="020B0604030504040204" pitchFamily="34" charset="0"/>
              </a:rPr>
              <a:t>CMVP_v2.0_G_v1.1</a:t>
            </a:r>
          </a:p>
        </p:txBody>
      </p:sp>
      <p:sp>
        <p:nvSpPr>
          <p:cNvPr id="3" name="Slide Number Placeholder 2">
            <a:extLst>
              <a:ext uri="{FF2B5EF4-FFF2-40B4-BE49-F238E27FC236}">
                <a16:creationId xmlns:a16="http://schemas.microsoft.com/office/drawing/2014/main" id="{7099AACF-F874-6EBB-6E79-2DC0B8D9F232}"/>
              </a:ext>
            </a:extLst>
          </p:cNvPr>
          <p:cNvSpPr>
            <a:spLocks noGrp="1"/>
          </p:cNvSpPr>
          <p:nvPr>
            <p:ph type="sldNum" sz="quarter" idx="3"/>
          </p:nvPr>
        </p:nvSpPr>
        <p:spPr>
          <a:xfrm>
            <a:off x="4143375" y="9120188"/>
            <a:ext cx="2542238" cy="481012"/>
          </a:xfrm>
          <a:prstGeom prst="rect">
            <a:avLst/>
          </a:prstGeom>
        </p:spPr>
        <p:txBody>
          <a:bodyPr vert="horz" lIns="91440" tIns="45720" rIns="91440" bIns="45720" rtlCol="0" anchor="ctr"/>
          <a:lstStyle>
            <a:lvl1pPr algn="r">
              <a:defRPr sz="1200"/>
            </a:lvl1pPr>
          </a:lstStyle>
          <a:p>
            <a:fld id="{6A0A43C9-0FE5-4E47-A9B5-EF746693113D}" type="slidenum">
              <a:rPr lang="en-US" smtClean="0">
                <a:latin typeface="Verdana" panose="020B0604030504040204" pitchFamily="34" charset="0"/>
                <a:ea typeface="Verdana" panose="020B0604030504040204" pitchFamily="34" charset="0"/>
              </a:rPr>
              <a:t>‹#›</a:t>
            </a:fld>
            <a:endParaRPr lang="en-US">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b="0" i="0">
                <a:latin typeface="Verdana" panose="020B0604030504040204" pitchFamily="34" charset="0"/>
              </a:defRPr>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b="0" i="0">
                <a:latin typeface="Verdana" panose="020B0604030504040204" pitchFamily="34" charset="0"/>
              </a:defRPr>
            </a:lvl1pPr>
          </a:lstStyle>
          <a:p>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8"/>
            <a:ext cx="5852160" cy="3240405"/>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b="0" i="0">
                <a:latin typeface="Verdana" panose="020B0604030504040204" pitchFamily="34" charset="0"/>
              </a:defRPr>
            </a:lvl1pPr>
          </a:lstStyle>
          <a:p>
            <a:r>
              <a:rPr lang="en-US"/>
              <a:t>CMVP_v2022.07</a:t>
            </a:r>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b="0" i="0">
                <a:latin typeface="Verdana" panose="020B0604030504040204" pitchFamily="34" charset="0"/>
              </a:defRPr>
            </a:lvl1pPr>
          </a:lstStyle>
          <a:p>
            <a:fld id="{82869989-EB00-4EE7-BCB5-25BDC5BB29F8}" type="slidenum">
              <a:rPr lang="en-US" smtClean="0"/>
              <a:pPr/>
              <a:t>‹#›</a:t>
            </a:fld>
            <a:endParaRPr lang="en-US"/>
          </a:p>
        </p:txBody>
      </p:sp>
      <p:pic>
        <p:nvPicPr>
          <p:cNvPr id="8" name="Picture 7" descr="A picture containing clipart&#10;&#10;Description automatically generated">
            <a:extLst>
              <a:ext uri="{FF2B5EF4-FFF2-40B4-BE49-F238E27FC236}">
                <a16:creationId xmlns:a16="http://schemas.microsoft.com/office/drawing/2014/main" id="{282D8A7A-2763-924E-9D2B-562D2FA8E6F8}"/>
              </a:ext>
            </a:extLst>
          </p:cNvPr>
          <p:cNvPicPr>
            <a:picLocks noChangeAspect="1"/>
          </p:cNvPicPr>
          <p:nvPr/>
        </p:nvPicPr>
        <p:blipFill>
          <a:blip r:embed="rId2"/>
          <a:stretch>
            <a:fillRect/>
          </a:stretch>
        </p:blipFill>
        <p:spPr>
          <a:xfrm>
            <a:off x="3011961" y="8838448"/>
            <a:ext cx="1291278" cy="562051"/>
          </a:xfrm>
          <a:prstGeom prst="rect">
            <a:avLst/>
          </a:prstGeom>
        </p:spPr>
      </p:pic>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b="0" i="0" kern="1200">
        <a:solidFill>
          <a:schemeClr val="tx1"/>
        </a:solidFill>
        <a:latin typeface="Verdana" panose="020B0604030504040204" pitchFamily="34" charset="0"/>
        <a:ea typeface="+mn-ea"/>
        <a:cs typeface="+mn-cs"/>
      </a:defRPr>
    </a:lvl1pPr>
    <a:lvl2pPr marL="457200" algn="l" defTabSz="914400" rtl="0" eaLnBrk="1" latinLnBrk="0" hangingPunct="1">
      <a:defRPr sz="1200" b="0" i="0" kern="1200">
        <a:solidFill>
          <a:schemeClr val="tx1"/>
        </a:solidFill>
        <a:latin typeface="Verdana" panose="020B0604030504040204" pitchFamily="34" charset="0"/>
        <a:ea typeface="+mn-ea"/>
        <a:cs typeface="+mn-cs"/>
      </a:defRPr>
    </a:lvl2pPr>
    <a:lvl3pPr marL="914400" algn="l" defTabSz="914400" rtl="0" eaLnBrk="1" latinLnBrk="0" hangingPunct="1">
      <a:defRPr sz="1200" b="0" i="0" kern="1200">
        <a:solidFill>
          <a:schemeClr val="tx1"/>
        </a:solidFill>
        <a:latin typeface="Verdana" panose="020B0604030504040204" pitchFamily="34" charset="0"/>
        <a:ea typeface="+mn-ea"/>
        <a:cs typeface="+mn-cs"/>
      </a:defRPr>
    </a:lvl3pPr>
    <a:lvl4pPr marL="1371600" algn="l" defTabSz="914400" rtl="0" eaLnBrk="1" latinLnBrk="0" hangingPunct="1">
      <a:defRPr sz="1200" b="0" i="0" kern="1200">
        <a:solidFill>
          <a:schemeClr val="tx1"/>
        </a:solidFill>
        <a:latin typeface="Verdana" panose="020B0604030504040204" pitchFamily="34" charset="0"/>
        <a:ea typeface="+mn-ea"/>
        <a:cs typeface="+mn-cs"/>
      </a:defRPr>
    </a:lvl4pPr>
    <a:lvl5pPr marL="1828800" algn="l" defTabSz="914400" rtl="0" eaLnBrk="1" latinLnBrk="0" hangingPunct="1">
      <a:defRPr sz="1200" b="0" i="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2</a:t>
            </a:fld>
            <a:endParaRPr lang="en-US"/>
          </a:p>
        </p:txBody>
      </p:sp>
      <p:sp>
        <p:nvSpPr>
          <p:cNvPr id="5" name="Footer Placeholder 4">
            <a:extLst>
              <a:ext uri="{FF2B5EF4-FFF2-40B4-BE49-F238E27FC236}">
                <a16:creationId xmlns:a16="http://schemas.microsoft.com/office/drawing/2014/main" id="{78E38392-6FFC-E172-C879-757E62B26B4C}"/>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547279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3</a:t>
            </a:fld>
            <a:endParaRPr lang="en-US"/>
          </a:p>
        </p:txBody>
      </p:sp>
      <p:sp>
        <p:nvSpPr>
          <p:cNvPr id="5" name="Footer Placeholder 4">
            <a:extLst>
              <a:ext uri="{FF2B5EF4-FFF2-40B4-BE49-F238E27FC236}">
                <a16:creationId xmlns:a16="http://schemas.microsoft.com/office/drawing/2014/main" id="{88F9D9A9-BCEF-7F8A-BE00-CE0EE4B3FF2F}"/>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454276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Verdana" panose="020B0604030504040204" pitchFamily="34" charset="0"/>
              </a:rPr>
              <a:t>Instructor Note</a:t>
            </a:r>
            <a:r>
              <a:rPr lang="en-US">
                <a:latin typeface="Verdana" panose="020B0604030504040204" pitchFamily="34" charset="0"/>
              </a:rPr>
              <a:t>: The most common measurement in M&amp;V contexts is of energy or resource use. This is the direct measurement of the consumption of a resource that enables the delivery or existence of a service—e.g., burning fuel to drive to the beach or coal to illuminate street lamps.</a:t>
            </a:r>
          </a:p>
        </p:txBody>
      </p:sp>
      <p:sp>
        <p:nvSpPr>
          <p:cNvPr id="4" name="Slide Number Placeholder 3"/>
          <p:cNvSpPr>
            <a:spLocks noGrp="1"/>
          </p:cNvSpPr>
          <p:nvPr>
            <p:ph type="sldNum" sz="quarter" idx="5"/>
          </p:nvPr>
        </p:nvSpPr>
        <p:spPr/>
        <p:txBody>
          <a:bodyPr/>
          <a:lstStyle/>
          <a:p>
            <a:fld id="{82869989-EB00-4EE7-BCB5-25BDC5BB29F8}" type="slidenum">
              <a:rPr lang="en-US" smtClean="0"/>
              <a:pPr/>
              <a:t>8</a:t>
            </a:fld>
            <a:endParaRPr lang="en-US"/>
          </a:p>
        </p:txBody>
      </p:sp>
      <p:sp>
        <p:nvSpPr>
          <p:cNvPr id="5" name="Footer Placeholder 4">
            <a:extLst>
              <a:ext uri="{FF2B5EF4-FFF2-40B4-BE49-F238E27FC236}">
                <a16:creationId xmlns:a16="http://schemas.microsoft.com/office/drawing/2014/main" id="{2C452DA1-9DD1-ABBD-2FBD-1ED5347C32A2}"/>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512614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Verdana" panose="020B0604030504040204" pitchFamily="34" charset="0"/>
              </a:rPr>
              <a:t>Instructor Note</a:t>
            </a:r>
            <a:r>
              <a:rPr lang="en-US">
                <a:latin typeface="Verdana" panose="020B0604030504040204" pitchFamily="34" charset="0"/>
              </a:rPr>
              <a:t>: All non-instantaneous metering systems should have backup power and internal data storage to minimize the risk of power or communication loss. Also, be aware that metering systems with internal data storage but no data communication capabilities have a tendency to lose data after a period of about two weeks.</a:t>
            </a:r>
          </a:p>
          <a:p>
            <a:endParaRPr lang="en-US">
              <a:latin typeface="Verdana" panose="020B0604030504040204" pitchFamily="34" charset="0"/>
            </a:endParaRPr>
          </a:p>
          <a:p>
            <a:r>
              <a:rPr lang="en-GB" sz="1300">
                <a:latin typeface="Verdana" panose="020B0604030504040204" pitchFamily="34" charset="0"/>
              </a:rPr>
              <a:t>When in doubt, consult the project’s metrologist for a better understanding of metering requirements, setup, and conditions. Metrology is a distinct field of specialization, so if you’re unsure, don’t be afraid to ask for help.</a:t>
            </a:r>
            <a:endParaRPr lang="en-US">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82869989-EB00-4EE7-BCB5-25BDC5BB29F8}" type="slidenum">
              <a:rPr lang="en-US" smtClean="0"/>
              <a:pPr/>
              <a:t>12</a:t>
            </a:fld>
            <a:endParaRPr lang="en-US"/>
          </a:p>
        </p:txBody>
      </p:sp>
      <p:sp>
        <p:nvSpPr>
          <p:cNvPr id="5" name="Footer Placeholder 4">
            <a:extLst>
              <a:ext uri="{FF2B5EF4-FFF2-40B4-BE49-F238E27FC236}">
                <a16:creationId xmlns:a16="http://schemas.microsoft.com/office/drawing/2014/main" id="{C1D28469-73C5-B402-055C-CE2A0B511DAB}"/>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610705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A stipulation is “an assumption on which rests the validity or effect of something else.”</a:t>
            </a:r>
          </a:p>
          <a:p>
            <a:endParaRPr lang="en-US"/>
          </a:p>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14</a:t>
            </a:fld>
            <a:endParaRPr lang="en-US"/>
          </a:p>
        </p:txBody>
      </p:sp>
    </p:spTree>
    <p:extLst>
      <p:ext uri="{BB962C8B-B14F-4D97-AF65-F5344CB8AC3E}">
        <p14:creationId xmlns:p14="http://schemas.microsoft.com/office/powerpoint/2010/main" val="3978065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Notes</a:t>
            </a:r>
          </a:p>
          <a:p>
            <a:r>
              <a:rPr lang="en-US"/>
              <a:t>Provide examples of each bullet:</a:t>
            </a:r>
          </a:p>
          <a:p>
            <a:pPr marL="171450" indent="-171450">
              <a:buFont typeface="Arial" panose="020B0604020202020204" pitchFamily="34" charset="0"/>
              <a:buChar char="•"/>
            </a:pPr>
            <a:r>
              <a:rPr lang="en-US"/>
              <a:t>Appropriate Type – Flow meters: https://</a:t>
            </a:r>
            <a:r>
              <a:rPr lang="en-US" err="1"/>
              <a:t>instrumentationtools.com</a:t>
            </a:r>
            <a:r>
              <a:rPr lang="en-US"/>
              <a:t>/difference-invasive-non-invasive-intrusive-non-intrusive/</a:t>
            </a:r>
          </a:p>
          <a:p>
            <a:pPr marL="171450" indent="-171450">
              <a:buFont typeface="Arial" panose="020B0604020202020204" pitchFamily="34" charset="0"/>
              <a:buChar char="•"/>
            </a:pPr>
            <a:r>
              <a:rPr lang="en-US"/>
              <a:t>Range/Size: https://</a:t>
            </a:r>
            <a:r>
              <a:rPr lang="en-US" err="1"/>
              <a:t>www.flex-core.com</a:t>
            </a:r>
            <a:r>
              <a:rPr lang="en-US"/>
              <a:t>/products/current-transformers/?</a:t>
            </a:r>
            <a:r>
              <a:rPr lang="en-US" err="1"/>
              <a:t>gclid</a:t>
            </a:r>
            <a:r>
              <a:rPr lang="en-US"/>
              <a:t>=CjwKCAjww7KmBhAyEiwA5-PUSvd6T5keNyT6pkOeSYtBM-QDjQbzYiC9GY706n3R7iAVdreXs7M5hhoC-bwQAvD_BwE</a:t>
            </a:r>
          </a:p>
          <a:p>
            <a:pPr marL="171450" indent="-171450">
              <a:buFont typeface="Arial" panose="020B0604020202020204" pitchFamily="34" charset="0"/>
              <a:buChar char="•"/>
            </a:pPr>
            <a:r>
              <a:rPr lang="en-US" err="1"/>
              <a:t>Thermocoupler</a:t>
            </a:r>
            <a:r>
              <a:rPr lang="en-US"/>
              <a:t>: https://</a:t>
            </a:r>
            <a:r>
              <a:rPr lang="en-US" err="1"/>
              <a:t>www.omega.com</a:t>
            </a:r>
            <a:r>
              <a:rPr lang="en-US"/>
              <a:t>/</a:t>
            </a:r>
            <a:r>
              <a:rPr lang="en-US" err="1"/>
              <a:t>en</a:t>
            </a:r>
            <a:r>
              <a:rPr lang="en-US"/>
              <a:t>-us/temperature-measurement/temperature-wire-and-cable/c/</a:t>
            </a:r>
            <a:r>
              <a:rPr lang="en-US" err="1"/>
              <a:t>thermocouple-wires?GUID</a:t>
            </a:r>
            <a:r>
              <a:rPr lang="en-US"/>
              <a:t>=7018W000000X7vBQAS</a:t>
            </a:r>
          </a:p>
          <a:p>
            <a:pPr marL="171450" indent="-171450">
              <a:buFont typeface="Arial" panose="020B0604020202020204" pitchFamily="34" charset="0"/>
              <a:buChar char="•"/>
            </a:pPr>
            <a:r>
              <a:rPr lang="en-US"/>
              <a:t>https://</a:t>
            </a:r>
            <a:r>
              <a:rPr lang="en-US" err="1"/>
              <a:t>www.emerson.com</a:t>
            </a:r>
            <a:r>
              <a:rPr lang="en-US"/>
              <a:t>/</a:t>
            </a:r>
            <a:r>
              <a:rPr lang="en-US" err="1"/>
              <a:t>en</a:t>
            </a:r>
            <a:r>
              <a:rPr lang="en-US"/>
              <a:t>-us/automation/measurement-instrumentation</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15</a:t>
            </a:fld>
            <a:endParaRPr lang="en-US"/>
          </a:p>
        </p:txBody>
      </p:sp>
    </p:spTree>
    <p:extLst>
      <p:ext uri="{BB962C8B-B14F-4D97-AF65-F5344CB8AC3E}">
        <p14:creationId xmlns:p14="http://schemas.microsoft.com/office/powerpoint/2010/main" val="333796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23</a:t>
            </a:fld>
            <a:endParaRPr lang="en-US"/>
          </a:p>
        </p:txBody>
      </p:sp>
    </p:spTree>
    <p:extLst>
      <p:ext uri="{BB962C8B-B14F-4D97-AF65-F5344CB8AC3E}">
        <p14:creationId xmlns:p14="http://schemas.microsoft.com/office/powerpoint/2010/main" val="669612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b="1">
                <a:latin typeface="Verdana" panose="020B0604030504040204" pitchFamily="34" charset="0"/>
              </a:rPr>
              <a:t>Instructor Note</a:t>
            </a:r>
            <a:r>
              <a:rPr lang="en-US">
                <a:latin typeface="Verdana" panose="020B0604030504040204" pitchFamily="34" charset="0"/>
              </a:rPr>
              <a:t>: Remember that calibration is meaningless if installation and setup are performed incorrectly. Data is useless if it comes from a meter that very accurately measures the wrong thing.</a:t>
            </a:r>
          </a:p>
          <a:p>
            <a:pPr defTabSz="966612">
              <a:defRPr/>
            </a:pPr>
            <a:endParaRPr lang="en-US">
              <a:latin typeface="Verdana" panose="020B0604030504040204" pitchFamily="34" charset="0"/>
            </a:endParaRPr>
          </a:p>
          <a:p>
            <a:pPr defTabSz="966612">
              <a:defRPr/>
            </a:pPr>
            <a:r>
              <a:rPr lang="en-US" b="1">
                <a:latin typeface="Verdana" panose="020B0604030504040204" pitchFamily="34" charset="0"/>
              </a:rPr>
              <a:t>Useful Links</a:t>
            </a:r>
          </a:p>
          <a:p>
            <a:pPr marL="171450" indent="-171450" defTabSz="966612">
              <a:buFont typeface="Arial" panose="020B0604020202020204" pitchFamily="34" charset="0"/>
              <a:buChar char="•"/>
              <a:defRPr/>
            </a:pPr>
            <a:r>
              <a:rPr lang="en-US">
                <a:latin typeface="Verdana" panose="020B0604030504040204" pitchFamily="34" charset="0"/>
              </a:rPr>
              <a:t>https://</a:t>
            </a:r>
            <a:r>
              <a:rPr lang="en-US" err="1">
                <a:latin typeface="Verdana" panose="020B0604030504040204" pitchFamily="34" charset="0"/>
              </a:rPr>
              <a:t>www.iso.org</a:t>
            </a:r>
            <a:r>
              <a:rPr lang="en-US">
                <a:latin typeface="Verdana" panose="020B0604030504040204" pitchFamily="34" charset="0"/>
              </a:rPr>
              <a:t>/ISO-IEC-17025-testing-and-calibration-laboratories.html</a:t>
            </a:r>
          </a:p>
          <a:p>
            <a:pPr marL="171450" indent="-171450" defTabSz="966612">
              <a:buFont typeface="Arial" panose="020B0604020202020204" pitchFamily="34" charset="0"/>
              <a:buChar char="•"/>
              <a:defRPr/>
            </a:pPr>
            <a:r>
              <a:rPr lang="en-US">
                <a:latin typeface="Verdana" panose="020B0604030504040204" pitchFamily="34" charset="0"/>
              </a:rPr>
              <a:t>https://</a:t>
            </a:r>
            <a:r>
              <a:rPr lang="en-US" err="1">
                <a:latin typeface="Verdana" panose="020B0604030504040204" pitchFamily="34" charset="0"/>
              </a:rPr>
              <a:t>anab.ansi.org</a:t>
            </a:r>
            <a:r>
              <a:rPr lang="en-US">
                <a:latin typeface="Verdana" panose="020B0604030504040204" pitchFamily="34" charset="0"/>
              </a:rPr>
              <a:t>/standard/iso-iec-17025/</a:t>
            </a:r>
          </a:p>
          <a:p>
            <a:pPr defTabSz="966612">
              <a:defRPr/>
            </a:pPr>
            <a:endParaRPr lang="en-US">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82869989-EB00-4EE7-BCB5-25BDC5BB29F8}" type="slidenum">
              <a:rPr lang="en-US" smtClean="0"/>
              <a:pPr/>
              <a:t>24</a:t>
            </a:fld>
            <a:endParaRPr lang="en-US"/>
          </a:p>
        </p:txBody>
      </p:sp>
      <p:sp>
        <p:nvSpPr>
          <p:cNvPr id="5" name="Footer Placeholder 4">
            <a:extLst>
              <a:ext uri="{FF2B5EF4-FFF2-40B4-BE49-F238E27FC236}">
                <a16:creationId xmlns:a16="http://schemas.microsoft.com/office/drawing/2014/main" id="{0970B580-B111-26FD-B8FB-1B4CFDAE76DB}"/>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038121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31</a:t>
            </a:fld>
            <a:endParaRPr lang="en-US"/>
          </a:p>
        </p:txBody>
      </p:sp>
    </p:spTree>
    <p:extLst>
      <p:ext uri="{BB962C8B-B14F-4D97-AF65-F5344CB8AC3E}">
        <p14:creationId xmlns:p14="http://schemas.microsoft.com/office/powerpoint/2010/main" val="4191481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41</a:t>
            </a:fld>
            <a:endParaRPr lang="en-US"/>
          </a:p>
        </p:txBody>
      </p:sp>
      <p:sp>
        <p:nvSpPr>
          <p:cNvPr id="5" name="Footer Placeholder 4">
            <a:extLst>
              <a:ext uri="{FF2B5EF4-FFF2-40B4-BE49-F238E27FC236}">
                <a16:creationId xmlns:a16="http://schemas.microsoft.com/office/drawing/2014/main" id="{391A399E-1430-B28B-D3FE-1AB5D9343472}"/>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358992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Verdana" panose="020B060403050404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6476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721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9F4859F1-D5C7-EC48-BAD7-2B16180A04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sp>
        <p:nvSpPr>
          <p:cNvPr id="2" name="Title 1">
            <a:extLst>
              <a:ext uri="{FF2B5EF4-FFF2-40B4-BE49-F238E27FC236}">
                <a16:creationId xmlns:a16="http://schemas.microsoft.com/office/drawing/2014/main" id="{59F6F62F-6086-F647-B44F-19908D7E21F7}"/>
              </a:ext>
            </a:extLst>
          </p:cNvPr>
          <p:cNvSpPr>
            <a:spLocks noGrp="1"/>
          </p:cNvSpPr>
          <p:nvPr>
            <p:ph type="title"/>
          </p:nvPr>
        </p:nvSpPr>
        <p:spPr>
          <a:xfrm>
            <a:off x="831850" y="576263"/>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C8EEF1-B00A-A645-A6F4-005FCEF7A515}"/>
              </a:ext>
            </a:extLst>
          </p:cNvPr>
          <p:cNvSpPr>
            <a:spLocks noGrp="1"/>
          </p:cNvSpPr>
          <p:nvPr>
            <p:ph type="body" idx="1"/>
          </p:nvPr>
        </p:nvSpPr>
        <p:spPr>
          <a:xfrm>
            <a:off x="831850" y="345598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58" name="Straight Connector 57">
            <a:extLst>
              <a:ext uri="{FF2B5EF4-FFF2-40B4-BE49-F238E27FC236}">
                <a16:creationId xmlns:a16="http://schemas.microsoft.com/office/drawing/2014/main" id="{985FC28C-C508-BD4C-8B9A-740C8339A1AA}"/>
              </a:ext>
            </a:extLst>
          </p:cNvPr>
          <p:cNvCxnSpPr>
            <a:cxnSpLocks/>
          </p:cNvCxnSpPr>
          <p:nvPr userDrawn="1"/>
        </p:nvCxnSpPr>
        <p:spPr>
          <a:xfrm>
            <a:off x="958362" y="4160700"/>
            <a:ext cx="10287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7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22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377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89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13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22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0026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2725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801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78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697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198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678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374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33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61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45575DB-02D9-E952-2213-315BDA88FD42}"/>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3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1452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C49ED7A3-C649-6235-DF9D-F3B16E3C813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C9CE07EE-50FE-474D-0F8E-5F992A7404BA}"/>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4485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965564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B08F-9BA6-F36A-B0D9-029AA4C2262C}"/>
              </a:ext>
            </a:extLst>
          </p:cNvPr>
          <p:cNvSpPr>
            <a:spLocks noGrp="1"/>
          </p:cNvSpPr>
          <p:nvPr>
            <p:ph type="title"/>
          </p:nvPr>
        </p:nvSpPr>
        <p:spPr>
          <a:xfrm>
            <a:off x="838200" y="5284258"/>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415992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3B1B-427B-4952-82AE-60202DAD191C}"/>
              </a:ext>
            </a:extLst>
          </p:cNvPr>
          <p:cNvSpPr>
            <a:spLocks noGrp="1"/>
          </p:cNvSpPr>
          <p:nvPr>
            <p:ph type="ctrTitle"/>
          </p:nvPr>
        </p:nvSpPr>
        <p:spPr>
          <a:xfrm>
            <a:off x="958361" y="1573469"/>
            <a:ext cx="10286999"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67303964-C8C6-AA7F-4B01-73CD18CA12C9}"/>
              </a:ext>
            </a:extLst>
          </p:cNvPr>
          <p:cNvSpPr>
            <a:spLocks noGrp="1"/>
          </p:cNvSpPr>
          <p:nvPr>
            <p:ph type="subTitle" idx="1"/>
          </p:nvPr>
        </p:nvSpPr>
        <p:spPr>
          <a:xfrm>
            <a:off x="958362" y="4360332"/>
            <a:ext cx="10286998"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descr="A screenshot of a computer&#10;&#10;Description automatically generated with medium confidence">
            <a:extLst>
              <a:ext uri="{FF2B5EF4-FFF2-40B4-BE49-F238E27FC236}">
                <a16:creationId xmlns:a16="http://schemas.microsoft.com/office/drawing/2014/main" id="{36028D5E-48DB-E431-5A76-631B89710B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cxnSp>
        <p:nvCxnSpPr>
          <p:cNvPr id="9" name="Straight Connector 8">
            <a:extLst>
              <a:ext uri="{FF2B5EF4-FFF2-40B4-BE49-F238E27FC236}">
                <a16:creationId xmlns:a16="http://schemas.microsoft.com/office/drawing/2014/main" id="{33D4D6E7-D4E4-72C3-4120-84A91FF37BD3}"/>
              </a:ext>
            </a:extLst>
          </p:cNvPr>
          <p:cNvCxnSpPr>
            <a:cxnSpLocks/>
          </p:cNvCxnSpPr>
          <p:nvPr userDrawn="1"/>
        </p:nvCxnSpPr>
        <p:spPr>
          <a:xfrm>
            <a:off x="958362"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006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6"/>
            <a:ext cx="10515600" cy="664422"/>
          </a:xfrm>
        </p:spPr>
        <p:txBody>
          <a:bodyPr/>
          <a:lstStyle/>
          <a:p>
            <a:r>
              <a:rPr lang="en-US"/>
              <a:t>Click to edit Master title style</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52C8A555-1706-5637-0DCF-42D6F9346F99}"/>
              </a:ext>
            </a:extLst>
          </p:cNvPr>
          <p:cNvSpPr>
            <a:spLocks noGrp="1"/>
          </p:cNvSpPr>
          <p:nvPr>
            <p:ph type="pic" sz="quarter" idx="11"/>
          </p:nvPr>
        </p:nvSpPr>
        <p:spPr>
          <a:xfrm>
            <a:off x="834621" y="1028935"/>
            <a:ext cx="5259391" cy="2400065"/>
          </a:xfrm>
        </p:spPr>
        <p:txBody>
          <a:bodyPr/>
          <a:lstStyle/>
          <a:p>
            <a:endParaRPr lang="en-US"/>
          </a:p>
        </p:txBody>
      </p:sp>
      <p:sp>
        <p:nvSpPr>
          <p:cNvPr id="12" name="Picture Placeholder 4">
            <a:extLst>
              <a:ext uri="{FF2B5EF4-FFF2-40B4-BE49-F238E27FC236}">
                <a16:creationId xmlns:a16="http://schemas.microsoft.com/office/drawing/2014/main" id="{A15DAA1B-DA05-AF85-ED79-730185EDE2B1}"/>
              </a:ext>
            </a:extLst>
          </p:cNvPr>
          <p:cNvSpPr>
            <a:spLocks noGrp="1"/>
          </p:cNvSpPr>
          <p:nvPr>
            <p:ph type="pic" sz="quarter" idx="12"/>
          </p:nvPr>
        </p:nvSpPr>
        <p:spPr>
          <a:xfrm>
            <a:off x="834620" y="3429000"/>
            <a:ext cx="5259391" cy="2407939"/>
          </a:xfrm>
        </p:spPr>
        <p:txBody>
          <a:bodyPr/>
          <a:lstStyle/>
          <a:p>
            <a:endParaRPr lang="en-US"/>
          </a:p>
        </p:txBody>
      </p:sp>
      <p:sp>
        <p:nvSpPr>
          <p:cNvPr id="13" name="Picture Placeholder 4">
            <a:extLst>
              <a:ext uri="{FF2B5EF4-FFF2-40B4-BE49-F238E27FC236}">
                <a16:creationId xmlns:a16="http://schemas.microsoft.com/office/drawing/2014/main" id="{932A95C9-5605-F23D-2E6D-18A350D72D15}"/>
              </a:ext>
            </a:extLst>
          </p:cNvPr>
          <p:cNvSpPr>
            <a:spLocks noGrp="1"/>
          </p:cNvSpPr>
          <p:nvPr>
            <p:ph type="pic" sz="quarter" idx="13"/>
          </p:nvPr>
        </p:nvSpPr>
        <p:spPr>
          <a:xfrm>
            <a:off x="6094409" y="1029548"/>
            <a:ext cx="5259391" cy="2407939"/>
          </a:xfrm>
        </p:spPr>
        <p:txBody>
          <a:bodyPr/>
          <a:lstStyle/>
          <a:p>
            <a:endParaRPr lang="en-US"/>
          </a:p>
        </p:txBody>
      </p:sp>
      <p:sp>
        <p:nvSpPr>
          <p:cNvPr id="14" name="Picture Placeholder 4">
            <a:extLst>
              <a:ext uri="{FF2B5EF4-FFF2-40B4-BE49-F238E27FC236}">
                <a16:creationId xmlns:a16="http://schemas.microsoft.com/office/drawing/2014/main" id="{56FF05F1-D24D-C72C-AF1C-85FE33CA6D91}"/>
              </a:ext>
            </a:extLst>
          </p:cNvPr>
          <p:cNvSpPr>
            <a:spLocks noGrp="1"/>
          </p:cNvSpPr>
          <p:nvPr>
            <p:ph type="pic" sz="quarter" idx="14"/>
          </p:nvPr>
        </p:nvSpPr>
        <p:spPr>
          <a:xfrm>
            <a:off x="6094011" y="3429000"/>
            <a:ext cx="5259391" cy="2407939"/>
          </a:xfrm>
        </p:spPr>
        <p:txBody>
          <a:bodyPr/>
          <a:lstStyle/>
          <a:p>
            <a:endParaRPr lang="en-US"/>
          </a:p>
        </p:txBody>
      </p:sp>
    </p:spTree>
    <p:extLst>
      <p:ext uri="{BB962C8B-B14F-4D97-AF65-F5344CB8AC3E}">
        <p14:creationId xmlns:p14="http://schemas.microsoft.com/office/powerpoint/2010/main" val="256816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Images-T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10515600" cy="6981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3572539"/>
            <a:ext cx="10515600" cy="2604423"/>
          </a:xfrm>
        </p:spPr>
        <p:txBody>
          <a:bodyPr tIns="228600"/>
          <a:lstStyle/>
          <a:p>
            <a:pPr lvl="0"/>
            <a:r>
              <a:rPr lang="en-US"/>
              <a:t>Click to edit Master text styles</a:t>
            </a:r>
          </a:p>
          <a:p>
            <a:pPr lvl="1"/>
            <a:r>
              <a:rPr lang="en-US"/>
              <a:t>Second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C8D6E386-D8BA-D64A-058C-0CBA3881C59B}"/>
              </a:ext>
            </a:extLst>
          </p:cNvPr>
          <p:cNvSpPr>
            <a:spLocks noGrp="1"/>
          </p:cNvSpPr>
          <p:nvPr>
            <p:ph type="pic" sz="quarter" idx="11"/>
          </p:nvPr>
        </p:nvSpPr>
        <p:spPr>
          <a:xfrm>
            <a:off x="838200" y="1063256"/>
            <a:ext cx="5257800" cy="2508619"/>
          </a:xfrm>
        </p:spPr>
        <p:txBody>
          <a:bodyPr/>
          <a:lstStyle/>
          <a:p>
            <a:endParaRPr lang="en-US"/>
          </a:p>
        </p:txBody>
      </p:sp>
      <p:sp>
        <p:nvSpPr>
          <p:cNvPr id="9" name="Picture Placeholder 4">
            <a:extLst>
              <a:ext uri="{FF2B5EF4-FFF2-40B4-BE49-F238E27FC236}">
                <a16:creationId xmlns:a16="http://schemas.microsoft.com/office/drawing/2014/main" id="{0ED7FFD3-1A10-2363-6DD7-943533E03150}"/>
              </a:ext>
            </a:extLst>
          </p:cNvPr>
          <p:cNvSpPr>
            <a:spLocks noGrp="1"/>
          </p:cNvSpPr>
          <p:nvPr>
            <p:ph type="pic" sz="quarter" idx="12"/>
          </p:nvPr>
        </p:nvSpPr>
        <p:spPr>
          <a:xfrm>
            <a:off x="6096000" y="1068019"/>
            <a:ext cx="5257800" cy="2499093"/>
          </a:xfrm>
        </p:spPr>
        <p:txBody>
          <a:bodyPr/>
          <a:lstStyle/>
          <a:p>
            <a:endParaRPr lang="en-US"/>
          </a:p>
        </p:txBody>
      </p:sp>
    </p:spTree>
    <p:extLst>
      <p:ext uri="{BB962C8B-B14F-4D97-AF65-F5344CB8AC3E}">
        <p14:creationId xmlns:p14="http://schemas.microsoft.com/office/powerpoint/2010/main" val="50736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Heavy Swoop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891805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1825625"/>
            <a:ext cx="8918050" cy="4351338"/>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752325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6" name="Picture 15" descr="A picture containing text&#10;&#10;Description automatically generated">
            <a:extLst>
              <a:ext uri="{FF2B5EF4-FFF2-40B4-BE49-F238E27FC236}">
                <a16:creationId xmlns:a16="http://schemas.microsoft.com/office/drawing/2014/main" id="{160E74C2-3127-E8CF-4918-164FEC8F7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7681544" y="2347548"/>
            <a:ext cx="6858000" cy="2156088"/>
          </a:xfrm>
          <a:prstGeom prst="rect">
            <a:avLst/>
          </a:prstGeom>
        </p:spPr>
      </p:pic>
      <p:sp>
        <p:nvSpPr>
          <p:cNvPr id="14" name="Picture Placeholder 13">
            <a:extLst>
              <a:ext uri="{FF2B5EF4-FFF2-40B4-BE49-F238E27FC236}">
                <a16:creationId xmlns:a16="http://schemas.microsoft.com/office/drawing/2014/main" id="{86AA31C8-0E72-B9CC-4EDD-96355D3017D2}"/>
              </a:ext>
            </a:extLst>
          </p:cNvPr>
          <p:cNvSpPr>
            <a:spLocks noGrp="1"/>
          </p:cNvSpPr>
          <p:nvPr>
            <p:ph type="pic" sz="quarter" idx="10"/>
          </p:nvPr>
        </p:nvSpPr>
        <p:spPr>
          <a:xfrm>
            <a:off x="10090206" y="1611"/>
            <a:ext cx="2098380" cy="6852981"/>
          </a:xfrm>
          <a:custGeom>
            <a:avLst/>
            <a:gdLst>
              <a:gd name="connsiteX0" fmla="*/ 56634 w 1503235"/>
              <a:gd name="connsiteY0" fmla="*/ 0 h 6852981"/>
              <a:gd name="connsiteX1" fmla="*/ 1503235 w 1503235"/>
              <a:gd name="connsiteY1" fmla="*/ 0 h 6852981"/>
              <a:gd name="connsiteX2" fmla="*/ 1503235 w 1503235"/>
              <a:gd name="connsiteY2" fmla="*/ 6852981 h 6852981"/>
              <a:gd name="connsiteX3" fmla="*/ 645860 w 1503235"/>
              <a:gd name="connsiteY3" fmla="*/ 6850473 h 6852981"/>
              <a:gd name="connsiteX4" fmla="*/ 58942 w 1503235"/>
              <a:gd name="connsiteY4" fmla="*/ 3178158 h 6852981"/>
              <a:gd name="connsiteX5" fmla="*/ 56634 w 1503235"/>
              <a:gd name="connsiteY5" fmla="*/ 0 h 6852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235" h="6852981">
                <a:moveTo>
                  <a:pt x="56634" y="0"/>
                </a:moveTo>
                <a:lnTo>
                  <a:pt x="1503235" y="0"/>
                </a:lnTo>
                <a:lnTo>
                  <a:pt x="1503235" y="6852981"/>
                </a:lnTo>
                <a:lnTo>
                  <a:pt x="645860" y="6850473"/>
                </a:lnTo>
                <a:cubicBezTo>
                  <a:pt x="389952" y="5820167"/>
                  <a:pt x="162339" y="4584273"/>
                  <a:pt x="58942" y="3178158"/>
                </a:cubicBezTo>
                <a:cubicBezTo>
                  <a:pt x="-27949" y="1997097"/>
                  <a:pt x="-10190" y="927359"/>
                  <a:pt x="56634" y="0"/>
                </a:cubicBezTo>
                <a:close/>
              </a:path>
            </a:pathLst>
          </a:custGeom>
        </p:spPr>
        <p:txBody>
          <a:bodyPr wrap="square">
            <a:noAutofit/>
          </a:bodyPr>
          <a:lstStyle/>
          <a:p>
            <a:endParaRPr lang="en-US"/>
          </a:p>
        </p:txBody>
      </p:sp>
      <p:sp>
        <p:nvSpPr>
          <p:cNvPr id="9" name="Text Placeholder 5">
            <a:extLst>
              <a:ext uri="{FF2B5EF4-FFF2-40B4-BE49-F238E27FC236}">
                <a16:creationId xmlns:a16="http://schemas.microsoft.com/office/drawing/2014/main" id="{116CF9A6-C7BC-B26A-AF92-4B1D03410300}"/>
              </a:ext>
            </a:extLst>
          </p:cNvPr>
          <p:cNvSpPr>
            <a:spLocks noGrp="1"/>
          </p:cNvSpPr>
          <p:nvPr>
            <p:ph type="body" sz="quarter" idx="11"/>
          </p:nvPr>
        </p:nvSpPr>
        <p:spPr>
          <a:xfrm>
            <a:off x="2233613" y="6181725"/>
            <a:ext cx="752263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79608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CC704-EDAD-4714-1BCE-6A9024D6E2C0}"/>
              </a:ext>
            </a:extLst>
          </p:cNvPr>
          <p:cNvSpPr>
            <a:spLocks noGrp="1"/>
          </p:cNvSpPr>
          <p:nvPr>
            <p:ph sz="half" idx="1"/>
          </p:nvPr>
        </p:nvSpPr>
        <p:spPr>
          <a:xfrm>
            <a:off x="838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3D63D1-B6F8-0EC2-FC6F-011DFCF5B1E2}"/>
              </a:ext>
            </a:extLst>
          </p:cNvPr>
          <p:cNvSpPr>
            <a:spLocks noGrp="1"/>
          </p:cNvSpPr>
          <p:nvPr>
            <p:ph sz="half" idx="2"/>
          </p:nvPr>
        </p:nvSpPr>
        <p:spPr>
          <a:xfrm>
            <a:off x="6172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picture containing clipart&#10;&#10;Description automatically generated">
            <a:extLst>
              <a:ext uri="{FF2B5EF4-FFF2-40B4-BE49-F238E27FC236}">
                <a16:creationId xmlns:a16="http://schemas.microsoft.com/office/drawing/2014/main" id="{609B6BFE-E691-89AD-4C91-86A211ED4C26}"/>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5" name="Title 1">
            <a:extLst>
              <a:ext uri="{FF2B5EF4-FFF2-40B4-BE49-F238E27FC236}">
                <a16:creationId xmlns:a16="http://schemas.microsoft.com/office/drawing/2014/main" id="{52DA9E68-AAA7-4FD1-4ACF-A9E2C052979F}"/>
              </a:ext>
            </a:extLst>
          </p:cNvPr>
          <p:cNvSpPr>
            <a:spLocks noGrp="1"/>
          </p:cNvSpPr>
          <p:nvPr>
            <p:ph type="title"/>
          </p:nvPr>
        </p:nvSpPr>
        <p:spPr>
          <a:xfrm>
            <a:off x="839788" y="365125"/>
            <a:ext cx="10515600" cy="1325563"/>
          </a:xfrm>
        </p:spPr>
        <p:txBody>
          <a:bodyPr/>
          <a:lstStyle/>
          <a:p>
            <a:r>
              <a:rPr lang="en-US"/>
              <a:t>Click to edit Master title style</a:t>
            </a:r>
          </a:p>
        </p:txBody>
      </p:sp>
      <p:cxnSp>
        <p:nvCxnSpPr>
          <p:cNvPr id="2" name="Straight Connector 1">
            <a:extLst>
              <a:ext uri="{FF2B5EF4-FFF2-40B4-BE49-F238E27FC236}">
                <a16:creationId xmlns:a16="http://schemas.microsoft.com/office/drawing/2014/main" id="{BF6F8C83-DA6C-9D74-DB7C-F33D17024F8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51C6D4C-DF41-8656-E66B-E27FA092EA74}"/>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50791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CD7-2872-55FB-9A85-F5F5E3F7A1F6}"/>
              </a:ext>
            </a:extLst>
          </p:cNvPr>
          <p:cNvSpPr>
            <a:spLocks noGrp="1"/>
          </p:cNvSpPr>
          <p:nvPr>
            <p:ph type="title"/>
          </p:nvPr>
        </p:nvSpPr>
        <p:spPr>
          <a:xfrm>
            <a:off x="839788" y="365126"/>
            <a:ext cx="10515600" cy="1016974"/>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4EF065-F4A6-A9AF-220D-6B0AFF176C11}"/>
              </a:ext>
            </a:extLst>
          </p:cNvPr>
          <p:cNvSpPr>
            <a:spLocks noGrp="1"/>
          </p:cNvSpPr>
          <p:nvPr>
            <p:ph type="body" idx="1"/>
          </p:nvPr>
        </p:nvSpPr>
        <p:spPr>
          <a:xfrm>
            <a:off x="839788" y="1403797"/>
            <a:ext cx="5157787" cy="662070"/>
          </a:xfrm>
        </p:spPr>
        <p:txBody>
          <a:bodyPr anchor="b"/>
          <a:lstStyle>
            <a:lvl1pPr marL="0" indent="0">
              <a:buNone/>
              <a:defRPr sz="2400" b="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A04EFB-41BC-9218-6F89-AE3FB427B9AF}"/>
              </a:ext>
            </a:extLst>
          </p:cNvPr>
          <p:cNvSpPr>
            <a:spLocks noGrp="1"/>
          </p:cNvSpPr>
          <p:nvPr>
            <p:ph sz="half" idx="2"/>
          </p:nvPr>
        </p:nvSpPr>
        <p:spPr>
          <a:xfrm>
            <a:off x="839788" y="2065867"/>
            <a:ext cx="5157787" cy="384643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253455-7029-147A-61AB-25BA398DD8A2}"/>
              </a:ext>
            </a:extLst>
          </p:cNvPr>
          <p:cNvSpPr>
            <a:spLocks noGrp="1"/>
          </p:cNvSpPr>
          <p:nvPr>
            <p:ph type="body" sz="quarter" idx="3"/>
          </p:nvPr>
        </p:nvSpPr>
        <p:spPr>
          <a:xfrm>
            <a:off x="6172200" y="1403797"/>
            <a:ext cx="5183188" cy="662070"/>
          </a:xfrm>
        </p:spPr>
        <p:txBody>
          <a:bodyPr anchor="b"/>
          <a:lstStyle>
            <a:lvl1pPr marL="0" indent="0">
              <a:buNone/>
              <a:defRPr sz="2400" b="0" i="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96CBB-5D01-3987-470C-1A7FCC38DBD4}"/>
              </a:ext>
            </a:extLst>
          </p:cNvPr>
          <p:cNvSpPr>
            <a:spLocks noGrp="1"/>
          </p:cNvSpPr>
          <p:nvPr>
            <p:ph sz="quarter" idx="4"/>
          </p:nvPr>
        </p:nvSpPr>
        <p:spPr>
          <a:xfrm>
            <a:off x="6172200" y="2087564"/>
            <a:ext cx="5183188" cy="3824733"/>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icture containing clipart&#10;&#10;Description automatically generated">
            <a:extLst>
              <a:ext uri="{FF2B5EF4-FFF2-40B4-BE49-F238E27FC236}">
                <a16:creationId xmlns:a16="http://schemas.microsoft.com/office/drawing/2014/main" id="{DD0812C0-7373-E99F-5460-E09A85290A1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7" name="Straight Connector 6">
            <a:extLst>
              <a:ext uri="{FF2B5EF4-FFF2-40B4-BE49-F238E27FC236}">
                <a16:creationId xmlns:a16="http://schemas.microsoft.com/office/drawing/2014/main" id="{CD268754-B97E-FC72-F68A-60310D509A7E}"/>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6BDA3658-DCCD-5826-B876-EFD9A557D850}"/>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4003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p:txBody>
          <a:bodyPr/>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3" name="Straight Connector 2">
            <a:extLst>
              <a:ext uri="{FF2B5EF4-FFF2-40B4-BE49-F238E27FC236}">
                <a16:creationId xmlns:a16="http://schemas.microsoft.com/office/drawing/2014/main" id="{EC78B7C8-8363-300B-388E-47F442A6CC1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5">
            <a:extLst>
              <a:ext uri="{FF2B5EF4-FFF2-40B4-BE49-F238E27FC236}">
                <a16:creationId xmlns:a16="http://schemas.microsoft.com/office/drawing/2014/main" id="{5F9140F1-3E50-ED16-0F6D-CF6A042F70FC}"/>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6381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Image-Text Colum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3251662"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199" y="3284647"/>
            <a:ext cx="3251661" cy="2419241"/>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8102138" y="1022460"/>
            <a:ext cx="3251662"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8102137"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17" name="Picture Placeholder 3">
            <a:extLst>
              <a:ext uri="{FF2B5EF4-FFF2-40B4-BE49-F238E27FC236}">
                <a16:creationId xmlns:a16="http://schemas.microsoft.com/office/drawing/2014/main" id="{F011ED4E-3C7D-C1FC-B6FB-1B2743BB9310}"/>
              </a:ext>
            </a:extLst>
          </p:cNvPr>
          <p:cNvSpPr>
            <a:spLocks noGrp="1"/>
          </p:cNvSpPr>
          <p:nvPr>
            <p:ph type="pic" sz="quarter" idx="16"/>
          </p:nvPr>
        </p:nvSpPr>
        <p:spPr>
          <a:xfrm>
            <a:off x="4470166" y="1022460"/>
            <a:ext cx="3251662" cy="2262187"/>
          </a:xfrm>
        </p:spPr>
        <p:txBody>
          <a:bodyPr/>
          <a:lstStyle/>
          <a:p>
            <a:endParaRPr lang="en-US"/>
          </a:p>
        </p:txBody>
      </p:sp>
      <p:sp>
        <p:nvSpPr>
          <p:cNvPr id="18" name="Text Placeholder 9">
            <a:extLst>
              <a:ext uri="{FF2B5EF4-FFF2-40B4-BE49-F238E27FC236}">
                <a16:creationId xmlns:a16="http://schemas.microsoft.com/office/drawing/2014/main" id="{620B54E1-F126-7688-986D-67DBA659B6A6}"/>
              </a:ext>
            </a:extLst>
          </p:cNvPr>
          <p:cNvSpPr>
            <a:spLocks noGrp="1"/>
          </p:cNvSpPr>
          <p:nvPr>
            <p:ph type="body" sz="quarter" idx="17"/>
          </p:nvPr>
        </p:nvSpPr>
        <p:spPr>
          <a:xfrm>
            <a:off x="4470165"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6696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Captio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6611" y="1537847"/>
            <a:ext cx="3459155" cy="3456432"/>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6609"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9" name="Picture Placeholder 3">
            <a:extLst>
              <a:ext uri="{FF2B5EF4-FFF2-40B4-BE49-F238E27FC236}">
                <a16:creationId xmlns:a16="http://schemas.microsoft.com/office/drawing/2014/main" id="{3FA4BA4A-A73F-3143-C1F1-47B555C36AD2}"/>
              </a:ext>
            </a:extLst>
          </p:cNvPr>
          <p:cNvSpPr>
            <a:spLocks noGrp="1"/>
          </p:cNvSpPr>
          <p:nvPr>
            <p:ph type="pic" sz="quarter" idx="19"/>
          </p:nvPr>
        </p:nvSpPr>
        <p:spPr>
          <a:xfrm>
            <a:off x="4365628" y="1537847"/>
            <a:ext cx="3459155" cy="3456432"/>
          </a:xfrm>
        </p:spPr>
        <p:txBody>
          <a:bodyPr/>
          <a:lstStyle/>
          <a:p>
            <a:endParaRPr lang="en-US"/>
          </a:p>
        </p:txBody>
      </p:sp>
      <p:sp>
        <p:nvSpPr>
          <p:cNvPr id="11" name="Picture Placeholder 3">
            <a:extLst>
              <a:ext uri="{FF2B5EF4-FFF2-40B4-BE49-F238E27FC236}">
                <a16:creationId xmlns:a16="http://schemas.microsoft.com/office/drawing/2014/main" id="{34841F7F-FA2F-E60F-9887-F584B637EB70}"/>
              </a:ext>
            </a:extLst>
          </p:cNvPr>
          <p:cNvSpPr>
            <a:spLocks noGrp="1"/>
          </p:cNvSpPr>
          <p:nvPr>
            <p:ph type="pic" sz="quarter" idx="20"/>
          </p:nvPr>
        </p:nvSpPr>
        <p:spPr>
          <a:xfrm>
            <a:off x="7894645" y="1537847"/>
            <a:ext cx="3459155" cy="3456432"/>
          </a:xfrm>
        </p:spPr>
        <p:txBody>
          <a:bodyPr/>
          <a:lstStyle/>
          <a:p>
            <a:endParaRPr lang="en-US"/>
          </a:p>
        </p:txBody>
      </p:sp>
      <p:sp>
        <p:nvSpPr>
          <p:cNvPr id="12" name="Text Placeholder 9">
            <a:extLst>
              <a:ext uri="{FF2B5EF4-FFF2-40B4-BE49-F238E27FC236}">
                <a16:creationId xmlns:a16="http://schemas.microsoft.com/office/drawing/2014/main" id="{FC94224B-95BE-84E5-884D-6A84F0D8B918}"/>
              </a:ext>
            </a:extLst>
          </p:cNvPr>
          <p:cNvSpPr>
            <a:spLocks noGrp="1"/>
          </p:cNvSpPr>
          <p:nvPr>
            <p:ph type="body" sz="quarter" idx="21"/>
          </p:nvPr>
        </p:nvSpPr>
        <p:spPr>
          <a:xfrm>
            <a:off x="4365628"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13" name="Text Placeholder 9">
            <a:extLst>
              <a:ext uri="{FF2B5EF4-FFF2-40B4-BE49-F238E27FC236}">
                <a16:creationId xmlns:a16="http://schemas.microsoft.com/office/drawing/2014/main" id="{19D8B6C2-A903-A23D-B848-7FF26692CD47}"/>
              </a:ext>
            </a:extLst>
          </p:cNvPr>
          <p:cNvSpPr>
            <a:spLocks noGrp="1"/>
          </p:cNvSpPr>
          <p:nvPr>
            <p:ph type="body" sz="quarter" idx="22"/>
          </p:nvPr>
        </p:nvSpPr>
        <p:spPr>
          <a:xfrm>
            <a:off x="7894645"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Tree>
    <p:extLst>
      <p:ext uri="{BB962C8B-B14F-4D97-AF65-F5344CB8AC3E}">
        <p14:creationId xmlns:p14="http://schemas.microsoft.com/office/powerpoint/2010/main" val="168287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Image-Text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1200150" indent="-285750">
              <a:buFont typeface="Arial" panose="020B0604020202020204" pitchFamily="34" charset="0"/>
              <a:buChar char="•"/>
              <a:defRPr sz="16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6442364" y="1022460"/>
            <a:ext cx="4911436"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6442361" y="3284647"/>
            <a:ext cx="4911437" cy="2419241"/>
          </a:xfrm>
        </p:spPr>
        <p:txBody>
          <a:bodyPr tIns="228600">
            <a:normAutofit/>
          </a:bodyPr>
          <a:lstStyle>
            <a:lvl1pPr marL="0" indent="0">
              <a:buNone/>
              <a:defRPr sz="1800"/>
            </a:lvl1pPr>
            <a:lvl2pPr>
              <a:defRPr sz="1600"/>
            </a:lvl2pPr>
            <a:lvl3pPr>
              <a:defRPr sz="1600"/>
            </a:lvl3pPr>
          </a:lstStyle>
          <a:p>
            <a:pPr lvl="0"/>
            <a:r>
              <a:rPr lang="en-US"/>
              <a:t>Click to edit Master text styles</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86419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Column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5749637" y="1022350"/>
            <a:ext cx="5604164" cy="4681538"/>
          </a:xfrm>
        </p:spPr>
        <p:txBody>
          <a:bodyPr l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67949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Column Alternative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838200" y="1022350"/>
            <a:ext cx="5604164" cy="4681538"/>
          </a:xfrm>
        </p:spPr>
        <p:txBody>
          <a:bodyPr lIns="91440" r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6442364" y="1021737"/>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6442364" y="3311851"/>
            <a:ext cx="4911436" cy="2392038"/>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25964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w Frame">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7E64B68C-19BD-94A4-BCA6-5C231578DBE6}"/>
              </a:ext>
            </a:extLst>
          </p:cNvPr>
          <p:cNvSpPr>
            <a:spLocks noGrp="1"/>
          </p:cNvSpPr>
          <p:nvPr>
            <p:ph type="pic" sz="quarter" idx="10"/>
          </p:nvPr>
        </p:nvSpPr>
        <p:spPr>
          <a:xfrm>
            <a:off x="0" y="-25928"/>
            <a:ext cx="12192000" cy="5339537"/>
          </a:xfrm>
          <a:custGeom>
            <a:avLst/>
            <a:gdLst>
              <a:gd name="connsiteX0" fmla="*/ 0 w 12192000"/>
              <a:gd name="connsiteY0" fmla="*/ 0 h 5339537"/>
              <a:gd name="connsiteX1" fmla="*/ 12192000 w 12192000"/>
              <a:gd name="connsiteY1" fmla="*/ 0 h 5339537"/>
              <a:gd name="connsiteX2" fmla="*/ 12192000 w 12192000"/>
              <a:gd name="connsiteY2" fmla="*/ 4286547 h 5339537"/>
              <a:gd name="connsiteX3" fmla="*/ 6541940 w 12192000"/>
              <a:gd name="connsiteY3" fmla="*/ 4290650 h 5339537"/>
              <a:gd name="connsiteX4" fmla="*/ 13378 w 12192000"/>
              <a:gd name="connsiteY4" fmla="*/ 5334060 h 5339537"/>
              <a:gd name="connsiteX5" fmla="*/ 13373 w 12192000"/>
              <a:gd name="connsiteY5" fmla="*/ 5335896 h 5339537"/>
              <a:gd name="connsiteX6" fmla="*/ 0 w 12192000"/>
              <a:gd name="connsiteY6" fmla="*/ 5339537 h 533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339537">
                <a:moveTo>
                  <a:pt x="0" y="0"/>
                </a:moveTo>
                <a:lnTo>
                  <a:pt x="12192000" y="0"/>
                </a:lnTo>
                <a:lnTo>
                  <a:pt x="12192000" y="4286547"/>
                </a:lnTo>
                <a:cubicBezTo>
                  <a:pt x="10543360" y="4167749"/>
                  <a:pt x="8641604" y="4136176"/>
                  <a:pt x="6541940" y="4290650"/>
                </a:cubicBezTo>
                <a:cubicBezTo>
                  <a:pt x="4042179" y="4474466"/>
                  <a:pt x="1845032" y="4879112"/>
                  <a:pt x="13378" y="5334060"/>
                </a:cubicBezTo>
                <a:lnTo>
                  <a:pt x="13373" y="5335896"/>
                </a:lnTo>
                <a:lnTo>
                  <a:pt x="0" y="5339537"/>
                </a:lnTo>
                <a:close/>
              </a:path>
            </a:pathLst>
          </a:custGeom>
          <a:pattFill prst="pct5">
            <a:fgClr>
              <a:schemeClr val="accent1"/>
            </a:fgClr>
            <a:bgClr>
              <a:schemeClr val="bg1"/>
            </a:bgClr>
          </a:pattFill>
        </p:spPr>
        <p:txBody>
          <a:bodyPr wrap="square">
            <a:noAutofit/>
          </a:bodyPr>
          <a:lstStyle/>
          <a:p>
            <a:endParaRPr lang="en-US"/>
          </a:p>
        </p:txBody>
      </p:sp>
      <p:pic>
        <p:nvPicPr>
          <p:cNvPr id="11" name="Picture 10" descr="A picture containing text&#10;&#10;Description automatically generated">
            <a:extLst>
              <a:ext uri="{FF2B5EF4-FFF2-40B4-BE49-F238E27FC236}">
                <a16:creationId xmlns:a16="http://schemas.microsoft.com/office/drawing/2014/main" id="{2D5A594F-EE9B-015D-CFCD-15DF4937D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4147098"/>
            <a:ext cx="12306300" cy="2773451"/>
          </a:xfrm>
          <a:prstGeom prst="rect">
            <a:avLst/>
          </a:prstGeom>
        </p:spPr>
      </p:pic>
      <p:sp>
        <p:nvSpPr>
          <p:cNvPr id="6" name="Title 1">
            <a:extLst>
              <a:ext uri="{FF2B5EF4-FFF2-40B4-BE49-F238E27FC236}">
                <a16:creationId xmlns:a16="http://schemas.microsoft.com/office/drawing/2014/main" id="{8D648E24-F46E-01DE-04C1-967015ACA31E}"/>
              </a:ext>
            </a:extLst>
          </p:cNvPr>
          <p:cNvSpPr>
            <a:spLocks noGrp="1"/>
          </p:cNvSpPr>
          <p:nvPr>
            <p:ph type="title"/>
          </p:nvPr>
        </p:nvSpPr>
        <p:spPr>
          <a:xfrm>
            <a:off x="6096000" y="6010669"/>
            <a:ext cx="6096000" cy="847331"/>
          </a:xfrm>
        </p:spPr>
        <p:txBody>
          <a:bodyPr lIns="91440" tIns="91440" rIns="91440" bIns="91440" anchor="b"/>
          <a:lstStyle>
            <a:lvl1pPr algn="r">
              <a:defRPr/>
            </a:lvl1pPr>
          </a:lstStyle>
          <a:p>
            <a:r>
              <a:rPr lang="en-US"/>
              <a:t>Click to edit Master title style</a:t>
            </a:r>
          </a:p>
        </p:txBody>
      </p:sp>
    </p:spTree>
    <p:extLst>
      <p:ext uri="{BB962C8B-B14F-4D97-AF65-F5344CB8AC3E}">
        <p14:creationId xmlns:p14="http://schemas.microsoft.com/office/powerpoint/2010/main" val="321246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plash">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563C9E9-3ED8-F67B-0E27-68B346248583}"/>
              </a:ext>
            </a:extLst>
          </p:cNvPr>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2201168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50FD-1749-6B32-C4E2-45BA3F46BADE}"/>
              </a:ext>
            </a:extLst>
          </p:cNvPr>
          <p:cNvSpPr>
            <a:spLocks noGrp="1"/>
          </p:cNvSpPr>
          <p:nvPr>
            <p:ph type="title"/>
          </p:nvPr>
        </p:nvSpPr>
        <p:spPr>
          <a:xfrm>
            <a:off x="839788" y="640080"/>
            <a:ext cx="3932237" cy="1069975"/>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D3734D65-B365-95EE-54FD-870A0D8A919E}"/>
              </a:ext>
            </a:extLst>
          </p:cNvPr>
          <p:cNvSpPr>
            <a:spLocks noGrp="1"/>
          </p:cNvSpPr>
          <p:nvPr>
            <p:ph idx="1"/>
          </p:nvPr>
        </p:nvSpPr>
        <p:spPr>
          <a:xfrm>
            <a:off x="5183188" y="640080"/>
            <a:ext cx="6172200" cy="4873625"/>
          </a:xfrm>
        </p:spPr>
        <p:txBody>
          <a:bodyPr>
            <a:normAutofit/>
          </a:bodyPr>
          <a:lstStyle>
            <a:lvl1pPr>
              <a:defRPr sz="18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4B2F56-2B0D-0EF4-56CD-C05932CCA913}"/>
              </a:ext>
            </a:extLst>
          </p:cNvPr>
          <p:cNvSpPr>
            <a:spLocks noGrp="1"/>
          </p:cNvSpPr>
          <p:nvPr>
            <p:ph type="body" sz="half" idx="2"/>
          </p:nvPr>
        </p:nvSpPr>
        <p:spPr>
          <a:xfrm>
            <a:off x="839788" y="1735455"/>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BB5AD11E-7CA2-195A-3AED-D4EA18A7CBF0}"/>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8B7F537-9B65-DFA6-B015-6F940544605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6790AD-ED52-1F38-55AF-266155ED0CFF}"/>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1455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200" y="640080"/>
            <a:ext cx="4343400"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4553"/>
            <a:ext cx="4343400"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3680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Pictures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199" y="640080"/>
            <a:ext cx="5257799"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6096000" y="6400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199" y="1714553"/>
            <a:ext cx="5257799"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Picture Placeholder 2">
            <a:extLst>
              <a:ext uri="{FF2B5EF4-FFF2-40B4-BE49-F238E27FC236}">
                <a16:creationId xmlns:a16="http://schemas.microsoft.com/office/drawing/2014/main" id="{E82FCC31-BC93-90AB-AF4D-96D2AAC1DC24}"/>
              </a:ext>
            </a:extLst>
          </p:cNvPr>
          <p:cNvSpPr>
            <a:spLocks noGrp="1"/>
          </p:cNvSpPr>
          <p:nvPr>
            <p:ph type="pic" idx="11"/>
          </p:nvPr>
        </p:nvSpPr>
        <p:spPr>
          <a:xfrm>
            <a:off x="6096000" y="31029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252286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with Caption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7010400" y="640080"/>
            <a:ext cx="4343400" cy="1069975"/>
          </a:xfrm>
        </p:spPr>
        <p:txBody>
          <a:bodyPr lIns="228600" rIns="9144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6614"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08814" y="1706086"/>
            <a:ext cx="4343400"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58CC310E-4748-C5E8-AE54-7AC1A299401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E1EF47C-843F-BE5E-8F02-5DE1A2AC11B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58981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Alternative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1710055"/>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0056"/>
            <a:ext cx="4341812"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42FA145-7884-663E-2FD6-F146DBF165AD}"/>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5E442B31-B535-5FE2-2BC5-880EDD26FEF6}"/>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9A7D85F-FFE4-4A07-245F-FEBB3A5BB908}"/>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325908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lternative Picture with Caption (Invers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8197" y="1717992"/>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11988" y="1710055"/>
            <a:ext cx="4341812"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0F8A5377-95D6-C530-0CF9-020320B808C6}"/>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7417A37-EF31-074D-6E80-67675A8F2A7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C5E523F-BEDA-B92E-177F-92952F4CFFF3}"/>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77257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330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AAD5-8DD1-DC4F-C3FC-B95E383F0D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86E25A-25B7-0AFF-66E9-21B36824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CAAA45-371A-B61B-294F-DE211B14540A}"/>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9EE6060D-87A1-4A21-509E-5852E923C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9F6B3-1E80-9120-F2A6-44E6AB084BF5}"/>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720511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6A91-2D10-E1DA-4346-43F91908B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2A29A5-815C-527E-B2DC-FBCE17A53B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45CA9-C736-BD95-5532-BD7D05049A93}"/>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B1877436-BE64-99AD-D140-5F1C7774B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0D367-A36F-C89F-E1D7-95115A871A4E}"/>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7891920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8E33-CA27-88E2-9F92-AA12430C8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E62745-7C1E-6A02-04C2-6F1EC0E0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A6416-DEA8-2A6F-135E-7445E4B9DC74}"/>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42BDD8BD-2D8A-B3BD-27B8-7ED8DCCA5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333E4-C1AC-A5A6-A1DE-1C42CDBC5843}"/>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36553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BDE1-317E-29CD-73F7-74703C9F8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3B4BE4-BBEF-2B13-8055-53D27E94F1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172DEF-0F28-A62C-3CDD-30FA579384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AAE753-C79D-9851-31EF-E05956745397}"/>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6" name="Footer Placeholder 5">
            <a:extLst>
              <a:ext uri="{FF2B5EF4-FFF2-40B4-BE49-F238E27FC236}">
                <a16:creationId xmlns:a16="http://schemas.microsoft.com/office/drawing/2014/main" id="{3B705142-9F70-CC54-60A4-3E09BC83A2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BA7BA-2731-3AED-08C7-C64BB662CAE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533704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0CE2-7508-E81C-06F1-28A034A17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21967-D4D0-6219-3AAB-9D2E4F75E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F3A03-1015-ACF5-F20B-DB2A14A5A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C0E5BF-58E2-49EB-D836-6ED99AA10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C1CF98-ECC9-55E8-CD6F-1D5D4638D0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247C5-C34D-ADEC-AC65-FE6C8FD0C5C4}"/>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8" name="Footer Placeholder 7">
            <a:extLst>
              <a:ext uri="{FF2B5EF4-FFF2-40B4-BE49-F238E27FC236}">
                <a16:creationId xmlns:a16="http://schemas.microsoft.com/office/drawing/2014/main" id="{2D685EF8-754E-9EDF-566D-D2DBC48DF2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B8C502-F336-234A-C5BD-3A7EFE8771D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1628137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C712-081B-49DF-40D3-CA896D1E5E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01967A-6474-C9C7-09A5-D5C3F895D1FD}"/>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4" name="Footer Placeholder 3">
            <a:extLst>
              <a:ext uri="{FF2B5EF4-FFF2-40B4-BE49-F238E27FC236}">
                <a16:creationId xmlns:a16="http://schemas.microsoft.com/office/drawing/2014/main" id="{6C55163C-7A9E-4772-1C06-9759F6C308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45EDF-18A2-7D96-7ADF-DA791280AF2C}"/>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9608943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8D037-04A9-F5D8-556C-9ECCE6402FB1}"/>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3" name="Footer Placeholder 2">
            <a:extLst>
              <a:ext uri="{FF2B5EF4-FFF2-40B4-BE49-F238E27FC236}">
                <a16:creationId xmlns:a16="http://schemas.microsoft.com/office/drawing/2014/main" id="{45ED36C8-3553-1C68-A5E2-48BC581803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185F28-AB75-50BB-C03E-FAE7A9D589C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224293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3D1E-6132-B1F1-98DE-A0DBF6854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F0ECE0-A6ED-6CF1-9EC4-6E7C8946D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223C8-35DE-CFC4-E5AA-555D45C34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319D3-C3D5-78F0-E7B8-91755BC3E3A2}"/>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6" name="Footer Placeholder 5">
            <a:extLst>
              <a:ext uri="{FF2B5EF4-FFF2-40B4-BE49-F238E27FC236}">
                <a16:creationId xmlns:a16="http://schemas.microsoft.com/office/drawing/2014/main" id="{89C369DA-C9FF-BFE0-1EA8-F78CD5642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B09E0-F147-AD07-BE6A-9BBAD80DED8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5410737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6FB5-82B2-AAEA-443C-3E53C2AB3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5BBF77-398D-E23F-F419-00CADA31C7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95E83-21D3-CE30-DF9F-E78B4F1692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428B0B-767F-E2AF-B42A-8971AF98189E}"/>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6" name="Footer Placeholder 5">
            <a:extLst>
              <a:ext uri="{FF2B5EF4-FFF2-40B4-BE49-F238E27FC236}">
                <a16:creationId xmlns:a16="http://schemas.microsoft.com/office/drawing/2014/main" id="{CFA0D381-E325-7846-8518-6CB8F235E9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7B72B-56E1-C7D4-9132-DEDFD582450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450722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6BDF-36A7-5718-E5A5-DE5382070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89E1C7-143D-57A1-72A1-EF36DB985F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2236C-253F-CDE9-3078-4DF99D383828}"/>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C609742D-9740-9A95-463E-174B2D718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6397-AAEF-91D9-AB56-A5C31D582E3A}"/>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5808583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887D61-6E7E-6C92-72F6-6AC3A5DD73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BB4B8-BCF0-9CA6-F340-C0A77C7158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10D88-24BF-22A7-6352-8C048FA3B15E}"/>
              </a:ext>
            </a:extLst>
          </p:cNvPr>
          <p:cNvSpPr>
            <a:spLocks noGrp="1"/>
          </p:cNvSpPr>
          <p:nvPr>
            <p:ph type="dt" sz="half" idx="10"/>
          </p:nvPr>
        </p:nvSpPr>
        <p:spPr/>
        <p:txBody>
          <a:body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5BCAFD18-A41E-5830-3B37-37E15B198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40DB3D-B834-0C92-B6FC-71D0A7CFE44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8412346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1296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10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5CAF67C-05D9-E035-DD4E-5DB53A813F9F}"/>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cxnSp>
        <p:nvCxnSpPr>
          <p:cNvPr id="3" name="Straight Connector 2">
            <a:extLst>
              <a:ext uri="{FF2B5EF4-FFF2-40B4-BE49-F238E27FC236}">
                <a16:creationId xmlns:a16="http://schemas.microsoft.com/office/drawing/2014/main" id="{CD6D67B6-5BB8-A321-DCC1-1CDE6D6F2B3E}"/>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267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72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13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311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76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45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B7ABA80-BCE4-B20F-4ED2-67D0FB916F8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4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3331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9A7EA1FE-70E8-377A-9BCA-4A1930CC561D}"/>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54B80E5E-C6B1-0D18-CCDF-82BD487A9022}"/>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442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35065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18954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gif"/><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3.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image" Target="../media/image1.gif"/><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userDrawn="1"/>
        </p:nvPicPr>
        <p:blipFill>
          <a:blip r:embed="rId13"/>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33286796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5" r:id="rId8"/>
    <p:sldLayoutId id="2147483690" r:id="rId9"/>
    <p:sldLayoutId id="2147483691" r:id="rId10"/>
    <p:sldLayoutId id="214748369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accent1"/>
          </a:solidFill>
          <a:latin typeface="Verdana" panose="020B0604030504040204" pitchFamily="34" charset="0"/>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36"/>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ADF7A29A-0292-73AA-F083-6E595BAA8123}"/>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9477345E-DF3E-2C6E-4A34-F2D69FF9D719}"/>
              </a:ext>
            </a:extLst>
          </p:cNvPr>
          <p:cNvPicPr>
            <a:picLocks noChangeAspect="1"/>
          </p:cNvPicPr>
          <p:nvPr userDrawn="1"/>
        </p:nvPicPr>
        <p:blipFill>
          <a:blip r:embed="rId36"/>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252115318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28" r:id="rId13"/>
    <p:sldLayoutId id="2147483729" r:id="rId14"/>
    <p:sldLayoutId id="2147483731" r:id="rId15"/>
    <p:sldLayoutId id="2147483732" r:id="rId16"/>
    <p:sldLayoutId id="2147483733" r:id="rId17"/>
    <p:sldLayoutId id="2147483734" r:id="rId18"/>
    <p:sldLayoutId id="2147483735" r:id="rId19"/>
    <p:sldLayoutId id="2147483737" r:id="rId20"/>
    <p:sldLayoutId id="2147483738" r:id="rId21"/>
    <p:sldLayoutId id="2147483739" r:id="rId22"/>
    <p:sldLayoutId id="2147483741" r:id="rId23"/>
    <p:sldLayoutId id="2147483742" r:id="rId24"/>
    <p:sldLayoutId id="2147483743"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7"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CBAF9-2965-A7C6-845B-62B5E12FB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28E179-5E80-77E1-3E99-B4B330015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2F81F-BA8C-758D-D699-32EC909F1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E6E620-59F5-2C4A-92BD-F98311598A11}" type="datetimeFigureOut">
              <a:rPr lang="en-US" smtClean="0"/>
              <a:t>3/25/26</a:t>
            </a:fld>
            <a:endParaRPr lang="en-US"/>
          </a:p>
        </p:txBody>
      </p:sp>
      <p:sp>
        <p:nvSpPr>
          <p:cNvPr id="5" name="Footer Placeholder 4">
            <a:extLst>
              <a:ext uri="{FF2B5EF4-FFF2-40B4-BE49-F238E27FC236}">
                <a16:creationId xmlns:a16="http://schemas.microsoft.com/office/drawing/2014/main" id="{A8564B79-09C9-5020-93B1-FAC65CCB8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A6E8D9-C481-7218-0559-0C6D8A14D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4FBA9-C6FD-EE4B-9F7E-379E16761BEB}" type="slidenum">
              <a:rPr lang="en-US" smtClean="0"/>
              <a:t>‹#›</a:t>
            </a:fld>
            <a:endParaRPr lang="en-US"/>
          </a:p>
        </p:txBody>
      </p:sp>
    </p:spTree>
    <p:extLst>
      <p:ext uri="{BB962C8B-B14F-4D97-AF65-F5344CB8AC3E}">
        <p14:creationId xmlns:p14="http://schemas.microsoft.com/office/powerpoint/2010/main" val="145171799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15"/>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75CC1EA0-8D57-D902-1BE8-8FCC4D5BBB36}"/>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DA96A409-0530-A5F0-99CF-4177755327AB}"/>
              </a:ext>
            </a:extLst>
          </p:cNvPr>
          <p:cNvPicPr>
            <a:picLocks noChangeAspect="1"/>
          </p:cNvPicPr>
          <p:nvPr userDrawn="1"/>
        </p:nvPicPr>
        <p:blipFill>
          <a:blip r:embed="rId15"/>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23354164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9.svg"/><Relationship Id="rId5" Type="http://schemas.openxmlformats.org/officeDocument/2006/relationships/diagramQuickStyle" Target="../diagrams/quickStyle1.xml"/><Relationship Id="rId10" Type="http://schemas.openxmlformats.org/officeDocument/2006/relationships/image" Target="../media/image8.svg"/><Relationship Id="rId4" Type="http://schemas.openxmlformats.org/officeDocument/2006/relationships/diagramLayout" Target="../diagrams/layout1.xml"/><Relationship Id="rId9"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2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FC88F-BB76-B842-B4E9-49C7603ACA13}"/>
              </a:ext>
            </a:extLst>
          </p:cNvPr>
          <p:cNvSpPr>
            <a:spLocks noGrp="1"/>
          </p:cNvSpPr>
          <p:nvPr>
            <p:ph type="ctrTitle"/>
          </p:nvPr>
        </p:nvSpPr>
        <p:spPr>
          <a:xfrm>
            <a:off x="1161143" y="2235200"/>
            <a:ext cx="9869714" cy="2387600"/>
          </a:xfrm>
        </p:spPr>
        <p:txBody>
          <a:bodyPr anchor="ctr">
            <a:normAutofit/>
          </a:bodyPr>
          <a:lstStyle/>
          <a:p>
            <a:r>
              <a:rPr lang="en-US" sz="4000" b="0">
                <a:cs typeface="Calibri Light"/>
              </a:rPr>
              <a:t>MODULE 8</a:t>
            </a:r>
            <a:br>
              <a:rPr lang="en-US" b="0">
                <a:cs typeface="Calibri Light"/>
              </a:rPr>
            </a:br>
            <a:r>
              <a:rPr lang="en-US">
                <a:cs typeface="Calibri Light"/>
              </a:rPr>
              <a:t>Metering Considerations</a:t>
            </a:r>
            <a:endParaRPr lang="en-US" sz="5800">
              <a:cs typeface="Calibri Light"/>
            </a:endParaRPr>
          </a:p>
        </p:txBody>
      </p:sp>
    </p:spTree>
    <p:extLst>
      <p:ext uri="{BB962C8B-B14F-4D97-AF65-F5344CB8AC3E}">
        <p14:creationId xmlns:p14="http://schemas.microsoft.com/office/powerpoint/2010/main" val="2763989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C73D-C8AB-FF3E-61DB-7EB67FB326CE}"/>
              </a:ext>
            </a:extLst>
          </p:cNvPr>
          <p:cNvSpPr>
            <a:spLocks noGrp="1"/>
          </p:cNvSpPr>
          <p:nvPr>
            <p:ph type="title"/>
          </p:nvPr>
        </p:nvSpPr>
        <p:spPr/>
        <p:txBody>
          <a:bodyPr/>
          <a:lstStyle/>
          <a:p>
            <a:r>
              <a:rPr lang="en-US"/>
              <a:t>M&amp;V, Step by Step</a:t>
            </a:r>
          </a:p>
        </p:txBody>
      </p:sp>
      <p:graphicFrame>
        <p:nvGraphicFramePr>
          <p:cNvPr id="6" name="Content Placeholder 5">
            <a:extLst>
              <a:ext uri="{FF2B5EF4-FFF2-40B4-BE49-F238E27FC236}">
                <a16:creationId xmlns:a16="http://schemas.microsoft.com/office/drawing/2014/main" id="{95760B30-2092-7FFC-4999-3A912D541C5F}"/>
              </a:ext>
            </a:extLst>
          </p:cNvPr>
          <p:cNvGraphicFramePr>
            <a:graphicFrameLocks noGrp="1"/>
          </p:cNvGraphicFramePr>
          <p:nvPr>
            <p:ph idx="1"/>
            <p:extLst>
              <p:ext uri="{D42A27DB-BD31-4B8C-83A1-F6EECF244321}">
                <p14:modId xmlns:p14="http://schemas.microsoft.com/office/powerpoint/2010/main" val="252522166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phic 7">
            <a:extLst>
              <a:ext uri="{FF2B5EF4-FFF2-40B4-BE49-F238E27FC236}">
                <a16:creationId xmlns:a16="http://schemas.microsoft.com/office/drawing/2014/main" id="{C8CC1955-D205-8892-2836-94EF156FF0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93D78E74-7CC6-7093-10A4-C4B0F525CF9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99714" y="89019"/>
            <a:ext cx="914400" cy="914400"/>
          </a:xfrm>
          <a:prstGeom prst="rect">
            <a:avLst/>
          </a:prstGeom>
        </p:spPr>
      </p:pic>
      <p:pic>
        <p:nvPicPr>
          <p:cNvPr id="10" name="Graphic 9">
            <a:extLst>
              <a:ext uri="{FF2B5EF4-FFF2-40B4-BE49-F238E27FC236}">
                <a16:creationId xmlns:a16="http://schemas.microsoft.com/office/drawing/2014/main" id="{47859F1B-04C4-D65A-5369-FEE0986F424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85314" y="89019"/>
            <a:ext cx="914400" cy="914400"/>
          </a:xfrm>
          <a:prstGeom prst="rect">
            <a:avLst/>
          </a:prstGeom>
        </p:spPr>
      </p:pic>
      <p:pic>
        <p:nvPicPr>
          <p:cNvPr id="11" name="Graphic 10">
            <a:extLst>
              <a:ext uri="{FF2B5EF4-FFF2-40B4-BE49-F238E27FC236}">
                <a16:creationId xmlns:a16="http://schemas.microsoft.com/office/drawing/2014/main" id="{231DFF54-A800-939A-722E-65C1A0FBD28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420714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658F-C393-CCB9-8539-C4ACEC20A11F}"/>
              </a:ext>
            </a:extLst>
          </p:cNvPr>
          <p:cNvSpPr>
            <a:spLocks noGrp="1"/>
          </p:cNvSpPr>
          <p:nvPr>
            <p:ph type="title"/>
          </p:nvPr>
        </p:nvSpPr>
        <p:spPr/>
        <p:txBody>
          <a:bodyPr/>
          <a:lstStyle/>
          <a:p>
            <a:r>
              <a:rPr lang="en-US"/>
              <a:t>Learning Objectives</a:t>
            </a:r>
          </a:p>
        </p:txBody>
      </p:sp>
      <p:sp>
        <p:nvSpPr>
          <p:cNvPr id="9" name="Content Placeholder 8">
            <a:extLst>
              <a:ext uri="{FF2B5EF4-FFF2-40B4-BE49-F238E27FC236}">
                <a16:creationId xmlns:a16="http://schemas.microsoft.com/office/drawing/2014/main" id="{6F2E022A-CF75-85B5-6EE4-14371269CDE6}"/>
              </a:ext>
            </a:extLst>
          </p:cNvPr>
          <p:cNvSpPr>
            <a:spLocks noGrp="1"/>
          </p:cNvSpPr>
          <p:nvPr>
            <p:ph idx="1"/>
          </p:nvPr>
        </p:nvSpPr>
        <p:spPr/>
        <p:txBody>
          <a:bodyPr>
            <a:normAutofit lnSpcReduction="10000"/>
          </a:bodyPr>
          <a:lstStyle/>
          <a:p>
            <a:pPr marL="457200" indent="-457200">
              <a:lnSpc>
                <a:spcPct val="100000"/>
              </a:lnSpc>
              <a:spcBef>
                <a:spcPts val="1400"/>
              </a:spcBef>
              <a:buFont typeface="Arial" panose="020B0604020202020204" pitchFamily="34" charset="0"/>
              <a:buChar char="•"/>
            </a:pPr>
            <a:r>
              <a:rPr lang="en-US" sz="2400" dirty="0"/>
              <a:t>Define key terms: </a:t>
            </a:r>
            <a:r>
              <a:rPr lang="en-US" sz="2400" i="1" dirty="0"/>
              <a:t>metrologist</a:t>
            </a:r>
            <a:r>
              <a:rPr lang="en-US" sz="2400" dirty="0"/>
              <a:t>, </a:t>
            </a:r>
            <a:r>
              <a:rPr lang="en-US" sz="2400" i="1" dirty="0"/>
              <a:t>metrology</a:t>
            </a:r>
            <a:r>
              <a:rPr lang="en-US" sz="2400" dirty="0"/>
              <a:t>, </a:t>
            </a:r>
            <a:r>
              <a:rPr lang="en-US" sz="2400" i="1" dirty="0"/>
              <a:t>calibration</a:t>
            </a:r>
            <a:r>
              <a:rPr lang="en-US" sz="2400" dirty="0"/>
              <a:t>, </a:t>
            </a:r>
            <a:r>
              <a:rPr lang="en-US" sz="2400" i="1" dirty="0"/>
              <a:t>in-use calibration check</a:t>
            </a:r>
          </a:p>
          <a:p>
            <a:pPr marL="457200" indent="-457200">
              <a:lnSpc>
                <a:spcPct val="100000"/>
              </a:lnSpc>
              <a:spcBef>
                <a:spcPts val="1400"/>
              </a:spcBef>
              <a:buFont typeface="Arial" panose="020B0604020202020204" pitchFamily="34" charset="0"/>
              <a:buChar char="•"/>
            </a:pPr>
            <a:r>
              <a:rPr lang="en-US" sz="2400" dirty="0"/>
              <a:t>List commonly measured parameters in M&amp;V activities</a:t>
            </a:r>
          </a:p>
          <a:p>
            <a:pPr marL="457200" indent="-457200">
              <a:lnSpc>
                <a:spcPct val="100000"/>
              </a:lnSpc>
              <a:spcBef>
                <a:spcPts val="1400"/>
              </a:spcBef>
              <a:buFont typeface="Arial" panose="020B0604020202020204" pitchFamily="34" charset="0"/>
              <a:buChar char="•"/>
            </a:pPr>
            <a:r>
              <a:rPr lang="en-US" sz="2400" dirty="0"/>
              <a:t>Characterize the different types and uses of metering systems</a:t>
            </a:r>
          </a:p>
          <a:p>
            <a:pPr marL="457200" indent="-457200">
              <a:lnSpc>
                <a:spcPct val="100000"/>
              </a:lnSpc>
              <a:spcBef>
                <a:spcPts val="1400"/>
              </a:spcBef>
              <a:buFont typeface="Arial" panose="020B0604020202020204" pitchFamily="34" charset="0"/>
              <a:buChar char="•"/>
            </a:pPr>
            <a:r>
              <a:rPr lang="en-US" sz="2400" dirty="0"/>
              <a:t>Articulate best practices for reducing uncertainty in the measurement, logging, communication, storage, calculation, and stipulation of metering data</a:t>
            </a:r>
          </a:p>
          <a:p>
            <a:pPr marL="457200" indent="-457200">
              <a:lnSpc>
                <a:spcPct val="100000"/>
              </a:lnSpc>
              <a:spcBef>
                <a:spcPts val="1400"/>
              </a:spcBef>
              <a:buFont typeface="Arial" panose="020B0604020202020204" pitchFamily="34" charset="0"/>
              <a:buChar char="•"/>
            </a:pPr>
            <a:r>
              <a:rPr lang="en-US" sz="2400" dirty="0"/>
              <a:t>Discuss the need for the calibration of metering system components as well as safety and cost concerns relevant to metering</a:t>
            </a:r>
          </a:p>
        </p:txBody>
      </p:sp>
    </p:spTree>
    <p:extLst>
      <p:ext uri="{BB962C8B-B14F-4D97-AF65-F5344CB8AC3E}">
        <p14:creationId xmlns:p14="http://schemas.microsoft.com/office/powerpoint/2010/main" val="3889557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06646-32AF-8E5A-B016-7C64FDA8B650}"/>
              </a:ext>
            </a:extLst>
          </p:cNvPr>
          <p:cNvSpPr>
            <a:spLocks noGrp="1"/>
          </p:cNvSpPr>
          <p:nvPr>
            <p:ph type="title"/>
          </p:nvPr>
        </p:nvSpPr>
        <p:spPr/>
        <p:txBody>
          <a:bodyPr/>
          <a:lstStyle/>
          <a:p>
            <a:r>
              <a:rPr lang="en-US"/>
              <a:t>The Importance of Metering</a:t>
            </a:r>
          </a:p>
        </p:txBody>
      </p:sp>
      <p:sp>
        <p:nvSpPr>
          <p:cNvPr id="3" name="Content Placeholder 2">
            <a:extLst>
              <a:ext uri="{FF2B5EF4-FFF2-40B4-BE49-F238E27FC236}">
                <a16:creationId xmlns:a16="http://schemas.microsoft.com/office/drawing/2014/main" id="{BA4051CD-2469-0E35-C652-4C7595987F47}"/>
              </a:ext>
            </a:extLst>
          </p:cNvPr>
          <p:cNvSpPr>
            <a:spLocks noGrp="1"/>
          </p:cNvSpPr>
          <p:nvPr>
            <p:ph sz="half" idx="1"/>
          </p:nvPr>
        </p:nvSpPr>
        <p:spPr>
          <a:xfrm>
            <a:off x="838200" y="1825625"/>
            <a:ext cx="6383394" cy="4351338"/>
          </a:xfrm>
        </p:spPr>
        <p:txBody>
          <a:bodyPr>
            <a:normAutofit/>
          </a:bodyPr>
          <a:lstStyle/>
          <a:p>
            <a:r>
              <a:rPr lang="en-US" sz="2400"/>
              <a:t>Metering is at the core of M&amp;V.</a:t>
            </a:r>
          </a:p>
          <a:p>
            <a:r>
              <a:rPr lang="en-US" sz="2400"/>
              <a:t>Without the data collected through metering, M&amp;V is nothing more than guesswork or hocus-pocus.</a:t>
            </a:r>
          </a:p>
        </p:txBody>
      </p:sp>
      <p:pic>
        <p:nvPicPr>
          <p:cNvPr id="8" name="Graphic 7">
            <a:extLst>
              <a:ext uri="{FF2B5EF4-FFF2-40B4-BE49-F238E27FC236}">
                <a16:creationId xmlns:a16="http://schemas.microsoft.com/office/drawing/2014/main" id="{440BD647-E540-0B5A-88C1-F8723BEA0D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96404" y="1690688"/>
            <a:ext cx="4432110" cy="4432110"/>
          </a:xfrm>
          <a:prstGeom prst="rect">
            <a:avLst/>
          </a:prstGeom>
        </p:spPr>
      </p:pic>
      <p:pic>
        <p:nvPicPr>
          <p:cNvPr id="7" name="Graphic 6">
            <a:extLst>
              <a:ext uri="{FF2B5EF4-FFF2-40B4-BE49-F238E27FC236}">
                <a16:creationId xmlns:a16="http://schemas.microsoft.com/office/drawing/2014/main" id="{FAA0F251-C766-7A51-BD75-8EDDB7ABED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99874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A7B2-A5F4-B7F5-44C8-A8CF1811B2A8}"/>
              </a:ext>
            </a:extLst>
          </p:cNvPr>
          <p:cNvSpPr>
            <a:spLocks noGrp="1"/>
          </p:cNvSpPr>
          <p:nvPr>
            <p:ph type="title"/>
          </p:nvPr>
        </p:nvSpPr>
        <p:spPr/>
        <p:txBody>
          <a:bodyPr/>
          <a:lstStyle/>
          <a:p>
            <a:r>
              <a:rPr lang="en-US"/>
              <a:t>What Can Be Measured?</a:t>
            </a:r>
          </a:p>
        </p:txBody>
      </p:sp>
      <p:sp>
        <p:nvSpPr>
          <p:cNvPr id="6" name="Content Placeholder 5">
            <a:extLst>
              <a:ext uri="{FF2B5EF4-FFF2-40B4-BE49-F238E27FC236}">
                <a16:creationId xmlns:a16="http://schemas.microsoft.com/office/drawing/2014/main" id="{74653FC9-A3F1-CC91-6F7B-4FF1B7B6866B}"/>
              </a:ext>
            </a:extLst>
          </p:cNvPr>
          <p:cNvSpPr>
            <a:spLocks noGrp="1"/>
          </p:cNvSpPr>
          <p:nvPr>
            <p:ph idx="1"/>
          </p:nvPr>
        </p:nvSpPr>
        <p:spPr/>
        <p:txBody>
          <a:bodyPr>
            <a:normAutofit fontScale="92500" lnSpcReduction="10000"/>
          </a:bodyPr>
          <a:lstStyle/>
          <a:p>
            <a:pPr>
              <a:lnSpc>
                <a:spcPct val="110000"/>
              </a:lnSpc>
              <a:spcBef>
                <a:spcPts val="1200"/>
              </a:spcBef>
            </a:pPr>
            <a:r>
              <a:rPr lang="en-US" sz="2600" dirty="0"/>
              <a:t>Most energy use measurement performed for M&amp;V purposes is of electricity. </a:t>
            </a:r>
          </a:p>
          <a:p>
            <a:pPr>
              <a:lnSpc>
                <a:spcPct val="110000"/>
              </a:lnSpc>
              <a:spcBef>
                <a:spcPts val="1200"/>
              </a:spcBef>
            </a:pPr>
            <a:r>
              <a:rPr lang="en-US" sz="2600" dirty="0"/>
              <a:t>Even so, a wide array of energy systems, sources, and carriers can be influenced by an ECM, including:</a:t>
            </a:r>
          </a:p>
          <a:p>
            <a:pPr marL="1143000" lvl="1" indent="-457200">
              <a:lnSpc>
                <a:spcPct val="110000"/>
              </a:lnSpc>
              <a:spcBef>
                <a:spcPts val="1200"/>
              </a:spcBef>
            </a:pPr>
            <a:r>
              <a:rPr lang="en-US" sz="2600" dirty="0"/>
              <a:t>Diesel</a:t>
            </a:r>
          </a:p>
          <a:p>
            <a:pPr marL="1143000" lvl="1" indent="-457200">
              <a:lnSpc>
                <a:spcPct val="110000"/>
              </a:lnSpc>
              <a:spcBef>
                <a:spcPts val="1200"/>
              </a:spcBef>
            </a:pPr>
            <a:r>
              <a:rPr lang="en-US" sz="2600" dirty="0"/>
              <a:t>Steam</a:t>
            </a:r>
          </a:p>
          <a:p>
            <a:pPr marL="1143000" lvl="1" indent="-457200">
              <a:lnSpc>
                <a:spcPct val="110000"/>
              </a:lnSpc>
              <a:spcBef>
                <a:spcPts val="1200"/>
              </a:spcBef>
            </a:pPr>
            <a:r>
              <a:rPr lang="en-US" sz="2600" dirty="0"/>
              <a:t>Geothermal energy</a:t>
            </a:r>
          </a:p>
          <a:p>
            <a:pPr marL="1143000" lvl="1" indent="-457200">
              <a:lnSpc>
                <a:spcPct val="110000"/>
              </a:lnSpc>
              <a:spcBef>
                <a:spcPts val="1200"/>
              </a:spcBef>
            </a:pPr>
            <a:r>
              <a:rPr lang="en-US" sz="2600" dirty="0"/>
              <a:t>Coal</a:t>
            </a:r>
          </a:p>
          <a:p>
            <a:pPr marL="1143000" lvl="1" indent="-457200">
              <a:lnSpc>
                <a:spcPct val="110000"/>
              </a:lnSpc>
              <a:spcBef>
                <a:spcPts val="1200"/>
              </a:spcBef>
            </a:pPr>
            <a:r>
              <a:rPr lang="en-US" sz="2600" dirty="0"/>
              <a:t>Gas</a:t>
            </a:r>
          </a:p>
        </p:txBody>
      </p:sp>
      <p:pic>
        <p:nvPicPr>
          <p:cNvPr id="7" name="Graphic 6">
            <a:extLst>
              <a:ext uri="{FF2B5EF4-FFF2-40B4-BE49-F238E27FC236}">
                <a16:creationId xmlns:a16="http://schemas.microsoft.com/office/drawing/2014/main" id="{28ACB08A-B549-096E-796C-571DDBB0D3A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185668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6834D-4A67-057A-41D1-C52552444A48}"/>
              </a:ext>
            </a:extLst>
          </p:cNvPr>
          <p:cNvSpPr>
            <a:spLocks noGrp="1"/>
          </p:cNvSpPr>
          <p:nvPr>
            <p:ph type="title"/>
          </p:nvPr>
        </p:nvSpPr>
        <p:spPr/>
        <p:txBody>
          <a:bodyPr/>
          <a:lstStyle/>
          <a:p>
            <a:r>
              <a:rPr lang="en-US"/>
              <a:t>Parameters for Measurement</a:t>
            </a:r>
          </a:p>
        </p:txBody>
      </p:sp>
      <p:sp>
        <p:nvSpPr>
          <p:cNvPr id="3" name="Content Placeholder 2">
            <a:extLst>
              <a:ext uri="{FF2B5EF4-FFF2-40B4-BE49-F238E27FC236}">
                <a16:creationId xmlns:a16="http://schemas.microsoft.com/office/drawing/2014/main" id="{9FE24564-CC9F-2D3A-C461-47FAA15C9C7F}"/>
              </a:ext>
            </a:extLst>
          </p:cNvPr>
          <p:cNvSpPr>
            <a:spLocks noGrp="1"/>
          </p:cNvSpPr>
          <p:nvPr>
            <p:ph idx="1"/>
          </p:nvPr>
        </p:nvSpPr>
        <p:spPr/>
        <p:txBody>
          <a:bodyPr>
            <a:normAutofit/>
          </a:bodyPr>
          <a:lstStyle/>
          <a:p>
            <a:pPr>
              <a:lnSpc>
                <a:spcPct val="90000"/>
              </a:lnSpc>
            </a:pPr>
            <a:r>
              <a:rPr lang="en-US" sz="2400"/>
              <a:t>Once the energy use has been identified for measurement, parameters influencing the energy use may need to be measured as well. </a:t>
            </a:r>
          </a:p>
          <a:p>
            <a:pPr>
              <a:lnSpc>
                <a:spcPct val="90000"/>
              </a:lnSpc>
            </a:pPr>
            <a:r>
              <a:rPr lang="en-US" sz="2400"/>
              <a:t>Of these parameters, </a:t>
            </a:r>
            <a:r>
              <a:rPr lang="en-US" sz="2400" b="1"/>
              <a:t>temperature</a:t>
            </a:r>
            <a:r>
              <a:rPr lang="en-US" sz="2400"/>
              <a:t>, </a:t>
            </a:r>
            <a:r>
              <a:rPr lang="en-US" sz="2400" b="1"/>
              <a:t>flow</a:t>
            </a:r>
            <a:r>
              <a:rPr lang="en-US" sz="2400"/>
              <a:t>, and </a:t>
            </a:r>
            <a:r>
              <a:rPr lang="en-US" sz="2400" b="1"/>
              <a:t>production</a:t>
            </a:r>
            <a:r>
              <a:rPr lang="en-US" sz="2400"/>
              <a:t> are arguably the most common. </a:t>
            </a:r>
          </a:p>
          <a:p>
            <a:pPr>
              <a:lnSpc>
                <a:spcPct val="90000"/>
              </a:lnSpc>
            </a:pPr>
            <a:r>
              <a:rPr lang="en-US" sz="2400"/>
              <a:t>Other examples of relevant parameters include production, quality of materials, concentration of elements in materials, load, human behavior, equipment condition, humidity, illuminance (lux), and location.</a:t>
            </a:r>
          </a:p>
        </p:txBody>
      </p:sp>
      <p:pic>
        <p:nvPicPr>
          <p:cNvPr id="6" name="Graphic 5">
            <a:extLst>
              <a:ext uri="{FF2B5EF4-FFF2-40B4-BE49-F238E27FC236}">
                <a16:creationId xmlns:a16="http://schemas.microsoft.com/office/drawing/2014/main" id="{C0834609-DB7F-4C31-33BD-A0373F3282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826087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B456-7DAD-EE08-8739-37FC5B35FBCE}"/>
              </a:ext>
            </a:extLst>
          </p:cNvPr>
          <p:cNvSpPr>
            <a:spLocks noGrp="1"/>
          </p:cNvSpPr>
          <p:nvPr>
            <p:ph type="title"/>
          </p:nvPr>
        </p:nvSpPr>
        <p:spPr/>
        <p:txBody>
          <a:bodyPr/>
          <a:lstStyle/>
          <a:p>
            <a:r>
              <a:rPr lang="en-US"/>
              <a:t>Combining Parameters</a:t>
            </a:r>
          </a:p>
        </p:txBody>
      </p:sp>
      <p:sp>
        <p:nvSpPr>
          <p:cNvPr id="3" name="Content Placeholder 2">
            <a:extLst>
              <a:ext uri="{FF2B5EF4-FFF2-40B4-BE49-F238E27FC236}">
                <a16:creationId xmlns:a16="http://schemas.microsoft.com/office/drawing/2014/main" id="{561C792C-2A4F-A69C-C35F-6EC1BA5E88F2}"/>
              </a:ext>
            </a:extLst>
          </p:cNvPr>
          <p:cNvSpPr>
            <a:spLocks noGrp="1"/>
          </p:cNvSpPr>
          <p:nvPr>
            <p:ph idx="1"/>
          </p:nvPr>
        </p:nvSpPr>
        <p:spPr/>
        <p:txBody>
          <a:bodyPr>
            <a:normAutofit/>
          </a:bodyPr>
          <a:lstStyle/>
          <a:p>
            <a:r>
              <a:rPr lang="en-US" sz="2400"/>
              <a:t>Sometimes parameters must be combined to form relevant data. </a:t>
            </a:r>
          </a:p>
          <a:p>
            <a:r>
              <a:rPr lang="en-US" sz="2400" b="1"/>
              <a:t>Example</a:t>
            </a:r>
            <a:r>
              <a:rPr lang="en-US" sz="2400"/>
              <a:t>: Thermal energy, typically composed of the flow of the energy carrier and the temperature difference of that carrier through a process.</a:t>
            </a:r>
          </a:p>
        </p:txBody>
      </p:sp>
      <p:pic>
        <p:nvPicPr>
          <p:cNvPr id="6" name="Graphic 5">
            <a:extLst>
              <a:ext uri="{FF2B5EF4-FFF2-40B4-BE49-F238E27FC236}">
                <a16:creationId xmlns:a16="http://schemas.microsoft.com/office/drawing/2014/main" id="{E2D262DC-9AE3-980B-A477-38789FE6FC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526161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82C83E0-A587-BD27-ECBC-B0AEF37BA300}"/>
              </a:ext>
            </a:extLst>
          </p:cNvPr>
          <p:cNvSpPr txBox="1">
            <a:spLocks/>
          </p:cNvSpPr>
          <p:nvPr/>
        </p:nvSpPr>
        <p:spPr>
          <a:xfrm>
            <a:off x="6096000" y="2915419"/>
            <a:ext cx="5257800" cy="308781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Semplicita Pro" panose="02000000000000000000" pitchFamily="2" charset="77"/>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Semplicita Pro" panose="02000000000000000000" pitchFamily="2" charset="77"/>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Semplicita Pro" panose="02000000000000000000" pitchFamily="2" charset="77"/>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Semplicita Pro" panose="02000000000000000000" pitchFamily="2" charset="77"/>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Semplicita Pro"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a:latin typeface="Verdana" panose="020B0604030504040204" pitchFamily="34" charset="0"/>
              </a:rPr>
              <a:t>Indirect</a:t>
            </a:r>
          </a:p>
          <a:p>
            <a:pPr marL="342900" indent="-342900">
              <a:buFont typeface="Arial" panose="020B0604020202020204" pitchFamily="34" charset="0"/>
              <a:buChar char="•"/>
            </a:pPr>
            <a:r>
              <a:rPr lang="en-US" sz="2400">
                <a:latin typeface="Verdana" panose="020B0604030504040204" pitchFamily="34" charset="0"/>
              </a:rPr>
              <a:t>Direct measurements with a bucket and stopwatch used to derive volumetric flow rate.</a:t>
            </a:r>
          </a:p>
          <a:p>
            <a:endParaRPr lang="en-US" sz="2400">
              <a:latin typeface="Verdana" panose="020B0604030504040204" pitchFamily="34" charset="0"/>
            </a:endParaRPr>
          </a:p>
        </p:txBody>
      </p:sp>
      <p:sp>
        <p:nvSpPr>
          <p:cNvPr id="2" name="Title 1">
            <a:extLst>
              <a:ext uri="{FF2B5EF4-FFF2-40B4-BE49-F238E27FC236}">
                <a16:creationId xmlns:a16="http://schemas.microsoft.com/office/drawing/2014/main" id="{55216A1A-0E8A-284C-E6A7-C18E02C26700}"/>
              </a:ext>
            </a:extLst>
          </p:cNvPr>
          <p:cNvSpPr>
            <a:spLocks noGrp="1"/>
          </p:cNvSpPr>
          <p:nvPr>
            <p:ph type="title"/>
          </p:nvPr>
        </p:nvSpPr>
        <p:spPr/>
        <p:txBody>
          <a:bodyPr/>
          <a:lstStyle/>
          <a:p>
            <a:r>
              <a:rPr lang="en-US"/>
              <a:t>Methods of Measurement</a:t>
            </a:r>
          </a:p>
        </p:txBody>
      </p:sp>
      <p:sp>
        <p:nvSpPr>
          <p:cNvPr id="3" name="Content Placeholder 2">
            <a:extLst>
              <a:ext uri="{FF2B5EF4-FFF2-40B4-BE49-F238E27FC236}">
                <a16:creationId xmlns:a16="http://schemas.microsoft.com/office/drawing/2014/main" id="{54A3DDBB-10A0-FD7E-A35F-F927FD028FA4}"/>
              </a:ext>
            </a:extLst>
          </p:cNvPr>
          <p:cNvSpPr>
            <a:spLocks noGrp="1"/>
          </p:cNvSpPr>
          <p:nvPr>
            <p:ph idx="1"/>
          </p:nvPr>
        </p:nvSpPr>
        <p:spPr>
          <a:xfrm>
            <a:off x="838200" y="1825625"/>
            <a:ext cx="10515600" cy="1325563"/>
          </a:xfrm>
        </p:spPr>
        <p:txBody>
          <a:bodyPr>
            <a:normAutofit/>
          </a:bodyPr>
          <a:lstStyle/>
          <a:p>
            <a:r>
              <a:rPr lang="en-US" sz="2400"/>
              <a:t>Measurements can be taken directly or indirectly, with or without equipment.</a:t>
            </a:r>
          </a:p>
        </p:txBody>
      </p:sp>
      <p:sp>
        <p:nvSpPr>
          <p:cNvPr id="6" name="Content Placeholder 2">
            <a:extLst>
              <a:ext uri="{FF2B5EF4-FFF2-40B4-BE49-F238E27FC236}">
                <a16:creationId xmlns:a16="http://schemas.microsoft.com/office/drawing/2014/main" id="{7FEBAB46-A699-9F33-3950-1E5FD2C36E0A}"/>
              </a:ext>
            </a:extLst>
          </p:cNvPr>
          <p:cNvSpPr txBox="1">
            <a:spLocks/>
          </p:cNvSpPr>
          <p:nvPr/>
        </p:nvSpPr>
        <p:spPr>
          <a:xfrm>
            <a:off x="838200" y="2915419"/>
            <a:ext cx="5257800" cy="3087816"/>
          </a:xfrm>
          <a:prstGeom prst="rect">
            <a:avLst/>
          </a:prstGeom>
        </p:spPr>
        <p:txBody>
          <a:bodyPr vert="horz" lIns="91440" tIns="45720" rIns="91440" bIns="45720" rtlCol="0">
            <a:normAutofit fontScale="92500"/>
          </a:bodyPr>
          <a:lst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Semplicita Pro" panose="02000000000000000000" pitchFamily="2" charset="77"/>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Semplicita Pro" panose="02000000000000000000" pitchFamily="2" charset="77"/>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Semplicita Pro" panose="02000000000000000000" pitchFamily="2" charset="77"/>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Semplicita Pro" panose="02000000000000000000" pitchFamily="2" charset="77"/>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Semplicita Pro"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a:latin typeface="Verdana" panose="020B0604030504040204" pitchFamily="34" charset="0"/>
              </a:rPr>
              <a:t>Direct</a:t>
            </a:r>
          </a:p>
          <a:p>
            <a:pPr marL="342900" indent="-342900">
              <a:buFont typeface="Arial" panose="020B0604020202020204" pitchFamily="34" charset="0"/>
              <a:buChar char="•"/>
            </a:pPr>
            <a:r>
              <a:rPr lang="en-US" sz="2400">
                <a:latin typeface="Verdana" panose="020B0604030504040204" pitchFamily="34" charset="0"/>
              </a:rPr>
              <a:t>A count of the number of apples washed (without equipment)</a:t>
            </a:r>
          </a:p>
          <a:p>
            <a:pPr marL="342900" indent="-342900">
              <a:buFont typeface="Arial" panose="020B0604020202020204" pitchFamily="34" charset="0"/>
              <a:buChar char="•"/>
            </a:pPr>
            <a:r>
              <a:rPr lang="en-US" sz="2400">
                <a:latin typeface="Verdana" panose="020B0604030504040204" pitchFamily="34" charset="0"/>
              </a:rPr>
              <a:t>A laser that, when tripped, counts the number of washed apples on a conveyer belt (with equipment)</a:t>
            </a:r>
          </a:p>
        </p:txBody>
      </p:sp>
      <p:pic>
        <p:nvPicPr>
          <p:cNvPr id="9" name="Graphic 8">
            <a:extLst>
              <a:ext uri="{FF2B5EF4-FFF2-40B4-BE49-F238E27FC236}">
                <a16:creationId xmlns:a16="http://schemas.microsoft.com/office/drawing/2014/main" id="{7DA9F45F-3393-D528-400F-469EAD4AD8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975201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2F1FA-EBD6-F38E-0764-E5756DBE6E73}"/>
              </a:ext>
            </a:extLst>
          </p:cNvPr>
          <p:cNvSpPr>
            <a:spLocks noGrp="1"/>
          </p:cNvSpPr>
          <p:nvPr>
            <p:ph type="title"/>
          </p:nvPr>
        </p:nvSpPr>
        <p:spPr/>
        <p:txBody>
          <a:bodyPr/>
          <a:lstStyle/>
          <a:p>
            <a:r>
              <a:rPr lang="en-US"/>
              <a:t>Types of Metering Systems</a:t>
            </a:r>
          </a:p>
        </p:txBody>
      </p:sp>
      <p:sp>
        <p:nvSpPr>
          <p:cNvPr id="3" name="Content Placeholder 2">
            <a:extLst>
              <a:ext uri="{FF2B5EF4-FFF2-40B4-BE49-F238E27FC236}">
                <a16:creationId xmlns:a16="http://schemas.microsoft.com/office/drawing/2014/main" id="{78B70260-BEE4-0823-7D12-57E274F3A389}"/>
              </a:ext>
            </a:extLst>
          </p:cNvPr>
          <p:cNvSpPr>
            <a:spLocks noGrp="1"/>
          </p:cNvSpPr>
          <p:nvPr>
            <p:ph idx="1"/>
          </p:nvPr>
        </p:nvSpPr>
        <p:spPr/>
        <p:txBody>
          <a:bodyPr>
            <a:normAutofit/>
          </a:bodyPr>
          <a:lstStyle/>
          <a:p>
            <a:r>
              <a:rPr lang="en-US" sz="2400"/>
              <a:t>Metering systems can be categorized in different ways. They may be either </a:t>
            </a:r>
            <a:r>
              <a:rPr lang="en-US" sz="2400" b="1"/>
              <a:t>permanent</a:t>
            </a:r>
            <a:r>
              <a:rPr lang="en-US" sz="2400"/>
              <a:t> or </a:t>
            </a:r>
            <a:r>
              <a:rPr lang="en-US" sz="2400" b="1"/>
              <a:t>portable</a:t>
            </a:r>
            <a:r>
              <a:rPr lang="en-US" sz="2400"/>
              <a:t> (or temporary). They may also be distinguished by their data communication capabilities:</a:t>
            </a:r>
          </a:p>
          <a:p>
            <a:pPr marL="1143000" lvl="1" indent="-457200"/>
            <a:r>
              <a:rPr lang="en-US" b="1"/>
              <a:t>Hardline</a:t>
            </a:r>
            <a:r>
              <a:rPr lang="en-US"/>
              <a:t> data communication capabilities</a:t>
            </a:r>
          </a:p>
          <a:p>
            <a:pPr marL="1143000" lvl="1" indent="-457200"/>
            <a:r>
              <a:rPr lang="en-US" b="1"/>
              <a:t>Wireless</a:t>
            </a:r>
            <a:r>
              <a:rPr lang="en-US"/>
              <a:t> data communication capabilities</a:t>
            </a:r>
          </a:p>
          <a:p>
            <a:pPr marL="1143000" lvl="1" indent="-457200"/>
            <a:r>
              <a:rPr lang="en-US" b="1"/>
              <a:t>No </a:t>
            </a:r>
            <a:r>
              <a:rPr lang="en-US"/>
              <a:t>data communication capabilities—internal storage or instantaneous readings only</a:t>
            </a:r>
          </a:p>
        </p:txBody>
      </p:sp>
      <p:pic>
        <p:nvPicPr>
          <p:cNvPr id="6" name="Graphic 5">
            <a:extLst>
              <a:ext uri="{FF2B5EF4-FFF2-40B4-BE49-F238E27FC236}">
                <a16:creationId xmlns:a16="http://schemas.microsoft.com/office/drawing/2014/main" id="{A48E461D-56DC-F425-F9F7-0B3975CF929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749609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686D657-B018-1E5D-205A-D29178EDCE6A}"/>
              </a:ext>
            </a:extLst>
          </p:cNvPr>
          <p:cNvSpPr>
            <a:spLocks noGrp="1"/>
          </p:cNvSpPr>
          <p:nvPr>
            <p:ph type="title"/>
          </p:nvPr>
        </p:nvSpPr>
        <p:spPr/>
        <p:txBody>
          <a:bodyPr/>
          <a:lstStyle/>
          <a:p>
            <a:r>
              <a:rPr lang="en-US" dirty="0"/>
              <a:t>Metering Systems</a:t>
            </a:r>
          </a:p>
        </p:txBody>
      </p:sp>
      <p:sp>
        <p:nvSpPr>
          <p:cNvPr id="7" name="Text Placeholder 6">
            <a:extLst>
              <a:ext uri="{FF2B5EF4-FFF2-40B4-BE49-F238E27FC236}">
                <a16:creationId xmlns:a16="http://schemas.microsoft.com/office/drawing/2014/main" id="{2A12EFDE-3C8A-AE1C-E0DC-28FFCD8257B0}"/>
              </a:ext>
            </a:extLst>
          </p:cNvPr>
          <p:cNvSpPr>
            <a:spLocks noGrp="1"/>
          </p:cNvSpPr>
          <p:nvPr>
            <p:ph type="body" idx="1"/>
          </p:nvPr>
        </p:nvSpPr>
        <p:spPr>
          <a:xfrm>
            <a:off x="836612" y="1554838"/>
            <a:ext cx="5157787" cy="823912"/>
          </a:xfrm>
        </p:spPr>
        <p:txBody>
          <a:bodyPr/>
          <a:lstStyle/>
          <a:p>
            <a:r>
              <a:rPr lang="en-US"/>
              <a:t>Permanent</a:t>
            </a:r>
          </a:p>
        </p:txBody>
      </p:sp>
      <p:sp>
        <p:nvSpPr>
          <p:cNvPr id="8" name="Content Placeholder 7">
            <a:extLst>
              <a:ext uri="{FF2B5EF4-FFF2-40B4-BE49-F238E27FC236}">
                <a16:creationId xmlns:a16="http://schemas.microsoft.com/office/drawing/2014/main" id="{FF73DFCA-39DC-CCED-C18C-964D531E5B31}"/>
              </a:ext>
            </a:extLst>
          </p:cNvPr>
          <p:cNvSpPr>
            <a:spLocks noGrp="1"/>
          </p:cNvSpPr>
          <p:nvPr>
            <p:ph sz="half" idx="2"/>
          </p:nvPr>
        </p:nvSpPr>
        <p:spPr>
          <a:xfrm>
            <a:off x="836612" y="2378750"/>
            <a:ext cx="5157787" cy="3684588"/>
          </a:xfrm>
        </p:spPr>
        <p:txBody>
          <a:bodyPr>
            <a:normAutofit fontScale="92500" lnSpcReduction="20000"/>
          </a:bodyPr>
          <a:lstStyle/>
          <a:p>
            <a:pPr marL="457200" indent="-457200">
              <a:spcBef>
                <a:spcPts val="1200"/>
              </a:spcBef>
              <a:buFont typeface="Arial" panose="020B0604020202020204" pitchFamily="34" charset="0"/>
              <a:buChar char="•"/>
            </a:pPr>
            <a:r>
              <a:rPr lang="en-US" sz="2400" dirty="0"/>
              <a:t>Cannot be removed without disrupting energy, resource, service, or product supply</a:t>
            </a:r>
          </a:p>
          <a:p>
            <a:pPr marL="457200" indent="-457200">
              <a:spcBef>
                <a:spcPts val="1200"/>
              </a:spcBef>
              <a:buFont typeface="Arial" panose="020B0604020202020204" pitchFamily="34" charset="0"/>
              <a:buChar char="•"/>
            </a:pPr>
            <a:r>
              <a:rPr lang="en-US" sz="2400" dirty="0"/>
              <a:t>Protected against environment</a:t>
            </a:r>
          </a:p>
          <a:p>
            <a:pPr marL="457200" indent="-457200">
              <a:spcBef>
                <a:spcPts val="1200"/>
              </a:spcBef>
              <a:buFont typeface="Arial" panose="020B0604020202020204" pitchFamily="34" charset="0"/>
              <a:buChar char="•"/>
            </a:pPr>
            <a:r>
              <a:rPr lang="en-US" sz="2400" dirty="0"/>
              <a:t>Usually transmit data through hardline or wireless communication systems</a:t>
            </a:r>
          </a:p>
          <a:p>
            <a:pPr marL="457200" indent="-457200">
              <a:spcBef>
                <a:spcPts val="1200"/>
              </a:spcBef>
              <a:buFont typeface="Arial" panose="020B0604020202020204" pitchFamily="34" charset="0"/>
              <a:buChar char="•"/>
            </a:pPr>
            <a:r>
              <a:rPr lang="en-US" sz="2400" dirty="0"/>
              <a:t>Bulky</a:t>
            </a:r>
          </a:p>
          <a:p>
            <a:pPr marL="457200" indent="-457200">
              <a:spcBef>
                <a:spcPts val="1200"/>
              </a:spcBef>
              <a:buFont typeface="Arial" panose="020B0604020202020204" pitchFamily="34" charset="0"/>
              <a:buChar char="•"/>
            </a:pPr>
            <a:r>
              <a:rPr lang="en-US" sz="2400" dirty="0"/>
              <a:t>Credit under </a:t>
            </a:r>
            <a:r>
              <a:rPr lang="en-US" sz="2400" dirty="0" err="1"/>
              <a:t>GreenStar</a:t>
            </a:r>
            <a:r>
              <a:rPr lang="en-US" sz="2400" dirty="0"/>
              <a:t>/ Energy Star.  ISO 14001.  ESG  LEED(?)</a:t>
            </a:r>
          </a:p>
        </p:txBody>
      </p:sp>
      <p:sp>
        <p:nvSpPr>
          <p:cNvPr id="9" name="Text Placeholder 8">
            <a:extLst>
              <a:ext uri="{FF2B5EF4-FFF2-40B4-BE49-F238E27FC236}">
                <a16:creationId xmlns:a16="http://schemas.microsoft.com/office/drawing/2014/main" id="{0417DD11-41CF-896F-7A98-62BA501983D1}"/>
              </a:ext>
            </a:extLst>
          </p:cNvPr>
          <p:cNvSpPr>
            <a:spLocks noGrp="1"/>
          </p:cNvSpPr>
          <p:nvPr>
            <p:ph type="body" sz="quarter" idx="3"/>
          </p:nvPr>
        </p:nvSpPr>
        <p:spPr>
          <a:xfrm>
            <a:off x="6169024" y="1554838"/>
            <a:ext cx="5183188" cy="823912"/>
          </a:xfrm>
        </p:spPr>
        <p:txBody>
          <a:bodyPr/>
          <a:lstStyle/>
          <a:p>
            <a:r>
              <a:rPr lang="en-US" dirty="0"/>
              <a:t>Portable or Temporary</a:t>
            </a:r>
          </a:p>
        </p:txBody>
      </p:sp>
      <p:sp>
        <p:nvSpPr>
          <p:cNvPr id="10" name="Content Placeholder 9">
            <a:extLst>
              <a:ext uri="{FF2B5EF4-FFF2-40B4-BE49-F238E27FC236}">
                <a16:creationId xmlns:a16="http://schemas.microsoft.com/office/drawing/2014/main" id="{B58C61FA-5924-5C2F-48F7-D9E16F0BAD84}"/>
              </a:ext>
            </a:extLst>
          </p:cNvPr>
          <p:cNvSpPr>
            <a:spLocks noGrp="1"/>
          </p:cNvSpPr>
          <p:nvPr>
            <p:ph sz="quarter" idx="4"/>
          </p:nvPr>
        </p:nvSpPr>
        <p:spPr>
          <a:xfrm>
            <a:off x="6169024" y="2378750"/>
            <a:ext cx="5183188" cy="3684588"/>
          </a:xfrm>
        </p:spPr>
        <p:txBody>
          <a:bodyPr>
            <a:noAutofit/>
          </a:bodyPr>
          <a:lstStyle/>
          <a:p>
            <a:pPr marL="457200" indent="-457200">
              <a:spcBef>
                <a:spcPts val="1200"/>
              </a:spcBef>
              <a:buFont typeface="Arial" panose="020B0604020202020204" pitchFamily="34" charset="0"/>
              <a:buChar char="•"/>
            </a:pPr>
            <a:r>
              <a:rPr lang="en-US" sz="2400" dirty="0"/>
              <a:t>Lightweight and portable</a:t>
            </a:r>
          </a:p>
          <a:p>
            <a:pPr marL="457200" indent="-457200">
              <a:spcBef>
                <a:spcPts val="1200"/>
              </a:spcBef>
              <a:buFont typeface="Arial" panose="020B0604020202020204" pitchFamily="34" charset="0"/>
              <a:buChar char="•"/>
            </a:pPr>
            <a:r>
              <a:rPr lang="en-US" sz="2400" dirty="0"/>
              <a:t>Usually battery powered, or with battery backup</a:t>
            </a:r>
          </a:p>
          <a:p>
            <a:pPr marL="457200" indent="-457200">
              <a:spcBef>
                <a:spcPts val="1200"/>
              </a:spcBef>
              <a:buFont typeface="Arial" panose="020B0604020202020204" pitchFamily="34" charset="0"/>
              <a:buChar char="•"/>
            </a:pPr>
            <a:r>
              <a:rPr lang="en-US" sz="2400" dirty="0"/>
              <a:t>Non-intrusive sensors (don’t impede the normal operation of what is being measured)</a:t>
            </a:r>
          </a:p>
          <a:p>
            <a:pPr marL="457200" indent="-457200">
              <a:spcBef>
                <a:spcPts val="1200"/>
              </a:spcBef>
              <a:buFont typeface="Arial" panose="020B0604020202020204" pitchFamily="34" charset="0"/>
              <a:buChar char="•"/>
            </a:pPr>
            <a:r>
              <a:rPr lang="en-US" sz="2400" dirty="0"/>
              <a:t>Usually less accurate</a:t>
            </a:r>
          </a:p>
          <a:p>
            <a:pPr marL="457200" indent="-457200">
              <a:spcBef>
                <a:spcPts val="1200"/>
              </a:spcBef>
              <a:buFont typeface="Arial" panose="020B0604020202020204" pitchFamily="34" charset="0"/>
              <a:buChar char="•"/>
            </a:pPr>
            <a:r>
              <a:rPr lang="en-US" sz="2400" dirty="0"/>
              <a:t>Can be expensive</a:t>
            </a:r>
          </a:p>
        </p:txBody>
      </p:sp>
      <p:pic>
        <p:nvPicPr>
          <p:cNvPr id="11" name="Graphic 10">
            <a:extLst>
              <a:ext uri="{FF2B5EF4-FFF2-40B4-BE49-F238E27FC236}">
                <a16:creationId xmlns:a16="http://schemas.microsoft.com/office/drawing/2014/main" id="{B92FCDD8-3325-A3B7-0A78-DDE4C7606C1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374225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8F27D24-D9A0-CB6E-E708-BAED29F80B85}"/>
              </a:ext>
            </a:extLst>
          </p:cNvPr>
          <p:cNvSpPr>
            <a:spLocks noGrp="1"/>
          </p:cNvSpPr>
          <p:nvPr>
            <p:ph type="title"/>
          </p:nvPr>
        </p:nvSpPr>
        <p:spPr/>
        <p:txBody>
          <a:bodyPr/>
          <a:lstStyle/>
          <a:p>
            <a:r>
              <a:rPr lang="en-US"/>
              <a:t>Types of Portable Metering Systems</a:t>
            </a:r>
          </a:p>
        </p:txBody>
      </p:sp>
      <p:sp>
        <p:nvSpPr>
          <p:cNvPr id="10" name="Content Placeholder 9">
            <a:extLst>
              <a:ext uri="{FF2B5EF4-FFF2-40B4-BE49-F238E27FC236}">
                <a16:creationId xmlns:a16="http://schemas.microsoft.com/office/drawing/2014/main" id="{60209306-DED1-EB70-F8A9-C62BF3C3DCA7}"/>
              </a:ext>
            </a:extLst>
          </p:cNvPr>
          <p:cNvSpPr>
            <a:spLocks noGrp="1"/>
          </p:cNvSpPr>
          <p:nvPr>
            <p:ph idx="1"/>
          </p:nvPr>
        </p:nvSpPr>
        <p:spPr/>
        <p:txBody>
          <a:bodyPr>
            <a:normAutofit/>
          </a:bodyPr>
          <a:lstStyle/>
          <a:p>
            <a:r>
              <a:rPr lang="en-US" sz="2400"/>
              <a:t>Two basic subtypes of portable metering systems: </a:t>
            </a:r>
          </a:p>
          <a:p>
            <a:pPr marL="1143000" lvl="1" indent="-457200"/>
            <a:r>
              <a:rPr lang="en-US"/>
              <a:t>Handheld instantaneous metering </a:t>
            </a:r>
          </a:p>
          <a:p>
            <a:pPr marL="1143000" lvl="1" indent="-457200"/>
            <a:r>
              <a:rPr lang="en-US"/>
              <a:t>Metering with data logging</a:t>
            </a:r>
          </a:p>
          <a:p>
            <a:r>
              <a:rPr lang="en-US" sz="2400"/>
              <a:t>The latter either have no data communication capabilities or communicate data through an internet or mobile network.</a:t>
            </a:r>
          </a:p>
        </p:txBody>
      </p:sp>
      <p:pic>
        <p:nvPicPr>
          <p:cNvPr id="6" name="Graphic 5">
            <a:extLst>
              <a:ext uri="{FF2B5EF4-FFF2-40B4-BE49-F238E27FC236}">
                <a16:creationId xmlns:a16="http://schemas.microsoft.com/office/drawing/2014/main" id="{062A3A88-B343-1CE4-3D22-D8D2BBD1B9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926778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6D86-CBF8-64FD-3F66-39D808056C5D}"/>
              </a:ext>
            </a:extLst>
          </p:cNvPr>
          <p:cNvSpPr>
            <a:spLocks noGrp="1"/>
          </p:cNvSpPr>
          <p:nvPr>
            <p:ph type="title"/>
          </p:nvPr>
        </p:nvSpPr>
        <p:spPr/>
        <p:txBody>
          <a:bodyPr/>
          <a:lstStyle/>
          <a:p>
            <a:r>
              <a:rPr lang="en-US"/>
              <a:t>Which Type of Metering to Use?</a:t>
            </a:r>
          </a:p>
        </p:txBody>
      </p:sp>
      <p:sp>
        <p:nvSpPr>
          <p:cNvPr id="3" name="Content Placeholder 2">
            <a:extLst>
              <a:ext uri="{FF2B5EF4-FFF2-40B4-BE49-F238E27FC236}">
                <a16:creationId xmlns:a16="http://schemas.microsoft.com/office/drawing/2014/main" id="{F96F99F8-F002-5A9B-2D96-70F1F02C1C55}"/>
              </a:ext>
            </a:extLst>
          </p:cNvPr>
          <p:cNvSpPr>
            <a:spLocks noGrp="1"/>
          </p:cNvSpPr>
          <p:nvPr>
            <p:ph idx="1"/>
          </p:nvPr>
        </p:nvSpPr>
        <p:spPr/>
        <p:txBody>
          <a:bodyPr>
            <a:normAutofit/>
          </a:bodyPr>
          <a:lstStyle/>
          <a:p>
            <a:pPr marL="457200" indent="-457200">
              <a:buFont typeface="Arial" panose="020B0604020202020204" pitchFamily="34" charset="0"/>
              <a:buChar char="•"/>
            </a:pPr>
            <a:r>
              <a:rPr lang="en-US" sz="2400"/>
              <a:t>Use a handheld instantaneous metering system when verification of existing or temporary metering data is required or when developing the requirements for a new permanent or temporary meter.</a:t>
            </a:r>
          </a:p>
          <a:p>
            <a:pPr marL="457200" indent="-457200">
              <a:buFont typeface="Arial" panose="020B0604020202020204" pitchFamily="34" charset="0"/>
              <a:buChar char="•"/>
            </a:pPr>
            <a:r>
              <a:rPr lang="en-US" sz="2400"/>
              <a:t>Use permanent metering when performance assessment is expected to take place over the course of six or more months.</a:t>
            </a:r>
          </a:p>
          <a:p>
            <a:pPr marL="457200" indent="-457200">
              <a:buFont typeface="Arial" panose="020B0604020202020204" pitchFamily="34" charset="0"/>
              <a:buChar char="•"/>
            </a:pPr>
            <a:r>
              <a:rPr lang="en-US" sz="2400"/>
              <a:t>Use metering with hardline communication capabilities when the environment is unsuitable for or not conducive to mobile or other wireless communication protocols.</a:t>
            </a:r>
          </a:p>
        </p:txBody>
      </p:sp>
      <p:pic>
        <p:nvPicPr>
          <p:cNvPr id="6" name="Graphic 5">
            <a:extLst>
              <a:ext uri="{FF2B5EF4-FFF2-40B4-BE49-F238E27FC236}">
                <a16:creationId xmlns:a16="http://schemas.microsoft.com/office/drawing/2014/main" id="{3A448282-661A-CDFA-4F62-E4AE617849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514036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5B0EA-C081-730A-525A-04B47E68F46D}"/>
              </a:ext>
            </a:extLst>
          </p:cNvPr>
          <p:cNvSpPr>
            <a:spLocks noGrp="1"/>
          </p:cNvSpPr>
          <p:nvPr>
            <p:ph type="title"/>
          </p:nvPr>
        </p:nvSpPr>
        <p:spPr/>
        <p:txBody>
          <a:bodyPr/>
          <a:lstStyle/>
          <a:p>
            <a:r>
              <a:rPr lang="en-US"/>
              <a:t>Accuracy and Credibility</a:t>
            </a:r>
          </a:p>
        </p:txBody>
      </p:sp>
      <p:sp>
        <p:nvSpPr>
          <p:cNvPr id="3" name="Content Placeholder 2">
            <a:extLst>
              <a:ext uri="{FF2B5EF4-FFF2-40B4-BE49-F238E27FC236}">
                <a16:creationId xmlns:a16="http://schemas.microsoft.com/office/drawing/2014/main" id="{3CC8F2EB-EABF-A27B-AFAF-43EEDA3B3861}"/>
              </a:ext>
            </a:extLst>
          </p:cNvPr>
          <p:cNvSpPr>
            <a:spLocks noGrp="1"/>
          </p:cNvSpPr>
          <p:nvPr>
            <p:ph idx="1"/>
          </p:nvPr>
        </p:nvSpPr>
        <p:spPr/>
        <p:txBody>
          <a:bodyPr>
            <a:normAutofit/>
          </a:bodyPr>
          <a:lstStyle/>
          <a:p>
            <a:r>
              <a:rPr lang="en-US" sz="2400"/>
              <a:t>As noted in Module 1, an appropriate balance must be achieved between the reduction of uncertainty through metering and the cost of metering. </a:t>
            </a:r>
          </a:p>
          <a:p>
            <a:r>
              <a:rPr lang="en-US" sz="2400"/>
              <a:t>When trying to strike this balance, the CMVP must consider the impact of uncertainty on the M&amp;V process as a whole. </a:t>
            </a:r>
          </a:p>
          <a:p>
            <a:r>
              <a:rPr lang="en-US" sz="2400"/>
              <a:t>With the right balance, stakeholders will be aware of and in agreement about acceptable levels of uncertainty. This can help minimize finger-pointing if results are not as expected.</a:t>
            </a:r>
          </a:p>
        </p:txBody>
      </p:sp>
      <p:pic>
        <p:nvPicPr>
          <p:cNvPr id="7" name="Graphic 6">
            <a:extLst>
              <a:ext uri="{FF2B5EF4-FFF2-40B4-BE49-F238E27FC236}">
                <a16:creationId xmlns:a16="http://schemas.microsoft.com/office/drawing/2014/main" id="{30BAE3C2-C14D-05D7-ACDA-F3743CF6DD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8" name="Graphic 7">
            <a:extLst>
              <a:ext uri="{FF2B5EF4-FFF2-40B4-BE49-F238E27FC236}">
                <a16:creationId xmlns:a16="http://schemas.microsoft.com/office/drawing/2014/main" id="{E312FED9-D47E-B28E-ACF2-0A8AFA5046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50010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E2633-187F-A7FE-C1F5-74959C78AFF8}"/>
              </a:ext>
            </a:extLst>
          </p:cNvPr>
          <p:cNvSpPr>
            <a:spLocks noGrp="1"/>
          </p:cNvSpPr>
          <p:nvPr>
            <p:ph type="title"/>
          </p:nvPr>
        </p:nvSpPr>
        <p:spPr/>
        <p:txBody>
          <a:bodyPr/>
          <a:lstStyle/>
          <a:p>
            <a:r>
              <a:rPr lang="en-US"/>
              <a:t>Sources of Uncertainty</a:t>
            </a:r>
          </a:p>
        </p:txBody>
      </p:sp>
      <p:sp>
        <p:nvSpPr>
          <p:cNvPr id="3" name="Content Placeholder 2">
            <a:extLst>
              <a:ext uri="{FF2B5EF4-FFF2-40B4-BE49-F238E27FC236}">
                <a16:creationId xmlns:a16="http://schemas.microsoft.com/office/drawing/2014/main" id="{9F64867C-0115-FC9E-5F3B-BF5504F17912}"/>
              </a:ext>
            </a:extLst>
          </p:cNvPr>
          <p:cNvSpPr>
            <a:spLocks noGrp="1"/>
          </p:cNvSpPr>
          <p:nvPr>
            <p:ph idx="1"/>
          </p:nvPr>
        </p:nvSpPr>
        <p:spPr/>
        <p:txBody>
          <a:bodyPr>
            <a:normAutofit/>
          </a:bodyPr>
          <a:lstStyle/>
          <a:p>
            <a:r>
              <a:rPr lang="en-US" sz="2400"/>
              <a:t>Common sources of uncertainty in M&amp;V data relate to:</a:t>
            </a:r>
          </a:p>
          <a:p>
            <a:pPr marL="1143000" lvl="1" indent="-457200"/>
            <a:r>
              <a:rPr lang="en-US"/>
              <a:t>Measurement</a:t>
            </a:r>
          </a:p>
          <a:p>
            <a:pPr marL="1143000" lvl="1" indent="-457200"/>
            <a:r>
              <a:rPr lang="en-US"/>
              <a:t>Logging</a:t>
            </a:r>
          </a:p>
          <a:p>
            <a:pPr marL="1143000" lvl="1" indent="-457200"/>
            <a:r>
              <a:rPr lang="en-US"/>
              <a:t>Communication</a:t>
            </a:r>
          </a:p>
          <a:p>
            <a:pPr marL="1143000" lvl="1" indent="-457200"/>
            <a:r>
              <a:rPr lang="en-US"/>
              <a:t>Storage</a:t>
            </a:r>
          </a:p>
          <a:p>
            <a:pPr marL="1143000" lvl="1" indent="-457200"/>
            <a:r>
              <a:rPr lang="en-US"/>
              <a:t>Calculation</a:t>
            </a:r>
          </a:p>
          <a:p>
            <a:pPr marL="1143000" lvl="1" indent="-457200"/>
            <a:r>
              <a:rPr lang="en-US"/>
              <a:t>Stipulation</a:t>
            </a:r>
          </a:p>
        </p:txBody>
      </p:sp>
      <p:pic>
        <p:nvPicPr>
          <p:cNvPr id="6" name="Graphic 5">
            <a:extLst>
              <a:ext uri="{FF2B5EF4-FFF2-40B4-BE49-F238E27FC236}">
                <a16:creationId xmlns:a16="http://schemas.microsoft.com/office/drawing/2014/main" id="{993A9033-49E1-245F-B706-5D597CF404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92709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C236-4091-A184-97BE-72333ED31B3D}"/>
              </a:ext>
            </a:extLst>
          </p:cNvPr>
          <p:cNvSpPr>
            <a:spLocks noGrp="1"/>
          </p:cNvSpPr>
          <p:nvPr>
            <p:ph type="title"/>
          </p:nvPr>
        </p:nvSpPr>
        <p:spPr/>
        <p:txBody>
          <a:bodyPr/>
          <a:lstStyle/>
          <a:p>
            <a:r>
              <a:rPr lang="en-US"/>
              <a:t>Data Measurement Best Practices</a:t>
            </a:r>
          </a:p>
        </p:txBody>
      </p:sp>
      <p:sp>
        <p:nvSpPr>
          <p:cNvPr id="3" name="Content Placeholder 2">
            <a:extLst>
              <a:ext uri="{FF2B5EF4-FFF2-40B4-BE49-F238E27FC236}">
                <a16:creationId xmlns:a16="http://schemas.microsoft.com/office/drawing/2014/main" id="{3E45DD5D-4D2D-9E8F-AEEB-15945A515590}"/>
              </a:ext>
            </a:extLst>
          </p:cNvPr>
          <p:cNvSpPr>
            <a:spLocks noGrp="1"/>
          </p:cNvSpPr>
          <p:nvPr>
            <p:ph idx="1"/>
          </p:nvPr>
        </p:nvSpPr>
        <p:spPr/>
        <p:txBody>
          <a:bodyPr>
            <a:normAutofit/>
          </a:bodyPr>
          <a:lstStyle/>
          <a:p>
            <a:r>
              <a:rPr lang="en-US" sz="2400"/>
              <a:t>To improve data credibility and reduce uncertainty:</a:t>
            </a:r>
          </a:p>
          <a:p>
            <a:pPr marL="1143000" lvl="1" indent="-457200"/>
            <a:r>
              <a:rPr lang="en-US"/>
              <a:t>Use the most appropriate type of sensor for the task</a:t>
            </a:r>
          </a:p>
          <a:p>
            <a:pPr marL="1143000" lvl="1" indent="-457200"/>
            <a:r>
              <a:rPr lang="en-US"/>
              <a:t>Check the minimum and maximum range of measurement required and choose the sensor accordingly</a:t>
            </a:r>
          </a:p>
          <a:p>
            <a:pPr marL="1143000" lvl="1" indent="-457200"/>
            <a:r>
              <a:rPr lang="en-US"/>
              <a:t>Ensure proper installation and fit of sensor by following the manufacturer’s requirements</a:t>
            </a:r>
          </a:p>
          <a:p>
            <a:pPr marL="1143000" lvl="1" indent="-457200"/>
            <a:r>
              <a:rPr lang="en-US"/>
              <a:t>Protect against tampering and the elements</a:t>
            </a:r>
          </a:p>
          <a:p>
            <a:pPr marL="1143000" lvl="1" indent="-457200"/>
            <a:r>
              <a:rPr lang="en-US"/>
              <a:t>Perform routine calibration checks</a:t>
            </a:r>
          </a:p>
        </p:txBody>
      </p:sp>
      <p:pic>
        <p:nvPicPr>
          <p:cNvPr id="6" name="Graphic 5">
            <a:extLst>
              <a:ext uri="{FF2B5EF4-FFF2-40B4-BE49-F238E27FC236}">
                <a16:creationId xmlns:a16="http://schemas.microsoft.com/office/drawing/2014/main" id="{9203D370-05DC-B032-62B6-511480D870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394065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65D8E-5599-50FB-9603-EC9AFA84B4BD}"/>
              </a:ext>
            </a:extLst>
          </p:cNvPr>
          <p:cNvSpPr>
            <a:spLocks noGrp="1"/>
          </p:cNvSpPr>
          <p:nvPr>
            <p:ph type="title"/>
          </p:nvPr>
        </p:nvSpPr>
        <p:spPr/>
        <p:txBody>
          <a:bodyPr/>
          <a:lstStyle/>
          <a:p>
            <a:r>
              <a:rPr lang="en-US"/>
              <a:t>Data Privacy/Ownership</a:t>
            </a:r>
          </a:p>
        </p:txBody>
      </p:sp>
      <p:sp>
        <p:nvSpPr>
          <p:cNvPr id="3" name="Content Placeholder 2">
            <a:extLst>
              <a:ext uri="{FF2B5EF4-FFF2-40B4-BE49-F238E27FC236}">
                <a16:creationId xmlns:a16="http://schemas.microsoft.com/office/drawing/2014/main" id="{E2EDB0D9-9EBC-6AFC-8F84-6BEB2D978BD0}"/>
              </a:ext>
            </a:extLst>
          </p:cNvPr>
          <p:cNvSpPr>
            <a:spLocks noGrp="1"/>
          </p:cNvSpPr>
          <p:nvPr>
            <p:ph idx="1"/>
          </p:nvPr>
        </p:nvSpPr>
        <p:spPr/>
        <p:txBody>
          <a:bodyPr/>
          <a:lstStyle/>
          <a:p>
            <a:r>
              <a:rPr lang="en-US"/>
              <a:t>Identify issues.</a:t>
            </a:r>
          </a:p>
          <a:p>
            <a:r>
              <a:rPr lang="en-US"/>
              <a:t>Ensure access and rights to use.</a:t>
            </a:r>
          </a:p>
          <a:p>
            <a:r>
              <a:rPr lang="en-US"/>
              <a:t>Understand data anonymization: “removing personally identifiable information from data sets, so that the people whom the data describe remain anonymous.”</a:t>
            </a:r>
          </a:p>
        </p:txBody>
      </p:sp>
      <p:pic>
        <p:nvPicPr>
          <p:cNvPr id="4" name="Graphic 3">
            <a:extLst>
              <a:ext uri="{FF2B5EF4-FFF2-40B4-BE49-F238E27FC236}">
                <a16:creationId xmlns:a16="http://schemas.microsoft.com/office/drawing/2014/main" id="{2BBB2AF8-2C44-9CA9-1E4B-92046EBA803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39400" y="89019"/>
            <a:ext cx="914400" cy="914400"/>
          </a:xfrm>
          <a:prstGeom prst="rect">
            <a:avLst/>
          </a:prstGeom>
        </p:spPr>
      </p:pic>
      <p:pic>
        <p:nvPicPr>
          <p:cNvPr id="5" name="Graphic 4">
            <a:extLst>
              <a:ext uri="{FF2B5EF4-FFF2-40B4-BE49-F238E27FC236}">
                <a16:creationId xmlns:a16="http://schemas.microsoft.com/office/drawing/2014/main" id="{E2D32BA7-4A00-18A6-858E-36BE99872E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503571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C236-4091-A184-97BE-72333ED31B3D}"/>
              </a:ext>
            </a:extLst>
          </p:cNvPr>
          <p:cNvSpPr>
            <a:spLocks noGrp="1"/>
          </p:cNvSpPr>
          <p:nvPr>
            <p:ph type="title"/>
          </p:nvPr>
        </p:nvSpPr>
        <p:spPr/>
        <p:txBody>
          <a:bodyPr/>
          <a:lstStyle/>
          <a:p>
            <a:r>
              <a:rPr lang="en-US"/>
              <a:t>Data Logging Best Practices</a:t>
            </a:r>
          </a:p>
        </p:txBody>
      </p:sp>
      <p:sp>
        <p:nvSpPr>
          <p:cNvPr id="3" name="Content Placeholder 2">
            <a:extLst>
              <a:ext uri="{FF2B5EF4-FFF2-40B4-BE49-F238E27FC236}">
                <a16:creationId xmlns:a16="http://schemas.microsoft.com/office/drawing/2014/main" id="{3E45DD5D-4D2D-9E8F-AEEB-15945A515590}"/>
              </a:ext>
            </a:extLst>
          </p:cNvPr>
          <p:cNvSpPr>
            <a:spLocks noGrp="1"/>
          </p:cNvSpPr>
          <p:nvPr>
            <p:ph idx="1"/>
          </p:nvPr>
        </p:nvSpPr>
        <p:spPr/>
        <p:txBody>
          <a:bodyPr>
            <a:normAutofit lnSpcReduction="10000"/>
          </a:bodyPr>
          <a:lstStyle/>
          <a:p>
            <a:r>
              <a:rPr lang="en-US" sz="2400"/>
              <a:t>To improve data credibility and reduce uncertainty:</a:t>
            </a:r>
          </a:p>
          <a:p>
            <a:pPr marL="1143000" lvl="1" indent="-457200"/>
            <a:r>
              <a:rPr lang="en-US"/>
              <a:t>Minimize truncating or rounding of data</a:t>
            </a:r>
          </a:p>
          <a:p>
            <a:pPr marL="1143000" lvl="1" indent="-457200"/>
            <a:r>
              <a:rPr lang="en-US"/>
              <a:t>Have sufficient memory for data storage</a:t>
            </a:r>
          </a:p>
          <a:p>
            <a:pPr marL="1143000" lvl="1" indent="-457200"/>
            <a:r>
              <a:rPr lang="en-US"/>
              <a:t>Minimize access to data logs</a:t>
            </a:r>
          </a:p>
          <a:p>
            <a:pPr marL="1143000" lvl="1" indent="-457200"/>
            <a:r>
              <a:rPr lang="en-US"/>
              <a:t>Ensure proper programming</a:t>
            </a:r>
          </a:p>
          <a:p>
            <a:pPr marL="1143000" lvl="1" indent="-457200"/>
            <a:r>
              <a:rPr lang="en-US"/>
              <a:t>Double-check communication between sensors and logs</a:t>
            </a:r>
          </a:p>
          <a:p>
            <a:pPr marL="1143000" lvl="1" indent="-457200"/>
            <a:r>
              <a:rPr lang="en-US"/>
              <a:t>Protect against tampering and the elements</a:t>
            </a:r>
          </a:p>
          <a:p>
            <a:pPr marL="1143000" lvl="1" indent="-457200"/>
            <a:r>
              <a:rPr lang="en-US"/>
              <a:t>Perform routine verification activities</a:t>
            </a:r>
          </a:p>
        </p:txBody>
      </p:sp>
      <p:pic>
        <p:nvPicPr>
          <p:cNvPr id="6" name="Graphic 5">
            <a:extLst>
              <a:ext uri="{FF2B5EF4-FFF2-40B4-BE49-F238E27FC236}">
                <a16:creationId xmlns:a16="http://schemas.microsoft.com/office/drawing/2014/main" id="{E23BBD61-887F-AE49-6433-243B4142C79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42726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C236-4091-A184-97BE-72333ED31B3D}"/>
              </a:ext>
            </a:extLst>
          </p:cNvPr>
          <p:cNvSpPr>
            <a:spLocks noGrp="1"/>
          </p:cNvSpPr>
          <p:nvPr>
            <p:ph type="title"/>
          </p:nvPr>
        </p:nvSpPr>
        <p:spPr/>
        <p:txBody>
          <a:bodyPr>
            <a:normAutofit/>
          </a:bodyPr>
          <a:lstStyle/>
          <a:p>
            <a:r>
              <a:rPr lang="en-US" sz="4000"/>
              <a:t>Data Communication Best Practices</a:t>
            </a:r>
          </a:p>
        </p:txBody>
      </p:sp>
      <p:sp>
        <p:nvSpPr>
          <p:cNvPr id="3" name="Content Placeholder 2">
            <a:extLst>
              <a:ext uri="{FF2B5EF4-FFF2-40B4-BE49-F238E27FC236}">
                <a16:creationId xmlns:a16="http://schemas.microsoft.com/office/drawing/2014/main" id="{3E45DD5D-4D2D-9E8F-AEEB-15945A515590}"/>
              </a:ext>
            </a:extLst>
          </p:cNvPr>
          <p:cNvSpPr>
            <a:spLocks noGrp="1"/>
          </p:cNvSpPr>
          <p:nvPr>
            <p:ph idx="1"/>
          </p:nvPr>
        </p:nvSpPr>
        <p:spPr/>
        <p:txBody>
          <a:bodyPr>
            <a:normAutofit/>
          </a:bodyPr>
          <a:lstStyle/>
          <a:p>
            <a:r>
              <a:rPr lang="en-US" sz="2400"/>
              <a:t>To improve data credibility and reduce uncertainty:</a:t>
            </a:r>
          </a:p>
          <a:p>
            <a:pPr marL="1143000" lvl="1" indent="-457200"/>
            <a:r>
              <a:rPr lang="en-US"/>
              <a:t>Follow regulations and site specifications: safety for GSM and GPRS, cabling requirements, etc.</a:t>
            </a:r>
          </a:p>
          <a:p>
            <a:pPr marL="1143000" lvl="1" indent="-457200"/>
            <a:r>
              <a:rPr lang="en-US"/>
              <a:t>Ensure high-quality communication: signal strength, cable connections, and as little throttling as possible</a:t>
            </a:r>
          </a:p>
          <a:p>
            <a:pPr marL="1143000" lvl="1" indent="-457200"/>
            <a:r>
              <a:rPr lang="en-US"/>
              <a:t>Minimize access to communication equipment </a:t>
            </a:r>
          </a:p>
          <a:p>
            <a:pPr marL="1143000" lvl="1" indent="-457200"/>
            <a:r>
              <a:rPr lang="en-US"/>
              <a:t>Protect against tampering and the elements</a:t>
            </a:r>
          </a:p>
          <a:p>
            <a:pPr marL="1143000" lvl="1" indent="-457200"/>
            <a:r>
              <a:rPr lang="en-US"/>
              <a:t>Perform routine inspections and communication tests</a:t>
            </a:r>
          </a:p>
        </p:txBody>
      </p:sp>
      <p:pic>
        <p:nvPicPr>
          <p:cNvPr id="6" name="Graphic 5">
            <a:extLst>
              <a:ext uri="{FF2B5EF4-FFF2-40B4-BE49-F238E27FC236}">
                <a16:creationId xmlns:a16="http://schemas.microsoft.com/office/drawing/2014/main" id="{A91B88D5-7D56-FCFC-864E-948A564279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858440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C236-4091-A184-97BE-72333ED31B3D}"/>
              </a:ext>
            </a:extLst>
          </p:cNvPr>
          <p:cNvSpPr>
            <a:spLocks noGrp="1"/>
          </p:cNvSpPr>
          <p:nvPr>
            <p:ph type="title"/>
          </p:nvPr>
        </p:nvSpPr>
        <p:spPr/>
        <p:txBody>
          <a:bodyPr/>
          <a:lstStyle/>
          <a:p>
            <a:r>
              <a:rPr lang="en-US"/>
              <a:t>Data Storage Best Practices</a:t>
            </a:r>
          </a:p>
        </p:txBody>
      </p:sp>
      <p:sp>
        <p:nvSpPr>
          <p:cNvPr id="3" name="Content Placeholder 2">
            <a:extLst>
              <a:ext uri="{FF2B5EF4-FFF2-40B4-BE49-F238E27FC236}">
                <a16:creationId xmlns:a16="http://schemas.microsoft.com/office/drawing/2014/main" id="{3E45DD5D-4D2D-9E8F-AEEB-15945A515590}"/>
              </a:ext>
            </a:extLst>
          </p:cNvPr>
          <p:cNvSpPr>
            <a:spLocks noGrp="1"/>
          </p:cNvSpPr>
          <p:nvPr>
            <p:ph idx="1"/>
          </p:nvPr>
        </p:nvSpPr>
        <p:spPr/>
        <p:txBody>
          <a:bodyPr>
            <a:noAutofit/>
          </a:bodyPr>
          <a:lstStyle/>
          <a:p>
            <a:pPr>
              <a:spcBef>
                <a:spcPts val="1000"/>
              </a:spcBef>
            </a:pPr>
            <a:r>
              <a:rPr lang="en-US" sz="2400"/>
              <a:t>To improve data credibility and reduce uncertainty:</a:t>
            </a:r>
          </a:p>
          <a:p>
            <a:pPr marL="1143000" lvl="1" indent="-457200">
              <a:spcBef>
                <a:spcPts val="1000"/>
              </a:spcBef>
            </a:pPr>
            <a:r>
              <a:rPr lang="en-US"/>
              <a:t>Keep backups separate from the primary data storage systems and use additional off-site backups when possible</a:t>
            </a:r>
          </a:p>
          <a:p>
            <a:pPr marL="1143000" lvl="1" indent="-457200">
              <a:spcBef>
                <a:spcPts val="1000"/>
              </a:spcBef>
            </a:pPr>
            <a:r>
              <a:rPr lang="en-US"/>
              <a:t>Use proven backup techniques and technologies </a:t>
            </a:r>
          </a:p>
          <a:p>
            <a:pPr marL="1143000" lvl="1" indent="-457200">
              <a:spcBef>
                <a:spcPts val="1000"/>
              </a:spcBef>
            </a:pPr>
            <a:r>
              <a:rPr lang="en-US"/>
              <a:t>Use backups that retain data in original format for at least five years</a:t>
            </a:r>
          </a:p>
          <a:p>
            <a:pPr marL="1143000" lvl="1" indent="-457200">
              <a:spcBef>
                <a:spcPts val="1000"/>
              </a:spcBef>
            </a:pPr>
            <a:r>
              <a:rPr lang="en-US"/>
              <a:t>Minimize access to data storage equipment</a:t>
            </a:r>
          </a:p>
          <a:p>
            <a:pPr marL="1143000" lvl="1" indent="-457200">
              <a:spcBef>
                <a:spcPts val="1000"/>
              </a:spcBef>
            </a:pPr>
            <a:r>
              <a:rPr lang="en-US"/>
              <a:t>Protect against tampering and the elements</a:t>
            </a:r>
          </a:p>
          <a:p>
            <a:pPr marL="1143000" lvl="1" indent="-457200">
              <a:spcBef>
                <a:spcPts val="1000"/>
              </a:spcBef>
            </a:pPr>
            <a:r>
              <a:rPr lang="en-US"/>
              <a:t>Perform routine inspections and backup tests</a:t>
            </a:r>
          </a:p>
        </p:txBody>
      </p:sp>
      <p:pic>
        <p:nvPicPr>
          <p:cNvPr id="6" name="Graphic 5">
            <a:extLst>
              <a:ext uri="{FF2B5EF4-FFF2-40B4-BE49-F238E27FC236}">
                <a16:creationId xmlns:a16="http://schemas.microsoft.com/office/drawing/2014/main" id="{E332010A-7C5C-FD5F-33D1-BAC07103A5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903764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87DF1-7C21-AD7E-D253-2C411A5353D3}"/>
              </a:ext>
            </a:extLst>
          </p:cNvPr>
          <p:cNvSpPr>
            <a:spLocks noGrp="1"/>
          </p:cNvSpPr>
          <p:nvPr>
            <p:ph type="title"/>
          </p:nvPr>
        </p:nvSpPr>
        <p:spPr/>
        <p:txBody>
          <a:bodyPr/>
          <a:lstStyle/>
          <a:p>
            <a:r>
              <a:rPr lang="en-US"/>
              <a:t>Data Integration 	</a:t>
            </a:r>
          </a:p>
        </p:txBody>
      </p:sp>
      <p:sp>
        <p:nvSpPr>
          <p:cNvPr id="3" name="Content Placeholder 2">
            <a:extLst>
              <a:ext uri="{FF2B5EF4-FFF2-40B4-BE49-F238E27FC236}">
                <a16:creationId xmlns:a16="http://schemas.microsoft.com/office/drawing/2014/main" id="{BC5D8CF2-B76F-8D53-F9BA-9A38FCC42676}"/>
              </a:ext>
            </a:extLst>
          </p:cNvPr>
          <p:cNvSpPr>
            <a:spLocks noGrp="1"/>
          </p:cNvSpPr>
          <p:nvPr>
            <p:ph idx="1"/>
          </p:nvPr>
        </p:nvSpPr>
        <p:spPr/>
        <p:txBody>
          <a:bodyPr>
            <a:normAutofit/>
          </a:bodyPr>
          <a:lstStyle/>
          <a:p>
            <a:pPr algn="ctr"/>
            <a:r>
              <a:rPr lang="en-US" sz="2400" b="1" dirty="0"/>
              <a:t>Project Haystack /</a:t>
            </a:r>
            <a:r>
              <a:rPr lang="en-US" sz="2400" b="1" dirty="0">
                <a:solidFill>
                  <a:srgbClr val="FF0000"/>
                </a:solidFill>
              </a:rPr>
              <a:t>Brick </a:t>
            </a:r>
          </a:p>
          <a:p>
            <a:pPr algn="ctr"/>
            <a:r>
              <a:rPr lang="en-US" sz="2400" i="1" dirty="0"/>
              <a:t>Building Energy Model-Sensor Data Integration </a:t>
            </a:r>
            <a:br>
              <a:rPr lang="en-US" sz="2400" i="1" dirty="0"/>
            </a:br>
            <a:r>
              <a:rPr lang="en-US" sz="2400" i="1" dirty="0"/>
              <a:t>for Energy-Flexible Buildings</a:t>
            </a:r>
            <a:endParaRPr lang="en-US" sz="2400" dirty="0"/>
          </a:p>
        </p:txBody>
      </p:sp>
      <p:pic>
        <p:nvPicPr>
          <p:cNvPr id="4" name="Picture 3">
            <a:extLst>
              <a:ext uri="{FF2B5EF4-FFF2-40B4-BE49-F238E27FC236}">
                <a16:creationId xmlns:a16="http://schemas.microsoft.com/office/drawing/2014/main" id="{B06AAD60-E4A6-C8A4-B58D-C70777DC2091}"/>
              </a:ext>
            </a:extLst>
          </p:cNvPr>
          <p:cNvPicPr>
            <a:picLocks noChangeAspect="1"/>
          </p:cNvPicPr>
          <p:nvPr/>
        </p:nvPicPr>
        <p:blipFill>
          <a:blip r:embed="rId2"/>
          <a:stretch>
            <a:fillRect/>
          </a:stretch>
        </p:blipFill>
        <p:spPr>
          <a:xfrm>
            <a:off x="4724400" y="3429000"/>
            <a:ext cx="2743200" cy="2743200"/>
          </a:xfrm>
          <a:prstGeom prst="rect">
            <a:avLst/>
          </a:prstGeom>
        </p:spPr>
      </p:pic>
    </p:spTree>
    <p:extLst>
      <p:ext uri="{BB962C8B-B14F-4D97-AF65-F5344CB8AC3E}">
        <p14:creationId xmlns:p14="http://schemas.microsoft.com/office/powerpoint/2010/main" val="3011406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C236-4091-A184-97BE-72333ED31B3D}"/>
              </a:ext>
            </a:extLst>
          </p:cNvPr>
          <p:cNvSpPr>
            <a:spLocks noGrp="1"/>
          </p:cNvSpPr>
          <p:nvPr>
            <p:ph type="title"/>
          </p:nvPr>
        </p:nvSpPr>
        <p:spPr/>
        <p:txBody>
          <a:bodyPr/>
          <a:lstStyle/>
          <a:p>
            <a:r>
              <a:rPr lang="en-US"/>
              <a:t>Data Calculation Best Practices</a:t>
            </a:r>
          </a:p>
        </p:txBody>
      </p:sp>
      <p:sp>
        <p:nvSpPr>
          <p:cNvPr id="3" name="Content Placeholder 2">
            <a:extLst>
              <a:ext uri="{FF2B5EF4-FFF2-40B4-BE49-F238E27FC236}">
                <a16:creationId xmlns:a16="http://schemas.microsoft.com/office/drawing/2014/main" id="{3E45DD5D-4D2D-9E8F-AEEB-15945A515590}"/>
              </a:ext>
            </a:extLst>
          </p:cNvPr>
          <p:cNvSpPr>
            <a:spLocks noGrp="1"/>
          </p:cNvSpPr>
          <p:nvPr>
            <p:ph idx="1"/>
          </p:nvPr>
        </p:nvSpPr>
        <p:spPr/>
        <p:txBody>
          <a:bodyPr>
            <a:normAutofit/>
          </a:bodyPr>
          <a:lstStyle/>
          <a:p>
            <a:r>
              <a:rPr lang="en-US" sz="2400"/>
              <a:t>To improve data credibility and reduce uncertainty:</a:t>
            </a:r>
          </a:p>
          <a:p>
            <a:pPr marL="1143000" lvl="1" indent="-457200"/>
            <a:r>
              <a:rPr lang="en-US"/>
              <a:t>Use the correct units for values</a:t>
            </a:r>
          </a:p>
          <a:p>
            <a:pPr marL="1143000" lvl="1" indent="-457200"/>
            <a:r>
              <a:rPr lang="en-US"/>
              <a:t>Apply the correct equations</a:t>
            </a:r>
          </a:p>
          <a:p>
            <a:pPr marL="1143000" lvl="1" indent="-457200"/>
            <a:r>
              <a:rPr lang="en-US"/>
              <a:t>Use correct conversion formulas</a:t>
            </a:r>
          </a:p>
        </p:txBody>
      </p:sp>
      <p:pic>
        <p:nvPicPr>
          <p:cNvPr id="6" name="Graphic 5">
            <a:extLst>
              <a:ext uri="{FF2B5EF4-FFF2-40B4-BE49-F238E27FC236}">
                <a16:creationId xmlns:a16="http://schemas.microsoft.com/office/drawing/2014/main" id="{1A99F1F5-B3DA-6596-A2A0-5A9144CCD0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925861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C236-4091-A184-97BE-72333ED31B3D}"/>
              </a:ext>
            </a:extLst>
          </p:cNvPr>
          <p:cNvSpPr>
            <a:spLocks noGrp="1"/>
          </p:cNvSpPr>
          <p:nvPr>
            <p:ph type="title"/>
          </p:nvPr>
        </p:nvSpPr>
        <p:spPr>
          <a:xfrm>
            <a:off x="838200" y="365125"/>
            <a:ext cx="9475914" cy="1325563"/>
          </a:xfrm>
        </p:spPr>
        <p:txBody>
          <a:bodyPr>
            <a:normAutofit/>
          </a:bodyPr>
          <a:lstStyle/>
          <a:p>
            <a:r>
              <a:rPr lang="en-US" sz="4000"/>
              <a:t>Data Stipulation Best Practices</a:t>
            </a:r>
          </a:p>
        </p:txBody>
      </p:sp>
      <p:sp>
        <p:nvSpPr>
          <p:cNvPr id="3" name="Content Placeholder 2">
            <a:extLst>
              <a:ext uri="{FF2B5EF4-FFF2-40B4-BE49-F238E27FC236}">
                <a16:creationId xmlns:a16="http://schemas.microsoft.com/office/drawing/2014/main" id="{3E45DD5D-4D2D-9E8F-AEEB-15945A515590}"/>
              </a:ext>
            </a:extLst>
          </p:cNvPr>
          <p:cNvSpPr>
            <a:spLocks noGrp="1"/>
          </p:cNvSpPr>
          <p:nvPr>
            <p:ph idx="1"/>
          </p:nvPr>
        </p:nvSpPr>
        <p:spPr/>
        <p:txBody>
          <a:bodyPr>
            <a:normAutofit/>
          </a:bodyPr>
          <a:lstStyle/>
          <a:p>
            <a:r>
              <a:rPr lang="en-US" sz="2400" i="1" dirty="0"/>
              <a:t>Note</a:t>
            </a:r>
            <a:r>
              <a:rPr lang="en-US" sz="2400" dirty="0"/>
              <a:t>: A stipulation is “an assumption on which rests the validity or effect of something else.”</a:t>
            </a:r>
          </a:p>
          <a:p>
            <a:r>
              <a:rPr lang="en-US" sz="2400" dirty="0"/>
              <a:t>To improve data credibility and reduce uncertainty:</a:t>
            </a:r>
          </a:p>
          <a:p>
            <a:pPr marL="1143000" lvl="1" indent="-457200"/>
            <a:r>
              <a:rPr lang="en-US" dirty="0"/>
              <a:t>Double-check validity of stipulations</a:t>
            </a:r>
          </a:p>
          <a:p>
            <a:pPr marL="1143000" lvl="1" indent="-457200"/>
            <a:r>
              <a:rPr lang="en-US" dirty="0"/>
              <a:t>Obtain agreements about stipulations in writing</a:t>
            </a:r>
          </a:p>
        </p:txBody>
      </p:sp>
      <p:pic>
        <p:nvPicPr>
          <p:cNvPr id="7" name="Graphic 6">
            <a:extLst>
              <a:ext uri="{FF2B5EF4-FFF2-40B4-BE49-F238E27FC236}">
                <a16:creationId xmlns:a16="http://schemas.microsoft.com/office/drawing/2014/main" id="{952E6D4D-CBB7-8866-E962-66104D604F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8" name="Graphic 7">
            <a:extLst>
              <a:ext uri="{FF2B5EF4-FFF2-40B4-BE49-F238E27FC236}">
                <a16:creationId xmlns:a16="http://schemas.microsoft.com/office/drawing/2014/main" id="{DE4178AC-F3D8-1674-0F7E-2F81A9FCDB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04022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6825-BFAC-710F-52A7-99A06A9775A2}"/>
              </a:ext>
            </a:extLst>
          </p:cNvPr>
          <p:cNvSpPr>
            <a:spLocks noGrp="1"/>
          </p:cNvSpPr>
          <p:nvPr>
            <p:ph type="title"/>
          </p:nvPr>
        </p:nvSpPr>
        <p:spPr>
          <a:xfrm>
            <a:off x="838200" y="365125"/>
            <a:ext cx="7060660" cy="1325563"/>
          </a:xfrm>
        </p:spPr>
        <p:txBody>
          <a:bodyPr/>
          <a:lstStyle/>
          <a:p>
            <a:r>
              <a:rPr lang="en-US"/>
              <a:t>Other Data Credibility Best Practices</a:t>
            </a:r>
          </a:p>
        </p:txBody>
      </p:sp>
      <p:sp>
        <p:nvSpPr>
          <p:cNvPr id="3" name="Content Placeholder 2">
            <a:extLst>
              <a:ext uri="{FF2B5EF4-FFF2-40B4-BE49-F238E27FC236}">
                <a16:creationId xmlns:a16="http://schemas.microsoft.com/office/drawing/2014/main" id="{D4D7C0DA-CFFA-95FB-41D2-AB543391D0FD}"/>
              </a:ext>
            </a:extLst>
          </p:cNvPr>
          <p:cNvSpPr>
            <a:spLocks noGrp="1"/>
          </p:cNvSpPr>
          <p:nvPr>
            <p:ph idx="1"/>
          </p:nvPr>
        </p:nvSpPr>
        <p:spPr/>
        <p:txBody>
          <a:bodyPr>
            <a:normAutofit/>
          </a:bodyPr>
          <a:lstStyle/>
          <a:p>
            <a:pPr marL="457200" indent="-457200">
              <a:buFont typeface="Arial" panose="020B0604020202020204" pitchFamily="34" charset="0"/>
              <a:buChar char="•"/>
            </a:pPr>
            <a:r>
              <a:rPr lang="en-US" sz="2400"/>
              <a:t>Develop a quality management system in accordance with ISO Guidelines 9001 and 17020 and use, maintain, and whenever possible improve the quality management system. </a:t>
            </a:r>
          </a:p>
          <a:p>
            <a:pPr marL="457200" indent="-457200">
              <a:buFont typeface="Arial" panose="020B0604020202020204" pitchFamily="34" charset="0"/>
              <a:buChar char="•"/>
            </a:pPr>
            <a:r>
              <a:rPr lang="en-US" sz="2400"/>
              <a:t>Disclose full credibility assessment results to all relevant stakeholders, obtain agreement on acceptable levels of data credibility, and adhere to applicable M&amp;V guidelines and protocols as well as the methodologies agreed upon for the purposes of the project.</a:t>
            </a:r>
          </a:p>
        </p:txBody>
      </p:sp>
      <p:pic>
        <p:nvPicPr>
          <p:cNvPr id="8" name="Graphic 7">
            <a:extLst>
              <a:ext uri="{FF2B5EF4-FFF2-40B4-BE49-F238E27FC236}">
                <a16:creationId xmlns:a16="http://schemas.microsoft.com/office/drawing/2014/main" id="{B79BFA21-6CCB-48BC-F0BA-03CCFA257F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FF609B32-A069-4078-412F-4B2D44E17B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10" name="Graphic 9">
            <a:extLst>
              <a:ext uri="{FF2B5EF4-FFF2-40B4-BE49-F238E27FC236}">
                <a16:creationId xmlns:a16="http://schemas.microsoft.com/office/drawing/2014/main" id="{FBFEF82A-1B95-A712-CB25-1CAEB7F8414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
        <p:nvSpPr>
          <p:cNvPr id="5" name="TextBox 4">
            <a:extLst>
              <a:ext uri="{FF2B5EF4-FFF2-40B4-BE49-F238E27FC236}">
                <a16:creationId xmlns:a16="http://schemas.microsoft.com/office/drawing/2014/main" id="{B3C6BCB6-E2A7-B047-294F-EF71DB12D199}"/>
              </a:ext>
            </a:extLst>
          </p:cNvPr>
          <p:cNvSpPr txBox="1"/>
          <p:nvPr/>
        </p:nvSpPr>
        <p:spPr>
          <a:xfrm>
            <a:off x="2522483" y="6102659"/>
            <a:ext cx="8831317" cy="369332"/>
          </a:xfrm>
          <a:prstGeom prst="rect">
            <a:avLst/>
          </a:prstGeom>
          <a:noFill/>
        </p:spPr>
        <p:txBody>
          <a:bodyPr wrap="square">
            <a:spAutoFit/>
          </a:bodyPr>
          <a:lstStyle/>
          <a:p>
            <a:pPr algn="r"/>
            <a:r>
              <a:rPr lang="en-US" b="1">
                <a:latin typeface="Verdana" panose="020B0604030504040204" pitchFamily="34" charset="0"/>
                <a:ea typeface="Verdana" panose="020B0604030504040204" pitchFamily="34" charset="0"/>
                <a:cs typeface="Verdana" panose="020B0604030504040204" pitchFamily="34" charset="0"/>
              </a:rPr>
              <a:t>ISO 9001</a:t>
            </a:r>
            <a:r>
              <a:rPr lang="en-US">
                <a:latin typeface="Verdana" panose="020B0604030504040204" pitchFamily="34" charset="0"/>
                <a:ea typeface="Verdana" panose="020B0604030504040204" pitchFamily="34" charset="0"/>
                <a:cs typeface="Verdana" panose="020B0604030504040204" pitchFamily="34" charset="0"/>
              </a:rPr>
              <a:t>: </a:t>
            </a:r>
            <a:r>
              <a:rPr lang="en-US" err="1">
                <a:latin typeface="Verdana" panose="020B0604030504040204" pitchFamily="34" charset="0"/>
                <a:ea typeface="Verdana" panose="020B0604030504040204" pitchFamily="34" charset="0"/>
                <a:cs typeface="Verdana" panose="020B0604030504040204" pitchFamily="34" charset="0"/>
              </a:rPr>
              <a:t>iso.org</a:t>
            </a:r>
            <a:r>
              <a:rPr lang="en-US">
                <a:latin typeface="Verdana" panose="020B0604030504040204" pitchFamily="34" charset="0"/>
                <a:ea typeface="Verdana" panose="020B0604030504040204" pitchFamily="34" charset="0"/>
                <a:cs typeface="Verdana" panose="020B0604030504040204" pitchFamily="34" charset="0"/>
              </a:rPr>
              <a:t>/files/live/sites/</a:t>
            </a:r>
            <a:r>
              <a:rPr lang="en-US" err="1">
                <a:latin typeface="Verdana" panose="020B0604030504040204" pitchFamily="34" charset="0"/>
                <a:ea typeface="Verdana" panose="020B0604030504040204" pitchFamily="34" charset="0"/>
                <a:cs typeface="Verdana" panose="020B0604030504040204" pitchFamily="34" charset="0"/>
              </a:rPr>
              <a:t>isoorg</a:t>
            </a:r>
            <a:r>
              <a:rPr lang="en-US">
                <a:latin typeface="Verdana" panose="020B0604030504040204" pitchFamily="34" charset="0"/>
                <a:ea typeface="Verdana" panose="020B0604030504040204" pitchFamily="34" charset="0"/>
                <a:cs typeface="Verdana" panose="020B0604030504040204" pitchFamily="34" charset="0"/>
              </a:rPr>
              <a:t>/files/store/</a:t>
            </a:r>
            <a:r>
              <a:rPr lang="en-US" err="1">
                <a:latin typeface="Verdana" panose="020B0604030504040204" pitchFamily="34" charset="0"/>
                <a:ea typeface="Verdana" panose="020B0604030504040204" pitchFamily="34" charset="0"/>
                <a:cs typeface="Verdana" panose="020B0604030504040204" pitchFamily="34" charset="0"/>
              </a:rPr>
              <a:t>en</a:t>
            </a:r>
            <a:r>
              <a:rPr lang="en-US">
                <a:latin typeface="Verdana" panose="020B0604030504040204" pitchFamily="34" charset="0"/>
                <a:ea typeface="Verdana" panose="020B0604030504040204" pitchFamily="34" charset="0"/>
                <a:cs typeface="Verdana" panose="020B0604030504040204" pitchFamily="34" charset="0"/>
              </a:rPr>
              <a:t>/PUB100080.pdf</a:t>
            </a:r>
          </a:p>
        </p:txBody>
      </p:sp>
    </p:spTree>
    <p:extLst>
      <p:ext uri="{BB962C8B-B14F-4D97-AF65-F5344CB8AC3E}">
        <p14:creationId xmlns:p14="http://schemas.microsoft.com/office/powerpoint/2010/main" val="312185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1E0B9C-95E9-A985-04A0-D389CFDB24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sp>
        <p:nvSpPr>
          <p:cNvPr id="2" name="Title 1">
            <a:extLst>
              <a:ext uri="{FF2B5EF4-FFF2-40B4-BE49-F238E27FC236}">
                <a16:creationId xmlns:a16="http://schemas.microsoft.com/office/drawing/2014/main" id="{D97822E3-0B00-A54A-7469-F606282659B0}"/>
              </a:ext>
            </a:extLst>
          </p:cNvPr>
          <p:cNvSpPr>
            <a:spLocks noGrp="1"/>
          </p:cNvSpPr>
          <p:nvPr>
            <p:ph type="title"/>
          </p:nvPr>
        </p:nvSpPr>
        <p:spPr/>
        <p:txBody>
          <a:bodyPr/>
          <a:lstStyle/>
          <a:p>
            <a:r>
              <a:rPr lang="en-US"/>
              <a:t>Calibration</a:t>
            </a:r>
          </a:p>
        </p:txBody>
      </p:sp>
      <p:sp>
        <p:nvSpPr>
          <p:cNvPr id="3" name="Content Placeholder 2">
            <a:extLst>
              <a:ext uri="{FF2B5EF4-FFF2-40B4-BE49-F238E27FC236}">
                <a16:creationId xmlns:a16="http://schemas.microsoft.com/office/drawing/2014/main" id="{A1686AC2-5B66-B4B5-DCDA-24D995EF3E80}"/>
              </a:ext>
            </a:extLst>
          </p:cNvPr>
          <p:cNvSpPr>
            <a:spLocks noGrp="1"/>
          </p:cNvSpPr>
          <p:nvPr>
            <p:ph idx="1"/>
          </p:nvPr>
        </p:nvSpPr>
        <p:spPr/>
        <p:txBody>
          <a:bodyPr>
            <a:normAutofit/>
          </a:bodyPr>
          <a:lstStyle/>
          <a:p>
            <a:r>
              <a:rPr lang="en-US" sz="2400"/>
              <a:t>Calibrating metering system components reduces </a:t>
            </a:r>
            <a:r>
              <a:rPr lang="en-US" sz="2400" b="1"/>
              <a:t>unknown</a:t>
            </a:r>
            <a:r>
              <a:rPr lang="en-US" sz="2400"/>
              <a:t> uncertainty factors. </a:t>
            </a:r>
          </a:p>
          <a:p>
            <a:r>
              <a:rPr lang="en-US" sz="2400"/>
              <a:t>Calibration should be performed by an accredited metrologist.</a:t>
            </a:r>
          </a:p>
          <a:p>
            <a:pPr marL="1143000" lvl="1" indent="-457200"/>
            <a:r>
              <a:rPr lang="en-US"/>
              <a:t>Most accrediting bodies are affiliated with the International Laboratory Accreditation Cooperation (ILAC). These affiliations ensure that a metrologist’s accreditation meets global standards.</a:t>
            </a:r>
          </a:p>
        </p:txBody>
      </p:sp>
      <p:pic>
        <p:nvPicPr>
          <p:cNvPr id="8" name="Graphic 7">
            <a:extLst>
              <a:ext uri="{FF2B5EF4-FFF2-40B4-BE49-F238E27FC236}">
                <a16:creationId xmlns:a16="http://schemas.microsoft.com/office/drawing/2014/main" id="{C2ECB226-4186-A156-F54A-72E8422BC2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266578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9017A-7267-94EE-59F0-C10173F49F56}"/>
              </a:ext>
            </a:extLst>
          </p:cNvPr>
          <p:cNvSpPr>
            <a:spLocks noGrp="1"/>
          </p:cNvSpPr>
          <p:nvPr>
            <p:ph type="title"/>
          </p:nvPr>
        </p:nvSpPr>
        <p:spPr/>
        <p:txBody>
          <a:bodyPr/>
          <a:lstStyle/>
          <a:p>
            <a:r>
              <a:rPr lang="en-US"/>
              <a:t>Calibration Phases</a:t>
            </a:r>
          </a:p>
        </p:txBody>
      </p:sp>
      <p:sp>
        <p:nvSpPr>
          <p:cNvPr id="3" name="Content Placeholder 2">
            <a:extLst>
              <a:ext uri="{FF2B5EF4-FFF2-40B4-BE49-F238E27FC236}">
                <a16:creationId xmlns:a16="http://schemas.microsoft.com/office/drawing/2014/main" id="{5E5DA54E-767B-E07A-273E-72DE847FDCD3}"/>
              </a:ext>
            </a:extLst>
          </p:cNvPr>
          <p:cNvSpPr>
            <a:spLocks noGrp="1"/>
          </p:cNvSpPr>
          <p:nvPr>
            <p:ph idx="1"/>
          </p:nvPr>
        </p:nvSpPr>
        <p:spPr/>
        <p:txBody>
          <a:bodyPr>
            <a:normAutofit/>
          </a:bodyPr>
          <a:lstStyle/>
          <a:p>
            <a:r>
              <a:rPr lang="en-US" sz="2400"/>
              <a:t>There are two often confused phases in calibration:</a:t>
            </a:r>
          </a:p>
          <a:p>
            <a:pPr marL="1200150" lvl="1" indent="-514350">
              <a:buFont typeface="+mj-lt"/>
              <a:buAutoNum type="arabicPeriod"/>
            </a:pPr>
            <a:r>
              <a:rPr lang="en-US"/>
              <a:t>Knowing the error of the measurement instrument, sensor, or logger </a:t>
            </a:r>
          </a:p>
          <a:p>
            <a:pPr marL="1200150" lvl="1" indent="-514350">
              <a:buFont typeface="+mj-lt"/>
              <a:buAutoNum type="arabicPeriod"/>
            </a:pPr>
            <a:r>
              <a:rPr lang="en-US"/>
              <a:t>Adjusting or fine-tuning the measurement system component to achieve the least amount of error possible (also known as zeroing)</a:t>
            </a:r>
          </a:p>
        </p:txBody>
      </p:sp>
      <p:pic>
        <p:nvPicPr>
          <p:cNvPr id="6" name="Graphic 5">
            <a:extLst>
              <a:ext uri="{FF2B5EF4-FFF2-40B4-BE49-F238E27FC236}">
                <a16:creationId xmlns:a16="http://schemas.microsoft.com/office/drawing/2014/main" id="{F8C68083-D808-79AB-B08D-88A48B67853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751575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1492327-0866-8F05-609A-D146EBF89431}"/>
              </a:ext>
            </a:extLst>
          </p:cNvPr>
          <p:cNvSpPr>
            <a:spLocks noGrp="1"/>
          </p:cNvSpPr>
          <p:nvPr>
            <p:ph type="title"/>
          </p:nvPr>
        </p:nvSpPr>
        <p:spPr/>
        <p:txBody>
          <a:bodyPr/>
          <a:lstStyle/>
          <a:p>
            <a:r>
              <a:rPr lang="en-US"/>
              <a:t>When Is Calibration Necessary?</a:t>
            </a:r>
          </a:p>
        </p:txBody>
      </p:sp>
      <p:sp>
        <p:nvSpPr>
          <p:cNvPr id="9" name="Content Placeholder 8">
            <a:extLst>
              <a:ext uri="{FF2B5EF4-FFF2-40B4-BE49-F238E27FC236}">
                <a16:creationId xmlns:a16="http://schemas.microsoft.com/office/drawing/2014/main" id="{2695751A-F0F9-F999-222C-A559AF3D5083}"/>
              </a:ext>
            </a:extLst>
          </p:cNvPr>
          <p:cNvSpPr>
            <a:spLocks noGrp="1"/>
          </p:cNvSpPr>
          <p:nvPr>
            <p:ph sz="half" idx="1"/>
          </p:nvPr>
        </p:nvSpPr>
        <p:spPr/>
        <p:txBody>
          <a:bodyPr>
            <a:normAutofit/>
          </a:bodyPr>
          <a:lstStyle/>
          <a:p>
            <a:r>
              <a:rPr lang="en-US" sz="2400"/>
              <a:t>After calibration-altering event:</a:t>
            </a:r>
          </a:p>
          <a:p>
            <a:pPr marL="457200" indent="-457200">
              <a:buFont typeface="Arial" panose="020B0604020202020204" pitchFamily="34" charset="0"/>
              <a:buChar char="•"/>
            </a:pPr>
            <a:r>
              <a:rPr lang="en-US" sz="2400" b="1"/>
              <a:t>Portable equipment</a:t>
            </a:r>
            <a:r>
              <a:rPr lang="en-US" sz="2400"/>
              <a:t>—bump, drop, poor storage, battery problem.</a:t>
            </a:r>
          </a:p>
          <a:p>
            <a:pPr marL="457200" indent="-457200">
              <a:buFont typeface="Arial" panose="020B0604020202020204" pitchFamily="34" charset="0"/>
              <a:buChar char="•"/>
            </a:pPr>
            <a:r>
              <a:rPr lang="en-US" sz="2400" b="1"/>
              <a:t>Permanent</a:t>
            </a:r>
            <a:r>
              <a:rPr lang="en-US" sz="2400"/>
              <a:t>—power surge or spike, fire, etc.</a:t>
            </a:r>
          </a:p>
        </p:txBody>
      </p:sp>
      <p:sp>
        <p:nvSpPr>
          <p:cNvPr id="10" name="Content Placeholder 9">
            <a:extLst>
              <a:ext uri="{FF2B5EF4-FFF2-40B4-BE49-F238E27FC236}">
                <a16:creationId xmlns:a16="http://schemas.microsoft.com/office/drawing/2014/main" id="{4FA9C810-48E2-DD91-E95A-3778797063C7}"/>
              </a:ext>
            </a:extLst>
          </p:cNvPr>
          <p:cNvSpPr>
            <a:spLocks noGrp="1"/>
          </p:cNvSpPr>
          <p:nvPr>
            <p:ph sz="half" idx="2"/>
          </p:nvPr>
        </p:nvSpPr>
        <p:spPr/>
        <p:txBody>
          <a:bodyPr>
            <a:normAutofit/>
          </a:bodyPr>
          <a:lstStyle/>
          <a:p>
            <a:r>
              <a:rPr lang="en-US" sz="2400"/>
              <a:t>Otherwise:</a:t>
            </a:r>
          </a:p>
          <a:p>
            <a:pPr marL="457200" indent="-457200">
              <a:buFont typeface="Arial" panose="020B0604020202020204" pitchFamily="34" charset="0"/>
              <a:buChar char="•"/>
            </a:pPr>
            <a:r>
              <a:rPr lang="en-US" sz="2400" b="1"/>
              <a:t>Portable equipment</a:t>
            </a:r>
            <a:r>
              <a:rPr lang="en-US" sz="2400"/>
              <a:t>—Once every year if in weekly use or once every two years if in monthly (or less frequent) use</a:t>
            </a:r>
          </a:p>
          <a:p>
            <a:pPr marL="457200" indent="-457200">
              <a:buFont typeface="Arial" panose="020B0604020202020204" pitchFamily="34" charset="0"/>
              <a:buChar char="•"/>
            </a:pPr>
            <a:r>
              <a:rPr lang="en-US" sz="2400" b="1"/>
              <a:t>Permanent</a:t>
            </a:r>
            <a:r>
              <a:rPr lang="en-US" sz="2400"/>
              <a:t>—Can remain calibrated for five years or more if properly installed and protected</a:t>
            </a:r>
          </a:p>
        </p:txBody>
      </p:sp>
      <p:pic>
        <p:nvPicPr>
          <p:cNvPr id="8" name="Graphic 7">
            <a:extLst>
              <a:ext uri="{FF2B5EF4-FFF2-40B4-BE49-F238E27FC236}">
                <a16:creationId xmlns:a16="http://schemas.microsoft.com/office/drawing/2014/main" id="{242D9FF9-6101-76F7-D93F-7910711DE11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274853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CDCDF-6EEF-A851-C6AD-720A6D019BB9}"/>
              </a:ext>
            </a:extLst>
          </p:cNvPr>
          <p:cNvSpPr>
            <a:spLocks noGrp="1"/>
          </p:cNvSpPr>
          <p:nvPr>
            <p:ph type="title"/>
          </p:nvPr>
        </p:nvSpPr>
        <p:spPr/>
        <p:txBody>
          <a:bodyPr/>
          <a:lstStyle/>
          <a:p>
            <a:r>
              <a:rPr lang="en-US"/>
              <a:t>Calibration Verification</a:t>
            </a:r>
          </a:p>
        </p:txBody>
      </p:sp>
      <p:sp>
        <p:nvSpPr>
          <p:cNvPr id="7" name="Content Placeholder 6">
            <a:extLst>
              <a:ext uri="{FF2B5EF4-FFF2-40B4-BE49-F238E27FC236}">
                <a16:creationId xmlns:a16="http://schemas.microsoft.com/office/drawing/2014/main" id="{47724DAE-DAFC-9CD8-F2F6-C4DDB86E38A0}"/>
              </a:ext>
            </a:extLst>
          </p:cNvPr>
          <p:cNvSpPr>
            <a:spLocks noGrp="1"/>
          </p:cNvSpPr>
          <p:nvPr>
            <p:ph idx="1"/>
          </p:nvPr>
        </p:nvSpPr>
        <p:spPr/>
        <p:txBody>
          <a:bodyPr>
            <a:normAutofit/>
          </a:bodyPr>
          <a:lstStyle/>
          <a:p>
            <a:r>
              <a:rPr lang="en-US" sz="2400"/>
              <a:t>Calibration can be verified through an </a:t>
            </a:r>
            <a:r>
              <a:rPr lang="en-US" sz="2400" b="1"/>
              <a:t>in-use calibration check</a:t>
            </a:r>
            <a:r>
              <a:rPr lang="en-US" sz="2400"/>
              <a:t>. This is when a meter is used to measure a known load—such as a resistive heater—and its results are compared against those of a calibrated measurement system of known calibration status.</a:t>
            </a:r>
          </a:p>
          <a:p>
            <a:r>
              <a:rPr lang="en-US" sz="2400"/>
              <a:t>Portable metering systems of known calibration status can also be used to verify the collaboration of permanent metering systems.</a:t>
            </a:r>
          </a:p>
        </p:txBody>
      </p:sp>
      <p:pic>
        <p:nvPicPr>
          <p:cNvPr id="8" name="Graphic 7">
            <a:extLst>
              <a:ext uri="{FF2B5EF4-FFF2-40B4-BE49-F238E27FC236}">
                <a16:creationId xmlns:a16="http://schemas.microsoft.com/office/drawing/2014/main" id="{39E21595-9273-0F96-F673-F5E88CBF90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743567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856B-8B40-5D18-BADA-FFD38507096B}"/>
              </a:ext>
            </a:extLst>
          </p:cNvPr>
          <p:cNvSpPr>
            <a:spLocks noGrp="1"/>
          </p:cNvSpPr>
          <p:nvPr>
            <p:ph type="title"/>
          </p:nvPr>
        </p:nvSpPr>
        <p:spPr/>
        <p:txBody>
          <a:bodyPr/>
          <a:lstStyle/>
          <a:p>
            <a:r>
              <a:rPr lang="en-US"/>
              <a:t>Data-Related Costs</a:t>
            </a:r>
          </a:p>
        </p:txBody>
      </p:sp>
      <p:sp>
        <p:nvSpPr>
          <p:cNvPr id="3" name="Content Placeholder 2">
            <a:extLst>
              <a:ext uri="{FF2B5EF4-FFF2-40B4-BE49-F238E27FC236}">
                <a16:creationId xmlns:a16="http://schemas.microsoft.com/office/drawing/2014/main" id="{FC1910EE-46BA-2170-254F-181CEE6EEB8D}"/>
              </a:ext>
            </a:extLst>
          </p:cNvPr>
          <p:cNvSpPr>
            <a:spLocks noGrp="1"/>
          </p:cNvSpPr>
          <p:nvPr>
            <p:ph idx="1"/>
          </p:nvPr>
        </p:nvSpPr>
        <p:spPr/>
        <p:txBody>
          <a:bodyPr>
            <a:normAutofit/>
          </a:bodyPr>
          <a:lstStyle/>
          <a:p>
            <a:r>
              <a:rPr lang="en-US" sz="2400"/>
              <a:t>When data is crucial, the data system becomes crucial as well. </a:t>
            </a:r>
          </a:p>
          <a:p>
            <a:r>
              <a:rPr lang="en-US" sz="2400"/>
              <a:t>Crucial data systems should have additional safety measures, backup features, and capacity to operate outside normal conditions. </a:t>
            </a:r>
          </a:p>
          <a:p>
            <a:r>
              <a:rPr lang="en-US" sz="2400" b="1"/>
              <a:t>All this comes at a cost. </a:t>
            </a:r>
          </a:p>
        </p:txBody>
      </p:sp>
      <p:pic>
        <p:nvPicPr>
          <p:cNvPr id="6" name="Graphic 5">
            <a:extLst>
              <a:ext uri="{FF2B5EF4-FFF2-40B4-BE49-F238E27FC236}">
                <a16:creationId xmlns:a16="http://schemas.microsoft.com/office/drawing/2014/main" id="{718E3126-8239-EAF0-1667-6FEF23C920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F516F69E-8DA3-6FCA-A058-BEC4D2502E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89138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856B-8B40-5D18-BADA-FFD38507096B}"/>
              </a:ext>
            </a:extLst>
          </p:cNvPr>
          <p:cNvSpPr>
            <a:spLocks noGrp="1"/>
          </p:cNvSpPr>
          <p:nvPr>
            <p:ph type="title"/>
          </p:nvPr>
        </p:nvSpPr>
        <p:spPr/>
        <p:txBody>
          <a:bodyPr/>
          <a:lstStyle/>
          <a:p>
            <a:r>
              <a:rPr lang="en-US"/>
              <a:t>Indirect Data-Related Costs</a:t>
            </a:r>
          </a:p>
        </p:txBody>
      </p:sp>
      <p:sp>
        <p:nvSpPr>
          <p:cNvPr id="3" name="Content Placeholder 2">
            <a:extLst>
              <a:ext uri="{FF2B5EF4-FFF2-40B4-BE49-F238E27FC236}">
                <a16:creationId xmlns:a16="http://schemas.microsoft.com/office/drawing/2014/main" id="{FC1910EE-46BA-2170-254F-181CEE6EEB8D}"/>
              </a:ext>
            </a:extLst>
          </p:cNvPr>
          <p:cNvSpPr>
            <a:spLocks noGrp="1"/>
          </p:cNvSpPr>
          <p:nvPr>
            <p:ph idx="1"/>
          </p:nvPr>
        </p:nvSpPr>
        <p:spPr/>
        <p:txBody>
          <a:bodyPr>
            <a:normAutofit/>
          </a:bodyPr>
          <a:lstStyle/>
          <a:p>
            <a:r>
              <a:rPr lang="en-US" sz="2400"/>
              <a:t>There are also indirect costs associated with data loss. </a:t>
            </a:r>
          </a:p>
          <a:p>
            <a:r>
              <a:rPr lang="en-US" sz="2400"/>
              <a:t>Data lost due to metering or communication failure can mean …</a:t>
            </a:r>
          </a:p>
          <a:p>
            <a:pPr lvl="1"/>
            <a:r>
              <a:rPr lang="en-US" b="1"/>
              <a:t>For the CMVP</a:t>
            </a:r>
            <a:r>
              <a:rPr lang="en-US"/>
              <a:t>: wasted professional time, delays in deliverables, and increased rental fees</a:t>
            </a:r>
          </a:p>
          <a:p>
            <a:pPr lvl="1"/>
            <a:r>
              <a:rPr lang="en-US" b="1"/>
              <a:t>For the client or other stakeholders</a:t>
            </a:r>
            <a:r>
              <a:rPr lang="en-US"/>
              <a:t>: loss of productivity, loss of income, missed deadlines, incorrect invoicing, and even equipment or system damage</a:t>
            </a:r>
          </a:p>
        </p:txBody>
      </p:sp>
      <p:pic>
        <p:nvPicPr>
          <p:cNvPr id="6" name="Graphic 5">
            <a:extLst>
              <a:ext uri="{FF2B5EF4-FFF2-40B4-BE49-F238E27FC236}">
                <a16:creationId xmlns:a16="http://schemas.microsoft.com/office/drawing/2014/main" id="{5CB87303-431E-2894-ECE2-1B01B7E4CC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910C2B09-A40E-F1FB-443D-0B1C71F5D3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418863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90036-8F2A-124D-348F-0DAAD657F4CF}"/>
              </a:ext>
            </a:extLst>
          </p:cNvPr>
          <p:cNvSpPr>
            <a:spLocks noGrp="1"/>
          </p:cNvSpPr>
          <p:nvPr>
            <p:ph type="title"/>
          </p:nvPr>
        </p:nvSpPr>
        <p:spPr/>
        <p:txBody>
          <a:bodyPr>
            <a:normAutofit/>
          </a:bodyPr>
          <a:lstStyle/>
          <a:p>
            <a:r>
              <a:rPr lang="en-US" sz="4000"/>
              <a:t>Accounting for </a:t>
            </a:r>
            <a:r>
              <a:rPr lang="en-US" sz="4000" i="1"/>
              <a:t>All</a:t>
            </a:r>
            <a:r>
              <a:rPr lang="en-US" sz="4000"/>
              <a:t> Data-Related Costs</a:t>
            </a:r>
          </a:p>
        </p:txBody>
      </p:sp>
      <p:sp>
        <p:nvSpPr>
          <p:cNvPr id="3" name="Content Placeholder 2">
            <a:extLst>
              <a:ext uri="{FF2B5EF4-FFF2-40B4-BE49-F238E27FC236}">
                <a16:creationId xmlns:a16="http://schemas.microsoft.com/office/drawing/2014/main" id="{F9184762-C326-64FB-6326-4B1DFE22412D}"/>
              </a:ext>
            </a:extLst>
          </p:cNvPr>
          <p:cNvSpPr>
            <a:spLocks noGrp="1"/>
          </p:cNvSpPr>
          <p:nvPr>
            <p:ph idx="1"/>
          </p:nvPr>
        </p:nvSpPr>
        <p:spPr>
          <a:xfrm>
            <a:off x="838200" y="1649853"/>
            <a:ext cx="10515600" cy="4351338"/>
          </a:xfrm>
        </p:spPr>
        <p:txBody>
          <a:bodyPr>
            <a:normAutofit/>
          </a:bodyPr>
          <a:lstStyle/>
          <a:p>
            <a:pPr>
              <a:spcBef>
                <a:spcPts val="1400"/>
              </a:spcBef>
            </a:pPr>
            <a:r>
              <a:rPr lang="en-US" sz="2400"/>
              <a:t>The cost of data consists of three parts: </a:t>
            </a:r>
          </a:p>
          <a:p>
            <a:pPr marL="1143000" lvl="1" indent="-457200">
              <a:spcBef>
                <a:spcPts val="800"/>
              </a:spcBef>
            </a:pPr>
            <a:r>
              <a:rPr lang="en-US"/>
              <a:t>Material</a:t>
            </a:r>
          </a:p>
          <a:p>
            <a:pPr marL="1143000" lvl="1" indent="-457200">
              <a:spcBef>
                <a:spcPts val="800"/>
              </a:spcBef>
            </a:pPr>
            <a:r>
              <a:rPr lang="en-US"/>
              <a:t>Communication</a:t>
            </a:r>
          </a:p>
          <a:p>
            <a:pPr marL="1143000" lvl="1" indent="-457200">
              <a:spcBef>
                <a:spcPts val="800"/>
              </a:spcBef>
            </a:pPr>
            <a:r>
              <a:rPr lang="en-US"/>
              <a:t>Maintenance</a:t>
            </a:r>
          </a:p>
          <a:p>
            <a:pPr>
              <a:spcBef>
                <a:spcPts val="1400"/>
              </a:spcBef>
            </a:pPr>
            <a:r>
              <a:rPr lang="en-US" sz="2400"/>
              <a:t>Many account for material costs but fail to consider the costs associated with communication and maintenance. </a:t>
            </a:r>
          </a:p>
          <a:p>
            <a:pPr>
              <a:spcBef>
                <a:spcPts val="1400"/>
              </a:spcBef>
            </a:pPr>
            <a:r>
              <a:rPr lang="en-US" sz="2400"/>
              <a:t>The CMVP must budget for all data-related costs that accrue during the M&amp;V assessment period.</a:t>
            </a:r>
          </a:p>
        </p:txBody>
      </p:sp>
      <p:pic>
        <p:nvPicPr>
          <p:cNvPr id="6" name="Graphic 5">
            <a:extLst>
              <a:ext uri="{FF2B5EF4-FFF2-40B4-BE49-F238E27FC236}">
                <a16:creationId xmlns:a16="http://schemas.microsoft.com/office/drawing/2014/main" id="{BAC2BF5E-8834-BA3F-DC0B-BFA4D000783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72F8873E-9BFC-5C19-EF10-08B1C780BF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43438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28754-D4E8-3D1D-E495-8011F41FA17D}"/>
              </a:ext>
            </a:extLst>
          </p:cNvPr>
          <p:cNvSpPr>
            <a:spLocks noGrp="1"/>
          </p:cNvSpPr>
          <p:nvPr>
            <p:ph type="title"/>
          </p:nvPr>
        </p:nvSpPr>
        <p:spPr/>
        <p:txBody>
          <a:bodyPr/>
          <a:lstStyle/>
          <a:p>
            <a:r>
              <a:rPr lang="en-US"/>
              <a:t>Safety</a:t>
            </a:r>
          </a:p>
        </p:txBody>
      </p:sp>
      <p:sp>
        <p:nvSpPr>
          <p:cNvPr id="3" name="Content Placeholder 2">
            <a:extLst>
              <a:ext uri="{FF2B5EF4-FFF2-40B4-BE49-F238E27FC236}">
                <a16:creationId xmlns:a16="http://schemas.microsoft.com/office/drawing/2014/main" id="{532BF940-6C5F-ED43-7CBD-A2793C04BBA8}"/>
              </a:ext>
            </a:extLst>
          </p:cNvPr>
          <p:cNvSpPr>
            <a:spLocks noGrp="1"/>
          </p:cNvSpPr>
          <p:nvPr>
            <p:ph idx="1"/>
          </p:nvPr>
        </p:nvSpPr>
        <p:spPr>
          <a:xfrm>
            <a:off x="838200" y="1690688"/>
            <a:ext cx="10515600" cy="4351338"/>
          </a:xfrm>
        </p:spPr>
        <p:txBody>
          <a:bodyPr>
            <a:noAutofit/>
          </a:bodyPr>
          <a:lstStyle/>
          <a:p>
            <a:pPr>
              <a:spcBef>
                <a:spcPts val="1000"/>
              </a:spcBef>
            </a:pPr>
            <a:r>
              <a:rPr lang="en-US" sz="2400"/>
              <a:t>Only qualified individuals should install, operate, or handle metering systems—and only when permission to perform the work has been obtained. </a:t>
            </a:r>
          </a:p>
          <a:p>
            <a:pPr>
              <a:spcBef>
                <a:spcPts val="1000"/>
              </a:spcBef>
            </a:pPr>
            <a:r>
              <a:rPr lang="en-US" sz="2400"/>
              <a:t>Each type of metering installation, resource or material being measured, and environment has its own set of safety protocols and requirements. The CMVP must ensure that these are known, understood, and adhered to. </a:t>
            </a:r>
          </a:p>
          <a:p>
            <a:pPr>
              <a:spcBef>
                <a:spcPts val="1000"/>
              </a:spcBef>
            </a:pPr>
            <a:r>
              <a:rPr lang="en-US" sz="2400"/>
              <a:t>The CMVP may be held liable for any catastrophic events that occur in the course of M&amp;V activities or in systems with M&amp;V metering installed.</a:t>
            </a:r>
          </a:p>
        </p:txBody>
      </p:sp>
      <p:pic>
        <p:nvPicPr>
          <p:cNvPr id="6" name="Graphic 5">
            <a:extLst>
              <a:ext uri="{FF2B5EF4-FFF2-40B4-BE49-F238E27FC236}">
                <a16:creationId xmlns:a16="http://schemas.microsoft.com/office/drawing/2014/main" id="{35D8CA64-3C08-02DE-C3C2-357EAB3B72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A843C82D-7BE1-BD99-4B20-50E676F79C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90953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C31FE-A6BE-2937-389C-EBB3AECCE98F}"/>
              </a:ext>
            </a:extLst>
          </p:cNvPr>
          <p:cNvSpPr>
            <a:spLocks noGrp="1"/>
          </p:cNvSpPr>
          <p:nvPr>
            <p:ph type="title"/>
          </p:nvPr>
        </p:nvSpPr>
        <p:spPr/>
        <p:txBody>
          <a:bodyPr/>
          <a:lstStyle/>
          <a:p>
            <a:r>
              <a:rPr lang="en-US"/>
              <a:t>Safety</a:t>
            </a:r>
          </a:p>
        </p:txBody>
      </p:sp>
      <p:sp>
        <p:nvSpPr>
          <p:cNvPr id="3" name="Content Placeholder 2">
            <a:extLst>
              <a:ext uri="{FF2B5EF4-FFF2-40B4-BE49-F238E27FC236}">
                <a16:creationId xmlns:a16="http://schemas.microsoft.com/office/drawing/2014/main" id="{B8549C5E-D42D-6D13-34ED-F0C977079BD6}"/>
              </a:ext>
            </a:extLst>
          </p:cNvPr>
          <p:cNvSpPr>
            <a:spLocks noGrp="1"/>
          </p:cNvSpPr>
          <p:nvPr>
            <p:ph idx="1"/>
          </p:nvPr>
        </p:nvSpPr>
        <p:spPr>
          <a:xfrm>
            <a:off x="838200" y="1690688"/>
            <a:ext cx="10515600" cy="4351338"/>
          </a:xfrm>
        </p:spPr>
        <p:txBody>
          <a:bodyPr>
            <a:noAutofit/>
          </a:bodyPr>
          <a:lstStyle/>
          <a:p>
            <a:pPr>
              <a:spcBef>
                <a:spcPts val="1000"/>
              </a:spcBef>
            </a:pPr>
            <a:r>
              <a:rPr lang="en-US" sz="2400"/>
              <a:t>As a result of failing to follow safety protocols and requirements, many have lost limbs, eyes, and even their lives while working on small, low-voltage distribution boards to install temporary metering. </a:t>
            </a:r>
          </a:p>
          <a:p>
            <a:pPr>
              <a:spcBef>
                <a:spcPts val="1000"/>
              </a:spcBef>
            </a:pPr>
            <a:r>
              <a:rPr lang="en-US" sz="2400"/>
              <a:t>Events can become particularly tragic when they involve work with steam, hot water, chemicals, pressurized materials, height, depth, extreme heat or cold, or moving parts. </a:t>
            </a:r>
          </a:p>
          <a:p>
            <a:pPr>
              <a:spcBef>
                <a:spcPts val="1000"/>
              </a:spcBef>
            </a:pPr>
            <a:r>
              <a:rPr lang="en-US" sz="2400"/>
              <a:t>Always coordinate with the proper site representatives. </a:t>
            </a:r>
          </a:p>
          <a:p>
            <a:pPr>
              <a:spcBef>
                <a:spcPts val="1000"/>
              </a:spcBef>
            </a:pPr>
            <a:r>
              <a:rPr lang="en-US" sz="2400"/>
              <a:t>If you ever have any concerns, have a specialist perform or assist in performing the work.</a:t>
            </a:r>
          </a:p>
        </p:txBody>
      </p:sp>
      <p:pic>
        <p:nvPicPr>
          <p:cNvPr id="6" name="Graphic 5">
            <a:extLst>
              <a:ext uri="{FF2B5EF4-FFF2-40B4-BE49-F238E27FC236}">
                <a16:creationId xmlns:a16="http://schemas.microsoft.com/office/drawing/2014/main" id="{3C1C9402-F271-23E9-6594-BB2CF69354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8DCA1AB3-4588-B8C4-1978-E467FE4EAE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342012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ADA18-0D08-E3F9-B24B-110BD89D95BA}"/>
              </a:ext>
            </a:extLst>
          </p:cNvPr>
          <p:cNvSpPr>
            <a:spLocks noGrp="1"/>
          </p:cNvSpPr>
          <p:nvPr>
            <p:ph type="title"/>
          </p:nvPr>
        </p:nvSpPr>
        <p:spPr/>
        <p:txBody>
          <a:bodyPr/>
          <a:lstStyle/>
          <a:p>
            <a:r>
              <a:rPr lang="en-US"/>
              <a:t>OSHA</a:t>
            </a:r>
          </a:p>
        </p:txBody>
      </p:sp>
      <p:sp>
        <p:nvSpPr>
          <p:cNvPr id="3" name="Content Placeholder 2">
            <a:extLst>
              <a:ext uri="{FF2B5EF4-FFF2-40B4-BE49-F238E27FC236}">
                <a16:creationId xmlns:a16="http://schemas.microsoft.com/office/drawing/2014/main" id="{7CFC5F2F-35D1-F3FE-8327-5524616CCB68}"/>
              </a:ext>
            </a:extLst>
          </p:cNvPr>
          <p:cNvSpPr>
            <a:spLocks noGrp="1"/>
          </p:cNvSpPr>
          <p:nvPr>
            <p:ph sz="half" idx="1"/>
          </p:nvPr>
        </p:nvSpPr>
        <p:spPr/>
        <p:txBody>
          <a:bodyPr/>
          <a:lstStyle/>
          <a:p>
            <a:pPr algn="ctr"/>
            <a:r>
              <a:rPr lang="en-US" b="1"/>
              <a:t>OSHA 3071</a:t>
            </a:r>
          </a:p>
        </p:txBody>
      </p:sp>
      <p:sp>
        <p:nvSpPr>
          <p:cNvPr id="4" name="Content Placeholder 3">
            <a:extLst>
              <a:ext uri="{FF2B5EF4-FFF2-40B4-BE49-F238E27FC236}">
                <a16:creationId xmlns:a16="http://schemas.microsoft.com/office/drawing/2014/main" id="{91ED3B39-0EB5-9470-9DF0-5925B1255CF6}"/>
              </a:ext>
            </a:extLst>
          </p:cNvPr>
          <p:cNvSpPr>
            <a:spLocks noGrp="1"/>
          </p:cNvSpPr>
          <p:nvPr>
            <p:ph sz="half" idx="2"/>
          </p:nvPr>
        </p:nvSpPr>
        <p:spPr/>
        <p:txBody>
          <a:bodyPr/>
          <a:lstStyle/>
          <a:p>
            <a:pPr algn="ctr"/>
            <a:r>
              <a:rPr lang="en-US" b="1"/>
              <a:t>Asbestos</a:t>
            </a:r>
          </a:p>
        </p:txBody>
      </p:sp>
      <p:pic>
        <p:nvPicPr>
          <p:cNvPr id="5" name="Picture 4">
            <a:extLst>
              <a:ext uri="{FF2B5EF4-FFF2-40B4-BE49-F238E27FC236}">
                <a16:creationId xmlns:a16="http://schemas.microsoft.com/office/drawing/2014/main" id="{DBF62978-100B-4D70-BFF3-15B71460DC82}"/>
              </a:ext>
            </a:extLst>
          </p:cNvPr>
          <p:cNvPicPr>
            <a:picLocks noChangeAspect="1"/>
          </p:cNvPicPr>
          <p:nvPr/>
        </p:nvPicPr>
        <p:blipFill>
          <a:blip r:embed="rId2"/>
          <a:stretch>
            <a:fillRect/>
          </a:stretch>
        </p:blipFill>
        <p:spPr>
          <a:xfrm>
            <a:off x="2057400" y="2629694"/>
            <a:ext cx="2743200" cy="2743200"/>
          </a:xfrm>
          <a:prstGeom prst="rect">
            <a:avLst/>
          </a:prstGeom>
        </p:spPr>
      </p:pic>
      <p:pic>
        <p:nvPicPr>
          <p:cNvPr id="6" name="Picture 5">
            <a:extLst>
              <a:ext uri="{FF2B5EF4-FFF2-40B4-BE49-F238E27FC236}">
                <a16:creationId xmlns:a16="http://schemas.microsoft.com/office/drawing/2014/main" id="{FA836C87-C163-C49B-C628-CABA1DB7B601}"/>
              </a:ext>
            </a:extLst>
          </p:cNvPr>
          <p:cNvPicPr>
            <a:picLocks noChangeAspect="1"/>
          </p:cNvPicPr>
          <p:nvPr/>
        </p:nvPicPr>
        <p:blipFill>
          <a:blip r:embed="rId3"/>
          <a:stretch>
            <a:fillRect/>
          </a:stretch>
        </p:blipFill>
        <p:spPr>
          <a:xfrm>
            <a:off x="7391400" y="2629694"/>
            <a:ext cx="2743200" cy="2743200"/>
          </a:xfrm>
          <a:prstGeom prst="rect">
            <a:avLst/>
          </a:prstGeom>
        </p:spPr>
      </p:pic>
    </p:spTree>
    <p:extLst>
      <p:ext uri="{BB962C8B-B14F-4D97-AF65-F5344CB8AC3E}">
        <p14:creationId xmlns:p14="http://schemas.microsoft.com/office/powerpoint/2010/main" val="274236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38400" y="2286000"/>
            <a:ext cx="7315200" cy="1371600"/>
          </a:xfrm>
          <a:prstGeom prst="rect">
            <a:avLst/>
          </a:prstGeom>
          <a:noFill/>
        </p:spPr>
        <p:txBody>
          <a:bodyPr wrap="square">
            <a:spAutoFit/>
          </a:bodyPr>
          <a:lstStyle/>
          <a:p>
            <a:pPr algn="ctr">
              <a:defRPr sz="4000" b="1">
                <a:solidFill>
                  <a:srgbClr val="003366"/>
                </a:solidFill>
                <a:latin typeface="Calibri"/>
              </a:defRPr>
            </a:pPr>
            <a:r>
              <a:rPr sz="4000"/>
              <a:t>The Future of Metering:</a:t>
            </a:r>
          </a:p>
          <a:p>
            <a:pPr algn="ctr">
              <a:defRPr sz="4000" b="1">
                <a:solidFill>
                  <a:srgbClr val="003366"/>
                </a:solidFill>
                <a:latin typeface="Calibri"/>
              </a:defRPr>
            </a:pPr>
            <a:r>
              <a:rPr sz="4000"/>
              <a:t>AMI 2.0 and Load Disaggregation</a:t>
            </a:r>
          </a:p>
        </p:txBody>
      </p:sp>
      <p:sp>
        <p:nvSpPr>
          <p:cNvPr id="3" name="TextBox 2"/>
          <p:cNvSpPr txBox="1"/>
          <p:nvPr/>
        </p:nvSpPr>
        <p:spPr>
          <a:xfrm>
            <a:off x="3622856" y="3840480"/>
            <a:ext cx="4946289" cy="400110"/>
          </a:xfrm>
          <a:prstGeom prst="rect">
            <a:avLst/>
          </a:prstGeom>
          <a:noFill/>
        </p:spPr>
        <p:txBody>
          <a:bodyPr wrap="none">
            <a:spAutoFit/>
          </a:bodyPr>
          <a:lstStyle/>
          <a:p>
            <a:pPr algn="ctr">
              <a:defRPr sz="2000">
                <a:solidFill>
                  <a:srgbClr val="0070C0"/>
                </a:solidFill>
                <a:latin typeface="Calibri"/>
              </a:defRPr>
            </a:pPr>
            <a:r>
              <a:rPr sz="2000"/>
              <a:t>Advanced metering for modern M&amp;V practice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Traditional AMI vs. Next-Generation AMI 2.0</a:t>
            </a:r>
          </a:p>
        </p:txBody>
      </p:sp>
      <p:sp>
        <p:nvSpPr>
          <p:cNvPr id="4" name="Rectangle 3"/>
          <p:cNvSpPr/>
          <p:nvPr/>
        </p:nvSpPr>
        <p:spPr>
          <a:xfrm>
            <a:off x="1981200" y="1097280"/>
            <a:ext cx="3840480" cy="365760"/>
          </a:xfrm>
          <a:prstGeom prst="rect">
            <a:avLst/>
          </a:prstGeom>
          <a:solidFill>
            <a:srgbClr val="7F7F7F"/>
          </a:solidFill>
          <a:ln>
            <a:solidFill>
              <a:srgbClr val="7F7F7F"/>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800" b="1">
                <a:solidFill>
                  <a:srgbClr val="FFFFFF"/>
                </a:solidFill>
                <a:latin typeface="Calibri"/>
              </a:defRPr>
            </a:pPr>
            <a:r>
              <a:t>Traditional AMI 1.0</a:t>
            </a:r>
          </a:p>
        </p:txBody>
      </p:sp>
      <p:sp>
        <p:nvSpPr>
          <p:cNvPr id="5" name="Rectangle 4"/>
          <p:cNvSpPr/>
          <p:nvPr/>
        </p:nvSpPr>
        <p:spPr>
          <a:xfrm>
            <a:off x="6370320" y="1097280"/>
            <a:ext cx="3840480" cy="36576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800" b="1">
                <a:solidFill>
                  <a:srgbClr val="FFFFFF"/>
                </a:solidFill>
                <a:latin typeface="Calibri"/>
              </a:defRPr>
            </a:pPr>
            <a:r>
              <a:t>Next-Generation AMI 2.0</a:t>
            </a:r>
          </a:p>
        </p:txBody>
      </p:sp>
      <p:sp>
        <p:nvSpPr>
          <p:cNvPr id="6" name="TextBox 5"/>
          <p:cNvSpPr txBox="1"/>
          <p:nvPr/>
        </p:nvSpPr>
        <p:spPr>
          <a:xfrm>
            <a:off x="1981200" y="1645920"/>
            <a:ext cx="3840480" cy="1733808"/>
          </a:xfrm>
          <a:prstGeom prst="rect">
            <a:avLst/>
          </a:prstGeom>
          <a:noFill/>
        </p:spPr>
        <p:txBody>
          <a:bodyPr wrap="square">
            <a:spAutoFit/>
          </a:bodyPr>
          <a:lstStyle/>
          <a:p>
            <a:pPr>
              <a:spcAft>
                <a:spcPts val="800"/>
              </a:spcAft>
              <a:defRPr sz="1600">
                <a:solidFill>
                  <a:srgbClr val="000000"/>
                </a:solidFill>
                <a:latin typeface="Calibri"/>
              </a:defRPr>
            </a:pPr>
            <a:r>
              <a:rPr sz="1600"/>
              <a:t>15-60 minute intervals</a:t>
            </a:r>
          </a:p>
          <a:p>
            <a:pPr>
              <a:spcAft>
                <a:spcPts val="800"/>
              </a:spcAft>
              <a:defRPr sz="1600">
                <a:solidFill>
                  <a:srgbClr val="000000"/>
                </a:solidFill>
                <a:latin typeface="Calibri"/>
              </a:defRPr>
            </a:pPr>
            <a:r>
              <a:rPr sz="1600"/>
              <a:t>Basic energy + voltage data</a:t>
            </a:r>
          </a:p>
          <a:p>
            <a:pPr>
              <a:spcAft>
                <a:spcPts val="800"/>
              </a:spcAft>
              <a:defRPr sz="1600">
                <a:solidFill>
                  <a:srgbClr val="000000"/>
                </a:solidFill>
                <a:latin typeface="Calibri"/>
              </a:defRPr>
            </a:pPr>
            <a:r>
              <a:rPr sz="1600"/>
              <a:t>Designed primarily for billing</a:t>
            </a:r>
          </a:p>
          <a:p>
            <a:pPr>
              <a:spcAft>
                <a:spcPts val="800"/>
              </a:spcAft>
              <a:defRPr sz="1600">
                <a:solidFill>
                  <a:srgbClr val="000000"/>
                </a:solidFill>
                <a:latin typeface="Calibri"/>
              </a:defRPr>
            </a:pPr>
            <a:r>
              <a:rPr sz="1600"/>
              <a:t>Total building load only</a:t>
            </a:r>
          </a:p>
          <a:p>
            <a:pPr>
              <a:spcAft>
                <a:spcPts val="800"/>
              </a:spcAft>
              <a:defRPr sz="1600">
                <a:solidFill>
                  <a:srgbClr val="000000"/>
                </a:solidFill>
                <a:latin typeface="Calibri"/>
              </a:defRPr>
            </a:pPr>
            <a:r>
              <a:rPr sz="1600"/>
              <a:t>Limited analytics capabilities</a:t>
            </a:r>
          </a:p>
        </p:txBody>
      </p:sp>
      <p:sp>
        <p:nvSpPr>
          <p:cNvPr id="7" name="TextBox 6"/>
          <p:cNvSpPr txBox="1"/>
          <p:nvPr/>
        </p:nvSpPr>
        <p:spPr>
          <a:xfrm>
            <a:off x="1981200" y="4114800"/>
            <a:ext cx="3840480" cy="731520"/>
          </a:xfrm>
          <a:prstGeom prst="rect">
            <a:avLst/>
          </a:prstGeom>
          <a:noFill/>
        </p:spPr>
        <p:txBody>
          <a:bodyPr wrap="square">
            <a:spAutoFit/>
          </a:bodyPr>
          <a:lstStyle/>
          <a:p>
            <a:pPr algn="l">
              <a:defRPr sz="1400" b="0">
                <a:solidFill>
                  <a:srgbClr val="7F7F7F"/>
                </a:solidFill>
                <a:latin typeface="Calibri"/>
              </a:defRPr>
            </a:pPr>
            <a:r>
              <a:rPr sz="1400"/>
              <a:t>Example:</a:t>
            </a:r>
          </a:p>
          <a:p>
            <a:pPr algn="l">
              <a:defRPr sz="1400" b="0">
                <a:solidFill>
                  <a:srgbClr val="7F7F7F"/>
                </a:solidFill>
                <a:latin typeface="Calibri"/>
              </a:defRPr>
            </a:pPr>
            <a:r>
              <a:rPr sz="1400"/>
              <a:t>'Building used 45 kWh</a:t>
            </a:r>
          </a:p>
          <a:p>
            <a:pPr algn="l">
              <a:defRPr sz="1400" b="0">
                <a:solidFill>
                  <a:srgbClr val="7F7F7F"/>
                </a:solidFill>
                <a:latin typeface="Calibri"/>
              </a:defRPr>
            </a:pPr>
            <a:r>
              <a:rPr sz="1400"/>
              <a:t>from 2:00-3:00 PM'</a:t>
            </a:r>
          </a:p>
        </p:txBody>
      </p:sp>
      <p:sp>
        <p:nvSpPr>
          <p:cNvPr id="8" name="TextBox 7"/>
          <p:cNvSpPr txBox="1"/>
          <p:nvPr/>
        </p:nvSpPr>
        <p:spPr>
          <a:xfrm>
            <a:off x="6370320" y="1645920"/>
            <a:ext cx="3840480" cy="1733808"/>
          </a:xfrm>
          <a:prstGeom prst="rect">
            <a:avLst/>
          </a:prstGeom>
          <a:noFill/>
        </p:spPr>
        <p:txBody>
          <a:bodyPr wrap="square">
            <a:spAutoFit/>
          </a:bodyPr>
          <a:lstStyle/>
          <a:p>
            <a:pPr>
              <a:spcAft>
                <a:spcPts val="800"/>
              </a:spcAft>
              <a:defRPr sz="1600">
                <a:solidFill>
                  <a:srgbClr val="000000"/>
                </a:solidFill>
                <a:latin typeface="Calibri"/>
              </a:defRPr>
            </a:pPr>
            <a:r>
              <a:rPr sz="1600"/>
              <a:t>Sub-second to millisecond sampling</a:t>
            </a:r>
          </a:p>
          <a:p>
            <a:pPr>
              <a:spcAft>
                <a:spcPts val="800"/>
              </a:spcAft>
              <a:defRPr sz="1600">
                <a:solidFill>
                  <a:srgbClr val="000000"/>
                </a:solidFill>
                <a:latin typeface="Calibri"/>
              </a:defRPr>
            </a:pPr>
            <a:r>
              <a:rPr sz="1600"/>
              <a:t>Waveform capture (kHz range)</a:t>
            </a:r>
          </a:p>
          <a:p>
            <a:pPr>
              <a:spcAft>
                <a:spcPts val="800"/>
              </a:spcAft>
              <a:defRPr sz="1600">
                <a:solidFill>
                  <a:srgbClr val="000000"/>
                </a:solidFill>
                <a:latin typeface="Calibri"/>
              </a:defRPr>
            </a:pPr>
            <a:r>
              <a:rPr sz="1600"/>
              <a:t>On-meter machine learning</a:t>
            </a:r>
          </a:p>
          <a:p>
            <a:pPr>
              <a:spcAft>
                <a:spcPts val="800"/>
              </a:spcAft>
              <a:defRPr sz="1600">
                <a:solidFill>
                  <a:srgbClr val="000000"/>
                </a:solidFill>
                <a:latin typeface="Calibri"/>
              </a:defRPr>
            </a:pPr>
            <a:r>
              <a:rPr sz="1600"/>
              <a:t>Identifies individual loads (NILM)</a:t>
            </a:r>
          </a:p>
          <a:p>
            <a:pPr>
              <a:spcAft>
                <a:spcPts val="800"/>
              </a:spcAft>
              <a:defRPr sz="1600">
                <a:solidFill>
                  <a:srgbClr val="000000"/>
                </a:solidFill>
                <a:latin typeface="Calibri"/>
              </a:defRPr>
            </a:pPr>
            <a:r>
              <a:rPr sz="1600"/>
              <a:t>Advanced fault detection</a:t>
            </a:r>
          </a:p>
        </p:txBody>
      </p:sp>
      <p:sp>
        <p:nvSpPr>
          <p:cNvPr id="9" name="TextBox 8"/>
          <p:cNvSpPr txBox="1"/>
          <p:nvPr/>
        </p:nvSpPr>
        <p:spPr>
          <a:xfrm>
            <a:off x="6370320" y="4114800"/>
            <a:ext cx="3840480" cy="731520"/>
          </a:xfrm>
          <a:prstGeom prst="rect">
            <a:avLst/>
          </a:prstGeom>
          <a:noFill/>
        </p:spPr>
        <p:txBody>
          <a:bodyPr wrap="square">
            <a:spAutoFit/>
          </a:bodyPr>
          <a:lstStyle/>
          <a:p>
            <a:pPr algn="l">
              <a:defRPr sz="1400" b="0">
                <a:solidFill>
                  <a:srgbClr val="003366"/>
                </a:solidFill>
                <a:latin typeface="Calibri"/>
              </a:defRPr>
            </a:pPr>
            <a:r>
              <a:rPr sz="1400"/>
              <a:t>Example:</a:t>
            </a:r>
          </a:p>
          <a:p>
            <a:pPr algn="l">
              <a:defRPr sz="1400" b="0">
                <a:solidFill>
                  <a:srgbClr val="003366"/>
                </a:solidFill>
                <a:latin typeface="Calibri"/>
              </a:defRPr>
            </a:pPr>
            <a:r>
              <a:rPr sz="1400"/>
              <a:t>'HVAC: 8 kW, EV: 7 kW,</a:t>
            </a:r>
          </a:p>
          <a:p>
            <a:pPr algn="l">
              <a:defRPr sz="1400" b="0">
                <a:solidFill>
                  <a:srgbClr val="003366"/>
                </a:solidFill>
                <a:latin typeface="Calibri"/>
              </a:defRPr>
            </a:pPr>
            <a:r>
              <a:rPr sz="1400"/>
              <a:t>Water heater: 4 kW'</a:t>
            </a:r>
          </a:p>
        </p:txBody>
      </p:sp>
      <p:sp>
        <p:nvSpPr>
          <p:cNvPr id="10" name="Rectangle 9"/>
          <p:cNvSpPr/>
          <p:nvPr/>
        </p:nvSpPr>
        <p:spPr>
          <a:xfrm>
            <a:off x="1981200" y="5303520"/>
            <a:ext cx="8229600" cy="64008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600" b="1">
                <a:solidFill>
                  <a:srgbClr val="FFFFFF"/>
                </a:solidFill>
                <a:latin typeface="Calibri"/>
              </a:defRPr>
            </a:pPr>
            <a:r>
              <a:rPr sz="1600"/>
              <a:t>Key Capability: Non-Intrusive Load Monitoring (NILM) enables appliance-level M&amp;V without sub-meters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How Load Disaggregation Works</a:t>
            </a:r>
          </a:p>
        </p:txBody>
      </p:sp>
      <p:sp>
        <p:nvSpPr>
          <p:cNvPr id="4" name="TextBox 3"/>
          <p:cNvSpPr txBox="1"/>
          <p:nvPr/>
        </p:nvSpPr>
        <p:spPr>
          <a:xfrm>
            <a:off x="1981200" y="1097280"/>
            <a:ext cx="8229600" cy="338554"/>
          </a:xfrm>
          <a:prstGeom prst="rect">
            <a:avLst/>
          </a:prstGeom>
          <a:noFill/>
        </p:spPr>
        <p:txBody>
          <a:bodyPr wrap="square">
            <a:spAutoFit/>
          </a:bodyPr>
          <a:lstStyle/>
          <a:p>
            <a:pPr algn="l">
              <a:defRPr sz="1600" b="1">
                <a:solidFill>
                  <a:srgbClr val="0070C0"/>
                </a:solidFill>
                <a:latin typeface="Calibri"/>
              </a:defRPr>
            </a:pPr>
            <a:r>
              <a:rPr sz="1600"/>
              <a:t>Three Approaches to Identifying Individual Loads</a:t>
            </a:r>
          </a:p>
        </p:txBody>
      </p:sp>
      <p:sp>
        <p:nvSpPr>
          <p:cNvPr id="5" name="Rectangle 4"/>
          <p:cNvSpPr/>
          <p:nvPr/>
        </p:nvSpPr>
        <p:spPr>
          <a:xfrm>
            <a:off x="1981200" y="1645920"/>
            <a:ext cx="2651760" cy="4572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High-Frequency Waveform</a:t>
            </a:r>
          </a:p>
        </p:txBody>
      </p:sp>
      <p:sp>
        <p:nvSpPr>
          <p:cNvPr id="6" name="TextBox 5"/>
          <p:cNvSpPr txBox="1"/>
          <p:nvPr/>
        </p:nvSpPr>
        <p:spPr>
          <a:xfrm>
            <a:off x="1981200" y="2194561"/>
            <a:ext cx="2651760" cy="1400383"/>
          </a:xfrm>
          <a:prstGeom prst="rect">
            <a:avLst/>
          </a:prstGeom>
          <a:noFill/>
        </p:spPr>
        <p:txBody>
          <a:bodyPr wrap="square">
            <a:spAutoFit/>
          </a:bodyPr>
          <a:lstStyle/>
          <a:p>
            <a:pPr>
              <a:spcAft>
                <a:spcPts val="800"/>
              </a:spcAft>
              <a:defRPr sz="1300">
                <a:solidFill>
                  <a:srgbClr val="000000"/>
                </a:solidFill>
                <a:latin typeface="Calibri"/>
              </a:defRPr>
            </a:pPr>
            <a:r>
              <a:rPr sz="1300"/>
              <a:t>Captures voltage + current at kHz</a:t>
            </a:r>
          </a:p>
          <a:p>
            <a:pPr>
              <a:spcAft>
                <a:spcPts val="800"/>
              </a:spcAft>
              <a:defRPr sz="1300">
                <a:solidFill>
                  <a:srgbClr val="000000"/>
                </a:solidFill>
                <a:latin typeface="Calibri"/>
              </a:defRPr>
            </a:pPr>
            <a:r>
              <a:rPr sz="1300"/>
              <a:t>Analyzes harmonics, transients, spectral patterns</a:t>
            </a:r>
          </a:p>
          <a:p>
            <a:pPr>
              <a:spcAft>
                <a:spcPts val="800"/>
              </a:spcAft>
              <a:defRPr sz="1300">
                <a:solidFill>
                  <a:srgbClr val="000000"/>
                </a:solidFill>
                <a:latin typeface="Calibri"/>
              </a:defRPr>
            </a:pPr>
            <a:r>
              <a:rPr sz="1300"/>
              <a:t>Most accurate approach</a:t>
            </a:r>
          </a:p>
          <a:p>
            <a:pPr>
              <a:spcAft>
                <a:spcPts val="800"/>
              </a:spcAft>
              <a:defRPr sz="1300">
                <a:solidFill>
                  <a:srgbClr val="000000"/>
                </a:solidFill>
                <a:latin typeface="Calibri"/>
              </a:defRPr>
            </a:pPr>
            <a:r>
              <a:rPr sz="1300"/>
              <a:t>Research frontier</a:t>
            </a:r>
          </a:p>
        </p:txBody>
      </p:sp>
      <p:sp>
        <p:nvSpPr>
          <p:cNvPr id="7" name="Rectangle 6"/>
          <p:cNvSpPr/>
          <p:nvPr/>
        </p:nvSpPr>
        <p:spPr>
          <a:xfrm>
            <a:off x="4770120" y="1645920"/>
            <a:ext cx="2651760" cy="4572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Edge-Computed</a:t>
            </a:r>
          </a:p>
        </p:txBody>
      </p:sp>
      <p:sp>
        <p:nvSpPr>
          <p:cNvPr id="8" name="TextBox 7"/>
          <p:cNvSpPr txBox="1"/>
          <p:nvPr/>
        </p:nvSpPr>
        <p:spPr>
          <a:xfrm>
            <a:off x="4770120" y="2194561"/>
            <a:ext cx="2651760" cy="1400383"/>
          </a:xfrm>
          <a:prstGeom prst="rect">
            <a:avLst/>
          </a:prstGeom>
          <a:noFill/>
        </p:spPr>
        <p:txBody>
          <a:bodyPr wrap="square">
            <a:spAutoFit/>
          </a:bodyPr>
          <a:lstStyle/>
          <a:p>
            <a:pPr>
              <a:spcAft>
                <a:spcPts val="800"/>
              </a:spcAft>
              <a:defRPr sz="1300">
                <a:solidFill>
                  <a:srgbClr val="000000"/>
                </a:solidFill>
                <a:latin typeface="Calibri"/>
              </a:defRPr>
            </a:pPr>
            <a:r>
              <a:rPr sz="1300"/>
              <a:t>Machine learning runs on meter</a:t>
            </a:r>
          </a:p>
          <a:p>
            <a:pPr>
              <a:spcAft>
                <a:spcPts val="800"/>
              </a:spcAft>
              <a:defRPr sz="1300">
                <a:solidFill>
                  <a:srgbClr val="000000"/>
                </a:solidFill>
                <a:latin typeface="Calibri"/>
              </a:defRPr>
            </a:pPr>
            <a:r>
              <a:rPr sz="1300"/>
              <a:t>Uses appliance libraries</a:t>
            </a:r>
          </a:p>
          <a:p>
            <a:pPr>
              <a:spcAft>
                <a:spcPts val="800"/>
              </a:spcAft>
              <a:defRPr sz="1300">
                <a:solidFill>
                  <a:srgbClr val="000000"/>
                </a:solidFill>
                <a:latin typeface="Calibri"/>
              </a:defRPr>
            </a:pPr>
            <a:r>
              <a:rPr sz="1300"/>
              <a:t>Pattern recognition</a:t>
            </a:r>
          </a:p>
          <a:p>
            <a:pPr>
              <a:spcAft>
                <a:spcPts val="800"/>
              </a:spcAft>
              <a:defRPr sz="1300">
                <a:solidFill>
                  <a:srgbClr val="000000"/>
                </a:solidFill>
                <a:latin typeface="Calibri"/>
              </a:defRPr>
            </a:pPr>
            <a:r>
              <a:rPr sz="1300"/>
              <a:t>Example: 'EV charging detected with 92% confidence'</a:t>
            </a:r>
          </a:p>
        </p:txBody>
      </p:sp>
      <p:sp>
        <p:nvSpPr>
          <p:cNvPr id="9" name="Rectangle 8"/>
          <p:cNvSpPr/>
          <p:nvPr/>
        </p:nvSpPr>
        <p:spPr>
          <a:xfrm>
            <a:off x="7559040" y="1645920"/>
            <a:ext cx="2651760" cy="45720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Cloud-Assisted Hybrid</a:t>
            </a:r>
          </a:p>
        </p:txBody>
      </p:sp>
      <p:sp>
        <p:nvSpPr>
          <p:cNvPr id="10" name="TextBox 9"/>
          <p:cNvSpPr txBox="1"/>
          <p:nvPr/>
        </p:nvSpPr>
        <p:spPr>
          <a:xfrm>
            <a:off x="7559040" y="2194561"/>
            <a:ext cx="2651760" cy="1400383"/>
          </a:xfrm>
          <a:prstGeom prst="rect">
            <a:avLst/>
          </a:prstGeom>
          <a:noFill/>
        </p:spPr>
        <p:txBody>
          <a:bodyPr wrap="square">
            <a:spAutoFit/>
          </a:bodyPr>
          <a:lstStyle/>
          <a:p>
            <a:pPr>
              <a:spcAft>
                <a:spcPts val="800"/>
              </a:spcAft>
              <a:defRPr sz="1300">
                <a:solidFill>
                  <a:srgbClr val="000000"/>
                </a:solidFill>
                <a:latin typeface="Calibri"/>
              </a:defRPr>
            </a:pPr>
            <a:r>
              <a:rPr sz="1300"/>
              <a:t>Low-freq continuous + high-freq bursts</a:t>
            </a:r>
          </a:p>
          <a:p>
            <a:pPr>
              <a:spcAft>
                <a:spcPts val="800"/>
              </a:spcAft>
              <a:defRPr sz="1300">
                <a:solidFill>
                  <a:srgbClr val="000000"/>
                </a:solidFill>
                <a:latin typeface="Calibri"/>
              </a:defRPr>
            </a:pPr>
            <a:r>
              <a:rPr sz="1300"/>
              <a:t>Backend analytics</a:t>
            </a:r>
          </a:p>
          <a:p>
            <a:pPr>
              <a:spcAft>
                <a:spcPts val="800"/>
              </a:spcAft>
              <a:defRPr sz="1300">
                <a:solidFill>
                  <a:srgbClr val="000000"/>
                </a:solidFill>
                <a:latin typeface="Calibri"/>
              </a:defRPr>
            </a:pPr>
            <a:r>
              <a:rPr sz="1300"/>
              <a:t>Where many CA pilots are</a:t>
            </a:r>
          </a:p>
          <a:p>
            <a:pPr>
              <a:spcAft>
                <a:spcPts val="800"/>
              </a:spcAft>
              <a:defRPr sz="1300">
                <a:solidFill>
                  <a:srgbClr val="000000"/>
                </a:solidFill>
                <a:latin typeface="Calibri"/>
              </a:defRPr>
            </a:pPr>
            <a:r>
              <a:rPr sz="1300"/>
              <a:t>Balance accuracy vs. cost</a:t>
            </a:r>
          </a:p>
        </p:txBody>
      </p:sp>
      <p:sp>
        <p:nvSpPr>
          <p:cNvPr id="11" name="TextBox 10"/>
          <p:cNvSpPr txBox="1"/>
          <p:nvPr/>
        </p:nvSpPr>
        <p:spPr>
          <a:xfrm>
            <a:off x="1981200" y="4389120"/>
            <a:ext cx="8229600" cy="365760"/>
          </a:xfrm>
          <a:prstGeom prst="rect">
            <a:avLst/>
          </a:prstGeom>
          <a:noFill/>
        </p:spPr>
        <p:txBody>
          <a:bodyPr wrap="square">
            <a:spAutoFit/>
          </a:bodyPr>
          <a:lstStyle/>
          <a:p>
            <a:pPr algn="l">
              <a:defRPr sz="1800" b="1">
                <a:solidFill>
                  <a:srgbClr val="003366"/>
                </a:solidFill>
                <a:latin typeface="Calibri"/>
              </a:defRPr>
            </a:pPr>
            <a:r>
              <a:t>Benefits for M&amp;V Practice:</a:t>
            </a:r>
          </a:p>
        </p:txBody>
      </p:sp>
      <p:sp>
        <p:nvSpPr>
          <p:cNvPr id="12" name="TextBox 11"/>
          <p:cNvSpPr txBox="1"/>
          <p:nvPr/>
        </p:nvSpPr>
        <p:spPr>
          <a:xfrm>
            <a:off x="1981200" y="4846321"/>
            <a:ext cx="8229600" cy="1323439"/>
          </a:xfrm>
          <a:prstGeom prst="rect">
            <a:avLst/>
          </a:prstGeom>
          <a:noFill/>
        </p:spPr>
        <p:txBody>
          <a:bodyPr wrap="square">
            <a:spAutoFit/>
          </a:bodyPr>
          <a:lstStyle/>
          <a:p>
            <a:pPr>
              <a:spcAft>
                <a:spcPts val="800"/>
              </a:spcAft>
              <a:defRPr sz="1500">
                <a:solidFill>
                  <a:srgbClr val="000000"/>
                </a:solidFill>
                <a:latin typeface="Calibri"/>
              </a:defRPr>
            </a:pPr>
            <a:r>
              <a:rPr sz="1500"/>
              <a:t>Enables retrofit isolation without expensive sub-metering infrastructure</a:t>
            </a:r>
          </a:p>
          <a:p>
            <a:pPr>
              <a:spcAft>
                <a:spcPts val="800"/>
              </a:spcAft>
              <a:defRPr sz="1500">
                <a:solidFill>
                  <a:srgbClr val="000000"/>
                </a:solidFill>
                <a:latin typeface="Calibri"/>
              </a:defRPr>
            </a:pPr>
            <a:r>
              <a:rPr sz="1500"/>
              <a:t>Reduces M&amp;V costs by 70-90% compared to traditional sub-metering</a:t>
            </a:r>
          </a:p>
          <a:p>
            <a:pPr>
              <a:spcAft>
                <a:spcPts val="800"/>
              </a:spcAft>
              <a:defRPr sz="1500">
                <a:solidFill>
                  <a:srgbClr val="000000"/>
                </a:solidFill>
                <a:latin typeface="Calibri"/>
              </a:defRPr>
            </a:pPr>
            <a:r>
              <a:rPr sz="1500"/>
              <a:t>Provides appliance-level verification from main service meter</a:t>
            </a:r>
          </a:p>
          <a:p>
            <a:pPr>
              <a:spcAft>
                <a:spcPts val="800"/>
              </a:spcAft>
              <a:defRPr sz="1500">
                <a:solidFill>
                  <a:srgbClr val="000000"/>
                </a:solidFill>
                <a:latin typeface="Calibri"/>
              </a:defRPr>
            </a:pPr>
            <a:r>
              <a:rPr sz="1500"/>
              <a:t>Identifies equipment faults and operational issues remotely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Who Is Building This Technology</a:t>
            </a:r>
          </a:p>
        </p:txBody>
      </p:sp>
      <p:pic>
        <p:nvPicPr>
          <p:cNvPr id="3" name="Picture 2" descr="AEE_Logo.gif"/>
          <p:cNvPicPr>
            <a:picLocks noChangeAspect="1"/>
          </p:cNvPicPr>
          <p:nvPr/>
        </p:nvPicPr>
        <p:blipFill>
          <a:blip r:embed="rId2"/>
          <a:stretch>
            <a:fillRect/>
          </a:stretch>
        </p:blipFill>
        <p:spPr>
          <a:xfrm>
            <a:off x="1798321" y="6400800"/>
            <a:ext cx="825305" cy="365760"/>
          </a:xfrm>
          <a:prstGeom prst="rect">
            <a:avLst/>
          </a:prstGeom>
        </p:spPr>
      </p:pic>
      <p:sp>
        <p:nvSpPr>
          <p:cNvPr id="4" name="Rectangle 3"/>
          <p:cNvSpPr/>
          <p:nvPr/>
        </p:nvSpPr>
        <p:spPr>
          <a:xfrm>
            <a:off x="1981200" y="1097280"/>
            <a:ext cx="8229600" cy="36576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600" b="1">
                <a:solidFill>
                  <a:srgbClr val="FFFFFF"/>
                </a:solidFill>
                <a:latin typeface="Calibri"/>
              </a:defRPr>
            </a:pPr>
            <a:r>
              <a:rPr sz="1600"/>
              <a:t>Key Commercial Vendors</a:t>
            </a:r>
          </a:p>
        </p:txBody>
      </p:sp>
      <p:sp>
        <p:nvSpPr>
          <p:cNvPr id="5" name="TextBox 4"/>
          <p:cNvSpPr txBox="1"/>
          <p:nvPr/>
        </p:nvSpPr>
        <p:spPr>
          <a:xfrm>
            <a:off x="2164080" y="1645921"/>
            <a:ext cx="7863840" cy="1590179"/>
          </a:xfrm>
          <a:prstGeom prst="rect">
            <a:avLst/>
          </a:prstGeom>
          <a:noFill/>
        </p:spPr>
        <p:txBody>
          <a:bodyPr wrap="square">
            <a:spAutoFit/>
          </a:bodyPr>
          <a:lstStyle/>
          <a:p>
            <a:pPr>
              <a:spcAft>
                <a:spcPts val="800"/>
              </a:spcAft>
              <a:defRPr sz="1400">
                <a:solidFill>
                  <a:srgbClr val="000000"/>
                </a:solidFill>
                <a:latin typeface="Calibri"/>
              </a:defRPr>
            </a:pPr>
            <a:r>
              <a:rPr sz="1400"/>
              <a:t>Sense (home device → meter integration)</a:t>
            </a:r>
            <a:br>
              <a:rPr sz="1400"/>
            </a:br>
            <a:r>
              <a:rPr sz="1400"/>
              <a:t>   Partnered with Landis+Gyr and Itron; high-frequency waveform analytics</a:t>
            </a:r>
          </a:p>
          <a:p>
            <a:pPr>
              <a:spcAft>
                <a:spcPts val="800"/>
              </a:spcAft>
              <a:defRPr sz="1400">
                <a:solidFill>
                  <a:srgbClr val="000000"/>
                </a:solidFill>
                <a:latin typeface="Calibri"/>
              </a:defRPr>
            </a:pPr>
            <a:r>
              <a:rPr sz="1400"/>
              <a:t>Landis+Gyr Revelo (True AMI 2.0 platform)</a:t>
            </a:r>
            <a:br>
              <a:rPr sz="1400"/>
            </a:br>
            <a:r>
              <a:rPr sz="1400"/>
              <a:t>   Applications run directly on meter; load disaggregation + DER visibility</a:t>
            </a:r>
          </a:p>
          <a:p>
            <a:pPr>
              <a:spcAft>
                <a:spcPts val="800"/>
              </a:spcAft>
              <a:defRPr sz="1400">
                <a:solidFill>
                  <a:srgbClr val="000000"/>
                </a:solidFill>
                <a:latin typeface="Calibri"/>
              </a:defRPr>
            </a:pPr>
            <a:r>
              <a:rPr sz="1400"/>
              <a:t>Itron Intelis / Distributed Intelligence</a:t>
            </a:r>
            <a:br>
              <a:rPr sz="1400"/>
            </a:br>
            <a:r>
              <a:rPr sz="1400"/>
              <a:t>   On-meter analytics; detects EV, solar, service quality, appliances</a:t>
            </a:r>
          </a:p>
        </p:txBody>
      </p:sp>
      <p:sp>
        <p:nvSpPr>
          <p:cNvPr id="6" name="Rectangle 5"/>
          <p:cNvSpPr/>
          <p:nvPr/>
        </p:nvSpPr>
        <p:spPr>
          <a:xfrm>
            <a:off x="1981200" y="3840480"/>
            <a:ext cx="8229600" cy="36576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600" b="1">
                <a:solidFill>
                  <a:srgbClr val="FFFFFF"/>
                </a:solidFill>
                <a:latin typeface="Calibri"/>
              </a:defRPr>
            </a:pPr>
            <a:r>
              <a:rPr sz="1600"/>
              <a:t>California Utility Adoption Status (2025)</a:t>
            </a:r>
          </a:p>
        </p:txBody>
      </p:sp>
      <p:sp>
        <p:nvSpPr>
          <p:cNvPr id="7" name="TextBox 6"/>
          <p:cNvSpPr txBox="1"/>
          <p:nvPr/>
        </p:nvSpPr>
        <p:spPr>
          <a:xfrm>
            <a:off x="2164080" y="4389120"/>
            <a:ext cx="7863840" cy="1502976"/>
          </a:xfrm>
          <a:prstGeom prst="rect">
            <a:avLst/>
          </a:prstGeom>
          <a:noFill/>
        </p:spPr>
        <p:txBody>
          <a:bodyPr wrap="square">
            <a:spAutoFit/>
          </a:bodyPr>
          <a:lstStyle/>
          <a:p>
            <a:pPr>
              <a:spcAft>
                <a:spcPts val="800"/>
              </a:spcAft>
              <a:defRPr sz="1300">
                <a:solidFill>
                  <a:srgbClr val="000000"/>
                </a:solidFill>
                <a:latin typeface="Calibri"/>
              </a:defRPr>
            </a:pPr>
            <a:r>
              <a:rPr sz="1300"/>
              <a:t>SCE: Evaluating Distributed Intelligence (DI) and DER-aware meters; AMI 2.0 planning underway</a:t>
            </a:r>
          </a:p>
          <a:p>
            <a:pPr>
              <a:spcAft>
                <a:spcPts val="800"/>
              </a:spcAft>
              <a:defRPr sz="1300">
                <a:solidFill>
                  <a:srgbClr val="000000"/>
                </a:solidFill>
                <a:latin typeface="Calibri"/>
              </a:defRPr>
            </a:pPr>
            <a:r>
              <a:rPr sz="1300"/>
              <a:t>SDG&amp;E: Running EV detection pilots; strongest in DER visibility programs</a:t>
            </a:r>
          </a:p>
          <a:p>
            <a:pPr>
              <a:spcAft>
                <a:spcPts val="800"/>
              </a:spcAft>
              <a:defRPr sz="1300">
                <a:solidFill>
                  <a:srgbClr val="000000"/>
                </a:solidFill>
                <a:latin typeface="Calibri"/>
              </a:defRPr>
            </a:pPr>
            <a:r>
              <a:rPr sz="1300"/>
              <a:t>PG&amp;E: Exploring AMI 2.0 upgrade paths; meter refresh cycle approaching</a:t>
            </a:r>
          </a:p>
          <a:p>
            <a:pPr>
              <a:spcAft>
                <a:spcPts val="800"/>
              </a:spcAft>
              <a:defRPr sz="1300">
                <a:solidFill>
                  <a:srgbClr val="000000"/>
                </a:solidFill>
                <a:latin typeface="Calibri"/>
              </a:defRPr>
            </a:pPr>
            <a:r>
              <a:rPr sz="1300"/>
              <a:t>SMUD (Sacramento): NILM pilots including Sense integration; focus on grid-interactive buildings</a:t>
            </a:r>
          </a:p>
          <a:p>
            <a:pPr>
              <a:spcAft>
                <a:spcPts val="800"/>
              </a:spcAft>
              <a:defRPr sz="1300">
                <a:solidFill>
                  <a:srgbClr val="000000"/>
                </a:solidFill>
                <a:latin typeface="Calibri"/>
              </a:defRPr>
            </a:pPr>
            <a:r>
              <a:rPr sz="1300"/>
              <a:t>LADWP: AMI 2.0 rollout begins 2025 with load-identification capabilities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Implications for M&amp;V Practice</a:t>
            </a:r>
          </a:p>
        </p:txBody>
      </p:sp>
      <p:sp>
        <p:nvSpPr>
          <p:cNvPr id="4" name="TextBox 3"/>
          <p:cNvSpPr txBox="1"/>
          <p:nvPr/>
        </p:nvSpPr>
        <p:spPr>
          <a:xfrm>
            <a:off x="1981200" y="1097280"/>
            <a:ext cx="8229600" cy="338554"/>
          </a:xfrm>
          <a:prstGeom prst="rect">
            <a:avLst/>
          </a:prstGeom>
          <a:noFill/>
        </p:spPr>
        <p:txBody>
          <a:bodyPr wrap="square">
            <a:spAutoFit/>
          </a:bodyPr>
          <a:lstStyle/>
          <a:p>
            <a:pPr algn="l">
              <a:defRPr sz="1600" b="1">
                <a:solidFill>
                  <a:srgbClr val="0070C0"/>
                </a:solidFill>
                <a:latin typeface="Calibri"/>
              </a:defRPr>
            </a:pPr>
            <a:r>
              <a:rPr sz="1600"/>
              <a:t>Four Ways AMI 2.0 Transforms Measurement and Verification</a:t>
            </a:r>
          </a:p>
        </p:txBody>
      </p:sp>
      <p:sp>
        <p:nvSpPr>
          <p:cNvPr id="5" name="Rectangle 4"/>
          <p:cNvSpPr/>
          <p:nvPr/>
        </p:nvSpPr>
        <p:spPr>
          <a:xfrm>
            <a:off x="1981200" y="1645920"/>
            <a:ext cx="4114800" cy="36576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1. Event-Level M&amp;V</a:t>
            </a:r>
          </a:p>
        </p:txBody>
      </p:sp>
      <p:sp>
        <p:nvSpPr>
          <p:cNvPr id="6" name="TextBox 5"/>
          <p:cNvSpPr txBox="1"/>
          <p:nvPr/>
        </p:nvSpPr>
        <p:spPr>
          <a:xfrm>
            <a:off x="1981200" y="2103121"/>
            <a:ext cx="4114800" cy="1036181"/>
          </a:xfrm>
          <a:prstGeom prst="rect">
            <a:avLst/>
          </a:prstGeom>
          <a:noFill/>
        </p:spPr>
        <p:txBody>
          <a:bodyPr wrap="square">
            <a:spAutoFit/>
          </a:bodyPr>
          <a:lstStyle/>
          <a:p>
            <a:pPr>
              <a:spcAft>
                <a:spcPts val="800"/>
              </a:spcAft>
              <a:defRPr sz="1200">
                <a:solidFill>
                  <a:srgbClr val="000000"/>
                </a:solidFill>
                <a:latin typeface="Calibri"/>
              </a:defRPr>
            </a:pPr>
            <a:r>
              <a:rPr sz="1200"/>
              <a:t>Before: 15-minute interval kWh deltas</a:t>
            </a:r>
          </a:p>
          <a:p>
            <a:pPr>
              <a:spcAft>
                <a:spcPts val="800"/>
              </a:spcAft>
              <a:defRPr sz="1200">
                <a:solidFill>
                  <a:srgbClr val="000000"/>
                </a:solidFill>
                <a:latin typeface="Calibri"/>
              </a:defRPr>
            </a:pPr>
            <a:r>
              <a:rPr sz="1200"/>
              <a:t>After: Heat pump cycle counts, EV charging sessions, compressor duty cycles</a:t>
            </a:r>
          </a:p>
          <a:p>
            <a:pPr>
              <a:spcAft>
                <a:spcPts val="800"/>
              </a:spcAft>
              <a:defRPr sz="1200">
                <a:solidFill>
                  <a:srgbClr val="000000"/>
                </a:solidFill>
                <a:latin typeface="Calibri"/>
              </a:defRPr>
            </a:pPr>
            <a:r>
              <a:rPr sz="1200"/>
              <a:t>Benefit: Verify WHAT changed, not just that energy changed</a:t>
            </a:r>
          </a:p>
        </p:txBody>
      </p:sp>
      <p:sp>
        <p:nvSpPr>
          <p:cNvPr id="7" name="Rectangle 6"/>
          <p:cNvSpPr/>
          <p:nvPr/>
        </p:nvSpPr>
        <p:spPr>
          <a:xfrm>
            <a:off x="6096000" y="1645920"/>
            <a:ext cx="4114800" cy="36576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2. DER Verification</a:t>
            </a:r>
          </a:p>
        </p:txBody>
      </p:sp>
      <p:sp>
        <p:nvSpPr>
          <p:cNvPr id="8" name="TextBox 7"/>
          <p:cNvSpPr txBox="1"/>
          <p:nvPr/>
        </p:nvSpPr>
        <p:spPr>
          <a:xfrm>
            <a:off x="6096000" y="2103121"/>
            <a:ext cx="4114800" cy="1036181"/>
          </a:xfrm>
          <a:prstGeom prst="rect">
            <a:avLst/>
          </a:prstGeom>
          <a:noFill/>
        </p:spPr>
        <p:txBody>
          <a:bodyPr wrap="square">
            <a:spAutoFit/>
          </a:bodyPr>
          <a:lstStyle/>
          <a:p>
            <a:pPr>
              <a:spcAft>
                <a:spcPts val="800"/>
              </a:spcAft>
              <a:defRPr sz="1200">
                <a:solidFill>
                  <a:srgbClr val="000000"/>
                </a:solidFill>
                <a:latin typeface="Calibri"/>
              </a:defRPr>
            </a:pPr>
            <a:r>
              <a:rPr sz="1200"/>
              <a:t>Before: Separate meters required for solar, battery</a:t>
            </a:r>
          </a:p>
          <a:p>
            <a:pPr>
              <a:spcAft>
                <a:spcPts val="800"/>
              </a:spcAft>
              <a:defRPr sz="1200">
                <a:solidFill>
                  <a:srgbClr val="000000"/>
                </a:solidFill>
                <a:latin typeface="Calibri"/>
              </a:defRPr>
            </a:pPr>
            <a:r>
              <a:rPr sz="1200"/>
              <a:t>After: Detect solar production, battery charge/discharge from main meter</a:t>
            </a:r>
          </a:p>
          <a:p>
            <a:pPr>
              <a:spcAft>
                <a:spcPts val="800"/>
              </a:spcAft>
              <a:defRPr sz="1200">
                <a:solidFill>
                  <a:srgbClr val="000000"/>
                </a:solidFill>
                <a:latin typeface="Calibri"/>
              </a:defRPr>
            </a:pPr>
            <a:r>
              <a:rPr sz="1200"/>
              <a:t>Benefit: Reduce metering infrastructure costs</a:t>
            </a:r>
          </a:p>
        </p:txBody>
      </p:sp>
      <p:sp>
        <p:nvSpPr>
          <p:cNvPr id="9" name="Rectangle 8"/>
          <p:cNvSpPr/>
          <p:nvPr/>
        </p:nvSpPr>
        <p:spPr>
          <a:xfrm>
            <a:off x="1981200" y="3566160"/>
            <a:ext cx="4114800" cy="36576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3. Load Flexibility Analytics</a:t>
            </a:r>
          </a:p>
        </p:txBody>
      </p:sp>
      <p:sp>
        <p:nvSpPr>
          <p:cNvPr id="10" name="TextBox 9"/>
          <p:cNvSpPr txBox="1"/>
          <p:nvPr/>
        </p:nvSpPr>
        <p:spPr>
          <a:xfrm>
            <a:off x="1981200" y="4023361"/>
            <a:ext cx="4114800" cy="851515"/>
          </a:xfrm>
          <a:prstGeom prst="rect">
            <a:avLst/>
          </a:prstGeom>
          <a:noFill/>
        </p:spPr>
        <p:txBody>
          <a:bodyPr wrap="square">
            <a:spAutoFit/>
          </a:bodyPr>
          <a:lstStyle/>
          <a:p>
            <a:pPr>
              <a:spcAft>
                <a:spcPts val="800"/>
              </a:spcAft>
              <a:defRPr sz="1200">
                <a:solidFill>
                  <a:srgbClr val="000000"/>
                </a:solidFill>
                <a:latin typeface="Calibri"/>
              </a:defRPr>
            </a:pPr>
            <a:r>
              <a:rPr sz="1200"/>
              <a:t>Before: Assume which loads are flexible</a:t>
            </a:r>
          </a:p>
          <a:p>
            <a:pPr>
              <a:spcAft>
                <a:spcPts val="800"/>
              </a:spcAft>
              <a:defRPr sz="1200">
                <a:solidFill>
                  <a:srgbClr val="000000"/>
                </a:solidFill>
                <a:latin typeface="Calibri"/>
              </a:defRPr>
            </a:pPr>
            <a:r>
              <a:rPr sz="1200"/>
              <a:t>After: Identify actual flexible vs. inflexible loads</a:t>
            </a:r>
          </a:p>
          <a:p>
            <a:pPr>
              <a:spcAft>
                <a:spcPts val="800"/>
              </a:spcAft>
              <a:defRPr sz="1200">
                <a:solidFill>
                  <a:srgbClr val="000000"/>
                </a:solidFill>
                <a:latin typeface="Calibri"/>
              </a:defRPr>
            </a:pPr>
            <a:r>
              <a:rPr sz="1200"/>
              <a:t>Benefit: Data-driven demand response strategies</a:t>
            </a:r>
          </a:p>
        </p:txBody>
      </p:sp>
      <p:sp>
        <p:nvSpPr>
          <p:cNvPr id="11" name="Rectangle 10"/>
          <p:cNvSpPr/>
          <p:nvPr/>
        </p:nvSpPr>
        <p:spPr>
          <a:xfrm>
            <a:off x="6096000" y="3566160"/>
            <a:ext cx="4114800" cy="36576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4. Retrofit Isolation Without Sub-Meters</a:t>
            </a:r>
          </a:p>
        </p:txBody>
      </p:sp>
      <p:sp>
        <p:nvSpPr>
          <p:cNvPr id="12" name="TextBox 11"/>
          <p:cNvSpPr txBox="1"/>
          <p:nvPr/>
        </p:nvSpPr>
        <p:spPr>
          <a:xfrm>
            <a:off x="6096000" y="4023361"/>
            <a:ext cx="4114800" cy="1036181"/>
          </a:xfrm>
          <a:prstGeom prst="rect">
            <a:avLst/>
          </a:prstGeom>
          <a:noFill/>
        </p:spPr>
        <p:txBody>
          <a:bodyPr wrap="square">
            <a:spAutoFit/>
          </a:bodyPr>
          <a:lstStyle/>
          <a:p>
            <a:pPr>
              <a:spcAft>
                <a:spcPts val="800"/>
              </a:spcAft>
              <a:defRPr sz="1200">
                <a:solidFill>
                  <a:srgbClr val="000000"/>
                </a:solidFill>
                <a:latin typeface="Calibri"/>
              </a:defRPr>
            </a:pPr>
            <a:r>
              <a:rPr sz="1200"/>
              <a:t>Before: Install sub-meters for each ECM ($15k-$25k)</a:t>
            </a:r>
          </a:p>
          <a:p>
            <a:pPr>
              <a:spcAft>
                <a:spcPts val="800"/>
              </a:spcAft>
              <a:defRPr sz="1200">
                <a:solidFill>
                  <a:srgbClr val="000000"/>
                </a:solidFill>
                <a:latin typeface="Calibri"/>
              </a:defRPr>
            </a:pPr>
            <a:r>
              <a:rPr sz="1200"/>
              <a:t>After: Identify HVAC, lighting, equipment changes from main meter</a:t>
            </a:r>
          </a:p>
          <a:p>
            <a:pPr>
              <a:spcAft>
                <a:spcPts val="800"/>
              </a:spcAft>
              <a:defRPr sz="1200">
                <a:solidFill>
                  <a:srgbClr val="000000"/>
                </a:solidFill>
                <a:latin typeface="Calibri"/>
              </a:defRPr>
            </a:pPr>
            <a:r>
              <a:rPr sz="1200"/>
              <a:t>Benefit: 70-90% reduction in M&amp;V metering costs</a:t>
            </a:r>
          </a:p>
        </p:txBody>
      </p:sp>
      <p:sp>
        <p:nvSpPr>
          <p:cNvPr id="13" name="Rectangle 12"/>
          <p:cNvSpPr/>
          <p:nvPr/>
        </p:nvSpPr>
        <p:spPr>
          <a:xfrm>
            <a:off x="1981200" y="5577840"/>
            <a:ext cx="8229600" cy="54864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600" b="1">
                <a:solidFill>
                  <a:srgbClr val="FFFFFF"/>
                </a:solidFill>
                <a:latin typeface="Calibri"/>
              </a:defRPr>
            </a:pPr>
            <a:r>
              <a:rPr sz="1600"/>
              <a:t>Bottom Line: AMI 2.0 enables professional-grade M&amp;V at a fraction of traditional metering costs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What CMVPs Should Do Now</a:t>
            </a:r>
          </a:p>
        </p:txBody>
      </p:sp>
      <p:sp>
        <p:nvSpPr>
          <p:cNvPr id="4" name="TextBox 3"/>
          <p:cNvSpPr txBox="1"/>
          <p:nvPr/>
        </p:nvSpPr>
        <p:spPr>
          <a:xfrm>
            <a:off x="1981200" y="1097280"/>
            <a:ext cx="8229600" cy="365760"/>
          </a:xfrm>
          <a:prstGeom prst="rect">
            <a:avLst/>
          </a:prstGeom>
          <a:noFill/>
        </p:spPr>
        <p:txBody>
          <a:bodyPr wrap="square">
            <a:spAutoFit/>
          </a:bodyPr>
          <a:lstStyle/>
          <a:p>
            <a:pPr algn="l">
              <a:defRPr sz="1800" b="1">
                <a:solidFill>
                  <a:srgbClr val="003366"/>
                </a:solidFill>
                <a:latin typeface="Calibri"/>
              </a:defRPr>
            </a:pPr>
            <a:r>
              <a:t>Current State (2025):</a:t>
            </a:r>
          </a:p>
        </p:txBody>
      </p:sp>
      <p:sp>
        <p:nvSpPr>
          <p:cNvPr id="5" name="TextBox 4"/>
          <p:cNvSpPr txBox="1"/>
          <p:nvPr/>
        </p:nvSpPr>
        <p:spPr>
          <a:xfrm>
            <a:off x="2164080" y="1554481"/>
            <a:ext cx="7863840" cy="1323439"/>
          </a:xfrm>
          <a:prstGeom prst="rect">
            <a:avLst/>
          </a:prstGeom>
          <a:noFill/>
        </p:spPr>
        <p:txBody>
          <a:bodyPr wrap="square">
            <a:spAutoFit/>
          </a:bodyPr>
          <a:lstStyle/>
          <a:p>
            <a:pPr>
              <a:spcAft>
                <a:spcPts val="800"/>
              </a:spcAft>
              <a:defRPr sz="1500">
                <a:solidFill>
                  <a:srgbClr val="000000"/>
                </a:solidFill>
                <a:latin typeface="Calibri"/>
              </a:defRPr>
            </a:pPr>
            <a:r>
              <a:rPr sz="1500"/>
              <a:t>Most AMI still 15-60 minute intervals (AMI 1.0)</a:t>
            </a:r>
          </a:p>
          <a:p>
            <a:pPr>
              <a:spcAft>
                <a:spcPts val="800"/>
              </a:spcAft>
              <a:defRPr sz="1500">
                <a:solidFill>
                  <a:srgbClr val="000000"/>
                </a:solidFill>
                <a:latin typeface="Calibri"/>
              </a:defRPr>
            </a:pPr>
            <a:r>
              <a:rPr sz="1500"/>
              <a:t>AMI 2.0 in pilot and early deployment phase</a:t>
            </a:r>
          </a:p>
          <a:p>
            <a:pPr>
              <a:spcAft>
                <a:spcPts val="800"/>
              </a:spcAft>
              <a:defRPr sz="1500">
                <a:solidFill>
                  <a:srgbClr val="000000"/>
                </a:solidFill>
                <a:latin typeface="Calibri"/>
              </a:defRPr>
            </a:pPr>
            <a:r>
              <a:rPr sz="1500"/>
              <a:t>California leading adoption; other states following</a:t>
            </a:r>
          </a:p>
          <a:p>
            <a:pPr>
              <a:spcAft>
                <a:spcPts val="800"/>
              </a:spcAft>
              <a:defRPr sz="1500">
                <a:solidFill>
                  <a:srgbClr val="000000"/>
                </a:solidFill>
                <a:latin typeface="Calibri"/>
              </a:defRPr>
            </a:pPr>
            <a:r>
              <a:rPr sz="1500"/>
              <a:t>Technology proven; costs declining with scale</a:t>
            </a:r>
          </a:p>
        </p:txBody>
      </p:sp>
      <p:sp>
        <p:nvSpPr>
          <p:cNvPr id="6" name="Rectangle 5"/>
          <p:cNvSpPr/>
          <p:nvPr/>
        </p:nvSpPr>
        <p:spPr>
          <a:xfrm>
            <a:off x="1981200" y="3017520"/>
            <a:ext cx="8229600" cy="36576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600" b="1">
                <a:solidFill>
                  <a:srgbClr val="FFFFFF"/>
                </a:solidFill>
                <a:latin typeface="Calibri"/>
              </a:defRPr>
            </a:pPr>
            <a:r>
              <a:rPr sz="1600"/>
              <a:t>Action Items for M&amp;V Planning</a:t>
            </a:r>
          </a:p>
        </p:txBody>
      </p:sp>
      <p:sp>
        <p:nvSpPr>
          <p:cNvPr id="7" name="TextBox 6"/>
          <p:cNvSpPr txBox="1"/>
          <p:nvPr/>
        </p:nvSpPr>
        <p:spPr>
          <a:xfrm>
            <a:off x="2164080" y="3566160"/>
            <a:ext cx="7863840" cy="2103140"/>
          </a:xfrm>
          <a:prstGeom prst="rect">
            <a:avLst/>
          </a:prstGeom>
          <a:noFill/>
        </p:spPr>
        <p:txBody>
          <a:bodyPr wrap="square">
            <a:spAutoFit/>
          </a:bodyPr>
          <a:lstStyle/>
          <a:p>
            <a:pPr>
              <a:spcAft>
                <a:spcPts val="800"/>
              </a:spcAft>
              <a:defRPr sz="1300">
                <a:solidFill>
                  <a:srgbClr val="000000"/>
                </a:solidFill>
                <a:latin typeface="Calibri"/>
              </a:defRPr>
            </a:pPr>
            <a:r>
              <a:rPr sz="1300"/>
              <a:t>✓ Ask utility: 'Do you have AMI 2.0 or high-resolution meters deployed?'</a:t>
            </a:r>
          </a:p>
          <a:p>
            <a:pPr>
              <a:spcAft>
                <a:spcPts val="800"/>
              </a:spcAft>
              <a:defRPr sz="1300">
                <a:solidFill>
                  <a:srgbClr val="000000"/>
                </a:solidFill>
                <a:latin typeface="Calibri"/>
              </a:defRPr>
            </a:pPr>
            <a:r>
              <a:rPr sz="1300"/>
              <a:t>✓ Include AMI 2.0 in M&amp;V cost-benefit analysis</a:t>
            </a:r>
            <a:br>
              <a:rPr sz="1300"/>
            </a:br>
            <a:r>
              <a:rPr sz="1300"/>
              <a:t>   Example: Sub-metering ($25k) vs. Data access ($1.5k) = $23.5k savings</a:t>
            </a:r>
          </a:p>
          <a:p>
            <a:pPr>
              <a:spcAft>
                <a:spcPts val="800"/>
              </a:spcAft>
              <a:defRPr sz="1300">
                <a:solidFill>
                  <a:srgbClr val="000000"/>
                </a:solidFill>
                <a:latin typeface="Calibri"/>
              </a:defRPr>
            </a:pPr>
            <a:r>
              <a:rPr sz="1300"/>
              <a:t>✓ Plan for granular data access in M&amp;V plans</a:t>
            </a:r>
            <a:br>
              <a:rPr sz="1300"/>
            </a:br>
            <a:r>
              <a:rPr sz="1300"/>
              <a:t>   Specify: Data resolution, load types, accuracy requirements, privacy protocols</a:t>
            </a:r>
          </a:p>
          <a:p>
            <a:pPr>
              <a:spcAft>
                <a:spcPts val="800"/>
              </a:spcAft>
              <a:defRPr sz="1300">
                <a:solidFill>
                  <a:srgbClr val="000000"/>
                </a:solidFill>
                <a:latin typeface="Calibri"/>
              </a:defRPr>
            </a:pPr>
            <a:r>
              <a:rPr sz="1300"/>
              <a:t>✓ Learn NILM terminology: Non-Intrusive Load Monitoring, edge analytics, waveform capture, disaggregation confidence scores</a:t>
            </a:r>
          </a:p>
          <a:p>
            <a:pPr>
              <a:spcAft>
                <a:spcPts val="800"/>
              </a:spcAft>
              <a:defRPr sz="1300">
                <a:solidFill>
                  <a:srgbClr val="000000"/>
                </a:solidFill>
                <a:latin typeface="Calibri"/>
              </a:defRPr>
            </a:pPr>
            <a:r>
              <a:rPr sz="1300"/>
              <a:t>✓ Follow California utility pilots and CPUC proceedings</a:t>
            </a:r>
          </a:p>
        </p:txBody>
      </p:sp>
      <p:sp>
        <p:nvSpPr>
          <p:cNvPr id="8" name="TextBox 7"/>
          <p:cNvSpPr txBox="1"/>
          <p:nvPr/>
        </p:nvSpPr>
        <p:spPr>
          <a:xfrm>
            <a:off x="1981200" y="6126480"/>
            <a:ext cx="8229600" cy="230832"/>
          </a:xfrm>
          <a:prstGeom prst="rect">
            <a:avLst/>
          </a:prstGeom>
          <a:noFill/>
        </p:spPr>
        <p:txBody>
          <a:bodyPr wrap="square">
            <a:spAutoFit/>
          </a:bodyPr>
          <a:lstStyle/>
          <a:p>
            <a:pPr algn="l">
              <a:defRPr sz="900" b="0">
                <a:solidFill>
                  <a:srgbClr val="7F7F7F"/>
                </a:solidFill>
                <a:latin typeface="Calibri"/>
              </a:defRPr>
            </a:pPr>
            <a:r>
              <a:rPr sz="900"/>
              <a:t>Resources: CPUC AMI 2.0 filings | EPRI NILM reports | SCE/PG&amp;E/SDG&amp;E modernization plans | Vendor sites (Landis+Gyr, Itron, Sense)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4A0F7-4D8F-D62F-6231-D75E86F645FF}"/>
              </a:ext>
            </a:extLst>
          </p:cNvPr>
          <p:cNvSpPr>
            <a:spLocks noGrp="1"/>
          </p:cNvSpPr>
          <p:nvPr>
            <p:ph type="title"/>
          </p:nvPr>
        </p:nvSpPr>
        <p:spPr/>
        <p:txBody>
          <a:bodyPr/>
          <a:lstStyle/>
          <a:p>
            <a:r>
              <a:rPr lang="en-US"/>
              <a:t>NFPA</a:t>
            </a:r>
          </a:p>
        </p:txBody>
      </p:sp>
      <p:sp>
        <p:nvSpPr>
          <p:cNvPr id="4" name="Content Placeholder 3">
            <a:extLst>
              <a:ext uri="{FF2B5EF4-FFF2-40B4-BE49-F238E27FC236}">
                <a16:creationId xmlns:a16="http://schemas.microsoft.com/office/drawing/2014/main" id="{31161238-9BB5-7050-4C5E-B40A37859B6E}"/>
              </a:ext>
            </a:extLst>
          </p:cNvPr>
          <p:cNvSpPr>
            <a:spLocks noGrp="1"/>
          </p:cNvSpPr>
          <p:nvPr>
            <p:ph sz="half" idx="1"/>
          </p:nvPr>
        </p:nvSpPr>
        <p:spPr>
          <a:xfrm>
            <a:off x="838200" y="1825625"/>
            <a:ext cx="5181600" cy="854513"/>
          </a:xfrm>
        </p:spPr>
        <p:txBody>
          <a:bodyPr anchor="ctr">
            <a:normAutofit/>
          </a:bodyPr>
          <a:lstStyle/>
          <a:p>
            <a:pPr algn="ctr"/>
            <a:r>
              <a:rPr lang="en-US" sz="2000" b="1"/>
              <a:t>NFPA 70E (2017): Standard for Electrical Safety in the Workplace</a:t>
            </a:r>
          </a:p>
        </p:txBody>
      </p:sp>
      <p:sp>
        <p:nvSpPr>
          <p:cNvPr id="5" name="Content Placeholder 4">
            <a:extLst>
              <a:ext uri="{FF2B5EF4-FFF2-40B4-BE49-F238E27FC236}">
                <a16:creationId xmlns:a16="http://schemas.microsoft.com/office/drawing/2014/main" id="{F539F47E-ED25-EF3C-B7FD-8A99EB554CF5}"/>
              </a:ext>
            </a:extLst>
          </p:cNvPr>
          <p:cNvSpPr>
            <a:spLocks noGrp="1"/>
          </p:cNvSpPr>
          <p:nvPr>
            <p:ph sz="half" idx="2"/>
          </p:nvPr>
        </p:nvSpPr>
        <p:spPr>
          <a:xfrm>
            <a:off x="6172200" y="1825625"/>
            <a:ext cx="5181600" cy="854513"/>
          </a:xfrm>
        </p:spPr>
        <p:txBody>
          <a:bodyPr anchor="ctr">
            <a:normAutofit/>
          </a:bodyPr>
          <a:lstStyle/>
          <a:p>
            <a:pPr algn="ctr"/>
            <a:r>
              <a:rPr lang="en-US" sz="2000" b="1"/>
              <a:t>360 Training: NFPA 70E</a:t>
            </a:r>
          </a:p>
        </p:txBody>
      </p:sp>
      <p:pic>
        <p:nvPicPr>
          <p:cNvPr id="6" name="Picture 5">
            <a:extLst>
              <a:ext uri="{FF2B5EF4-FFF2-40B4-BE49-F238E27FC236}">
                <a16:creationId xmlns:a16="http://schemas.microsoft.com/office/drawing/2014/main" id="{CFDB9CF9-A1A8-4E7E-52FD-00C51F55E160}"/>
              </a:ext>
            </a:extLst>
          </p:cNvPr>
          <p:cNvPicPr>
            <a:picLocks noChangeAspect="1"/>
          </p:cNvPicPr>
          <p:nvPr/>
        </p:nvPicPr>
        <p:blipFill>
          <a:blip r:embed="rId2"/>
          <a:stretch>
            <a:fillRect/>
          </a:stretch>
        </p:blipFill>
        <p:spPr>
          <a:xfrm>
            <a:off x="7391400" y="2806266"/>
            <a:ext cx="2743200" cy="2743200"/>
          </a:xfrm>
          <a:prstGeom prst="rect">
            <a:avLst/>
          </a:prstGeom>
        </p:spPr>
      </p:pic>
      <p:pic>
        <p:nvPicPr>
          <p:cNvPr id="7" name="Picture 6">
            <a:extLst>
              <a:ext uri="{FF2B5EF4-FFF2-40B4-BE49-F238E27FC236}">
                <a16:creationId xmlns:a16="http://schemas.microsoft.com/office/drawing/2014/main" id="{E177A87D-495C-1502-884E-2C2F63EDB720}"/>
              </a:ext>
            </a:extLst>
          </p:cNvPr>
          <p:cNvPicPr>
            <a:picLocks noChangeAspect="1"/>
          </p:cNvPicPr>
          <p:nvPr/>
        </p:nvPicPr>
        <p:blipFill>
          <a:blip r:embed="rId3"/>
          <a:stretch>
            <a:fillRect/>
          </a:stretch>
        </p:blipFill>
        <p:spPr>
          <a:xfrm>
            <a:off x="2057400" y="2806266"/>
            <a:ext cx="2743200" cy="2743200"/>
          </a:xfrm>
          <a:prstGeom prst="rect">
            <a:avLst/>
          </a:prstGeom>
        </p:spPr>
      </p:pic>
    </p:spTree>
    <p:extLst>
      <p:ext uri="{BB962C8B-B14F-4D97-AF65-F5344CB8AC3E}">
        <p14:creationId xmlns:p14="http://schemas.microsoft.com/office/powerpoint/2010/main" val="2298026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77DE-FB6B-91F2-395A-A1182C2840DD}"/>
              </a:ext>
            </a:extLst>
          </p:cNvPr>
          <p:cNvSpPr>
            <a:spLocks noGrp="1"/>
          </p:cNvSpPr>
          <p:nvPr>
            <p:ph type="title"/>
          </p:nvPr>
        </p:nvSpPr>
        <p:spPr/>
        <p:txBody>
          <a:bodyPr/>
          <a:lstStyle/>
          <a:p>
            <a:r>
              <a:rPr lang="en-US"/>
              <a:t>Scenario – Module 8</a:t>
            </a:r>
          </a:p>
        </p:txBody>
      </p:sp>
      <p:sp>
        <p:nvSpPr>
          <p:cNvPr id="3" name="Content Placeholder 2">
            <a:extLst>
              <a:ext uri="{FF2B5EF4-FFF2-40B4-BE49-F238E27FC236}">
                <a16:creationId xmlns:a16="http://schemas.microsoft.com/office/drawing/2014/main" id="{52B065A1-9827-2319-D6BF-BF29C170C7AC}"/>
              </a:ext>
            </a:extLst>
          </p:cNvPr>
          <p:cNvSpPr>
            <a:spLocks noGrp="1"/>
          </p:cNvSpPr>
          <p:nvPr>
            <p:ph sz="half" idx="1"/>
          </p:nvPr>
        </p:nvSpPr>
        <p:spPr>
          <a:xfrm>
            <a:off x="838200" y="1825625"/>
            <a:ext cx="5645727" cy="4351338"/>
          </a:xfrm>
        </p:spPr>
        <p:txBody>
          <a:bodyPr>
            <a:normAutofit/>
          </a:bodyPr>
          <a:lstStyle/>
          <a:p>
            <a:r>
              <a:rPr lang="en-US" sz="2400"/>
              <a:t>Please open your participant guide to the scenario for </a:t>
            </a:r>
            <a:r>
              <a:rPr lang="en-US" sz="2400" b="1"/>
              <a:t>Module 8: Metering Considerations</a:t>
            </a:r>
            <a:r>
              <a:rPr lang="en-US" sz="2400"/>
              <a:t>.</a:t>
            </a:r>
          </a:p>
        </p:txBody>
      </p:sp>
      <p:pic>
        <p:nvPicPr>
          <p:cNvPr id="10" name="Content Placeholder 9">
            <a:extLst>
              <a:ext uri="{FF2B5EF4-FFF2-40B4-BE49-F238E27FC236}">
                <a16:creationId xmlns:a16="http://schemas.microsoft.com/office/drawing/2014/main" id="{69FC4E52-CBC9-6938-F493-557F8BDD941B}"/>
              </a:ext>
            </a:extLst>
          </p:cNvPr>
          <p:cNvPicPr>
            <a:picLocks noGrp="1" noChangeAspect="1"/>
          </p:cNvPicPr>
          <p:nvPr>
            <p:ph sz="half" idx="2"/>
          </p:nvPr>
        </p:nvPicPr>
        <p:blipFill>
          <a:blip>
            <a:extLst>
              <a:ext uri="{96DAC541-7B7A-43D3-8B79-37D633B846F1}">
                <asvg:svgBlip xmlns:asvg="http://schemas.microsoft.com/office/drawing/2016/SVG/main" r:embed="rId3"/>
              </a:ext>
            </a:extLst>
          </a:blip>
          <a:stretch>
            <a:fillRect/>
          </a:stretch>
        </p:blipFill>
        <p:spPr>
          <a:xfrm>
            <a:off x="7002462" y="1253331"/>
            <a:ext cx="4351338" cy="4351338"/>
          </a:xfrm>
        </p:spPr>
      </p:pic>
    </p:spTree>
    <p:extLst>
      <p:ext uri="{BB962C8B-B14F-4D97-AF65-F5344CB8AC3E}">
        <p14:creationId xmlns:p14="http://schemas.microsoft.com/office/powerpoint/2010/main" val="116234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43D72-F6D6-5474-AA4E-47EF6BCA5D62}"/>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3FC9A061-F44B-608F-69A4-B2C2058B2A68}"/>
              </a:ext>
            </a:extLst>
          </p:cNvPr>
          <p:cNvSpPr>
            <a:spLocks noGrp="1"/>
          </p:cNvSpPr>
          <p:nvPr>
            <p:ph idx="1"/>
          </p:nvPr>
        </p:nvSpPr>
        <p:spPr/>
        <p:txBody>
          <a:bodyPr>
            <a:normAutofit fontScale="85000" lnSpcReduction="20000"/>
          </a:bodyPr>
          <a:lstStyle/>
          <a:p>
            <a:pPr marL="457200" indent="-457200">
              <a:buFont typeface="Arial" panose="020B0604020202020204" pitchFamily="34" charset="0"/>
              <a:buChar char="•"/>
            </a:pPr>
            <a:r>
              <a:rPr lang="en-US"/>
              <a:t>Metering is at the core of M&amp;V.</a:t>
            </a:r>
          </a:p>
          <a:p>
            <a:pPr marL="457200" indent="-457200">
              <a:buFont typeface="Arial" panose="020B0604020202020204" pitchFamily="34" charset="0"/>
              <a:buChar char="•"/>
            </a:pPr>
            <a:r>
              <a:rPr lang="en-US"/>
              <a:t>There are permanent as well as temporary (or portable) metering systems with various data communication capabilities.</a:t>
            </a:r>
          </a:p>
          <a:p>
            <a:pPr marL="457200" indent="-457200">
              <a:buFont typeface="Arial" panose="020B0604020202020204" pitchFamily="34" charset="0"/>
              <a:buChar char="•"/>
            </a:pPr>
            <a:r>
              <a:rPr lang="en-US"/>
              <a:t>Following best practices can improve data credibility and reduce uncertainty.</a:t>
            </a:r>
          </a:p>
          <a:p>
            <a:pPr marL="457200" indent="-457200">
              <a:buFont typeface="Arial" panose="020B0604020202020204" pitchFamily="34" charset="0"/>
              <a:buChar char="•"/>
            </a:pPr>
            <a:r>
              <a:rPr lang="en-US"/>
              <a:t>Calibrating metering system components reduces unknown uncertainty factors and should be performed by an accredited metrologist.</a:t>
            </a:r>
          </a:p>
          <a:p>
            <a:pPr marL="457200" indent="-457200">
              <a:buFont typeface="Arial" panose="020B0604020202020204" pitchFamily="34" charset="0"/>
              <a:buChar char="•"/>
            </a:pPr>
            <a:r>
              <a:rPr lang="en-US"/>
              <a:t>Only qualified individuals should install, operate, or handle metering systems—and only when permission to perform the work has been obtained. </a:t>
            </a:r>
          </a:p>
        </p:txBody>
      </p:sp>
    </p:spTree>
    <p:extLst>
      <p:ext uri="{BB962C8B-B14F-4D97-AF65-F5344CB8AC3E}">
        <p14:creationId xmlns:p14="http://schemas.microsoft.com/office/powerpoint/2010/main" val="3273622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EF057-A216-B4CE-CC55-C70761497A3D}"/>
              </a:ext>
            </a:extLst>
          </p:cNvPr>
          <p:cNvSpPr>
            <a:spLocks noGrp="1"/>
          </p:cNvSpPr>
          <p:nvPr>
            <p:ph type="title"/>
          </p:nvPr>
        </p:nvSpPr>
        <p:spPr/>
        <p:txBody>
          <a:bodyPr/>
          <a:lstStyle/>
          <a:p>
            <a:r>
              <a:rPr lang="en-US" b="0" dirty="0"/>
              <a:t>Module 8: Metering Considerations</a:t>
            </a:r>
            <a:endParaRPr lang="en-US" dirty="0"/>
          </a:p>
        </p:txBody>
      </p:sp>
      <p:sp>
        <p:nvSpPr>
          <p:cNvPr id="3" name="Content Placeholder 2">
            <a:extLst>
              <a:ext uri="{FF2B5EF4-FFF2-40B4-BE49-F238E27FC236}">
                <a16:creationId xmlns:a16="http://schemas.microsoft.com/office/drawing/2014/main" id="{4B1F5474-A0C9-A83F-8BC8-FB7536B0A576}"/>
              </a:ext>
            </a:extLst>
          </p:cNvPr>
          <p:cNvSpPr>
            <a:spLocks noGrp="1"/>
          </p:cNvSpPr>
          <p:nvPr>
            <p:ph idx="1"/>
          </p:nvPr>
        </p:nvSpPr>
        <p:spPr/>
        <p:txBody>
          <a:bodyPr/>
          <a:lstStyle/>
          <a:p>
            <a:pPr marL="514350" indent="-514350">
              <a:buFont typeface="+mj-lt"/>
              <a:buAutoNum type="arabicPeriod"/>
            </a:pPr>
            <a:r>
              <a:rPr lang="en-US" dirty="0"/>
              <a:t>What are the main criteria for selecting between permanent and portable metering systems in an M&amp;V project?</a:t>
            </a:r>
          </a:p>
          <a:p>
            <a:pPr marL="514350" indent="-514350">
              <a:buFont typeface="+mj-lt"/>
              <a:buAutoNum type="arabicPeriod"/>
            </a:pPr>
            <a:r>
              <a:rPr lang="en-US" dirty="0"/>
              <a:t>How do calibration and verification processes improve the credibility of measured data in M&amp;V?</a:t>
            </a:r>
          </a:p>
          <a:p>
            <a:pPr marL="514350" indent="-514350">
              <a:buFont typeface="+mj-lt"/>
              <a:buAutoNum type="arabicPeriod"/>
            </a:pPr>
            <a:r>
              <a:rPr lang="en-US" dirty="0"/>
              <a:t>Outline the potential costs and risks related to data logging, storage, and communication failures in metering systems</a:t>
            </a:r>
          </a:p>
          <a:p>
            <a:endParaRPr lang="en-US" dirty="0"/>
          </a:p>
        </p:txBody>
      </p:sp>
    </p:spTree>
    <p:extLst>
      <p:ext uri="{BB962C8B-B14F-4D97-AF65-F5344CB8AC3E}">
        <p14:creationId xmlns:p14="http://schemas.microsoft.com/office/powerpoint/2010/main" val="2054971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5.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a3e92f2-5613-46e7-b45d-3aef96e77e3b" xsi:nil="true"/>
    <lcf76f155ced4ddcb4097134ff3c332f xmlns="eede6f60-fd02-4aa8-96b3-c6d8596d5a0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68908EB78113947A2551702793187F6" ma:contentTypeVersion="20" ma:contentTypeDescription="Create a new document." ma:contentTypeScope="" ma:versionID="8fa1d89827d6287d4aa55d021510eae1">
  <xsd:schema xmlns:xsd="http://www.w3.org/2001/XMLSchema" xmlns:xs="http://www.w3.org/2001/XMLSchema" xmlns:p="http://schemas.microsoft.com/office/2006/metadata/properties" xmlns:ns2="eede6f60-fd02-4aa8-96b3-c6d8596d5a0b" xmlns:ns3="0a3e92f2-5613-46e7-b45d-3aef96e77e3b" targetNamespace="http://schemas.microsoft.com/office/2006/metadata/properties" ma:root="true" ma:fieldsID="f205a015fb39f47bd8f6727bb7547130" ns2:_="" ns3:_="">
    <xsd:import namespace="eede6f60-fd02-4aa8-96b3-c6d8596d5a0b"/>
    <xsd:import namespace="0a3e92f2-5613-46e7-b45d-3aef96e77e3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de6f60-fd02-4aa8-96b3-c6d8596d5a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1cda971e-2c5b-4836-b7b3-048297a31dd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a3e92f2-5613-46e7-b45d-3aef96e77e3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1b9f90b-3c36-435b-ab9f-2f962144757d}" ma:internalName="TaxCatchAll" ma:showField="CatchAllData" ma:web="0a3e92f2-5613-46e7-b45d-3aef96e77e3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BF64DB-D942-4A20-80F1-FB121BB9C912}">
  <ds:schemaRefs>
    <ds:schemaRef ds:uri="http://schemas.microsoft.com/sharepoint/v3/contenttype/forms"/>
  </ds:schemaRefs>
</ds:datastoreItem>
</file>

<file path=customXml/itemProps2.xml><?xml version="1.0" encoding="utf-8"?>
<ds:datastoreItem xmlns:ds="http://schemas.openxmlformats.org/officeDocument/2006/customXml" ds:itemID="{66F8726B-B980-4ED5-9F11-E65DB1718071}">
  <ds:schemaRef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http://www.w3.org/XML/1998/namespace"/>
    <ds:schemaRef ds:uri="eede6f60-fd02-4aa8-96b3-c6d8596d5a0b"/>
    <ds:schemaRef ds:uri="http://purl.org/dc/terms/"/>
    <ds:schemaRef ds:uri="0a3e92f2-5613-46e7-b45d-3aef96e77e3b"/>
    <ds:schemaRef ds:uri="http://purl.org/dc/dcmitype/"/>
  </ds:schemaRefs>
</ds:datastoreItem>
</file>

<file path=customXml/itemProps3.xml><?xml version="1.0" encoding="utf-8"?>
<ds:datastoreItem xmlns:ds="http://schemas.openxmlformats.org/officeDocument/2006/customXml" ds:itemID="{B35A2BD4-3A73-44C4-949A-8E8D57E0F9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de6f60-fd02-4aa8-96b3-c6d8596d5a0b"/>
    <ds:schemaRef ds:uri="0a3e92f2-5613-46e7-b45d-3aef96e77e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28813</TotalTime>
  <Words>3010</Words>
  <Application>Microsoft Macintosh PowerPoint</Application>
  <PresentationFormat>Widescreen</PresentationFormat>
  <Paragraphs>316</Paragraphs>
  <Slides>43</Slides>
  <Notes>10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43</vt:i4>
      </vt:variant>
    </vt:vector>
  </HeadingPairs>
  <TitlesOfParts>
    <vt:vector size="54" baseType="lpstr">
      <vt:lpstr>Aptos</vt:lpstr>
      <vt:lpstr>Segoe UI Light</vt:lpstr>
      <vt:lpstr>Calibri Light</vt:lpstr>
      <vt:lpstr>Segoe UI Semibold</vt:lpstr>
      <vt:lpstr>Verdana</vt:lpstr>
      <vt:lpstr>Aptos Display</vt:lpstr>
      <vt:lpstr>Arial</vt:lpstr>
      <vt:lpstr>Office Theme</vt:lpstr>
      <vt:lpstr>Workbooks</vt:lpstr>
      <vt:lpstr>Custom Design</vt:lpstr>
      <vt:lpstr>1_Workbooks</vt:lpstr>
      <vt:lpstr>MODULE 8 Metering Considerations</vt:lpstr>
      <vt:lpstr>M&amp;V, Step by Step</vt:lpstr>
      <vt:lpstr>Learning Objectives</vt:lpstr>
      <vt:lpstr>The Importance of Metering</vt:lpstr>
      <vt:lpstr>What Can Be Measured?</vt:lpstr>
      <vt:lpstr>Parameters for Measurement</vt:lpstr>
      <vt:lpstr>Combining Parameters</vt:lpstr>
      <vt:lpstr>Methods of Measurement</vt:lpstr>
      <vt:lpstr>Types of Metering Systems</vt:lpstr>
      <vt:lpstr>Metering Systems</vt:lpstr>
      <vt:lpstr>Types of Portable Metering Systems</vt:lpstr>
      <vt:lpstr>Which Type of Metering to Use?</vt:lpstr>
      <vt:lpstr>Accuracy and Credibility</vt:lpstr>
      <vt:lpstr>Sources of Uncertainty</vt:lpstr>
      <vt:lpstr>Data Measurement Best Practices</vt:lpstr>
      <vt:lpstr>Data Privacy/Ownership</vt:lpstr>
      <vt:lpstr>Data Logging Best Practices</vt:lpstr>
      <vt:lpstr>Data Communication Best Practices</vt:lpstr>
      <vt:lpstr>Data Storage Best Practices</vt:lpstr>
      <vt:lpstr>Data Integration  </vt:lpstr>
      <vt:lpstr>Data Calculation Best Practices</vt:lpstr>
      <vt:lpstr>Data Stipulation Best Practices</vt:lpstr>
      <vt:lpstr>Other Data Credibility Best Practices</vt:lpstr>
      <vt:lpstr>Calibration</vt:lpstr>
      <vt:lpstr>Calibration Phases</vt:lpstr>
      <vt:lpstr>When Is Calibration Necessary?</vt:lpstr>
      <vt:lpstr>Calibration Verification</vt:lpstr>
      <vt:lpstr>Data-Related Costs</vt:lpstr>
      <vt:lpstr>Indirect Data-Related Costs</vt:lpstr>
      <vt:lpstr>Accounting for All Data-Related Costs</vt:lpstr>
      <vt:lpstr>Safety</vt:lpstr>
      <vt:lpstr>Safety</vt:lpstr>
      <vt:lpstr>OSHA</vt:lpstr>
      <vt:lpstr>PowerPoint Presentation</vt:lpstr>
      <vt:lpstr>PowerPoint Presentation</vt:lpstr>
      <vt:lpstr>PowerPoint Presentation</vt:lpstr>
      <vt:lpstr>PowerPoint Presentation</vt:lpstr>
      <vt:lpstr>PowerPoint Presentation</vt:lpstr>
      <vt:lpstr>PowerPoint Presentation</vt:lpstr>
      <vt:lpstr>NFPA</vt:lpstr>
      <vt:lpstr>Scenario – Module 8</vt:lpstr>
      <vt:lpstr>Key Takeaways</vt:lpstr>
      <vt:lpstr>Module 8: Metering Considerations</vt:lpstr>
    </vt:vector>
  </TitlesOfParts>
  <Manager/>
  <Company>Association of Energy Engineers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AEE Certified Training Template</dc:title>
  <dc:subject>Version 1.0 January 1, 2019</dc:subject>
  <dc:creator>Michael Hewson</dc:creator>
  <cp:keywords/>
  <dc:description/>
  <cp:lastModifiedBy>Steve Kromer</cp:lastModifiedBy>
  <cp:revision>70</cp:revision>
  <cp:lastPrinted>2023-09-28T19:47:32Z</cp:lastPrinted>
  <dcterms:created xsi:type="dcterms:W3CDTF">2018-12-23T18:03:31Z</dcterms:created>
  <dcterms:modified xsi:type="dcterms:W3CDTF">2026-03-25T18:51:03Z</dcterms:modified>
  <cp:category>Certified Training Material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0x010100F68908EB78113947A2551702793187F6</vt:lpwstr>
  </property>
  <property fmtid="{D5CDD505-2E9C-101B-9397-08002B2CF9AE}" pid="3" name="MediaServiceImageTags">
    <vt:lpwstr/>
  </property>
  <property fmtid="{D5CDD505-2E9C-101B-9397-08002B2CF9AE}" pid="4" name="Order">
    <vt:r8>622500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