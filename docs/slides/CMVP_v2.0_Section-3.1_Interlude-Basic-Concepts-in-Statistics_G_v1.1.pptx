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39"/>
  </p:notesMasterIdLst>
  <p:handoutMasterIdLst>
    <p:handoutMasterId r:id="rId40"/>
  </p:handoutMasterIdLst>
  <p:sldIdLst>
    <p:sldId id="418" r:id="rId8"/>
    <p:sldId id="2702" r:id="rId9"/>
    <p:sldId id="651" r:id="rId10"/>
    <p:sldId id="435" r:id="rId11"/>
    <p:sldId id="654" r:id="rId12"/>
    <p:sldId id="655" r:id="rId13"/>
    <p:sldId id="434" r:id="rId14"/>
    <p:sldId id="657" r:id="rId15"/>
    <p:sldId id="439" r:id="rId16"/>
    <p:sldId id="656" r:id="rId17"/>
    <p:sldId id="659" r:id="rId18"/>
    <p:sldId id="653" r:id="rId19"/>
    <p:sldId id="490" r:id="rId20"/>
    <p:sldId id="440" r:id="rId21"/>
    <p:sldId id="652" r:id="rId22"/>
    <p:sldId id="471" r:id="rId23"/>
    <p:sldId id="436" r:id="rId24"/>
    <p:sldId id="658" r:id="rId25"/>
    <p:sldId id="437" r:id="rId26"/>
    <p:sldId id="438" r:id="rId27"/>
    <p:sldId id="470" r:id="rId28"/>
    <p:sldId id="504" r:id="rId29"/>
    <p:sldId id="613" r:id="rId30"/>
    <p:sldId id="593" r:id="rId31"/>
    <p:sldId id="506" r:id="rId32"/>
    <p:sldId id="507" r:id="rId33"/>
    <p:sldId id="508" r:id="rId34"/>
    <p:sldId id="509" r:id="rId35"/>
    <p:sldId id="632" r:id="rId36"/>
    <p:sldId id="2755" r:id="rId37"/>
    <p:sldId id="2740" r:id="rId38"/>
  </p:sldIdLst>
  <p:sldSz cx="12192000" cy="6858000"/>
  <p:notesSz cx="7315200" cy="9601200"/>
  <p:embeddedFontLst>
    <p:embeddedFont>
      <p:font typeface="Cambria Math" panose="02040503050406030204" pitchFamily="18" charset="0"/>
      <p:regular r:id="rId41"/>
    </p:embeddedFont>
    <p:embeddedFont>
      <p:font typeface="Segoe UI Light" panose="020B0502040204020203" pitchFamily="34" charset="0"/>
      <p:regular r:id="rId42"/>
      <p:italic r:id="rId43"/>
    </p:embeddedFont>
    <p:embeddedFont>
      <p:font typeface="Segoe UI Semibold" panose="020B0702040204020203" pitchFamily="34" charset="0"/>
      <p:regular r:id="rId44"/>
      <p:bold r:id="rId45"/>
      <p:italic r:id="rId46"/>
      <p:boldItalic r:id="rId47"/>
    </p:embeddedFont>
    <p:embeddedFont>
      <p:font typeface="Verdana" panose="020B0604030504040204" pitchFamily="34" charset="0"/>
      <p:regular r:id="rId48"/>
      <p:bold r:id="rId49"/>
      <p:italic r:id="rId50"/>
      <p:boldItalic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erlude: Statistics" id="{9AF65C43-AEA1-6448-8A06-CA7575EF67F2}">
          <p14:sldIdLst>
            <p14:sldId id="418"/>
            <p14:sldId id="2702"/>
            <p14:sldId id="651"/>
            <p14:sldId id="435"/>
            <p14:sldId id="654"/>
            <p14:sldId id="655"/>
            <p14:sldId id="434"/>
            <p14:sldId id="657"/>
            <p14:sldId id="439"/>
            <p14:sldId id="656"/>
            <p14:sldId id="659"/>
            <p14:sldId id="653"/>
            <p14:sldId id="490"/>
            <p14:sldId id="440"/>
            <p14:sldId id="652"/>
            <p14:sldId id="471"/>
            <p14:sldId id="436"/>
            <p14:sldId id="658"/>
            <p14:sldId id="437"/>
            <p14:sldId id="438"/>
            <p14:sldId id="470"/>
            <p14:sldId id="504"/>
            <p14:sldId id="613"/>
            <p14:sldId id="593"/>
            <p14:sldId id="506"/>
            <p14:sldId id="507"/>
            <p14:sldId id="508"/>
            <p14:sldId id="509"/>
            <p14:sldId id="632"/>
            <p14:sldId id="2755"/>
            <p14:sldId id="2740"/>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3636"/>
    <p:restoredTop sz="60137"/>
  </p:normalViewPr>
  <p:slideViewPr>
    <p:cSldViewPr snapToGrid="0">
      <p:cViewPr varScale="1">
        <p:scale>
          <a:sx n="69" d="100"/>
          <a:sy n="69" d="100"/>
        </p:scale>
        <p:origin x="426" y="78"/>
      </p:cViewPr>
      <p:guideLst>
        <p:guide pos="3840"/>
        <p:guide orient="horz" pos="216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1746" y="-301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4.fntdata"/><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3.fntdata"/><Relationship Id="rId48" Type="http://schemas.openxmlformats.org/officeDocument/2006/relationships/font" Target="fonts/font8.fntdata"/><Relationship Id="rId56" Type="http://schemas.microsoft.com/office/2018/10/relationships/authors" Target="authors.xml"/><Relationship Id="rId8" Type="http://schemas.openxmlformats.org/officeDocument/2006/relationships/slide" Target="slides/slide1.xml"/><Relationship Id="rId51" Type="http://schemas.openxmlformats.org/officeDocument/2006/relationships/font" Target="fonts/font11.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6.fntdata"/><Relationship Id="rId20" Type="http://schemas.openxmlformats.org/officeDocument/2006/relationships/slide" Target="slides/slide13.xml"/><Relationship Id="rId41" Type="http://schemas.openxmlformats.org/officeDocument/2006/relationships/font" Target="fonts/font1.fntdata"/><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font" Target="fonts/font9.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The concepts in this section will be reinforced and shown in action in examples. If the instructor has spreadsheets or other tools to teach these concepts—go for it.</a:t>
            </a:r>
          </a:p>
          <a:p>
            <a:endParaRPr lang="en-US"/>
          </a:p>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1</a:t>
            </a:fld>
            <a:endParaRPr lang="en-US"/>
          </a:p>
        </p:txBody>
      </p:sp>
      <p:sp>
        <p:nvSpPr>
          <p:cNvPr id="5" name="Footer Placeholder 4">
            <a:extLst>
              <a:ext uri="{FF2B5EF4-FFF2-40B4-BE49-F238E27FC236}">
                <a16:creationId xmlns:a16="http://schemas.microsoft.com/office/drawing/2014/main" id="{88D1E08A-9926-04B8-8AFB-F38894337125}"/>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1757173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a:t>
            </a:fld>
            <a:endParaRPr lang="en-US"/>
          </a:p>
        </p:txBody>
      </p:sp>
    </p:spTree>
    <p:extLst>
      <p:ext uri="{BB962C8B-B14F-4D97-AF65-F5344CB8AC3E}">
        <p14:creationId xmlns:p14="http://schemas.microsoft.com/office/powerpoint/2010/main" val="1880167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a:t>
            </a:fld>
            <a:endParaRPr lang="en-US"/>
          </a:p>
        </p:txBody>
      </p:sp>
    </p:spTree>
    <p:extLst>
      <p:ext uri="{BB962C8B-B14F-4D97-AF65-F5344CB8AC3E}">
        <p14:creationId xmlns:p14="http://schemas.microsoft.com/office/powerpoint/2010/main" val="1464661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The other types of averages are the median and the mode. The median is the “middle” value in an ascending or descending list of values, or the mean of the two middle-most values if there is an even number of values in the set. The mode is the value that occurs most frequently in a set.</a:t>
            </a:r>
          </a:p>
        </p:txBody>
      </p:sp>
      <p:sp>
        <p:nvSpPr>
          <p:cNvPr id="4" name="Slide Number Placeholder 3"/>
          <p:cNvSpPr>
            <a:spLocks noGrp="1"/>
          </p:cNvSpPr>
          <p:nvPr>
            <p:ph type="sldNum" sz="quarter" idx="5"/>
          </p:nvPr>
        </p:nvSpPr>
        <p:spPr/>
        <p:txBody>
          <a:bodyPr/>
          <a:lstStyle/>
          <a:p>
            <a:fld id="{82869989-EB00-4EE7-BCB5-25BDC5BB29F8}" type="slidenum">
              <a:rPr lang="en-US" smtClean="0"/>
              <a:pPr/>
              <a:t>4</a:t>
            </a:fld>
            <a:endParaRPr lang="en-US"/>
          </a:p>
        </p:txBody>
      </p:sp>
      <p:sp>
        <p:nvSpPr>
          <p:cNvPr id="5" name="Footer Placeholder 4">
            <a:extLst>
              <a:ext uri="{FF2B5EF4-FFF2-40B4-BE49-F238E27FC236}">
                <a16:creationId xmlns:a16="http://schemas.microsoft.com/office/drawing/2014/main" id="{CB17A289-E51E-7F82-50D2-83C34121DD3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833857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endParaRPr lang="en-US"/>
          </a:p>
          <a:p>
            <a:pPr marL="181240" indent="-181240">
              <a:buFont typeface="Arial" panose="020B0604020202020204" pitchFamily="34" charset="0"/>
              <a:buChar char="•"/>
            </a:pPr>
            <a:r>
              <a:rPr lang="en-US"/>
              <a:t>ASHRAE Guideline 14 specifies acceptable CV(RMSE) values for M&amp;V models.</a:t>
            </a:r>
          </a:p>
          <a:p>
            <a:pPr marL="181240" indent="-181240">
              <a:buFont typeface="Arial" panose="020B0604020202020204" pitchFamily="34" charset="0"/>
              <a:buChar char="•"/>
            </a:pPr>
            <a:r>
              <a:rPr lang="en-US"/>
              <a:t>You may wish to mention t-statistics at this point as another means of validating a regression model, degrees of freedom, etc.</a:t>
            </a:r>
          </a:p>
          <a:p>
            <a:pPr marL="181240" indent="-181240">
              <a:buFont typeface="Arial" panose="020B0604020202020204" pitchFamily="34" charset="0"/>
              <a:buChar char="•"/>
            </a:pPr>
            <a:r>
              <a:rPr lang="en-US"/>
              <a:t>Open an Excel spreadsheet to demonstrate.</a:t>
            </a:r>
          </a:p>
        </p:txBody>
      </p:sp>
      <p:sp>
        <p:nvSpPr>
          <p:cNvPr id="4" name="Slide Number Placeholder 3"/>
          <p:cNvSpPr>
            <a:spLocks noGrp="1"/>
          </p:cNvSpPr>
          <p:nvPr>
            <p:ph type="sldNum" sz="quarter" idx="5"/>
          </p:nvPr>
        </p:nvSpPr>
        <p:spPr/>
        <p:txBody>
          <a:bodyPr/>
          <a:lstStyle/>
          <a:p>
            <a:fld id="{82869989-EB00-4EE7-BCB5-25BDC5BB29F8}" type="slidenum">
              <a:rPr lang="en-US" smtClean="0"/>
              <a:pPr/>
              <a:t>9</a:t>
            </a:fld>
            <a:endParaRPr lang="en-US"/>
          </a:p>
        </p:txBody>
      </p:sp>
      <p:sp>
        <p:nvSpPr>
          <p:cNvPr id="5" name="Footer Placeholder 4">
            <a:extLst>
              <a:ext uri="{FF2B5EF4-FFF2-40B4-BE49-F238E27FC236}">
                <a16:creationId xmlns:a16="http://schemas.microsoft.com/office/drawing/2014/main" id="{4508A8EF-E10C-3E99-F91D-C3264F402BB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017730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13</a:t>
            </a:fld>
            <a:endParaRPr lang="en-US"/>
          </a:p>
        </p:txBody>
      </p:sp>
    </p:spTree>
    <p:extLst>
      <p:ext uri="{BB962C8B-B14F-4D97-AF65-F5344CB8AC3E}">
        <p14:creationId xmlns:p14="http://schemas.microsoft.com/office/powerpoint/2010/main" val="1938383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You can demonstrate this concept to learners using a spreadsheet.</a:t>
            </a:r>
          </a:p>
        </p:txBody>
      </p:sp>
      <p:sp>
        <p:nvSpPr>
          <p:cNvPr id="4" name="Slide Number Placeholder 3"/>
          <p:cNvSpPr>
            <a:spLocks noGrp="1"/>
          </p:cNvSpPr>
          <p:nvPr>
            <p:ph type="sldNum" sz="quarter" idx="5"/>
          </p:nvPr>
        </p:nvSpPr>
        <p:spPr/>
        <p:txBody>
          <a:bodyPr/>
          <a:lstStyle/>
          <a:p>
            <a:fld id="{82869989-EB00-4EE7-BCB5-25BDC5BB29F8}" type="slidenum">
              <a:rPr lang="en-US" smtClean="0"/>
              <a:pPr/>
              <a:t>14</a:t>
            </a:fld>
            <a:endParaRPr lang="en-US"/>
          </a:p>
        </p:txBody>
      </p:sp>
      <p:sp>
        <p:nvSpPr>
          <p:cNvPr id="5" name="Footer Placeholder 4">
            <a:extLst>
              <a:ext uri="{FF2B5EF4-FFF2-40B4-BE49-F238E27FC236}">
                <a16:creationId xmlns:a16="http://schemas.microsoft.com/office/drawing/2014/main" id="{14DDC7B2-D457-DC6D-0294-F2170C6EAC94}"/>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7266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16</a:t>
            </a:fld>
            <a:endParaRPr lang="en-US"/>
          </a:p>
        </p:txBody>
      </p:sp>
    </p:spTree>
    <p:extLst>
      <p:ext uri="{BB962C8B-B14F-4D97-AF65-F5344CB8AC3E}">
        <p14:creationId xmlns:p14="http://schemas.microsoft.com/office/powerpoint/2010/main" val="40271685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18</a:t>
            </a:fld>
            <a:endParaRPr lang="en-US"/>
          </a:p>
        </p:txBody>
      </p:sp>
    </p:spTree>
    <p:extLst>
      <p:ext uri="{BB962C8B-B14F-4D97-AF65-F5344CB8AC3E}">
        <p14:creationId xmlns:p14="http://schemas.microsoft.com/office/powerpoint/2010/main" val="21401744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19</a:t>
            </a:fld>
            <a:endParaRPr lang="en-US"/>
          </a:p>
        </p:txBody>
      </p:sp>
    </p:spTree>
    <p:extLst>
      <p:ext uri="{BB962C8B-B14F-4D97-AF65-F5344CB8AC3E}">
        <p14:creationId xmlns:p14="http://schemas.microsoft.com/office/powerpoint/2010/main" val="24799235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Statistics Spreadsheet</a:t>
            </a:r>
          </a:p>
        </p:txBody>
      </p:sp>
      <p:sp>
        <p:nvSpPr>
          <p:cNvPr id="4" name="Slide Number Placeholder 3"/>
          <p:cNvSpPr>
            <a:spLocks noGrp="1"/>
          </p:cNvSpPr>
          <p:nvPr>
            <p:ph type="sldNum" sz="quarter" idx="5"/>
          </p:nvPr>
        </p:nvSpPr>
        <p:spPr/>
        <p:txBody>
          <a:bodyPr/>
          <a:lstStyle/>
          <a:p>
            <a:fld id="{82869989-EB00-4EE7-BCB5-25BDC5BB29F8}" type="slidenum">
              <a:rPr lang="en-US" smtClean="0"/>
              <a:pPr/>
              <a:t>20</a:t>
            </a:fld>
            <a:endParaRPr lang="en-US"/>
          </a:p>
        </p:txBody>
      </p:sp>
      <p:sp>
        <p:nvSpPr>
          <p:cNvPr id="5" name="Footer Placeholder 4">
            <a:extLst>
              <a:ext uri="{FF2B5EF4-FFF2-40B4-BE49-F238E27FC236}">
                <a16:creationId xmlns:a16="http://schemas.microsoft.com/office/drawing/2014/main" id="{7F7A4E00-CFB5-88B2-B43A-9739628843A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284075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At 0.16, the </a:t>
            </a:r>
            <a:r>
              <a:rPr lang="en-US" i="1"/>
              <a:t>R</a:t>
            </a:r>
            <a:r>
              <a:rPr lang="en-US" i="1" baseline="30000"/>
              <a:t>2</a:t>
            </a:r>
            <a:r>
              <a:rPr lang="en-US" i="0" baseline="0"/>
              <a:t> value is low, indicating a poor fit between the data and the regression line.</a:t>
            </a:r>
          </a:p>
        </p:txBody>
      </p:sp>
      <p:sp>
        <p:nvSpPr>
          <p:cNvPr id="4" name="Slide Number Placeholder 3"/>
          <p:cNvSpPr>
            <a:spLocks noGrp="1"/>
          </p:cNvSpPr>
          <p:nvPr>
            <p:ph type="sldNum" sz="quarter" idx="5"/>
          </p:nvPr>
        </p:nvSpPr>
        <p:spPr/>
        <p:txBody>
          <a:bodyPr/>
          <a:lstStyle/>
          <a:p>
            <a:fld id="{82869989-EB00-4EE7-BCB5-25BDC5BB29F8}" type="slidenum">
              <a:rPr lang="en-US" smtClean="0"/>
              <a:pPr/>
              <a:t>21</a:t>
            </a:fld>
            <a:endParaRPr lang="en-US"/>
          </a:p>
        </p:txBody>
      </p:sp>
      <p:sp>
        <p:nvSpPr>
          <p:cNvPr id="5" name="Footer Placeholder 4">
            <a:extLst>
              <a:ext uri="{FF2B5EF4-FFF2-40B4-BE49-F238E27FC236}">
                <a16:creationId xmlns:a16="http://schemas.microsoft.com/office/drawing/2014/main" id="{2C4C7853-2E7B-E16C-51B8-4B547FE4C94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977641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22</a:t>
            </a:fld>
            <a:endParaRPr lang="en-US"/>
          </a:p>
        </p:txBody>
      </p:sp>
      <p:sp>
        <p:nvSpPr>
          <p:cNvPr id="5" name="Footer Placeholder 4">
            <a:extLst>
              <a:ext uri="{FF2B5EF4-FFF2-40B4-BE49-F238E27FC236}">
                <a16:creationId xmlns:a16="http://schemas.microsoft.com/office/drawing/2014/main" id="{70559C81-2EA9-6D93-4BB1-AEF544688AD7}"/>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598831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24</a:t>
            </a:fld>
            <a:endParaRPr lang="en-US"/>
          </a:p>
        </p:txBody>
      </p:sp>
      <p:sp>
        <p:nvSpPr>
          <p:cNvPr id="5" name="Footer Placeholder 4">
            <a:extLst>
              <a:ext uri="{FF2B5EF4-FFF2-40B4-BE49-F238E27FC236}">
                <a16:creationId xmlns:a16="http://schemas.microsoft.com/office/drawing/2014/main" id="{17B2C4B4-C307-AAC0-A9EC-311C86AC02CB}"/>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143175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25</a:t>
            </a:fld>
            <a:endParaRPr lang="en-US"/>
          </a:p>
        </p:txBody>
      </p:sp>
      <p:sp>
        <p:nvSpPr>
          <p:cNvPr id="5" name="Footer Placeholder 4">
            <a:extLst>
              <a:ext uri="{FF2B5EF4-FFF2-40B4-BE49-F238E27FC236}">
                <a16:creationId xmlns:a16="http://schemas.microsoft.com/office/drawing/2014/main" id="{F5E18926-EF46-5A75-D2C3-DCCDFB46F99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6881199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t>
            </a:r>
            <a:r>
              <a:rPr lang="en-US" err="1"/>
              <a:t>www.researchgate.net</a:t>
            </a:r>
            <a:r>
              <a:rPr lang="en-US"/>
              <a:t>/publication/362345420_Metodos_Quantitativos_de_Pesquisa_Aplicacao_da_Simulacao_de_Risco_Monte_Carlo_Inteligencia_Artificial_Aprendizado_de_Maquina_Ciencia_de_Dados_Previsao_Estocastica_Analise_de_Dados_e_Business_Intellige</a:t>
            </a:r>
          </a:p>
        </p:txBody>
      </p:sp>
      <p:sp>
        <p:nvSpPr>
          <p:cNvPr id="4" name="Slide Number Placeholder 3"/>
          <p:cNvSpPr>
            <a:spLocks noGrp="1"/>
          </p:cNvSpPr>
          <p:nvPr>
            <p:ph type="sldNum" sz="quarter" idx="5"/>
          </p:nvPr>
        </p:nvSpPr>
        <p:spPr/>
        <p:txBody>
          <a:bodyPr/>
          <a:lstStyle/>
          <a:p>
            <a:fld id="{82869989-EB00-4EE7-BCB5-25BDC5BB29F8}" type="slidenum">
              <a:rPr lang="en-US" smtClean="0"/>
              <a:pPr/>
              <a:t>26</a:t>
            </a:fld>
            <a:endParaRPr lang="en-US"/>
          </a:p>
        </p:txBody>
      </p:sp>
      <p:sp>
        <p:nvSpPr>
          <p:cNvPr id="5" name="Footer Placeholder 4">
            <a:extLst>
              <a:ext uri="{FF2B5EF4-FFF2-40B4-BE49-F238E27FC236}">
                <a16:creationId xmlns:a16="http://schemas.microsoft.com/office/drawing/2014/main" id="{B69CC3B7-0830-C305-1D97-CB30ACBDB3C5}"/>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977350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This is an illustration of the difference between “machine CL” and “human CL.”</a:t>
            </a:r>
          </a:p>
        </p:txBody>
      </p:sp>
      <p:sp>
        <p:nvSpPr>
          <p:cNvPr id="4" name="Slide Number Placeholder 3"/>
          <p:cNvSpPr>
            <a:spLocks noGrp="1"/>
          </p:cNvSpPr>
          <p:nvPr>
            <p:ph type="sldNum" sz="quarter" idx="5"/>
          </p:nvPr>
        </p:nvSpPr>
        <p:spPr/>
        <p:txBody>
          <a:bodyPr/>
          <a:lstStyle/>
          <a:p>
            <a:fld id="{82869989-EB00-4EE7-BCB5-25BDC5BB29F8}" type="slidenum">
              <a:rPr lang="en-US" smtClean="0"/>
              <a:pPr/>
              <a:t>27</a:t>
            </a:fld>
            <a:endParaRPr lang="en-US"/>
          </a:p>
        </p:txBody>
      </p:sp>
      <p:sp>
        <p:nvSpPr>
          <p:cNvPr id="5" name="Footer Placeholder 4">
            <a:extLst>
              <a:ext uri="{FF2B5EF4-FFF2-40B4-BE49-F238E27FC236}">
                <a16:creationId xmlns:a16="http://schemas.microsoft.com/office/drawing/2014/main" id="{94A5422C-D808-6DAB-72AB-BAAAB88B08B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983221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1"/>
              <a:t>Instructor Note</a:t>
            </a:r>
            <a:r>
              <a:rPr lang="en-US"/>
              <a:t>: </a:t>
            </a:r>
            <a:r>
              <a:rPr lang="en-GB"/>
              <a:t>Precision values come from SANAS (South African National Accreditation System) TG50-02. Values may vary depending on the contractual agreement between stakeholders.</a:t>
            </a:r>
          </a:p>
        </p:txBody>
      </p:sp>
      <p:sp>
        <p:nvSpPr>
          <p:cNvPr id="4" name="Slide Number Placeholder 3"/>
          <p:cNvSpPr>
            <a:spLocks noGrp="1"/>
          </p:cNvSpPr>
          <p:nvPr>
            <p:ph type="sldNum" sz="quarter" idx="5"/>
          </p:nvPr>
        </p:nvSpPr>
        <p:spPr/>
        <p:txBody>
          <a:bodyPr/>
          <a:lstStyle/>
          <a:p>
            <a:fld id="{82869989-EB00-4EE7-BCB5-25BDC5BB29F8}" type="slidenum">
              <a:rPr lang="en-US" smtClean="0"/>
              <a:pPr/>
              <a:t>28</a:t>
            </a:fld>
            <a:endParaRPr lang="en-US"/>
          </a:p>
        </p:txBody>
      </p:sp>
      <p:sp>
        <p:nvSpPr>
          <p:cNvPr id="5" name="Footer Placeholder 4">
            <a:extLst>
              <a:ext uri="{FF2B5EF4-FFF2-40B4-BE49-F238E27FC236}">
                <a16:creationId xmlns:a16="http://schemas.microsoft.com/office/drawing/2014/main" id="{D6930098-2DA8-FAD6-E514-FEFF6536EB3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4413558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29</a:t>
            </a:fld>
            <a:endParaRPr lang="en-US"/>
          </a:p>
        </p:txBody>
      </p:sp>
    </p:spTree>
    <p:extLst>
      <p:ext uri="{BB962C8B-B14F-4D97-AF65-F5344CB8AC3E}">
        <p14:creationId xmlns:p14="http://schemas.microsoft.com/office/powerpoint/2010/main" val="17208358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31</a:t>
            </a:fld>
            <a:endParaRPr lang="en-US"/>
          </a:p>
        </p:txBody>
      </p:sp>
    </p:spTree>
    <p:extLst>
      <p:ext uri="{BB962C8B-B14F-4D97-AF65-F5344CB8AC3E}">
        <p14:creationId xmlns:p14="http://schemas.microsoft.com/office/powerpoint/2010/main" val="1878788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11/20/2025</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11/20/2025</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90.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6.svg"/></Relationships>
</file>

<file path=ppt/slides/_rels/slide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8.sv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hyperlink" Target="https://wordpress.org/openverse/image/a3e7896a-a320-4fff-8d3b-70db8f3a65a2"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hyperlink" Target="https://wp.stolaf.edu/it/gis-precision-accuracy/" TargetMode="External"/><Relationship Id="rId4" Type="http://schemas.openxmlformats.org/officeDocument/2006/relationships/image" Target="../media/image20.svg"/></Relationships>
</file>

<file path=ppt/slides/_rels/slide2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1.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hyperlink" Target="https://www.researchgate.net/figure/The-normal-distribution-and-standard-deviation-with-the-confidence-level_fig3_317132340"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hyperlink" Target="https://www.researchgate.net/figure/PDFs-of-Three-Normal-Distributions-Identical-Means-Different-Standard-Deviations_fig2_276067274"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161143" y="1837128"/>
            <a:ext cx="9869714" cy="3183744"/>
          </a:xfrm>
        </p:spPr>
        <p:txBody>
          <a:bodyPr anchor="ctr">
            <a:normAutofit/>
          </a:bodyPr>
          <a:lstStyle/>
          <a:p>
            <a:r>
              <a:rPr lang="en-US" sz="4000" b="0">
                <a:cs typeface="Calibri Light"/>
              </a:rPr>
              <a:t>INTERLUDE</a:t>
            </a:r>
            <a:br>
              <a:rPr lang="en-US">
                <a:cs typeface="Calibri Light"/>
              </a:rPr>
            </a:br>
            <a:r>
              <a:rPr lang="en-US" sz="6700">
                <a:cs typeface="Calibri Light"/>
              </a:rPr>
              <a:t>Basic Concepts in Statistics</a:t>
            </a:r>
          </a:p>
        </p:txBody>
      </p:sp>
    </p:spTree>
    <p:extLst>
      <p:ext uri="{BB962C8B-B14F-4D97-AF65-F5344CB8AC3E}">
        <p14:creationId xmlns:p14="http://schemas.microsoft.com/office/powerpoint/2010/main" val="330279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948F-E2B6-C947-69BF-EB5402FFEABE}"/>
              </a:ext>
            </a:extLst>
          </p:cNvPr>
          <p:cNvSpPr>
            <a:spLocks noGrp="1"/>
          </p:cNvSpPr>
          <p:nvPr>
            <p:ph type="title"/>
          </p:nvPr>
        </p:nvSpPr>
        <p:spPr/>
        <p:txBody>
          <a:bodyPr/>
          <a:lstStyle/>
          <a:p>
            <a:r>
              <a:rPr lang="en-US"/>
              <a:t>Uncertainty</a:t>
            </a:r>
          </a:p>
        </p:txBody>
      </p:sp>
      <p:pic>
        <p:nvPicPr>
          <p:cNvPr id="4" name="Content Placeholder 3">
            <a:extLst>
              <a:ext uri="{FF2B5EF4-FFF2-40B4-BE49-F238E27FC236}">
                <a16:creationId xmlns:a16="http://schemas.microsoft.com/office/drawing/2014/main" id="{51B804DF-7F0C-2CC1-3F4A-32B269839449}"/>
              </a:ext>
            </a:extLst>
          </p:cNvPr>
          <p:cNvPicPr>
            <a:picLocks noGrp="1" noChangeAspect="1"/>
          </p:cNvPicPr>
          <p:nvPr>
            <p:ph idx="1"/>
          </p:nvPr>
        </p:nvPicPr>
        <p:blipFill>
          <a:blip r:embed="rId3"/>
          <a:stretch>
            <a:fillRect/>
          </a:stretch>
        </p:blipFill>
        <p:spPr>
          <a:xfrm>
            <a:off x="1121933" y="1763337"/>
            <a:ext cx="9948134" cy="3331326"/>
          </a:xfrm>
          <a:prstGeom prst="rect">
            <a:avLst/>
          </a:prstGeom>
        </p:spPr>
      </p:pic>
    </p:spTree>
    <p:extLst>
      <p:ext uri="{BB962C8B-B14F-4D97-AF65-F5344CB8AC3E}">
        <p14:creationId xmlns:p14="http://schemas.microsoft.com/office/powerpoint/2010/main" val="3342993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62D71-4916-0354-6A8B-E457892FCA8E}"/>
              </a:ext>
            </a:extLst>
          </p:cNvPr>
          <p:cNvSpPr>
            <a:spLocks noGrp="1"/>
          </p:cNvSpPr>
          <p:nvPr>
            <p:ph type="title"/>
          </p:nvPr>
        </p:nvSpPr>
        <p:spPr/>
        <p:txBody>
          <a:bodyPr/>
          <a:lstStyle/>
          <a:p>
            <a:r>
              <a:rPr lang="en-US"/>
              <a:t>Descriptive Statistics</a:t>
            </a:r>
          </a:p>
        </p:txBody>
      </p:sp>
      <p:sp>
        <p:nvSpPr>
          <p:cNvPr id="3" name="Content Placeholder 2">
            <a:extLst>
              <a:ext uri="{FF2B5EF4-FFF2-40B4-BE49-F238E27FC236}">
                <a16:creationId xmlns:a16="http://schemas.microsoft.com/office/drawing/2014/main" id="{AA93EBC4-0FE0-5E1E-3F3B-7B551895E9DE}"/>
              </a:ext>
            </a:extLst>
          </p:cNvPr>
          <p:cNvSpPr>
            <a:spLocks noGrp="1"/>
          </p:cNvSpPr>
          <p:nvPr>
            <p:ph idx="1"/>
          </p:nvPr>
        </p:nvSpPr>
        <p:spPr/>
        <p:txBody>
          <a:bodyPr/>
          <a:lstStyle/>
          <a:p>
            <a:r>
              <a:rPr lang="en-US" sz="2800"/>
              <a:t>Descriptive statistics involves analyzing data in a dataset in order to </a:t>
            </a:r>
            <a:r>
              <a:rPr lang="en-US" sz="2800" b="1"/>
              <a:t>describe</a:t>
            </a:r>
            <a:r>
              <a:rPr lang="en-US" sz="2800"/>
              <a:t> and offer meaningful information about the data, including possible relationships among data points.</a:t>
            </a:r>
          </a:p>
        </p:txBody>
      </p:sp>
      <p:pic>
        <p:nvPicPr>
          <p:cNvPr id="4" name="Graphic 3">
            <a:extLst>
              <a:ext uri="{FF2B5EF4-FFF2-40B4-BE49-F238E27FC236}">
                <a16:creationId xmlns:a16="http://schemas.microsoft.com/office/drawing/2014/main" id="{C9623E3B-A17D-5C92-42C1-9F1C9190E34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067129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F5C9-F2A2-BE3B-C3B1-655FA36C638E}"/>
              </a:ext>
            </a:extLst>
          </p:cNvPr>
          <p:cNvSpPr>
            <a:spLocks noGrp="1"/>
          </p:cNvSpPr>
          <p:nvPr>
            <p:ph type="title"/>
          </p:nvPr>
        </p:nvSpPr>
        <p:spPr/>
        <p:txBody>
          <a:bodyPr/>
          <a:lstStyle/>
          <a:p>
            <a:r>
              <a:rPr lang="en-US"/>
              <a:t>Mean</a:t>
            </a:r>
          </a:p>
        </p:txBody>
      </p:sp>
      <p:sp>
        <p:nvSpPr>
          <p:cNvPr id="3" name="Content Placeholder 2">
            <a:extLst>
              <a:ext uri="{FF2B5EF4-FFF2-40B4-BE49-F238E27FC236}">
                <a16:creationId xmlns:a16="http://schemas.microsoft.com/office/drawing/2014/main" id="{492468F0-9678-21F2-D2F7-CF6924E7EB50}"/>
              </a:ext>
            </a:extLst>
          </p:cNvPr>
          <p:cNvSpPr>
            <a:spLocks noGrp="1"/>
          </p:cNvSpPr>
          <p:nvPr>
            <p:ph sz="half" idx="1"/>
          </p:nvPr>
        </p:nvSpPr>
        <p:spPr>
          <a:xfrm>
            <a:off x="838199" y="1825625"/>
            <a:ext cx="3508343" cy="4351338"/>
          </a:xfrm>
        </p:spPr>
        <p:txBody>
          <a:bodyPr>
            <a:normAutofit/>
          </a:bodyPr>
          <a:lstStyle/>
          <a:p>
            <a:r>
              <a:rPr lang="en-US" sz="2400"/>
              <a:t>The </a:t>
            </a:r>
            <a:r>
              <a:rPr lang="en-US" sz="2400" b="1"/>
              <a:t>mean</a:t>
            </a:r>
            <a:r>
              <a:rPr lang="en-US" sz="2400"/>
              <a:t> of a set of values is its average, as the term is commonly understood. </a:t>
            </a:r>
          </a:p>
          <a:p>
            <a:r>
              <a:rPr lang="en-US" sz="2400"/>
              <a:t>It is the sum of all values in the set divided by the number of values.</a:t>
            </a:r>
          </a:p>
        </p:txBody>
      </p:sp>
      <p:pic>
        <p:nvPicPr>
          <p:cNvPr id="21" name="Content Placeholder 20">
            <a:extLst>
              <a:ext uri="{FF2B5EF4-FFF2-40B4-BE49-F238E27FC236}">
                <a16:creationId xmlns:a16="http://schemas.microsoft.com/office/drawing/2014/main" id="{ED0962BF-F58E-B608-0141-79039AF797E8}"/>
              </a:ext>
            </a:extLst>
          </p:cNvPr>
          <p:cNvPicPr>
            <a:picLocks noGrp="1" noChangeAspect="1"/>
          </p:cNvPicPr>
          <p:nvPr>
            <p:ph sz="half" idx="2"/>
          </p:nvPr>
        </p:nvPicPr>
        <p:blipFill>
          <a:blip r:embed="rId3"/>
          <a:stretch>
            <a:fillRect/>
          </a:stretch>
        </p:blipFill>
        <p:spPr>
          <a:xfrm>
            <a:off x="4609340" y="368271"/>
            <a:ext cx="6744460" cy="5808692"/>
          </a:xfrm>
        </p:spPr>
      </p:pic>
      <p:pic>
        <p:nvPicPr>
          <p:cNvPr id="7" name="Graphic 6">
            <a:extLst>
              <a:ext uri="{FF2B5EF4-FFF2-40B4-BE49-F238E27FC236}">
                <a16:creationId xmlns:a16="http://schemas.microsoft.com/office/drawing/2014/main" id="{664147C5-C755-0736-34D5-72F1D7895A9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40422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CDD3A1-62AF-8D0D-DA25-2AEFE1A41512}"/>
              </a:ext>
            </a:extLst>
          </p:cNvPr>
          <p:cNvSpPr>
            <a:spLocks noGrp="1"/>
          </p:cNvSpPr>
          <p:nvPr>
            <p:ph type="title"/>
          </p:nvPr>
        </p:nvSpPr>
        <p:spPr/>
        <p:txBody>
          <a:bodyPr/>
          <a:lstStyle/>
          <a:p>
            <a:r>
              <a:rPr lang="en-US"/>
              <a:t>Maximum and Minimum</a:t>
            </a:r>
          </a:p>
        </p:txBody>
      </p:sp>
      <p:sp>
        <p:nvSpPr>
          <p:cNvPr id="6" name="Text Placeholder 5">
            <a:extLst>
              <a:ext uri="{FF2B5EF4-FFF2-40B4-BE49-F238E27FC236}">
                <a16:creationId xmlns:a16="http://schemas.microsoft.com/office/drawing/2014/main" id="{1759787E-AF5A-C2A1-96F2-F21DBD523A27}"/>
              </a:ext>
            </a:extLst>
          </p:cNvPr>
          <p:cNvSpPr>
            <a:spLocks noGrp="1"/>
          </p:cNvSpPr>
          <p:nvPr>
            <p:ph type="body" idx="1"/>
          </p:nvPr>
        </p:nvSpPr>
        <p:spPr/>
        <p:txBody>
          <a:bodyPr/>
          <a:lstStyle/>
          <a:p>
            <a:r>
              <a:rPr lang="en-US"/>
              <a:t>Maximum</a:t>
            </a:r>
          </a:p>
        </p:txBody>
      </p:sp>
      <p:sp>
        <p:nvSpPr>
          <p:cNvPr id="7" name="Content Placeholder 6">
            <a:extLst>
              <a:ext uri="{FF2B5EF4-FFF2-40B4-BE49-F238E27FC236}">
                <a16:creationId xmlns:a16="http://schemas.microsoft.com/office/drawing/2014/main" id="{C65AD2DE-72A0-362A-A6CF-7FB7BC04D247}"/>
              </a:ext>
            </a:extLst>
          </p:cNvPr>
          <p:cNvSpPr>
            <a:spLocks noGrp="1"/>
          </p:cNvSpPr>
          <p:nvPr>
            <p:ph sz="half" idx="2"/>
          </p:nvPr>
        </p:nvSpPr>
        <p:spPr/>
        <p:txBody>
          <a:bodyPr/>
          <a:lstStyle/>
          <a:p>
            <a:r>
              <a:rPr lang="en-US"/>
              <a:t>The largest value in a dataset.</a:t>
            </a:r>
          </a:p>
        </p:txBody>
      </p:sp>
      <p:sp>
        <p:nvSpPr>
          <p:cNvPr id="8" name="Text Placeholder 7">
            <a:extLst>
              <a:ext uri="{FF2B5EF4-FFF2-40B4-BE49-F238E27FC236}">
                <a16:creationId xmlns:a16="http://schemas.microsoft.com/office/drawing/2014/main" id="{BC2D6578-35DA-2F3C-A90F-9DF1ABB18941}"/>
              </a:ext>
            </a:extLst>
          </p:cNvPr>
          <p:cNvSpPr>
            <a:spLocks noGrp="1"/>
          </p:cNvSpPr>
          <p:nvPr>
            <p:ph type="body" sz="quarter" idx="3"/>
          </p:nvPr>
        </p:nvSpPr>
        <p:spPr/>
        <p:txBody>
          <a:bodyPr/>
          <a:lstStyle/>
          <a:p>
            <a:r>
              <a:rPr lang="en-US"/>
              <a:t>Minimum</a:t>
            </a:r>
          </a:p>
        </p:txBody>
      </p:sp>
      <p:sp>
        <p:nvSpPr>
          <p:cNvPr id="9" name="Content Placeholder 8">
            <a:extLst>
              <a:ext uri="{FF2B5EF4-FFF2-40B4-BE49-F238E27FC236}">
                <a16:creationId xmlns:a16="http://schemas.microsoft.com/office/drawing/2014/main" id="{F460E83D-A774-FB04-FCB5-FEB544CD8B55}"/>
              </a:ext>
            </a:extLst>
          </p:cNvPr>
          <p:cNvSpPr>
            <a:spLocks noGrp="1"/>
          </p:cNvSpPr>
          <p:nvPr>
            <p:ph sz="quarter" idx="4"/>
          </p:nvPr>
        </p:nvSpPr>
        <p:spPr/>
        <p:txBody>
          <a:bodyPr/>
          <a:lstStyle/>
          <a:p>
            <a:r>
              <a:rPr lang="en-US"/>
              <a:t>The smallest value in a dataset.</a:t>
            </a:r>
          </a:p>
        </p:txBody>
      </p:sp>
      <p:pic>
        <p:nvPicPr>
          <p:cNvPr id="10" name="Graphic 9">
            <a:extLst>
              <a:ext uri="{FF2B5EF4-FFF2-40B4-BE49-F238E27FC236}">
                <a16:creationId xmlns:a16="http://schemas.microsoft.com/office/drawing/2014/main" id="{8B310572-04EA-22E4-B252-EBD6812AAF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78616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CDD3A1-62AF-8D0D-DA25-2AEFE1A41512}"/>
              </a:ext>
            </a:extLst>
          </p:cNvPr>
          <p:cNvSpPr>
            <a:spLocks noGrp="1"/>
          </p:cNvSpPr>
          <p:nvPr>
            <p:ph type="title"/>
          </p:nvPr>
        </p:nvSpPr>
        <p:spPr/>
        <p:txBody>
          <a:bodyPr/>
          <a:lstStyle/>
          <a:p>
            <a:r>
              <a:rPr lang="en-US"/>
              <a:t>Range and Variance</a:t>
            </a:r>
          </a:p>
        </p:txBody>
      </p:sp>
      <p:sp>
        <p:nvSpPr>
          <p:cNvPr id="6" name="Text Placeholder 5">
            <a:extLst>
              <a:ext uri="{FF2B5EF4-FFF2-40B4-BE49-F238E27FC236}">
                <a16:creationId xmlns:a16="http://schemas.microsoft.com/office/drawing/2014/main" id="{1759787E-AF5A-C2A1-96F2-F21DBD523A27}"/>
              </a:ext>
            </a:extLst>
          </p:cNvPr>
          <p:cNvSpPr>
            <a:spLocks noGrp="1"/>
          </p:cNvSpPr>
          <p:nvPr>
            <p:ph type="body" idx="1"/>
          </p:nvPr>
        </p:nvSpPr>
        <p:spPr/>
        <p:txBody>
          <a:bodyPr/>
          <a:lstStyle/>
          <a:p>
            <a:r>
              <a:rPr lang="en-US"/>
              <a:t>Range</a:t>
            </a:r>
          </a:p>
        </p:txBody>
      </p:sp>
      <p:sp>
        <p:nvSpPr>
          <p:cNvPr id="7" name="Content Placeholder 6">
            <a:extLst>
              <a:ext uri="{FF2B5EF4-FFF2-40B4-BE49-F238E27FC236}">
                <a16:creationId xmlns:a16="http://schemas.microsoft.com/office/drawing/2014/main" id="{C65AD2DE-72A0-362A-A6CF-7FB7BC04D247}"/>
              </a:ext>
            </a:extLst>
          </p:cNvPr>
          <p:cNvSpPr>
            <a:spLocks noGrp="1"/>
          </p:cNvSpPr>
          <p:nvPr>
            <p:ph sz="half" idx="2"/>
          </p:nvPr>
        </p:nvSpPr>
        <p:spPr/>
        <p:txBody>
          <a:bodyPr/>
          <a:lstStyle/>
          <a:p>
            <a:r>
              <a:rPr lang="en-US"/>
              <a:t>The difference between the highest and lowest values in a dataset.</a:t>
            </a:r>
          </a:p>
        </p:txBody>
      </p:sp>
      <p:sp>
        <p:nvSpPr>
          <p:cNvPr id="8" name="Text Placeholder 7">
            <a:extLst>
              <a:ext uri="{FF2B5EF4-FFF2-40B4-BE49-F238E27FC236}">
                <a16:creationId xmlns:a16="http://schemas.microsoft.com/office/drawing/2014/main" id="{BC2D6578-35DA-2F3C-A90F-9DF1ABB18941}"/>
              </a:ext>
            </a:extLst>
          </p:cNvPr>
          <p:cNvSpPr>
            <a:spLocks noGrp="1"/>
          </p:cNvSpPr>
          <p:nvPr>
            <p:ph type="body" sz="quarter" idx="3"/>
          </p:nvPr>
        </p:nvSpPr>
        <p:spPr/>
        <p:txBody>
          <a:bodyPr/>
          <a:lstStyle/>
          <a:p>
            <a:r>
              <a:rPr lang="en-US"/>
              <a:t>Variance</a:t>
            </a:r>
          </a:p>
        </p:txBody>
      </p:sp>
      <p:sp>
        <p:nvSpPr>
          <p:cNvPr id="9" name="Content Placeholder 8">
            <a:extLst>
              <a:ext uri="{FF2B5EF4-FFF2-40B4-BE49-F238E27FC236}">
                <a16:creationId xmlns:a16="http://schemas.microsoft.com/office/drawing/2014/main" id="{F460E83D-A774-FB04-FCB5-FEB544CD8B55}"/>
              </a:ext>
            </a:extLst>
          </p:cNvPr>
          <p:cNvSpPr>
            <a:spLocks noGrp="1"/>
          </p:cNvSpPr>
          <p:nvPr>
            <p:ph sz="quarter" idx="4"/>
          </p:nvPr>
        </p:nvSpPr>
        <p:spPr/>
        <p:txBody>
          <a:bodyPr/>
          <a:lstStyle/>
          <a:p>
            <a:r>
              <a:rPr lang="en-US"/>
              <a:t>The average of the squared differences from the mean.</a:t>
            </a:r>
          </a:p>
        </p:txBody>
      </p:sp>
      <p:pic>
        <p:nvPicPr>
          <p:cNvPr id="2" name="Graphic 1">
            <a:extLst>
              <a:ext uri="{FF2B5EF4-FFF2-40B4-BE49-F238E27FC236}">
                <a16:creationId xmlns:a16="http://schemas.microsoft.com/office/drawing/2014/main" id="{2BF46488-196C-B887-DAC1-0BB84503B3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24401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41275-6818-BE40-7D4C-76B36C71891A}"/>
              </a:ext>
            </a:extLst>
          </p:cNvPr>
          <p:cNvSpPr>
            <a:spLocks noGrp="1"/>
          </p:cNvSpPr>
          <p:nvPr>
            <p:ph type="title"/>
          </p:nvPr>
        </p:nvSpPr>
        <p:spPr/>
        <p:txBody>
          <a:bodyPr/>
          <a:lstStyle/>
          <a:p>
            <a:r>
              <a:rPr lang="en-US"/>
              <a:t>Standard Deviation</a:t>
            </a:r>
          </a:p>
        </p:txBody>
      </p:sp>
      <p:sp>
        <p:nvSpPr>
          <p:cNvPr id="3" name="Content Placeholder 2">
            <a:extLst>
              <a:ext uri="{FF2B5EF4-FFF2-40B4-BE49-F238E27FC236}">
                <a16:creationId xmlns:a16="http://schemas.microsoft.com/office/drawing/2014/main" id="{43D8E17D-1997-7771-81AF-50164865EB9A}"/>
              </a:ext>
            </a:extLst>
          </p:cNvPr>
          <p:cNvSpPr>
            <a:spLocks noGrp="1"/>
          </p:cNvSpPr>
          <p:nvPr>
            <p:ph idx="1"/>
          </p:nvPr>
        </p:nvSpPr>
        <p:spPr/>
        <p:txBody>
          <a:bodyPr>
            <a:normAutofit/>
          </a:bodyPr>
          <a:lstStyle/>
          <a:p>
            <a:r>
              <a:rPr lang="en-US" sz="2400"/>
              <a:t>A statistical measure of how dispersed the data in a dataset is relative to the mean. </a:t>
            </a:r>
          </a:p>
          <a:p>
            <a:pPr marL="457200" indent="-457200">
              <a:buFont typeface="Arial" panose="020B0604020202020204" pitchFamily="34" charset="0"/>
              <a:buChar char="•"/>
            </a:pPr>
            <a:r>
              <a:rPr lang="en-US" sz="2400"/>
              <a:t>A high standard deviation indicates that the data in a dataset is widely dispersed relative to the mean.</a:t>
            </a:r>
          </a:p>
          <a:p>
            <a:pPr marL="457200" indent="-457200">
              <a:buFont typeface="Arial" panose="020B0604020202020204" pitchFamily="34" charset="0"/>
              <a:buChar char="•"/>
            </a:pPr>
            <a:r>
              <a:rPr lang="en-US" sz="2400"/>
              <a:t>A low standard deviation indicates that the data is clustered relatively closely around the mean.</a:t>
            </a:r>
          </a:p>
        </p:txBody>
      </p:sp>
      <p:pic>
        <p:nvPicPr>
          <p:cNvPr id="6" name="Graphic 5">
            <a:extLst>
              <a:ext uri="{FF2B5EF4-FFF2-40B4-BE49-F238E27FC236}">
                <a16:creationId xmlns:a16="http://schemas.microsoft.com/office/drawing/2014/main" id="{D7C704F0-439B-6C53-AB13-6D68768CBF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63092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017C7-BF6E-4B5A-63B0-89DF4D324652}"/>
              </a:ext>
            </a:extLst>
          </p:cNvPr>
          <p:cNvSpPr>
            <a:spLocks noGrp="1"/>
          </p:cNvSpPr>
          <p:nvPr>
            <p:ph type="title"/>
          </p:nvPr>
        </p:nvSpPr>
        <p:spPr/>
        <p:txBody>
          <a:bodyPr/>
          <a:lstStyle/>
          <a:p>
            <a:r>
              <a:rPr lang="en-US"/>
              <a:t>Coefficient of Variation (CV)</a:t>
            </a:r>
          </a:p>
        </p:txBody>
      </p:sp>
      <p:sp>
        <p:nvSpPr>
          <p:cNvPr id="3" name="Content Placeholder 2">
            <a:extLst>
              <a:ext uri="{FF2B5EF4-FFF2-40B4-BE49-F238E27FC236}">
                <a16:creationId xmlns:a16="http://schemas.microsoft.com/office/drawing/2014/main" id="{077BC035-B676-DBDC-A90B-FA1234C66457}"/>
              </a:ext>
            </a:extLst>
          </p:cNvPr>
          <p:cNvSpPr>
            <a:spLocks noGrp="1"/>
          </p:cNvSpPr>
          <p:nvPr>
            <p:ph idx="1"/>
          </p:nvPr>
        </p:nvSpPr>
        <p:spPr/>
        <p:txBody>
          <a:bodyPr>
            <a:normAutofit/>
          </a:bodyPr>
          <a:lstStyle/>
          <a:p>
            <a:r>
              <a:rPr lang="en-US" sz="2400"/>
              <a:t>CV is the ratio of the standard deviation to the mean, often expressed as a percentage.</a:t>
            </a:r>
          </a:p>
          <a:p>
            <a:r>
              <a:rPr lang="en-US" sz="2400"/>
              <a:t>It tells us how spread out the values in a dataset are relative to the mean: the higher the CV, the greater the dispersion in the dataset.</a:t>
            </a:r>
          </a:p>
        </p:txBody>
      </p:sp>
      <p:pic>
        <p:nvPicPr>
          <p:cNvPr id="4" name="Graphic 3">
            <a:extLst>
              <a:ext uri="{FF2B5EF4-FFF2-40B4-BE49-F238E27FC236}">
                <a16:creationId xmlns:a16="http://schemas.microsoft.com/office/drawing/2014/main" id="{BF3D56EE-261B-9612-C42C-1797631456D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393585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C12A-264C-FE7F-4431-4D219B29FA48}"/>
              </a:ext>
            </a:extLst>
          </p:cNvPr>
          <p:cNvSpPr>
            <a:spLocks noGrp="1"/>
          </p:cNvSpPr>
          <p:nvPr>
            <p:ph type="title"/>
          </p:nvPr>
        </p:nvSpPr>
        <p:spPr/>
        <p:txBody>
          <a:bodyPr/>
          <a:lstStyle/>
          <a:p>
            <a:r>
              <a:rPr lang="en-US"/>
              <a:t>CV(RMSE)</a:t>
            </a:r>
          </a:p>
        </p:txBody>
      </p:sp>
      <p:sp>
        <p:nvSpPr>
          <p:cNvPr id="3" name="Content Placeholder 2">
            <a:extLst>
              <a:ext uri="{FF2B5EF4-FFF2-40B4-BE49-F238E27FC236}">
                <a16:creationId xmlns:a16="http://schemas.microsoft.com/office/drawing/2014/main" id="{78D1EBD1-A3F7-B1C3-BD1F-A8C83D075E56}"/>
              </a:ext>
            </a:extLst>
          </p:cNvPr>
          <p:cNvSpPr>
            <a:spLocks noGrp="1"/>
          </p:cNvSpPr>
          <p:nvPr>
            <p:ph idx="1"/>
          </p:nvPr>
        </p:nvSpPr>
        <p:spPr/>
        <p:txBody>
          <a:bodyPr>
            <a:normAutofit/>
          </a:bodyPr>
          <a:lstStyle/>
          <a:p>
            <a:r>
              <a:rPr lang="en-US" sz="2400" b="1"/>
              <a:t>Coefficient of variation of root-mean squared error. </a:t>
            </a:r>
          </a:p>
          <a:p>
            <a:r>
              <a:rPr lang="en-US" sz="2400"/>
              <a:t>In a regression analysis of energy data, CV(RMSE) indicates the model’s predictive capabilities. Put another way, it is a measure of how much uncertainty is inherent in a model. </a:t>
            </a:r>
          </a:p>
          <a:p>
            <a:r>
              <a:rPr lang="en-US" sz="2400"/>
              <a:t>The lower the CV(RMSE), the lower the uncertainty.</a:t>
            </a:r>
          </a:p>
        </p:txBody>
      </p:sp>
      <p:pic>
        <p:nvPicPr>
          <p:cNvPr id="7" name="Graphic 6">
            <a:extLst>
              <a:ext uri="{FF2B5EF4-FFF2-40B4-BE49-F238E27FC236}">
                <a16:creationId xmlns:a16="http://schemas.microsoft.com/office/drawing/2014/main" id="{78E6FE00-2019-F534-32C5-236278E97C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51058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C4D478-3AE8-A2D7-C0B9-61D8150EC349}"/>
              </a:ext>
            </a:extLst>
          </p:cNvPr>
          <p:cNvSpPr>
            <a:spLocks noGrp="1"/>
          </p:cNvSpPr>
          <p:nvPr>
            <p:ph idx="1"/>
          </p:nvPr>
        </p:nvSpPr>
        <p:spPr/>
        <p:txBody>
          <a:bodyPr>
            <a:normAutofit/>
          </a:bodyPr>
          <a:lstStyle/>
          <a:p>
            <a:r>
              <a:rPr lang="en-US" sz="2400" b="1" dirty="0"/>
              <a:t>Whole-Building Prescriptive Path</a:t>
            </a:r>
            <a:endParaRPr lang="en-US" sz="2400" dirty="0"/>
          </a:p>
          <a:p>
            <a:r>
              <a:rPr lang="en-US" sz="2400" dirty="0"/>
              <a:t>“the baseline model shall have a maximum CV(RMSE) of 20% for energy use and 30% for demand quantities when less than 12 months’ worth of post-retrofit data are available for computing savings. These requirements are 25% and 35%, respectively, when 12 to 60 months of data will be used in computing savings. When more than 60 months of data will be available, these requirements are 30% and 40%, respectively”</a:t>
            </a:r>
          </a:p>
        </p:txBody>
      </p:sp>
      <p:sp>
        <p:nvSpPr>
          <p:cNvPr id="2" name="Title 1">
            <a:extLst>
              <a:ext uri="{FF2B5EF4-FFF2-40B4-BE49-F238E27FC236}">
                <a16:creationId xmlns:a16="http://schemas.microsoft.com/office/drawing/2014/main" id="{16102C11-EF0F-AD0C-9101-23BC9A3C11F6}"/>
              </a:ext>
            </a:extLst>
          </p:cNvPr>
          <p:cNvSpPr>
            <a:spLocks noGrp="1"/>
          </p:cNvSpPr>
          <p:nvPr>
            <p:ph type="title"/>
          </p:nvPr>
        </p:nvSpPr>
        <p:spPr/>
        <p:txBody>
          <a:bodyPr>
            <a:normAutofit/>
          </a:bodyPr>
          <a:lstStyle/>
          <a:p>
            <a:r>
              <a:rPr lang="en-US" sz="4000"/>
              <a:t>From ASHRAE Guideline 14</a:t>
            </a:r>
          </a:p>
        </p:txBody>
      </p:sp>
      <p:pic>
        <p:nvPicPr>
          <p:cNvPr id="4" name="Graphic 3">
            <a:extLst>
              <a:ext uri="{FF2B5EF4-FFF2-40B4-BE49-F238E27FC236}">
                <a16:creationId xmlns:a16="http://schemas.microsoft.com/office/drawing/2014/main" id="{F9E501AB-B3CD-6ED5-3830-A5EF214CBF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5" name="Graphic 4">
            <a:extLst>
              <a:ext uri="{FF2B5EF4-FFF2-40B4-BE49-F238E27FC236}">
                <a16:creationId xmlns:a16="http://schemas.microsoft.com/office/drawing/2014/main" id="{A574802D-FFB5-2133-B97F-4F10B79CC15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14208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37CFD-3F1C-4D9D-7E2B-B2C17B1C0B63}"/>
              </a:ext>
            </a:extLst>
          </p:cNvPr>
          <p:cNvSpPr>
            <a:spLocks noGrp="1"/>
          </p:cNvSpPr>
          <p:nvPr>
            <p:ph type="title"/>
          </p:nvPr>
        </p:nvSpPr>
        <p:spPr/>
        <p:txBody>
          <a:bodyPr/>
          <a:lstStyle/>
          <a:p>
            <a:r>
              <a:rPr lang="en-US"/>
              <a:t>Normalized Mean Bias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A133C0A-CE03-D7FB-9A26-AAE91E1BF941}"/>
                  </a:ext>
                </a:extLst>
              </p:cNvPr>
              <p:cNvSpPr>
                <a:spLocks noGrp="1"/>
              </p:cNvSpPr>
              <p:nvPr>
                <p:ph idx="1"/>
              </p:nvPr>
            </p:nvSpPr>
            <p:spPr/>
            <p:txBody>
              <a:bodyPr>
                <a:norm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𝑁𝑀𝐵𝐸</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𝑁</m:t>
                              </m:r>
                            </m:den>
                          </m:f>
                          <m:sSubSup>
                            <m:sSubSupPr>
                              <m:ctrlPr>
                                <a:rPr lang="en-US" sz="2400" b="0" i="1" smtClean="0">
                                  <a:latin typeface="Cambria Math" panose="02040503050406030204" pitchFamily="18" charset="0"/>
                                </a:rPr>
                              </m:ctrlPr>
                            </m:sSubSupPr>
                            <m:e>
                              <m:r>
                                <m:rPr>
                                  <m:sty m:val="p"/>
                                </m:rPr>
                                <a:rPr lang="el-GR" sz="2400" i="1">
                                  <a:latin typeface="Cambria Math" panose="02040503050406030204" pitchFamily="18" charset="0"/>
                                  <a:ea typeface="Cambria Math" panose="02040503050406030204" pitchFamily="18" charset="0"/>
                                </a:rPr>
                                <m:t>Σ</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𝑁</m:t>
                              </m:r>
                            </m:sup>
                          </m:sSub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i="1">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e>
                            <m:sub>
                              <m:r>
                                <a:rPr lang="en-US" sz="2400" i="1">
                                  <a:latin typeface="Cambria Math" panose="02040503050406030204" pitchFamily="18" charset="0"/>
                                </a:rPr>
                                <m:t>𝑖</m:t>
                              </m:r>
                            </m:sub>
                          </m:sSub>
                          <m:r>
                            <a:rPr lang="en-US" sz="2400" b="0" i="1" smtClean="0">
                              <a:latin typeface="Cambria Math" panose="02040503050406030204" pitchFamily="18" charset="0"/>
                            </a:rPr>
                            <m:t>) </m:t>
                          </m:r>
                        </m:num>
                        <m:den>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𝑦</m:t>
                              </m:r>
                            </m:e>
                          </m:acc>
                        </m:den>
                      </m:f>
                      <m:r>
                        <a:rPr lang="en-US" sz="2400" b="0" i="1" smtClean="0">
                          <a:latin typeface="Cambria Math" panose="02040503050406030204" pitchFamily="18" charset="0"/>
                          <a:ea typeface="Cambria Math" panose="02040503050406030204" pitchFamily="18" charset="0"/>
                        </a:rPr>
                        <m:t>×100</m:t>
                      </m:r>
                    </m:oMath>
                  </m:oMathPara>
                </a14:m>
                <a:endParaRPr lang="en-US" sz="2400" dirty="0">
                  <a:ea typeface="Verdana" panose="020B0604030504040204" pitchFamily="34" charset="0"/>
                  <a:cs typeface="Verdana" panose="020B0604030504040204" pitchFamily="34" charset="0"/>
                </a:endParaRPr>
              </a:p>
              <a:p>
                <a:r>
                  <a:rPr lang="en-US" sz="2400" dirty="0"/>
                  <a:t>Another quantification of “error.”</a:t>
                </a:r>
              </a:p>
              <a:p>
                <a:r>
                  <a:rPr lang="en-US" sz="2400" dirty="0"/>
                  <a:t>Total percent difference between predicted and actual energy use. </a:t>
                </a:r>
              </a:p>
              <a:p>
                <a:r>
                  <a:rPr lang="en-US" sz="2400" dirty="0"/>
                  <a:t>Zero is best.</a:t>
                </a:r>
              </a:p>
            </p:txBody>
          </p:sp>
        </mc:Choice>
        <mc:Fallback xmlns="">
          <p:sp>
            <p:nvSpPr>
              <p:cNvPr id="3" name="Content Placeholder 2">
                <a:extLst>
                  <a:ext uri="{FF2B5EF4-FFF2-40B4-BE49-F238E27FC236}">
                    <a16:creationId xmlns:a16="http://schemas.microsoft.com/office/drawing/2014/main" id="{3A133C0A-CE03-D7FB-9A26-AAE91E1BF941}"/>
                  </a:ext>
                </a:extLst>
              </p:cNvPr>
              <p:cNvSpPr>
                <a:spLocks noGrp="1" noRot="1" noChangeAspect="1" noMove="1" noResize="1" noEditPoints="1" noAdjustHandles="1" noChangeArrowheads="1" noChangeShapeType="1" noTextEdit="1"/>
              </p:cNvSpPr>
              <p:nvPr>
                <p:ph idx="1"/>
              </p:nvPr>
            </p:nvSpPr>
            <p:spPr>
              <a:blipFill>
                <a:blip r:embed="rId2"/>
                <a:stretch>
                  <a:fillRect l="-928" r="-406"/>
                </a:stretch>
              </a:blipFill>
            </p:spPr>
            <p:txBody>
              <a:bodyPr/>
              <a:lstStyle/>
              <a:p>
                <a:r>
                  <a:rPr lang="en-US">
                    <a:noFill/>
                  </a:rPr>
                  <a:t> </a:t>
                </a:r>
              </a:p>
            </p:txBody>
          </p:sp>
        </mc:Fallback>
      </mc:AlternateContent>
      <p:pic>
        <p:nvPicPr>
          <p:cNvPr id="4" name="Graphic 3">
            <a:extLst>
              <a:ext uri="{FF2B5EF4-FFF2-40B4-BE49-F238E27FC236}">
                <a16:creationId xmlns:a16="http://schemas.microsoft.com/office/drawing/2014/main" id="{02393980-FA0C-CB8E-F57F-6353A15596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815922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9FAE-1F3B-78DB-C661-C046EA6EB1AA}"/>
              </a:ext>
            </a:extLst>
          </p:cNvPr>
          <p:cNvSpPr>
            <a:spLocks noGrp="1"/>
          </p:cNvSpPr>
          <p:nvPr>
            <p:ph type="title"/>
          </p:nvPr>
        </p:nvSpPr>
        <p:spPr/>
        <p:txBody>
          <a:bodyPr/>
          <a:lstStyle/>
          <a:p>
            <a:r>
              <a:rPr lang="en-US"/>
              <a:t>Exercise</a:t>
            </a:r>
          </a:p>
        </p:txBody>
      </p:sp>
      <p:sp>
        <p:nvSpPr>
          <p:cNvPr id="3" name="Content Placeholder 2">
            <a:extLst>
              <a:ext uri="{FF2B5EF4-FFF2-40B4-BE49-F238E27FC236}">
                <a16:creationId xmlns:a16="http://schemas.microsoft.com/office/drawing/2014/main" id="{F6ACF460-926B-3FCD-BBEB-EC5C4B09767E}"/>
              </a:ext>
            </a:extLst>
          </p:cNvPr>
          <p:cNvSpPr>
            <a:spLocks noGrp="1"/>
          </p:cNvSpPr>
          <p:nvPr>
            <p:ph sz="half" idx="1"/>
          </p:nvPr>
        </p:nvSpPr>
        <p:spPr/>
        <p:txBody>
          <a:bodyPr>
            <a:normAutofit/>
          </a:bodyPr>
          <a:lstStyle/>
          <a:p>
            <a:r>
              <a:rPr lang="en-US" sz="2400" dirty="0"/>
              <a:t>Your instructor will give you a string and a ruler. Measure the string five times, writing down each measurement.</a:t>
            </a:r>
          </a:p>
          <a:p>
            <a:r>
              <a:rPr lang="en-US" sz="2400" dirty="0"/>
              <a:t>For the resulting dataset, calculate the mean, maximum, minimum, range, variance, standard deviation, CV, and CV(RMSE).</a:t>
            </a:r>
          </a:p>
        </p:txBody>
      </p:sp>
      <p:pic>
        <p:nvPicPr>
          <p:cNvPr id="6" name="Content Placeholder 5">
            <a:extLst>
              <a:ext uri="{FF2B5EF4-FFF2-40B4-BE49-F238E27FC236}">
                <a16:creationId xmlns:a16="http://schemas.microsoft.com/office/drawing/2014/main" id="{2C741B74-C4B8-9289-C00B-B75D098C1528}"/>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rot="20474518">
            <a:off x="6355006" y="929603"/>
            <a:ext cx="4998794" cy="4998794"/>
          </a:xfrm>
        </p:spPr>
      </p:pic>
      <p:pic>
        <p:nvPicPr>
          <p:cNvPr id="4" name="Graphic 3">
            <a:extLst>
              <a:ext uri="{FF2B5EF4-FFF2-40B4-BE49-F238E27FC236}">
                <a16:creationId xmlns:a16="http://schemas.microsoft.com/office/drawing/2014/main" id="{DCBA1640-A59A-5D72-3D17-4260408BF7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53240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8CD89-DDF1-4890-8962-2B5513537814}"/>
              </a:ext>
            </a:extLst>
          </p:cNvPr>
          <p:cNvSpPr>
            <a:spLocks noGrp="1"/>
          </p:cNvSpPr>
          <p:nvPr>
            <p:ph type="title"/>
          </p:nvPr>
        </p:nvSpPr>
        <p:spPr/>
        <p:txBody>
          <a:bodyPr/>
          <a:lstStyle/>
          <a:p>
            <a:r>
              <a:rPr lang="en-US"/>
              <a:t>Sampling: Techniques</a:t>
            </a:r>
          </a:p>
        </p:txBody>
      </p:sp>
      <p:sp>
        <p:nvSpPr>
          <p:cNvPr id="8" name="Content Placeholder 7">
            <a:extLst>
              <a:ext uri="{FF2B5EF4-FFF2-40B4-BE49-F238E27FC236}">
                <a16:creationId xmlns:a16="http://schemas.microsoft.com/office/drawing/2014/main" id="{7B642746-431B-A5D1-EEA5-FE172978183A}"/>
              </a:ext>
            </a:extLst>
          </p:cNvPr>
          <p:cNvSpPr>
            <a:spLocks noGrp="1"/>
          </p:cNvSpPr>
          <p:nvPr>
            <p:ph sz="half" idx="1"/>
          </p:nvPr>
        </p:nvSpPr>
        <p:spPr/>
        <p:txBody>
          <a:bodyPr>
            <a:normAutofit/>
          </a:bodyPr>
          <a:lstStyle/>
          <a:p>
            <a:r>
              <a:rPr lang="en-US" sz="2400"/>
              <a:t>The selection of a representative and manageable subgroup of data points from a large group (</a:t>
            </a:r>
            <a:r>
              <a:rPr lang="en-US" sz="2400" i="1"/>
              <a:t>statistical population</a:t>
            </a:r>
            <a:r>
              <a:rPr lang="en-US" sz="2400"/>
              <a:t>).</a:t>
            </a:r>
          </a:p>
        </p:txBody>
      </p:sp>
      <p:pic>
        <p:nvPicPr>
          <p:cNvPr id="11" name="Content Placeholder 10">
            <a:extLst>
              <a:ext uri="{FF2B5EF4-FFF2-40B4-BE49-F238E27FC236}">
                <a16:creationId xmlns:a16="http://schemas.microsoft.com/office/drawing/2014/main" id="{D8F86A90-A5BB-6630-C047-DB205B43C416}"/>
              </a:ext>
            </a:extLst>
          </p:cNvPr>
          <p:cNvPicPr>
            <a:picLocks noGrp="1" noChangeAspect="1"/>
          </p:cNvPicPr>
          <p:nvPr>
            <p:ph sz="half" idx="2"/>
          </p:nvPr>
        </p:nvPicPr>
        <p:blipFill>
          <a:blip r:embed="rId3"/>
          <a:stretch>
            <a:fillRect/>
          </a:stretch>
        </p:blipFill>
        <p:spPr>
          <a:xfrm>
            <a:off x="6683553" y="1628484"/>
            <a:ext cx="4670247" cy="3601032"/>
          </a:xfrm>
        </p:spPr>
      </p:pic>
      <p:sp>
        <p:nvSpPr>
          <p:cNvPr id="13" name="TextBox 12">
            <a:extLst>
              <a:ext uri="{FF2B5EF4-FFF2-40B4-BE49-F238E27FC236}">
                <a16:creationId xmlns:a16="http://schemas.microsoft.com/office/drawing/2014/main" id="{510CC182-C3F4-0722-C93E-F0E301D97E5D}"/>
              </a:ext>
            </a:extLst>
          </p:cNvPr>
          <p:cNvSpPr txBox="1"/>
          <p:nvPr/>
        </p:nvSpPr>
        <p:spPr>
          <a:xfrm>
            <a:off x="7384183" y="5338829"/>
            <a:ext cx="3268985" cy="523220"/>
          </a:xfrm>
          <a:prstGeom prst="rect">
            <a:avLst/>
          </a:prstGeom>
          <a:noFill/>
        </p:spPr>
        <p:txBody>
          <a:bodyPr wrap="square" rtlCol="0">
            <a:spAutoFit/>
          </a:bodyPr>
          <a:lstStyle/>
          <a:p>
            <a:pPr algn="ctr"/>
            <a:r>
              <a:rPr lang="en-US" sz="1400">
                <a:latin typeface="Verdana" panose="020B0604030504040204" pitchFamily="34" charset="0"/>
              </a:rPr>
              <a:t>Source: Dan Kernler | CC BY-SA 4.0 </a:t>
            </a:r>
          </a:p>
        </p:txBody>
      </p:sp>
      <p:pic>
        <p:nvPicPr>
          <p:cNvPr id="9" name="Graphic 8">
            <a:extLst>
              <a:ext uri="{FF2B5EF4-FFF2-40B4-BE49-F238E27FC236}">
                <a16:creationId xmlns:a16="http://schemas.microsoft.com/office/drawing/2014/main" id="{6E8C4421-81E5-63F4-4802-CA8B6CD375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67040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12">
            <a:extLst>
              <a:ext uri="{FF2B5EF4-FFF2-40B4-BE49-F238E27FC236}">
                <a16:creationId xmlns:a16="http://schemas.microsoft.com/office/drawing/2014/main" id="{610D6AB9-7417-14DC-0AE5-BA886125A78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311383" y="420180"/>
            <a:ext cx="8227944" cy="6076848"/>
          </a:xfrm>
          <a:prstGeom prst="rect">
            <a:avLst/>
          </a:prstGeom>
        </p:spPr>
      </p:pic>
      <p:sp>
        <p:nvSpPr>
          <p:cNvPr id="6" name="Rectangle 5">
            <a:extLst>
              <a:ext uri="{FF2B5EF4-FFF2-40B4-BE49-F238E27FC236}">
                <a16:creationId xmlns:a16="http://schemas.microsoft.com/office/drawing/2014/main" id="{14CDF6F7-5283-2DE3-B29E-019897CF0823}"/>
              </a:ext>
            </a:extLst>
          </p:cNvPr>
          <p:cNvSpPr/>
          <p:nvPr/>
        </p:nvSpPr>
        <p:spPr>
          <a:xfrm>
            <a:off x="457201" y="2673774"/>
            <a:ext cx="3283230" cy="1938992"/>
          </a:xfrm>
          <a:prstGeom prst="rect">
            <a:avLst/>
          </a:prstGeom>
        </p:spPr>
        <p:txBody>
          <a:bodyPr wrap="square">
            <a:spAutoFit/>
          </a:bodyPr>
          <a:lstStyle/>
          <a:p>
            <a:r>
              <a:rPr lang="en-US" sz="2400">
                <a:latin typeface="Verdana" panose="020B0604030504040204" pitchFamily="34" charset="0"/>
              </a:rPr>
              <a:t>Two samples with the same mean (100) but different standard deviations.</a:t>
            </a:r>
          </a:p>
        </p:txBody>
      </p:sp>
      <p:pic>
        <p:nvPicPr>
          <p:cNvPr id="7" name="Graphic 6">
            <a:extLst>
              <a:ext uri="{FF2B5EF4-FFF2-40B4-BE49-F238E27FC236}">
                <a16:creationId xmlns:a16="http://schemas.microsoft.com/office/drawing/2014/main" id="{7DA16CE1-B782-5E5B-4EAC-A6E1C2CF486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153591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4637-3DF0-FF77-FC80-72719AEEABDE}"/>
              </a:ext>
            </a:extLst>
          </p:cNvPr>
          <p:cNvSpPr>
            <a:spLocks noGrp="1"/>
          </p:cNvSpPr>
          <p:nvPr>
            <p:ph type="title"/>
          </p:nvPr>
        </p:nvSpPr>
        <p:spPr/>
        <p:txBody>
          <a:bodyPr/>
          <a:lstStyle/>
          <a:p>
            <a:r>
              <a:rPr lang="en-US"/>
              <a:t>Inferential Statistics</a:t>
            </a:r>
          </a:p>
        </p:txBody>
      </p:sp>
      <p:sp>
        <p:nvSpPr>
          <p:cNvPr id="3" name="Content Placeholder 2">
            <a:extLst>
              <a:ext uri="{FF2B5EF4-FFF2-40B4-BE49-F238E27FC236}">
                <a16:creationId xmlns:a16="http://schemas.microsoft.com/office/drawing/2014/main" id="{7AC2AE89-6B0D-60BA-A6E8-5A3A1C05781F}"/>
              </a:ext>
            </a:extLst>
          </p:cNvPr>
          <p:cNvSpPr>
            <a:spLocks noGrp="1"/>
          </p:cNvSpPr>
          <p:nvPr>
            <p:ph idx="1"/>
          </p:nvPr>
        </p:nvSpPr>
        <p:spPr/>
        <p:txBody>
          <a:bodyPr/>
          <a:lstStyle/>
          <a:p>
            <a:r>
              <a:rPr lang="en-US" sz="2800"/>
              <a:t>Inferential statistics involves analyzing data samples in order to make predictions or inferences about a statistical population.</a:t>
            </a:r>
          </a:p>
        </p:txBody>
      </p:sp>
      <p:pic>
        <p:nvPicPr>
          <p:cNvPr id="4" name="Graphic 3">
            <a:extLst>
              <a:ext uri="{FF2B5EF4-FFF2-40B4-BE49-F238E27FC236}">
                <a16:creationId xmlns:a16="http://schemas.microsoft.com/office/drawing/2014/main" id="{B6C70AA6-2017-D6BA-AADE-C26E3B18A5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251671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87440-B742-D7FA-65F2-82820777930E}"/>
              </a:ext>
            </a:extLst>
          </p:cNvPr>
          <p:cNvSpPr>
            <a:spLocks noGrp="1"/>
          </p:cNvSpPr>
          <p:nvPr>
            <p:ph type="title"/>
          </p:nvPr>
        </p:nvSpPr>
        <p:spPr/>
        <p:txBody>
          <a:bodyPr/>
          <a:lstStyle/>
          <a:p>
            <a:r>
              <a:rPr lang="en-US"/>
              <a:t>Regression Analysis</a:t>
            </a:r>
          </a:p>
        </p:txBody>
      </p:sp>
      <p:sp>
        <p:nvSpPr>
          <p:cNvPr id="5" name="Content Placeholder 4">
            <a:extLst>
              <a:ext uri="{FF2B5EF4-FFF2-40B4-BE49-F238E27FC236}">
                <a16:creationId xmlns:a16="http://schemas.microsoft.com/office/drawing/2014/main" id="{C2C3D77F-630F-EE05-EADF-147EAEDBBD50}"/>
              </a:ext>
            </a:extLst>
          </p:cNvPr>
          <p:cNvSpPr>
            <a:spLocks noGrp="1"/>
          </p:cNvSpPr>
          <p:nvPr>
            <p:ph idx="1"/>
          </p:nvPr>
        </p:nvSpPr>
        <p:spPr/>
        <p:txBody>
          <a:bodyPr>
            <a:normAutofit/>
          </a:bodyPr>
          <a:lstStyle/>
          <a:p>
            <a:r>
              <a:rPr lang="en-US" sz="2400"/>
              <a:t>An analysis of the relationship between independent and dependent variables. </a:t>
            </a:r>
          </a:p>
          <a:p>
            <a:r>
              <a:rPr lang="en-US" sz="2400"/>
              <a:t>In a graph, a </a:t>
            </a:r>
            <a:r>
              <a:rPr lang="en-US" sz="2400" b="1"/>
              <a:t>regression line</a:t>
            </a:r>
            <a:r>
              <a:rPr lang="en-US" sz="2400"/>
              <a:t> is a visual representation of a linear regression (which assumes a linear relationship between variables).</a:t>
            </a:r>
          </a:p>
        </p:txBody>
      </p:sp>
      <p:pic>
        <p:nvPicPr>
          <p:cNvPr id="6" name="Graphic 5">
            <a:extLst>
              <a:ext uri="{FF2B5EF4-FFF2-40B4-BE49-F238E27FC236}">
                <a16:creationId xmlns:a16="http://schemas.microsoft.com/office/drawing/2014/main" id="{F87461B6-254C-1D4A-911E-1AC2E103D6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889116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AE831-E9D7-0CE9-925A-8C32895906AA}"/>
              </a:ext>
            </a:extLst>
          </p:cNvPr>
          <p:cNvSpPr>
            <a:spLocks noGrp="1"/>
          </p:cNvSpPr>
          <p:nvPr>
            <p:ph type="title"/>
          </p:nvPr>
        </p:nvSpPr>
        <p:spPr/>
        <p:txBody>
          <a:bodyPr/>
          <a:lstStyle/>
          <a:p>
            <a:r>
              <a:rPr lang="en-US"/>
              <a:t>Variables in Regression </a:t>
            </a:r>
          </a:p>
        </p:txBody>
      </p:sp>
      <p:sp>
        <p:nvSpPr>
          <p:cNvPr id="8" name="Text Placeholder 7">
            <a:extLst>
              <a:ext uri="{FF2B5EF4-FFF2-40B4-BE49-F238E27FC236}">
                <a16:creationId xmlns:a16="http://schemas.microsoft.com/office/drawing/2014/main" id="{316F2531-D9FB-286D-99C3-621BA35923A2}"/>
              </a:ext>
            </a:extLst>
          </p:cNvPr>
          <p:cNvSpPr>
            <a:spLocks noGrp="1"/>
          </p:cNvSpPr>
          <p:nvPr>
            <p:ph type="body" idx="1"/>
          </p:nvPr>
        </p:nvSpPr>
        <p:spPr/>
        <p:txBody>
          <a:bodyPr/>
          <a:lstStyle/>
          <a:p>
            <a:r>
              <a:rPr lang="en-US"/>
              <a:t>Independent Variable</a:t>
            </a:r>
          </a:p>
        </p:txBody>
      </p:sp>
      <p:sp>
        <p:nvSpPr>
          <p:cNvPr id="9" name="Content Placeholder 8">
            <a:extLst>
              <a:ext uri="{FF2B5EF4-FFF2-40B4-BE49-F238E27FC236}">
                <a16:creationId xmlns:a16="http://schemas.microsoft.com/office/drawing/2014/main" id="{F068C8D2-AF2E-3597-E842-EA11BB5BCDAC}"/>
              </a:ext>
            </a:extLst>
          </p:cNvPr>
          <p:cNvSpPr>
            <a:spLocks noGrp="1"/>
          </p:cNvSpPr>
          <p:nvPr>
            <p:ph sz="half" idx="2"/>
          </p:nvPr>
        </p:nvSpPr>
        <p:spPr/>
        <p:txBody>
          <a:bodyPr/>
          <a:lstStyle/>
          <a:p>
            <a:pPr marL="457200" indent="-457200">
              <a:buFont typeface="Arial" panose="020B0604020202020204" pitchFamily="34" charset="0"/>
              <a:buChar char="•"/>
            </a:pPr>
            <a:r>
              <a:rPr lang="en-US" sz="2400"/>
              <a:t>A variable presumed to exert influence on a dependent variable</a:t>
            </a:r>
          </a:p>
          <a:p>
            <a:pPr marL="457200" indent="-457200">
              <a:buFont typeface="Arial" panose="020B0604020202020204" pitchFamily="34" charset="0"/>
              <a:buChar char="•"/>
            </a:pPr>
            <a:r>
              <a:rPr lang="en-US" sz="2400"/>
              <a:t>Conventionally plotted on the x-axis of a graph</a:t>
            </a:r>
          </a:p>
        </p:txBody>
      </p:sp>
      <p:sp>
        <p:nvSpPr>
          <p:cNvPr id="10" name="Text Placeholder 9">
            <a:extLst>
              <a:ext uri="{FF2B5EF4-FFF2-40B4-BE49-F238E27FC236}">
                <a16:creationId xmlns:a16="http://schemas.microsoft.com/office/drawing/2014/main" id="{896E2BD4-AD54-A4B7-D8B5-A15444AB3295}"/>
              </a:ext>
            </a:extLst>
          </p:cNvPr>
          <p:cNvSpPr>
            <a:spLocks noGrp="1"/>
          </p:cNvSpPr>
          <p:nvPr>
            <p:ph type="body" sz="quarter" idx="3"/>
          </p:nvPr>
        </p:nvSpPr>
        <p:spPr/>
        <p:txBody>
          <a:bodyPr/>
          <a:lstStyle/>
          <a:p>
            <a:r>
              <a:rPr lang="en-US"/>
              <a:t>Dependent Variable</a:t>
            </a:r>
          </a:p>
        </p:txBody>
      </p:sp>
      <p:sp>
        <p:nvSpPr>
          <p:cNvPr id="11" name="Content Placeholder 10">
            <a:extLst>
              <a:ext uri="{FF2B5EF4-FFF2-40B4-BE49-F238E27FC236}">
                <a16:creationId xmlns:a16="http://schemas.microsoft.com/office/drawing/2014/main" id="{7FEF793F-F28D-2F9D-B1CF-5865C9F15158}"/>
              </a:ext>
            </a:extLst>
          </p:cNvPr>
          <p:cNvSpPr>
            <a:spLocks noGrp="1"/>
          </p:cNvSpPr>
          <p:nvPr>
            <p:ph sz="quarter" idx="4"/>
          </p:nvPr>
        </p:nvSpPr>
        <p:spPr/>
        <p:txBody>
          <a:bodyPr>
            <a:normAutofit/>
          </a:bodyPr>
          <a:lstStyle/>
          <a:p>
            <a:r>
              <a:rPr lang="en-US" sz="2400"/>
              <a:t>A variable presumed to be influenced by an independent variable</a:t>
            </a:r>
          </a:p>
          <a:p>
            <a:r>
              <a:rPr lang="en-US" sz="2400"/>
              <a:t>Conventionally plotted on the y-axis of a graph</a:t>
            </a:r>
          </a:p>
        </p:txBody>
      </p:sp>
      <p:pic>
        <p:nvPicPr>
          <p:cNvPr id="12" name="Graphic 11">
            <a:extLst>
              <a:ext uri="{FF2B5EF4-FFF2-40B4-BE49-F238E27FC236}">
                <a16:creationId xmlns:a16="http://schemas.microsoft.com/office/drawing/2014/main" id="{AD3580EE-5B50-D48F-BA66-A7725263EA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39514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87440-B742-D7FA-65F2-82820777930E}"/>
              </a:ext>
            </a:extLst>
          </p:cNvPr>
          <p:cNvSpPr>
            <a:spLocks noGrp="1"/>
          </p:cNvSpPr>
          <p:nvPr>
            <p:ph type="title"/>
          </p:nvPr>
        </p:nvSpPr>
        <p:spPr>
          <a:xfrm>
            <a:off x="839788" y="365125"/>
            <a:ext cx="10515600" cy="1325563"/>
          </a:xfrm>
        </p:spPr>
        <p:txBody>
          <a:bodyPr/>
          <a:lstStyle/>
          <a:p>
            <a:r>
              <a:rPr lang="en-US"/>
              <a:t>Dimensionality</a:t>
            </a:r>
          </a:p>
        </p:txBody>
      </p:sp>
      <p:sp>
        <p:nvSpPr>
          <p:cNvPr id="3" name="Text Placeholder 2">
            <a:extLst>
              <a:ext uri="{FF2B5EF4-FFF2-40B4-BE49-F238E27FC236}">
                <a16:creationId xmlns:a16="http://schemas.microsoft.com/office/drawing/2014/main" id="{EF6F4742-C64F-C4D8-0005-0287507397E7}"/>
              </a:ext>
            </a:extLst>
          </p:cNvPr>
          <p:cNvSpPr>
            <a:spLocks noGrp="1"/>
          </p:cNvSpPr>
          <p:nvPr>
            <p:ph type="body" idx="1"/>
          </p:nvPr>
        </p:nvSpPr>
        <p:spPr>
          <a:xfrm>
            <a:off x="839788" y="1681163"/>
            <a:ext cx="5157787" cy="823912"/>
          </a:xfrm>
        </p:spPr>
        <p:txBody>
          <a:bodyPr/>
          <a:lstStyle/>
          <a:p>
            <a:r>
              <a:rPr lang="en-US"/>
              <a:t>One-Dimensional</a:t>
            </a:r>
          </a:p>
        </p:txBody>
      </p:sp>
      <p:sp>
        <p:nvSpPr>
          <p:cNvPr id="5" name="Content Placeholder 4">
            <a:extLst>
              <a:ext uri="{FF2B5EF4-FFF2-40B4-BE49-F238E27FC236}">
                <a16:creationId xmlns:a16="http://schemas.microsoft.com/office/drawing/2014/main" id="{C2C3D77F-630F-EE05-EADF-147EAEDBBD50}"/>
              </a:ext>
            </a:extLst>
          </p:cNvPr>
          <p:cNvSpPr>
            <a:spLocks noGrp="1"/>
          </p:cNvSpPr>
          <p:nvPr>
            <p:ph sz="half" idx="2"/>
          </p:nvPr>
        </p:nvSpPr>
        <p:spPr>
          <a:xfrm>
            <a:off x="839788" y="2505075"/>
            <a:ext cx="5157787" cy="3429000"/>
          </a:xfrm>
        </p:spPr>
        <p:txBody>
          <a:bodyPr>
            <a:normAutofit/>
          </a:bodyPr>
          <a:lstStyle/>
          <a:p>
            <a:r>
              <a:rPr lang="en-US" sz="2400"/>
              <a:t>Involves one independent variable (predictor) and one dependent variable (response).</a:t>
            </a:r>
          </a:p>
          <a:p>
            <a:pPr>
              <a:spcBef>
                <a:spcPts val="1200"/>
              </a:spcBef>
            </a:pPr>
            <a:r>
              <a:rPr lang="en-US" sz="2400"/>
              <a:t>Graphically represented by a scatter plot with a line (or curve, depending on the type of regression) that best fits the data points.</a:t>
            </a:r>
          </a:p>
        </p:txBody>
      </p:sp>
      <p:sp>
        <p:nvSpPr>
          <p:cNvPr id="7" name="Text Placeholder 6">
            <a:extLst>
              <a:ext uri="{FF2B5EF4-FFF2-40B4-BE49-F238E27FC236}">
                <a16:creationId xmlns:a16="http://schemas.microsoft.com/office/drawing/2014/main" id="{E0F9351F-9274-9C4B-6311-4C04CC070879}"/>
              </a:ext>
            </a:extLst>
          </p:cNvPr>
          <p:cNvSpPr>
            <a:spLocks noGrp="1"/>
          </p:cNvSpPr>
          <p:nvPr>
            <p:ph type="body" sz="quarter" idx="3"/>
          </p:nvPr>
        </p:nvSpPr>
        <p:spPr>
          <a:xfrm>
            <a:off x="6172200" y="1681163"/>
            <a:ext cx="5183188" cy="823912"/>
          </a:xfrm>
        </p:spPr>
        <p:txBody>
          <a:bodyPr/>
          <a:lstStyle/>
          <a:p>
            <a:r>
              <a:rPr lang="en-US"/>
              <a:t>Two-Dimensional</a:t>
            </a:r>
          </a:p>
        </p:txBody>
      </p:sp>
      <p:sp>
        <p:nvSpPr>
          <p:cNvPr id="8" name="Content Placeholder 7">
            <a:extLst>
              <a:ext uri="{FF2B5EF4-FFF2-40B4-BE49-F238E27FC236}">
                <a16:creationId xmlns:a16="http://schemas.microsoft.com/office/drawing/2014/main" id="{C85C30C0-8A75-6194-7EF0-5A8A9A759DC8}"/>
              </a:ext>
            </a:extLst>
          </p:cNvPr>
          <p:cNvSpPr>
            <a:spLocks noGrp="1"/>
          </p:cNvSpPr>
          <p:nvPr>
            <p:ph sz="quarter" idx="4"/>
          </p:nvPr>
        </p:nvSpPr>
        <p:spPr>
          <a:xfrm>
            <a:off x="6172200" y="2505075"/>
            <a:ext cx="5183188" cy="3429000"/>
          </a:xfrm>
        </p:spPr>
        <p:txBody>
          <a:bodyPr>
            <a:normAutofit/>
          </a:bodyPr>
          <a:lstStyle/>
          <a:p>
            <a:pPr>
              <a:spcBef>
                <a:spcPts val="1200"/>
              </a:spcBef>
            </a:pPr>
            <a:r>
              <a:rPr lang="en-US" sz="2400"/>
              <a:t>Involves two independent variables (predictors) and one dependent variable (response).</a:t>
            </a:r>
          </a:p>
          <a:p>
            <a:pPr>
              <a:spcBef>
                <a:spcPts val="1200"/>
              </a:spcBef>
            </a:pPr>
            <a:r>
              <a:rPr lang="en-US" sz="2400"/>
              <a:t>In a three-dimensional space, graphically represented by a scatter plot with a plane (or some curved surface) that best fits the data points.</a:t>
            </a:r>
          </a:p>
        </p:txBody>
      </p:sp>
      <p:pic>
        <p:nvPicPr>
          <p:cNvPr id="6" name="Graphic 5">
            <a:extLst>
              <a:ext uri="{FF2B5EF4-FFF2-40B4-BE49-F238E27FC236}">
                <a16:creationId xmlns:a16="http://schemas.microsoft.com/office/drawing/2014/main" id="{F87461B6-254C-1D4A-911E-1AC2E103D6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89340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6A9E-706E-7E90-DF6A-9200049B47AE}"/>
              </a:ext>
            </a:extLst>
          </p:cNvPr>
          <p:cNvSpPr>
            <a:spLocks noGrp="1"/>
          </p:cNvSpPr>
          <p:nvPr>
            <p:ph type="title"/>
          </p:nvPr>
        </p:nvSpPr>
        <p:spPr/>
        <p:txBody>
          <a:bodyPr/>
          <a:lstStyle/>
          <a:p>
            <a:r>
              <a:rPr lang="en-US"/>
              <a:t>R (Correlation Coefficient)</a:t>
            </a:r>
          </a:p>
        </p:txBody>
      </p:sp>
      <p:sp>
        <p:nvSpPr>
          <p:cNvPr id="3" name="Content Placeholder 2">
            <a:extLst>
              <a:ext uri="{FF2B5EF4-FFF2-40B4-BE49-F238E27FC236}">
                <a16:creationId xmlns:a16="http://schemas.microsoft.com/office/drawing/2014/main" id="{2C749EFE-A0EE-79EC-E24E-B8AE332CDF5F}"/>
              </a:ext>
            </a:extLst>
          </p:cNvPr>
          <p:cNvSpPr>
            <a:spLocks noGrp="1"/>
          </p:cNvSpPr>
          <p:nvPr>
            <p:ph sz="half" idx="1"/>
          </p:nvPr>
        </p:nvSpPr>
        <p:spPr/>
        <p:txBody>
          <a:bodyPr>
            <a:normAutofit/>
          </a:bodyPr>
          <a:lstStyle/>
          <a:p>
            <a:r>
              <a:rPr lang="en-US" sz="2400"/>
              <a:t>A statistical measure ranging from -1.0 to 1.0 that represents how positively or negatively correlated variables are.</a:t>
            </a:r>
          </a:p>
          <a:p>
            <a:r>
              <a:rPr lang="en-US" sz="2400"/>
              <a:t>There are several ways to determine slope and intercept.</a:t>
            </a:r>
          </a:p>
        </p:txBody>
      </p:sp>
      <p:pic>
        <p:nvPicPr>
          <p:cNvPr id="7" name="Picture 6">
            <a:extLst>
              <a:ext uri="{FF2B5EF4-FFF2-40B4-BE49-F238E27FC236}">
                <a16:creationId xmlns:a16="http://schemas.microsoft.com/office/drawing/2014/main" id="{B84E3214-479B-CCBC-22E1-C43F068FB5E5}"/>
              </a:ext>
            </a:extLst>
          </p:cNvPr>
          <p:cNvPicPr>
            <a:picLocks noChangeAspect="1"/>
          </p:cNvPicPr>
          <p:nvPr/>
        </p:nvPicPr>
        <p:blipFill>
          <a:blip r:embed="rId3"/>
          <a:stretch>
            <a:fillRect/>
          </a:stretch>
        </p:blipFill>
        <p:spPr>
          <a:xfrm>
            <a:off x="6019800" y="1811977"/>
            <a:ext cx="5576510" cy="3762932"/>
          </a:xfrm>
          <a:prstGeom prst="rect">
            <a:avLst/>
          </a:prstGeom>
        </p:spPr>
      </p:pic>
      <p:sp>
        <p:nvSpPr>
          <p:cNvPr id="9" name="TextBox 8">
            <a:extLst>
              <a:ext uri="{FF2B5EF4-FFF2-40B4-BE49-F238E27FC236}">
                <a16:creationId xmlns:a16="http://schemas.microsoft.com/office/drawing/2014/main" id="{52D7D3C1-ED56-2F37-A880-17A5A4F49BB9}"/>
              </a:ext>
            </a:extLst>
          </p:cNvPr>
          <p:cNvSpPr txBox="1"/>
          <p:nvPr/>
        </p:nvSpPr>
        <p:spPr>
          <a:xfrm>
            <a:off x="6057900" y="5588557"/>
            <a:ext cx="5500310" cy="307777"/>
          </a:xfrm>
          <a:prstGeom prst="rect">
            <a:avLst/>
          </a:prstGeom>
          <a:noFill/>
        </p:spPr>
        <p:txBody>
          <a:bodyPr wrap="square" rtlCol="0">
            <a:spAutoFit/>
          </a:bodyPr>
          <a:lstStyle/>
          <a:p>
            <a:pPr algn="ctr"/>
            <a:r>
              <a:rPr lang="en-US" sz="1400">
                <a:latin typeface="Verdana" panose="020B0604030504040204" pitchFamily="34" charset="0"/>
              </a:rPr>
              <a:t>Source: </a:t>
            </a:r>
            <a:r>
              <a:rPr lang="en-US" sz="1400">
                <a:latin typeface="Verdana" panose="020B0604030504040204" pitchFamily="34" charset="0"/>
                <a:hlinkClick r:id="rId4"/>
              </a:rPr>
              <a:t>Laerd Statistics</a:t>
            </a:r>
            <a:r>
              <a:rPr lang="en-US" sz="1400">
                <a:latin typeface="Verdana" panose="020B0604030504040204" pitchFamily="34" charset="0"/>
              </a:rPr>
              <a:t> | CC BY-SA 4.0 </a:t>
            </a:r>
          </a:p>
        </p:txBody>
      </p:sp>
      <p:pic>
        <p:nvPicPr>
          <p:cNvPr id="8" name="Graphic 7">
            <a:extLst>
              <a:ext uri="{FF2B5EF4-FFF2-40B4-BE49-F238E27FC236}">
                <a16:creationId xmlns:a16="http://schemas.microsoft.com/office/drawing/2014/main" id="{AE2AFCD4-5F60-9071-C18E-A44FC9C878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6110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E6C0A-7F32-E25B-D76E-0178F3C465A0}"/>
              </a:ext>
            </a:extLst>
          </p:cNvPr>
          <p:cNvSpPr>
            <a:spLocks noGrp="1"/>
          </p:cNvSpPr>
          <p:nvPr>
            <p:ph type="title"/>
          </p:nvPr>
        </p:nvSpPr>
        <p:spPr/>
        <p:txBody>
          <a:bodyPr/>
          <a:lstStyle/>
          <a:p>
            <a:r>
              <a:rPr lang="en-US" i="1"/>
              <a:t>R</a:t>
            </a:r>
            <a:r>
              <a:rPr lang="en-US" i="1" baseline="30000"/>
              <a:t>2</a:t>
            </a:r>
            <a:r>
              <a:rPr lang="en-US"/>
              <a:t> (Coefficient of Determination)</a:t>
            </a:r>
          </a:p>
        </p:txBody>
      </p:sp>
      <p:sp>
        <p:nvSpPr>
          <p:cNvPr id="3" name="Content Placeholder 2">
            <a:extLst>
              <a:ext uri="{FF2B5EF4-FFF2-40B4-BE49-F238E27FC236}">
                <a16:creationId xmlns:a16="http://schemas.microsoft.com/office/drawing/2014/main" id="{ACDAADDF-FB34-C1A5-61C9-33A3870B0ED6}"/>
              </a:ext>
            </a:extLst>
          </p:cNvPr>
          <p:cNvSpPr>
            <a:spLocks noGrp="1"/>
          </p:cNvSpPr>
          <p:nvPr>
            <p:ph idx="1"/>
          </p:nvPr>
        </p:nvSpPr>
        <p:spPr/>
        <p:txBody>
          <a:bodyPr>
            <a:normAutofit/>
          </a:bodyPr>
          <a:lstStyle/>
          <a:p>
            <a:r>
              <a:rPr lang="en-US" sz="2400" dirty="0"/>
              <a:t>A statistical measure of how much influence the independent variable has on the dependent variable. It is as measure of both the slope of the linear model and scatter around the line. </a:t>
            </a:r>
          </a:p>
          <a:p>
            <a:r>
              <a:rPr lang="en-US" sz="2400" dirty="0"/>
              <a:t>It ranges from 0 to 1, with a higher number representing a better “fit” between data and regression line and a ”steeper” slope.</a:t>
            </a:r>
          </a:p>
        </p:txBody>
      </p:sp>
      <p:pic>
        <p:nvPicPr>
          <p:cNvPr id="7" name="Graphic 6">
            <a:extLst>
              <a:ext uri="{FF2B5EF4-FFF2-40B4-BE49-F238E27FC236}">
                <a16:creationId xmlns:a16="http://schemas.microsoft.com/office/drawing/2014/main" id="{D241580F-A93D-C9EC-8EBE-99DECF6C12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201593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7">
            <a:extLst>
              <a:ext uri="{FF2B5EF4-FFF2-40B4-BE49-F238E27FC236}">
                <a16:creationId xmlns:a16="http://schemas.microsoft.com/office/drawing/2014/main" id="{D14999A8-BB1D-0836-99DF-6EAFCD62A269}"/>
              </a:ext>
            </a:extLst>
          </p:cNvPr>
          <p:cNvPicPr>
            <a:picLocks noChangeAspect="1"/>
          </p:cNvPicPr>
          <p:nvPr/>
        </p:nvPicPr>
        <p:blipFill rotWithShape="1">
          <a:blip r:embed="rId3"/>
          <a:srcRect t="10438"/>
          <a:stretch/>
        </p:blipFill>
        <p:spPr>
          <a:xfrm>
            <a:off x="716551" y="1371599"/>
            <a:ext cx="10758898" cy="4657637"/>
          </a:xfrm>
          <a:prstGeom prst="rect">
            <a:avLst/>
          </a:prstGeom>
        </p:spPr>
      </p:pic>
      <p:pic>
        <p:nvPicPr>
          <p:cNvPr id="7" name="Graphic 6">
            <a:extLst>
              <a:ext uri="{FF2B5EF4-FFF2-40B4-BE49-F238E27FC236}">
                <a16:creationId xmlns:a16="http://schemas.microsoft.com/office/drawing/2014/main" id="{85D283D9-2241-7B7A-41AB-61CDEB5899A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
        <p:nvSpPr>
          <p:cNvPr id="3" name="TextBox 2">
            <a:extLst>
              <a:ext uri="{FF2B5EF4-FFF2-40B4-BE49-F238E27FC236}">
                <a16:creationId xmlns:a16="http://schemas.microsoft.com/office/drawing/2014/main" id="{0D42FCD2-C32E-EA3F-3867-DB689883B9DC}"/>
              </a:ext>
            </a:extLst>
          </p:cNvPr>
          <p:cNvSpPr txBox="1"/>
          <p:nvPr/>
        </p:nvSpPr>
        <p:spPr>
          <a:xfrm>
            <a:off x="716551" y="597931"/>
            <a:ext cx="6096000" cy="461665"/>
          </a:xfrm>
          <a:prstGeom prst="rect">
            <a:avLst/>
          </a:prstGeom>
          <a:noFill/>
        </p:spPr>
        <p:txBody>
          <a:bodyPr wrap="square">
            <a:spAutoFit/>
          </a:bodyPr>
          <a:lstStyle/>
          <a:p>
            <a:r>
              <a:rPr lang="en-US" sz="2400" i="1">
                <a:latin typeface="Verdana" panose="020B0604030504040204" pitchFamily="34" charset="0"/>
                <a:ea typeface="Verdana" panose="020B0604030504040204" pitchFamily="34" charset="0"/>
                <a:cs typeface="Verdana" panose="020B0604030504040204" pitchFamily="34" charset="0"/>
              </a:rPr>
              <a:t>R-Squared: </a:t>
            </a:r>
            <a:r>
              <a:rPr lang="en-US" sz="2400">
                <a:latin typeface="Verdana" panose="020B0604030504040204" pitchFamily="34" charset="0"/>
                <a:ea typeface="Verdana" panose="020B0604030504040204" pitchFamily="34" charset="0"/>
                <a:cs typeface="Verdana" panose="020B0604030504040204" pitchFamily="34" charset="0"/>
              </a:rPr>
              <a:t>0.16</a:t>
            </a:r>
          </a:p>
        </p:txBody>
      </p:sp>
    </p:spTree>
    <p:extLst>
      <p:ext uri="{BB962C8B-B14F-4D97-AF65-F5344CB8AC3E}">
        <p14:creationId xmlns:p14="http://schemas.microsoft.com/office/powerpoint/2010/main" val="990339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5DE31-9061-7DBF-4C70-7DC5424B6F65}"/>
              </a:ext>
            </a:extLst>
          </p:cNvPr>
          <p:cNvSpPr>
            <a:spLocks noGrp="1"/>
          </p:cNvSpPr>
          <p:nvPr>
            <p:ph type="title"/>
          </p:nvPr>
        </p:nvSpPr>
        <p:spPr>
          <a:xfrm>
            <a:off x="306035" y="1387235"/>
            <a:ext cx="4947890" cy="1857099"/>
          </a:xfrm>
        </p:spPr>
        <p:txBody>
          <a:bodyPr>
            <a:normAutofit fontScale="90000"/>
          </a:bodyPr>
          <a:lstStyle/>
          <a:p>
            <a:r>
              <a:rPr lang="en-GB"/>
              <a:t>Defining Accuracy and Precision</a:t>
            </a:r>
          </a:p>
        </p:txBody>
      </p:sp>
      <p:pic>
        <p:nvPicPr>
          <p:cNvPr id="6" name="Content Placeholder 5">
            <a:extLst>
              <a:ext uri="{FF2B5EF4-FFF2-40B4-BE49-F238E27FC236}">
                <a16:creationId xmlns:a16="http://schemas.microsoft.com/office/drawing/2014/main" id="{B7E0F3AF-5B44-70FE-BA5D-0C9EC6913D96}"/>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rcRect/>
          <a:stretch/>
        </p:blipFill>
        <p:spPr>
          <a:xfrm>
            <a:off x="5253925" y="202220"/>
            <a:ext cx="6099875" cy="6151715"/>
          </a:xfrm>
        </p:spPr>
      </p:pic>
      <p:sp>
        <p:nvSpPr>
          <p:cNvPr id="11" name="TextBox 10">
            <a:extLst>
              <a:ext uri="{FF2B5EF4-FFF2-40B4-BE49-F238E27FC236}">
                <a16:creationId xmlns:a16="http://schemas.microsoft.com/office/drawing/2014/main" id="{2C1473E5-DE79-6310-27E0-8ECDE7B9CBB9}"/>
              </a:ext>
            </a:extLst>
          </p:cNvPr>
          <p:cNvSpPr txBox="1"/>
          <p:nvPr/>
        </p:nvSpPr>
        <p:spPr>
          <a:xfrm>
            <a:off x="306035" y="3244334"/>
            <a:ext cx="2965286" cy="369332"/>
          </a:xfrm>
          <a:prstGeom prst="rect">
            <a:avLst/>
          </a:prstGeom>
          <a:noFill/>
        </p:spPr>
        <p:txBody>
          <a:bodyPr wrap="square" rtlCol="0">
            <a:spAutoFit/>
          </a:bodyPr>
          <a:lstStyle/>
          <a:p>
            <a:r>
              <a:rPr lang="en-GB">
                <a:latin typeface="Verdana" panose="020B0604030504040204" pitchFamily="34" charset="0"/>
              </a:rPr>
              <a:t>Source: </a:t>
            </a:r>
            <a:r>
              <a:rPr lang="en-GB">
                <a:latin typeface="Verdana" panose="020B0604030504040204" pitchFamily="34" charset="0"/>
                <a:hlinkClick r:id="rId5"/>
              </a:rPr>
              <a:t>St. Olaf College</a:t>
            </a:r>
            <a:endParaRPr lang="en-US">
              <a:latin typeface="Verdana" panose="020B0604030504040204" pitchFamily="34" charset="0"/>
            </a:endParaRPr>
          </a:p>
        </p:txBody>
      </p:sp>
      <p:pic>
        <p:nvPicPr>
          <p:cNvPr id="3" name="Graphic 2">
            <a:extLst>
              <a:ext uri="{FF2B5EF4-FFF2-40B4-BE49-F238E27FC236}">
                <a16:creationId xmlns:a16="http://schemas.microsoft.com/office/drawing/2014/main" id="{4105572C-F1AE-6F14-2514-09D3A10D59B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89648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0D4BB-F282-6A72-2F98-DCD61EFDF543}"/>
              </a:ext>
            </a:extLst>
          </p:cNvPr>
          <p:cNvSpPr>
            <a:spLocks noGrp="1"/>
          </p:cNvSpPr>
          <p:nvPr>
            <p:ph type="title"/>
          </p:nvPr>
        </p:nvSpPr>
        <p:spPr/>
        <p:txBody>
          <a:bodyPr/>
          <a:lstStyle/>
          <a:p>
            <a:r>
              <a:rPr lang="en-US"/>
              <a:t>Bias</a:t>
            </a:r>
          </a:p>
        </p:txBody>
      </p:sp>
      <p:sp>
        <p:nvSpPr>
          <p:cNvPr id="3" name="Content Placeholder 2">
            <a:extLst>
              <a:ext uri="{FF2B5EF4-FFF2-40B4-BE49-F238E27FC236}">
                <a16:creationId xmlns:a16="http://schemas.microsoft.com/office/drawing/2014/main" id="{75617648-3566-97C8-0A23-9521FD1FAECC}"/>
              </a:ext>
            </a:extLst>
          </p:cNvPr>
          <p:cNvSpPr>
            <a:spLocks noGrp="1"/>
          </p:cNvSpPr>
          <p:nvPr>
            <p:ph idx="1"/>
          </p:nvPr>
        </p:nvSpPr>
        <p:spPr/>
        <p:txBody>
          <a:bodyPr>
            <a:normAutofit/>
          </a:bodyPr>
          <a:lstStyle/>
          <a:p>
            <a:r>
              <a:rPr lang="en-US" sz="2400"/>
              <a:t>The </a:t>
            </a:r>
            <a:r>
              <a:rPr lang="en-US" sz="2400" i="1"/>
              <a:t>Guide to the Expression of Uncertainty in Measurement</a:t>
            </a:r>
            <a:r>
              <a:rPr lang="en-US" sz="2400"/>
              <a:t> (</a:t>
            </a:r>
            <a:r>
              <a:rPr lang="en-US" sz="2400" i="1"/>
              <a:t>GUM</a:t>
            </a:r>
            <a:r>
              <a:rPr lang="en-US" sz="2400"/>
              <a:t>) defines bias as “the result of a systematic error”—an error that consistently affects measurements in the same direction.</a:t>
            </a:r>
          </a:p>
          <a:p>
            <a:r>
              <a:rPr lang="en-US" sz="2400"/>
              <a:t>In other words, bias refers to a consistent or systematic discrepancy between the average of measurement results and the true value.</a:t>
            </a:r>
          </a:p>
        </p:txBody>
      </p:sp>
      <p:pic>
        <p:nvPicPr>
          <p:cNvPr id="4" name="Graphic 3">
            <a:extLst>
              <a:ext uri="{FF2B5EF4-FFF2-40B4-BE49-F238E27FC236}">
                <a16:creationId xmlns:a16="http://schemas.microsoft.com/office/drawing/2014/main" id="{DBEBEED9-3410-68FF-CE9C-627568C121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580570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5DE31-9061-7DBF-4C70-7DC5424B6F65}"/>
              </a:ext>
            </a:extLst>
          </p:cNvPr>
          <p:cNvSpPr>
            <a:spLocks noGrp="1"/>
          </p:cNvSpPr>
          <p:nvPr>
            <p:ph type="title"/>
          </p:nvPr>
        </p:nvSpPr>
        <p:spPr/>
        <p:txBody>
          <a:bodyPr/>
          <a:lstStyle/>
          <a:p>
            <a:r>
              <a:rPr lang="en-GB"/>
              <a:t>Relation to Normal Distribution</a:t>
            </a:r>
          </a:p>
        </p:txBody>
      </p:sp>
      <p:sp>
        <p:nvSpPr>
          <p:cNvPr id="4" name="Content Placeholder 3">
            <a:extLst>
              <a:ext uri="{FF2B5EF4-FFF2-40B4-BE49-F238E27FC236}">
                <a16:creationId xmlns:a16="http://schemas.microsoft.com/office/drawing/2014/main" id="{5CD3726A-256D-DE91-79C6-C20AF24A3677}"/>
              </a:ext>
            </a:extLst>
          </p:cNvPr>
          <p:cNvSpPr>
            <a:spLocks noGrp="1"/>
          </p:cNvSpPr>
          <p:nvPr>
            <p:ph idx="1"/>
          </p:nvPr>
        </p:nvSpPr>
        <p:spPr/>
        <p:txBody>
          <a:bodyPr>
            <a:normAutofit/>
          </a:bodyPr>
          <a:lstStyle/>
          <a:p>
            <a:r>
              <a:rPr lang="en-US" b="1"/>
              <a:t>High Precision and Low Accuracy</a:t>
            </a:r>
          </a:p>
        </p:txBody>
      </p:sp>
      <p:pic>
        <p:nvPicPr>
          <p:cNvPr id="6" name="Graphic 5">
            <a:extLst>
              <a:ext uri="{FF2B5EF4-FFF2-40B4-BE49-F238E27FC236}">
                <a16:creationId xmlns:a16="http://schemas.microsoft.com/office/drawing/2014/main" id="{8E779767-A44F-0B92-8DC4-6BC97B4851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8200" y="2520952"/>
            <a:ext cx="5623560" cy="3656011"/>
          </a:xfrm>
          <a:prstGeom prst="rect">
            <a:avLst/>
          </a:prstGeom>
        </p:spPr>
      </p:pic>
      <p:pic>
        <p:nvPicPr>
          <p:cNvPr id="8" name="Graphic 7">
            <a:extLst>
              <a:ext uri="{FF2B5EF4-FFF2-40B4-BE49-F238E27FC236}">
                <a16:creationId xmlns:a16="http://schemas.microsoft.com/office/drawing/2014/main" id="{F1E5738E-4B16-74CF-83C5-F16CAD4C35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71004" y="2520952"/>
            <a:ext cx="3273552" cy="3653908"/>
          </a:xfrm>
          <a:prstGeom prst="rect">
            <a:avLst/>
          </a:prstGeom>
        </p:spPr>
      </p:pic>
      <p:pic>
        <p:nvPicPr>
          <p:cNvPr id="3" name="Graphic 2">
            <a:extLst>
              <a:ext uri="{FF2B5EF4-FFF2-40B4-BE49-F238E27FC236}">
                <a16:creationId xmlns:a16="http://schemas.microsoft.com/office/drawing/2014/main" id="{CE0CF190-429A-B9A9-7875-F7B781C9DF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97873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0FF16-D0DD-79F9-A914-FCC7D4CAA52F}"/>
              </a:ext>
            </a:extLst>
          </p:cNvPr>
          <p:cNvSpPr>
            <a:spLocks noGrp="1"/>
          </p:cNvSpPr>
          <p:nvPr>
            <p:ph type="title"/>
          </p:nvPr>
        </p:nvSpPr>
        <p:spPr>
          <a:xfrm>
            <a:off x="838200" y="365125"/>
            <a:ext cx="11353800" cy="1325563"/>
          </a:xfrm>
        </p:spPr>
        <p:txBody>
          <a:bodyPr>
            <a:normAutofit/>
          </a:bodyPr>
          <a:lstStyle/>
          <a:p>
            <a:r>
              <a:rPr lang="en-GB" sz="4000"/>
              <a:t>Normal Distribution and Standard Deviation</a:t>
            </a:r>
          </a:p>
        </p:txBody>
      </p:sp>
      <p:pic>
        <p:nvPicPr>
          <p:cNvPr id="6" name="Content Placeholder 5" descr="The normal distribution, and standard deviation with the confidence level. ">
            <a:extLst>
              <a:ext uri="{FF2B5EF4-FFF2-40B4-BE49-F238E27FC236}">
                <a16:creationId xmlns:a16="http://schemas.microsoft.com/office/drawing/2014/main" id="{C6DE3662-6219-537A-FB53-6D0ED07EA53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774590" y="1509006"/>
            <a:ext cx="7084776" cy="3839987"/>
          </a:xfrm>
        </p:spPr>
      </p:pic>
      <p:sp>
        <p:nvSpPr>
          <p:cNvPr id="12" name="TextBox 11">
            <a:extLst>
              <a:ext uri="{FF2B5EF4-FFF2-40B4-BE49-F238E27FC236}">
                <a16:creationId xmlns:a16="http://schemas.microsoft.com/office/drawing/2014/main" id="{412A03D5-22FF-7BD8-6B5C-2F71C58982AB}"/>
              </a:ext>
            </a:extLst>
          </p:cNvPr>
          <p:cNvSpPr txBox="1"/>
          <p:nvPr/>
        </p:nvSpPr>
        <p:spPr>
          <a:xfrm>
            <a:off x="8565368" y="1690688"/>
            <a:ext cx="2599937" cy="3785652"/>
          </a:xfrm>
          <a:prstGeom prst="rect">
            <a:avLst/>
          </a:prstGeom>
          <a:noFill/>
        </p:spPr>
        <p:txBody>
          <a:bodyPr wrap="square" rtlCol="0">
            <a:spAutoFit/>
          </a:bodyPr>
          <a:lstStyle/>
          <a:p>
            <a:r>
              <a:rPr lang="en-GB" sz="2400">
                <a:latin typeface="Verdana" panose="020B0604030504040204" pitchFamily="34" charset="0"/>
              </a:rPr>
              <a:t>Standard deviation represents the confidence interval or the value of the error at a certain confidence level</a:t>
            </a:r>
          </a:p>
        </p:txBody>
      </p:sp>
      <p:sp>
        <p:nvSpPr>
          <p:cNvPr id="13" name="TextBox 12">
            <a:extLst>
              <a:ext uri="{FF2B5EF4-FFF2-40B4-BE49-F238E27FC236}">
                <a16:creationId xmlns:a16="http://schemas.microsoft.com/office/drawing/2014/main" id="{39C1A760-78C6-729E-B34C-F6D7A7C5653F}"/>
              </a:ext>
            </a:extLst>
          </p:cNvPr>
          <p:cNvSpPr txBox="1"/>
          <p:nvPr/>
        </p:nvSpPr>
        <p:spPr>
          <a:xfrm>
            <a:off x="838200" y="5553678"/>
            <a:ext cx="3223378" cy="369332"/>
          </a:xfrm>
          <a:prstGeom prst="rect">
            <a:avLst/>
          </a:prstGeom>
          <a:noFill/>
        </p:spPr>
        <p:txBody>
          <a:bodyPr wrap="square" rtlCol="0">
            <a:spAutoFit/>
          </a:bodyPr>
          <a:lstStyle/>
          <a:p>
            <a:r>
              <a:rPr lang="en-GB">
                <a:latin typeface="Verdana" panose="020B0604030504040204" pitchFamily="34" charset="0"/>
              </a:rPr>
              <a:t>Source: </a:t>
            </a:r>
            <a:r>
              <a:rPr lang="en-GB">
                <a:latin typeface="Verdana" panose="020B0604030504040204" pitchFamily="34" charset="0"/>
                <a:hlinkClick r:id="rId4"/>
              </a:rPr>
              <a:t>Gouda Mohamed</a:t>
            </a:r>
            <a:endParaRPr lang="en-US">
              <a:latin typeface="Verdana" panose="020B0604030504040204" pitchFamily="34" charset="0"/>
            </a:endParaRPr>
          </a:p>
        </p:txBody>
      </p:sp>
      <p:pic>
        <p:nvPicPr>
          <p:cNvPr id="3" name="Graphic 2">
            <a:extLst>
              <a:ext uri="{FF2B5EF4-FFF2-40B4-BE49-F238E27FC236}">
                <a16:creationId xmlns:a16="http://schemas.microsoft.com/office/drawing/2014/main" id="{72BF4A7D-C611-A793-10C0-420F9C61543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839192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86B46-01A0-76AC-6378-B2F65CAE85C9}"/>
              </a:ext>
            </a:extLst>
          </p:cNvPr>
          <p:cNvSpPr>
            <a:spLocks noGrp="1"/>
          </p:cNvSpPr>
          <p:nvPr>
            <p:ph type="title"/>
          </p:nvPr>
        </p:nvSpPr>
        <p:spPr/>
        <p:txBody>
          <a:bodyPr>
            <a:normAutofit/>
          </a:bodyPr>
          <a:lstStyle/>
          <a:p>
            <a:r>
              <a:rPr lang="en-GB" sz="3800"/>
              <a:t>Size of Standard Error vs. Confidence Interval</a:t>
            </a:r>
          </a:p>
        </p:txBody>
      </p:sp>
      <p:pic>
        <p:nvPicPr>
          <p:cNvPr id="12" name="Content Placeholder 11">
            <a:extLst>
              <a:ext uri="{FF2B5EF4-FFF2-40B4-BE49-F238E27FC236}">
                <a16:creationId xmlns:a16="http://schemas.microsoft.com/office/drawing/2014/main" id="{5B94F3F4-3467-2AB1-17CC-8D9063ED4FDF}"/>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29332" y="1690688"/>
            <a:ext cx="10524468" cy="3890454"/>
          </a:xfrm>
          <a:prstGeom prst="rect">
            <a:avLst/>
          </a:prstGeom>
          <a:noFill/>
        </p:spPr>
      </p:pic>
      <p:sp>
        <p:nvSpPr>
          <p:cNvPr id="13" name="TextBox 12">
            <a:extLst>
              <a:ext uri="{FF2B5EF4-FFF2-40B4-BE49-F238E27FC236}">
                <a16:creationId xmlns:a16="http://schemas.microsoft.com/office/drawing/2014/main" id="{76B885DB-10B6-A77A-AC35-3DB9FD1B5261}"/>
              </a:ext>
            </a:extLst>
          </p:cNvPr>
          <p:cNvSpPr txBox="1"/>
          <p:nvPr/>
        </p:nvSpPr>
        <p:spPr>
          <a:xfrm>
            <a:off x="7857641" y="1276858"/>
            <a:ext cx="3496159" cy="3067506"/>
          </a:xfrm>
          <a:prstGeom prst="rect">
            <a:avLst/>
          </a:prstGeom>
          <a:noFill/>
        </p:spPr>
        <p:txBody>
          <a:bodyPr wrap="square" rtlCol="0">
            <a:spAutoFit/>
          </a:bodyPr>
          <a:lstStyle/>
          <a:p>
            <a:pPr>
              <a:spcBef>
                <a:spcPts val="1600"/>
              </a:spcBef>
            </a:pPr>
            <a:r>
              <a:rPr lang="en-GB" sz="2000">
                <a:latin typeface="Verdana" panose="020B0604030504040204" pitchFamily="34" charset="0"/>
              </a:rPr>
              <a:t>With different data sets, the same CL represents the same area under the distribution, but the size of the deviation or interval is different.</a:t>
            </a:r>
          </a:p>
          <a:p>
            <a:pPr>
              <a:spcBef>
                <a:spcPts val="1600"/>
              </a:spcBef>
            </a:pPr>
            <a:r>
              <a:rPr lang="en-GB" sz="2000">
                <a:latin typeface="Verdana" panose="020B0604030504040204" pitchFamily="34" charset="0"/>
              </a:rPr>
              <a:t>The smaller the value of the interval, the better the precision.</a:t>
            </a:r>
          </a:p>
        </p:txBody>
      </p:sp>
      <p:sp>
        <p:nvSpPr>
          <p:cNvPr id="14" name="TextBox 13">
            <a:extLst>
              <a:ext uri="{FF2B5EF4-FFF2-40B4-BE49-F238E27FC236}">
                <a16:creationId xmlns:a16="http://schemas.microsoft.com/office/drawing/2014/main" id="{D7CE9D0A-FF21-B985-D2A4-13C32EDEEEBF}"/>
              </a:ext>
            </a:extLst>
          </p:cNvPr>
          <p:cNvSpPr txBox="1"/>
          <p:nvPr/>
        </p:nvSpPr>
        <p:spPr>
          <a:xfrm>
            <a:off x="838200" y="5553678"/>
            <a:ext cx="3223378" cy="369332"/>
          </a:xfrm>
          <a:prstGeom prst="rect">
            <a:avLst/>
          </a:prstGeom>
          <a:noFill/>
        </p:spPr>
        <p:txBody>
          <a:bodyPr wrap="square" rtlCol="0">
            <a:spAutoFit/>
          </a:bodyPr>
          <a:lstStyle/>
          <a:p>
            <a:r>
              <a:rPr lang="en-GB">
                <a:latin typeface="Verdana" panose="020B0604030504040204" pitchFamily="34" charset="0"/>
              </a:rPr>
              <a:t>Source: </a:t>
            </a:r>
            <a:r>
              <a:rPr lang="en-GB">
                <a:latin typeface="Verdana" panose="020B0604030504040204" pitchFamily="34" charset="0"/>
                <a:hlinkClick r:id="rId4"/>
              </a:rPr>
              <a:t>Johnathan Mun</a:t>
            </a:r>
            <a:endParaRPr lang="en-US">
              <a:latin typeface="Verdana" panose="020B0604030504040204" pitchFamily="34" charset="0"/>
            </a:endParaRPr>
          </a:p>
        </p:txBody>
      </p:sp>
      <p:pic>
        <p:nvPicPr>
          <p:cNvPr id="3" name="Graphic 2">
            <a:extLst>
              <a:ext uri="{FF2B5EF4-FFF2-40B4-BE49-F238E27FC236}">
                <a16:creationId xmlns:a16="http://schemas.microsoft.com/office/drawing/2014/main" id="{9B334C8D-1E46-1C71-963D-D7686239EFC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00523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42E8-CCE8-B1DD-484F-5120E763F0DE}"/>
              </a:ext>
            </a:extLst>
          </p:cNvPr>
          <p:cNvSpPr>
            <a:spLocks noGrp="1"/>
          </p:cNvSpPr>
          <p:nvPr>
            <p:ph type="title"/>
          </p:nvPr>
        </p:nvSpPr>
        <p:spPr/>
        <p:txBody>
          <a:bodyPr/>
          <a:lstStyle/>
          <a:p>
            <a:r>
              <a:rPr lang="en-GB"/>
              <a:t>Typical Confidence Levels and Errors</a:t>
            </a:r>
          </a:p>
        </p:txBody>
      </p:sp>
      <p:sp>
        <p:nvSpPr>
          <p:cNvPr id="3" name="Content Placeholder 2">
            <a:extLst>
              <a:ext uri="{FF2B5EF4-FFF2-40B4-BE49-F238E27FC236}">
                <a16:creationId xmlns:a16="http://schemas.microsoft.com/office/drawing/2014/main" id="{64805115-0815-FE53-8109-06B55CFA8FFF}"/>
              </a:ext>
            </a:extLst>
          </p:cNvPr>
          <p:cNvSpPr>
            <a:spLocks noGrp="1"/>
          </p:cNvSpPr>
          <p:nvPr>
            <p:ph idx="1"/>
          </p:nvPr>
        </p:nvSpPr>
        <p:spPr/>
        <p:txBody>
          <a:bodyPr>
            <a:normAutofit/>
          </a:bodyPr>
          <a:lstStyle/>
          <a:p>
            <a:r>
              <a:rPr lang="en-GB" sz="2400" dirty="0"/>
              <a:t>Metering and laboratory results typically operate at a CL of 95%.</a:t>
            </a:r>
          </a:p>
          <a:p>
            <a:pPr marL="457200" indent="-457200">
              <a:buFont typeface="Arial" panose="020B0604020202020204" pitchFamily="34" charset="0"/>
              <a:buChar char="•"/>
            </a:pPr>
            <a:r>
              <a:rPr lang="en-GB" sz="2400" dirty="0"/>
              <a:t>A class 1 billing meter thus has an error of 1% at a 95% confidence level.</a:t>
            </a:r>
          </a:p>
          <a:p>
            <a:r>
              <a:rPr lang="en-GB" sz="2400" dirty="0"/>
              <a:t>The social sciences typically work with smaller confidence levels and higher accepted deviations.</a:t>
            </a:r>
          </a:p>
          <a:p>
            <a:pPr marL="457200" indent="-457200">
              <a:buFont typeface="Arial" panose="020B0604020202020204" pitchFamily="34" charset="0"/>
              <a:buChar char="•"/>
            </a:pPr>
            <a:r>
              <a:rPr lang="en-GB" sz="2400" dirty="0"/>
              <a:t>A social study with sampled interviews will evaluate results at typically 68% confidence level.</a:t>
            </a:r>
          </a:p>
        </p:txBody>
      </p:sp>
      <p:pic>
        <p:nvPicPr>
          <p:cNvPr id="4" name="Graphic 3">
            <a:extLst>
              <a:ext uri="{FF2B5EF4-FFF2-40B4-BE49-F238E27FC236}">
                <a16:creationId xmlns:a16="http://schemas.microsoft.com/office/drawing/2014/main" id="{F63146BE-6E1F-CD81-1446-74A20D1D5A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33552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C1BBA-B798-899C-494E-6073C3D6DCD5}"/>
              </a:ext>
            </a:extLst>
          </p:cNvPr>
          <p:cNvSpPr>
            <a:spLocks noGrp="1"/>
          </p:cNvSpPr>
          <p:nvPr>
            <p:ph type="title"/>
          </p:nvPr>
        </p:nvSpPr>
        <p:spPr/>
        <p:txBody>
          <a:bodyPr>
            <a:normAutofit/>
          </a:bodyPr>
          <a:lstStyle/>
          <a:p>
            <a:r>
              <a:rPr lang="en-GB" sz="4000"/>
              <a:t>Acceptable CL and Error Levels for M&amp;V</a:t>
            </a:r>
          </a:p>
        </p:txBody>
      </p:sp>
      <p:sp>
        <p:nvSpPr>
          <p:cNvPr id="3" name="Content Placeholder 2">
            <a:extLst>
              <a:ext uri="{FF2B5EF4-FFF2-40B4-BE49-F238E27FC236}">
                <a16:creationId xmlns:a16="http://schemas.microsoft.com/office/drawing/2014/main" id="{42B47DDC-245A-BDDD-8F4D-4E7A7B816110}"/>
              </a:ext>
            </a:extLst>
          </p:cNvPr>
          <p:cNvSpPr>
            <a:spLocks noGrp="1"/>
          </p:cNvSpPr>
          <p:nvPr>
            <p:ph idx="1"/>
          </p:nvPr>
        </p:nvSpPr>
        <p:spPr>
          <a:xfrm>
            <a:off x="838200" y="1690688"/>
            <a:ext cx="10515600" cy="4351338"/>
          </a:xfrm>
        </p:spPr>
        <p:txBody>
          <a:bodyPr>
            <a:normAutofit fontScale="92500"/>
          </a:bodyPr>
          <a:lstStyle/>
          <a:p>
            <a:r>
              <a:rPr lang="en-GB" sz="2600"/>
              <a:t>There are no hard and fast rules regarding acceptable confidence levels and intervals for M&amp;V. Acceptability is function of cost and effort to reduce error.</a:t>
            </a:r>
          </a:p>
          <a:p>
            <a:r>
              <a:rPr lang="en-GB" sz="2600"/>
              <a:t>Some rules of thumb from South Africa (example):</a:t>
            </a:r>
            <a:r>
              <a:rPr lang="en-GB"/>
              <a:t>  </a:t>
            </a:r>
          </a:p>
          <a:p>
            <a:pPr marL="1143000" lvl="1" indent="-457200"/>
            <a:r>
              <a:rPr lang="en-GB"/>
              <a:t>Report at confidence level of 80% (mixture of human and machine)</a:t>
            </a:r>
          </a:p>
          <a:p>
            <a:pPr marL="1143000" lvl="1" indent="-457200"/>
            <a:r>
              <a:rPr lang="en-GB"/>
              <a:t>Precision of plus-or-minus 7% for up to 15 data points</a:t>
            </a:r>
          </a:p>
          <a:p>
            <a:pPr marL="1143000" lvl="1" indent="-457200"/>
            <a:r>
              <a:rPr lang="en-GB"/>
              <a:t>Precision of plus-or-minus 15% for 16–52 data points</a:t>
            </a:r>
          </a:p>
          <a:p>
            <a:pPr marL="1143000" lvl="1" indent="-457200"/>
            <a:r>
              <a:rPr lang="en-GB"/>
              <a:t>Precision of plus-or-minus 20% for more than 52 data points</a:t>
            </a:r>
          </a:p>
          <a:p>
            <a:endParaRPr lang="en-GB"/>
          </a:p>
        </p:txBody>
      </p:sp>
      <p:pic>
        <p:nvPicPr>
          <p:cNvPr id="4" name="Graphic 3">
            <a:extLst>
              <a:ext uri="{FF2B5EF4-FFF2-40B4-BE49-F238E27FC236}">
                <a16:creationId xmlns:a16="http://schemas.microsoft.com/office/drawing/2014/main" id="{977B14CF-FC01-38B2-4454-1E982DD111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925703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F5EC-9F96-BA52-2171-11296665A2C3}"/>
              </a:ext>
            </a:extLst>
          </p:cNvPr>
          <p:cNvSpPr>
            <a:spLocks noGrp="1"/>
          </p:cNvSpPr>
          <p:nvPr>
            <p:ph type="title"/>
          </p:nvPr>
        </p:nvSpPr>
        <p:spPr/>
        <p:txBody>
          <a:bodyPr/>
          <a:lstStyle/>
          <a:p>
            <a:r>
              <a:rPr lang="en-US" dirty="0"/>
              <a:t>Combining Uncertainty</a:t>
            </a:r>
          </a:p>
        </p:txBody>
      </p:sp>
      <p:sp>
        <p:nvSpPr>
          <p:cNvPr id="3" name="Content Placeholder 2">
            <a:extLst>
              <a:ext uri="{FF2B5EF4-FFF2-40B4-BE49-F238E27FC236}">
                <a16:creationId xmlns:a16="http://schemas.microsoft.com/office/drawing/2014/main" id="{7D0C6930-17E7-5393-CD8C-536F6D9B52C3}"/>
              </a:ext>
            </a:extLst>
          </p:cNvPr>
          <p:cNvSpPr>
            <a:spLocks noGrp="1"/>
          </p:cNvSpPr>
          <p:nvPr>
            <p:ph idx="1"/>
          </p:nvPr>
        </p:nvSpPr>
        <p:spPr>
          <a:xfrm>
            <a:off x="815163" y="1916112"/>
            <a:ext cx="10515600" cy="4351338"/>
          </a:xfrm>
        </p:spPr>
        <p:txBody>
          <a:bodyPr/>
          <a:lstStyle/>
          <a:p>
            <a:r>
              <a:rPr lang="en-US" dirty="0"/>
              <a:t>Measured 80 units before</a:t>
            </a:r>
          </a:p>
          <a:p>
            <a:r>
              <a:rPr lang="en-US" dirty="0"/>
              <a:t>Measured 60 units after</a:t>
            </a:r>
          </a:p>
          <a:p>
            <a:r>
              <a:rPr lang="en-US" dirty="0"/>
              <a:t>With a 5% meter accuracy</a:t>
            </a:r>
          </a:p>
          <a:p>
            <a:r>
              <a:rPr lang="en-US" dirty="0"/>
              <a:t>What’s the relative uncertainty (</a:t>
            </a:r>
            <a:r>
              <a:rPr lang="en-US" dirty="0" err="1"/>
              <a:t>U</a:t>
            </a:r>
            <a:r>
              <a:rPr lang="en-US" sz="2000" dirty="0" err="1"/>
              <a:t>tot</a:t>
            </a:r>
            <a:r>
              <a:rPr lang="en-US" dirty="0"/>
              <a:t>) of the impact?</a:t>
            </a:r>
          </a:p>
          <a:p>
            <a:r>
              <a:rPr lang="en-US" sz="2400" dirty="0" err="1"/>
              <a:t>U</a:t>
            </a:r>
            <a:r>
              <a:rPr lang="en-US" sz="1800" dirty="0" err="1"/>
              <a:t>tot</a:t>
            </a:r>
            <a:r>
              <a:rPr lang="en-US" sz="2400" dirty="0"/>
              <a:t> = sqrt ((80*.05)^2 + (60*.05)^2) = sqrt (16+9)= </a:t>
            </a:r>
            <a:r>
              <a:rPr lang="en-US" dirty="0"/>
              <a:t>5</a:t>
            </a:r>
          </a:p>
          <a:p>
            <a:r>
              <a:rPr lang="en-US" dirty="0"/>
              <a:t>5/20 = .25 or 25%</a:t>
            </a:r>
          </a:p>
        </p:txBody>
      </p:sp>
      <p:pic>
        <p:nvPicPr>
          <p:cNvPr id="4" name="Graphic 3">
            <a:extLst>
              <a:ext uri="{FF2B5EF4-FFF2-40B4-BE49-F238E27FC236}">
                <a16:creationId xmlns:a16="http://schemas.microsoft.com/office/drawing/2014/main" id="{DDB8C410-CBF8-6BF0-73D3-787A9CDC57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
        <p:nvSpPr>
          <p:cNvPr id="5" name="TextBox 4">
            <a:extLst>
              <a:ext uri="{FF2B5EF4-FFF2-40B4-BE49-F238E27FC236}">
                <a16:creationId xmlns:a16="http://schemas.microsoft.com/office/drawing/2014/main" id="{8E03F388-58A5-2B7B-F942-787D33D8F664}"/>
              </a:ext>
            </a:extLst>
          </p:cNvPr>
          <p:cNvSpPr txBox="1"/>
          <p:nvPr/>
        </p:nvSpPr>
        <p:spPr>
          <a:xfrm>
            <a:off x="2293621" y="6492875"/>
            <a:ext cx="915923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a:effectLst/>
                <a:latin typeface="Verdana" panose="020B0604030504040204" pitchFamily="34" charset="0"/>
                <a:ea typeface="Verdana" panose="020B0604030504040204" pitchFamily="34" charset="0"/>
              </a:rPr>
              <a:t>IPMVP is a registered trademark of EVO. AEE is using the term “IPMVP” only to refer to the protocol.</a:t>
            </a:r>
            <a:endParaRPr lang="en-US" sz="1000">
              <a:latin typeface="Verdana" panose="020B0604030504040204" pitchFamily="34" charset="0"/>
            </a:endParaRPr>
          </a:p>
        </p:txBody>
      </p:sp>
      <p:sp>
        <p:nvSpPr>
          <p:cNvPr id="6" name="Right Triangle 5">
            <a:extLst>
              <a:ext uri="{FF2B5EF4-FFF2-40B4-BE49-F238E27FC236}">
                <a16:creationId xmlns:a16="http://schemas.microsoft.com/office/drawing/2014/main" id="{977B2E7D-D118-5BB9-E970-4A435B07029A}"/>
              </a:ext>
            </a:extLst>
          </p:cNvPr>
          <p:cNvSpPr/>
          <p:nvPr/>
        </p:nvSpPr>
        <p:spPr>
          <a:xfrm>
            <a:off x="8367165" y="1966794"/>
            <a:ext cx="1998733" cy="1011504"/>
          </a:xfrm>
          <a:prstGeom prst="r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DE5930B-15CD-625B-4433-D48DCF8207B6}"/>
              </a:ext>
            </a:extLst>
          </p:cNvPr>
          <p:cNvSpPr txBox="1"/>
          <p:nvPr/>
        </p:nvSpPr>
        <p:spPr>
          <a:xfrm>
            <a:off x="8367165" y="3204446"/>
            <a:ext cx="1553670" cy="369332"/>
          </a:xfrm>
          <a:prstGeom prst="rect">
            <a:avLst/>
          </a:prstGeom>
          <a:noFill/>
        </p:spPr>
        <p:txBody>
          <a:bodyPr wrap="square" rtlCol="0">
            <a:spAutoFit/>
          </a:bodyPr>
          <a:lstStyle/>
          <a:p>
            <a:r>
              <a:rPr lang="en-US" dirty="0" err="1"/>
              <a:t>Pythagorus</a:t>
            </a:r>
            <a:r>
              <a:rPr lang="en-US" dirty="0"/>
              <a:t>?</a:t>
            </a:r>
          </a:p>
        </p:txBody>
      </p:sp>
    </p:spTree>
    <p:extLst>
      <p:ext uri="{BB962C8B-B14F-4D97-AF65-F5344CB8AC3E}">
        <p14:creationId xmlns:p14="http://schemas.microsoft.com/office/powerpoint/2010/main" val="2251068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08B75-072B-3263-9C30-B3C2DFB538AA}"/>
              </a:ext>
            </a:extLst>
          </p:cNvPr>
          <p:cNvSpPr>
            <a:spLocks noGrp="1"/>
          </p:cNvSpPr>
          <p:nvPr>
            <p:ph type="title"/>
          </p:nvPr>
        </p:nvSpPr>
        <p:spPr/>
        <p:txBody>
          <a:bodyPr/>
          <a:lstStyle/>
          <a:p>
            <a:r>
              <a:rPr lang="en-US" dirty="0"/>
              <a:t>Degrees of Freedom</a:t>
            </a:r>
          </a:p>
        </p:txBody>
      </p:sp>
      <p:sp>
        <p:nvSpPr>
          <p:cNvPr id="3" name="Content Placeholder 2">
            <a:extLst>
              <a:ext uri="{FF2B5EF4-FFF2-40B4-BE49-F238E27FC236}">
                <a16:creationId xmlns:a16="http://schemas.microsoft.com/office/drawing/2014/main" id="{D1E9676D-01E2-CFC7-4B33-C1BC5EDA3B25}"/>
              </a:ext>
            </a:extLst>
          </p:cNvPr>
          <p:cNvSpPr>
            <a:spLocks noGrp="1"/>
          </p:cNvSpPr>
          <p:nvPr>
            <p:ph idx="1"/>
          </p:nvPr>
        </p:nvSpPr>
        <p:spPr/>
        <p:txBody>
          <a:bodyPr>
            <a:normAutofit fontScale="85000" lnSpcReduction="10000"/>
          </a:bodyPr>
          <a:lstStyle/>
          <a:p>
            <a:pPr algn="l">
              <a:buNone/>
            </a:pPr>
            <a:r>
              <a:rPr lang="en-US" b="1" i="0" u="none" strike="noStrike" dirty="0">
                <a:solidFill>
                  <a:srgbClr val="000000"/>
                </a:solidFill>
                <a:effectLst/>
              </a:rPr>
              <a:t>Degrees of freedom (</a:t>
            </a:r>
            <a:r>
              <a:rPr lang="en-US" b="1" i="0" u="none" strike="noStrike" dirty="0" err="1">
                <a:solidFill>
                  <a:srgbClr val="000000"/>
                </a:solidFill>
                <a:effectLst/>
              </a:rPr>
              <a:t>df</a:t>
            </a:r>
            <a:r>
              <a:rPr lang="en-US" b="1" i="0" u="none" strike="noStrike" dirty="0">
                <a:solidFill>
                  <a:srgbClr val="000000"/>
                </a:solidFill>
                <a:effectLst/>
              </a:rPr>
              <a:t>)</a:t>
            </a:r>
            <a:r>
              <a:rPr lang="en-US" b="0" i="0" u="none" strike="noStrike" dirty="0">
                <a:solidFill>
                  <a:srgbClr val="000000"/>
                </a:solidFill>
                <a:effectLst/>
              </a:rPr>
              <a:t> in a basic statistics course typically refers to the number of independent pieces of information available for calculating a statistical parameter or test statistic. It represents how many values can vary freely after certain constraints (like means or totals) have been applied.</a:t>
            </a:r>
          </a:p>
          <a:p>
            <a:pPr algn="l">
              <a:buNone/>
            </a:pPr>
            <a:r>
              <a:rPr lang="en-US" b="0" i="0" u="none" strike="noStrike" dirty="0">
                <a:solidFill>
                  <a:srgbClr val="000000"/>
                </a:solidFill>
                <a:effectLst/>
              </a:rPr>
              <a:t>For example, when calculating the variance of a sample with n observations, you first estimate the mean, and thus lose one degree of freedom, resulting in n−1 degrees of freedom.</a:t>
            </a:r>
          </a:p>
          <a:p>
            <a:pPr algn="l"/>
            <a:r>
              <a:rPr lang="en-US" b="0" i="0" u="none" strike="noStrike" dirty="0">
                <a:solidFill>
                  <a:srgbClr val="000000"/>
                </a:solidFill>
                <a:effectLst/>
              </a:rPr>
              <a:t>In short, degrees of freedom indicate how many numbers in your calculation are free to vary once you've accounted for other parameters or constraints.</a:t>
            </a:r>
          </a:p>
          <a:p>
            <a:endParaRPr lang="en-US" dirty="0"/>
          </a:p>
        </p:txBody>
      </p:sp>
    </p:spTree>
    <p:extLst>
      <p:ext uri="{BB962C8B-B14F-4D97-AF65-F5344CB8AC3E}">
        <p14:creationId xmlns:p14="http://schemas.microsoft.com/office/powerpoint/2010/main" val="2218334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F5EC-9F96-BA52-2171-11296665A2C3}"/>
              </a:ext>
            </a:extLst>
          </p:cNvPr>
          <p:cNvSpPr>
            <a:spLocks noGrp="1"/>
          </p:cNvSpPr>
          <p:nvPr>
            <p:ph type="title"/>
          </p:nvPr>
        </p:nvSpPr>
        <p:spPr/>
        <p:txBody>
          <a:bodyPr/>
          <a:lstStyle/>
          <a:p>
            <a:r>
              <a:rPr lang="en-US"/>
              <a:t>Links to Resources </a:t>
            </a:r>
          </a:p>
        </p:txBody>
      </p:sp>
      <p:sp>
        <p:nvSpPr>
          <p:cNvPr id="3" name="Content Placeholder 2">
            <a:extLst>
              <a:ext uri="{FF2B5EF4-FFF2-40B4-BE49-F238E27FC236}">
                <a16:creationId xmlns:a16="http://schemas.microsoft.com/office/drawing/2014/main" id="{7D0C6930-17E7-5393-CD8C-536F6D9B52C3}"/>
              </a:ext>
            </a:extLst>
          </p:cNvPr>
          <p:cNvSpPr>
            <a:spLocks noGrp="1"/>
          </p:cNvSpPr>
          <p:nvPr>
            <p:ph idx="1"/>
          </p:nvPr>
        </p:nvSpPr>
        <p:spPr>
          <a:xfrm>
            <a:off x="815163" y="1916112"/>
            <a:ext cx="10515600" cy="4351338"/>
          </a:xfrm>
        </p:spPr>
        <p:txBody>
          <a:bodyPr/>
          <a:lstStyle/>
          <a:p>
            <a:r>
              <a:rPr lang="en-US" dirty="0"/>
              <a:t>BPA Uncertainty Guide</a:t>
            </a:r>
          </a:p>
          <a:p>
            <a:r>
              <a:rPr lang="en-US" dirty="0"/>
              <a:t>EVO – IPMVP 2012 – APPENDIX B</a:t>
            </a:r>
          </a:p>
          <a:p>
            <a:r>
              <a:rPr lang="en-US" dirty="0"/>
              <a:t>EVO STATS AND UNCERTAINTY GUIDE</a:t>
            </a:r>
          </a:p>
          <a:p>
            <a:r>
              <a:rPr lang="en-US" dirty="0"/>
              <a:t>ASHRAE 14</a:t>
            </a:r>
          </a:p>
          <a:p>
            <a:r>
              <a:rPr lang="en-US" dirty="0"/>
              <a:t>EVO= Efficiency Valuation Organization</a:t>
            </a:r>
          </a:p>
          <a:p>
            <a:endParaRPr lang="en-US" dirty="0"/>
          </a:p>
        </p:txBody>
      </p:sp>
      <p:pic>
        <p:nvPicPr>
          <p:cNvPr id="4" name="Graphic 3">
            <a:extLst>
              <a:ext uri="{FF2B5EF4-FFF2-40B4-BE49-F238E27FC236}">
                <a16:creationId xmlns:a16="http://schemas.microsoft.com/office/drawing/2014/main" id="{DDB8C410-CBF8-6BF0-73D3-787A9CDC57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
        <p:nvSpPr>
          <p:cNvPr id="5" name="TextBox 4">
            <a:extLst>
              <a:ext uri="{FF2B5EF4-FFF2-40B4-BE49-F238E27FC236}">
                <a16:creationId xmlns:a16="http://schemas.microsoft.com/office/drawing/2014/main" id="{8E03F388-58A5-2B7B-F942-787D33D8F664}"/>
              </a:ext>
            </a:extLst>
          </p:cNvPr>
          <p:cNvSpPr txBox="1"/>
          <p:nvPr/>
        </p:nvSpPr>
        <p:spPr>
          <a:xfrm>
            <a:off x="2293621" y="6492875"/>
            <a:ext cx="915923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a:effectLst/>
                <a:latin typeface="Verdana" panose="020B0604030504040204" pitchFamily="34" charset="0"/>
                <a:ea typeface="Verdana" panose="020B0604030504040204" pitchFamily="34" charset="0"/>
              </a:rPr>
              <a:t>IPMVP is a registered trademark of EVO. AEE is using the term “IPMVP” only to refer to the protocol.</a:t>
            </a:r>
            <a:endParaRPr lang="en-US" sz="1000">
              <a:latin typeface="Verdana" panose="020B0604030504040204" pitchFamily="34" charset="0"/>
            </a:endParaRPr>
          </a:p>
        </p:txBody>
      </p:sp>
    </p:spTree>
    <p:extLst>
      <p:ext uri="{BB962C8B-B14F-4D97-AF65-F5344CB8AC3E}">
        <p14:creationId xmlns:p14="http://schemas.microsoft.com/office/powerpoint/2010/main" val="339497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F8726B-B980-4ED5-9F11-E65DB1718071}">
  <ds:schemaRefs>
    <ds:schemaRef ds:uri="http://purl.org/dc/elements/1.1/"/>
    <ds:schemaRef ds:uri="267a8a91-dfd1-490b-b5c1-63772aa9a30a"/>
    <ds:schemaRef ds:uri="http://www.w3.org/XML/1998/namespace"/>
    <ds:schemaRef ds:uri="http://purl.org/dc/terms/"/>
    <ds:schemaRef ds:uri="a6218c6d-ee78-4afe-8639-984cf5de87af"/>
    <ds:schemaRef ds:uri="http://schemas.microsoft.com/office/2006/metadata/properties"/>
    <ds:schemaRef ds:uri="http://purl.org/dc/dcmityp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1F1E9EF-D65D-4CF2-860E-499E1E0D1496}"/>
</file>

<file path=customXml/itemProps3.xml><?xml version="1.0" encoding="utf-8"?>
<ds:datastoreItem xmlns:ds="http://schemas.openxmlformats.org/officeDocument/2006/customXml" ds:itemID="{D8BF64DB-D942-4A20-80F1-FB121BB9C9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29970</TotalTime>
  <Words>1745</Words>
  <Application>Microsoft Office PowerPoint</Application>
  <PresentationFormat>Widescreen</PresentationFormat>
  <Paragraphs>168</Paragraphs>
  <Slides>31</Slides>
  <Notes>20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31</vt:i4>
      </vt:variant>
    </vt:vector>
  </HeadingPairs>
  <TitlesOfParts>
    <vt:vector size="43" baseType="lpstr">
      <vt:lpstr>Verdana</vt:lpstr>
      <vt:lpstr>Aptos Display</vt:lpstr>
      <vt:lpstr>Segoe UI Light</vt:lpstr>
      <vt:lpstr>Arial</vt:lpstr>
      <vt:lpstr>Aptos</vt:lpstr>
      <vt:lpstr>Cambria Math</vt:lpstr>
      <vt:lpstr>Segoe UI Semibold</vt:lpstr>
      <vt:lpstr>Calibri Light</vt:lpstr>
      <vt:lpstr>Office Theme</vt:lpstr>
      <vt:lpstr>Workbooks</vt:lpstr>
      <vt:lpstr>Custom Design</vt:lpstr>
      <vt:lpstr>1_Workbooks</vt:lpstr>
      <vt:lpstr>INTERLUDE Basic Concepts in Statistics</vt:lpstr>
      <vt:lpstr>Uncertainty</vt:lpstr>
      <vt:lpstr>Descriptive Statistics</vt:lpstr>
      <vt:lpstr>Mean</vt:lpstr>
      <vt:lpstr>Maximum and Minimum</vt:lpstr>
      <vt:lpstr>Range and Variance</vt:lpstr>
      <vt:lpstr>Standard Deviation</vt:lpstr>
      <vt:lpstr>Coefficient of Variation (CV)</vt:lpstr>
      <vt:lpstr>CV(RMSE)</vt:lpstr>
      <vt:lpstr>From ASHRAE Guideline 14</vt:lpstr>
      <vt:lpstr>Normalized Mean Bias Error</vt:lpstr>
      <vt:lpstr>Exercise</vt:lpstr>
      <vt:lpstr>Sampling: Techniques</vt:lpstr>
      <vt:lpstr>PowerPoint Presentation</vt:lpstr>
      <vt:lpstr>Inferential Statistics</vt:lpstr>
      <vt:lpstr>Regression Analysis</vt:lpstr>
      <vt:lpstr>Variables in Regression </vt:lpstr>
      <vt:lpstr>Dimensionality</vt:lpstr>
      <vt:lpstr>R (Correlation Coefficient)</vt:lpstr>
      <vt:lpstr>R2 (Coefficient of Determination)</vt:lpstr>
      <vt:lpstr>PowerPoint Presentation</vt:lpstr>
      <vt:lpstr>Defining Accuracy and Precision</vt:lpstr>
      <vt:lpstr>Bias</vt:lpstr>
      <vt:lpstr>Relation to Normal Distribution</vt:lpstr>
      <vt:lpstr>Normal Distribution and Standard Deviation</vt:lpstr>
      <vt:lpstr>Size of Standard Error vs. Confidence Interval</vt:lpstr>
      <vt:lpstr>Typical Confidence Levels and Errors</vt:lpstr>
      <vt:lpstr>Acceptable CL and Error Levels for M&amp;V</vt:lpstr>
      <vt:lpstr>Combining Uncertainty</vt:lpstr>
      <vt:lpstr>Degrees of Freedom</vt:lpstr>
      <vt:lpstr>Links to Resources </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Martijn Prak</cp:lastModifiedBy>
  <cp:revision>69</cp:revision>
  <cp:lastPrinted>2023-09-28T19:47:32Z</cp:lastPrinted>
  <dcterms:created xsi:type="dcterms:W3CDTF">2018-12-23T18:03:31Z</dcterms:created>
  <dcterms:modified xsi:type="dcterms:W3CDTF">2025-11-21T15:25:41Z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622400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