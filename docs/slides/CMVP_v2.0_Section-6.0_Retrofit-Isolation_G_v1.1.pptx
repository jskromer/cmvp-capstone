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82" r:id="rId4"/>
    <p:sldMasterId id="2147483759" r:id="rId5"/>
    <p:sldMasterId id="2147483791" r:id="rId6"/>
    <p:sldMasterId id="2147483772" r:id="rId7"/>
  </p:sldMasterIdLst>
  <p:notesMasterIdLst>
    <p:notesMasterId r:id="rId30"/>
  </p:notesMasterIdLst>
  <p:handoutMasterIdLst>
    <p:handoutMasterId r:id="rId31"/>
  </p:handoutMasterIdLst>
  <p:sldIdLst>
    <p:sldId id="323" r:id="rId8"/>
    <p:sldId id="406" r:id="rId9"/>
    <p:sldId id="326" r:id="rId10"/>
    <p:sldId id="327" r:id="rId11"/>
    <p:sldId id="2831" r:id="rId12"/>
    <p:sldId id="2818" r:id="rId13"/>
    <p:sldId id="2819" r:id="rId14"/>
    <p:sldId id="2820" r:id="rId15"/>
    <p:sldId id="2821" r:id="rId16"/>
    <p:sldId id="2822" r:id="rId17"/>
    <p:sldId id="2823" r:id="rId18"/>
    <p:sldId id="354" r:id="rId19"/>
    <p:sldId id="2065" r:id="rId20"/>
    <p:sldId id="334" r:id="rId21"/>
    <p:sldId id="429" r:id="rId22"/>
    <p:sldId id="335" r:id="rId23"/>
    <p:sldId id="391" r:id="rId24"/>
    <p:sldId id="392" r:id="rId25"/>
    <p:sldId id="393" r:id="rId26"/>
    <p:sldId id="416" r:id="rId27"/>
    <p:sldId id="325" r:id="rId28"/>
    <p:sldId id="2762" r:id="rId29"/>
  </p:sldIdLst>
  <p:sldSz cx="12192000" cy="6858000"/>
  <p:notesSz cx="7315200" cy="9601200"/>
  <p:embeddedFontLst>
    <p:embeddedFont>
      <p:font typeface="Segoe UI Light" panose="020B0502040204020203" pitchFamily="34" charset="0"/>
      <p:regular r:id="rId32"/>
      <p:italic r:id="rId33"/>
    </p:embeddedFont>
    <p:embeddedFont>
      <p:font typeface="Segoe UI Semibold" panose="020B0702040204020203" pitchFamily="34" charset="0"/>
      <p:regular r:id="rId34"/>
      <p:bold r:id="rId35"/>
      <p:italic r:id="rId36"/>
      <p:boldItalic r:id="rId37"/>
    </p:embeddedFont>
    <p:embeddedFont>
      <p:font typeface="Semplicita Pro" panose="020F0502020204030204" pitchFamily="34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6" id="{D484FFB1-AF8F-E348-ACBA-7A57E96E9137}">
          <p14:sldIdLst>
            <p14:sldId id="323"/>
            <p14:sldId id="406"/>
            <p14:sldId id="326"/>
            <p14:sldId id="327"/>
            <p14:sldId id="2831"/>
            <p14:sldId id="2818"/>
            <p14:sldId id="2819"/>
            <p14:sldId id="2820"/>
            <p14:sldId id="2821"/>
            <p14:sldId id="2822"/>
            <p14:sldId id="2823"/>
            <p14:sldId id="354"/>
            <p14:sldId id="2065"/>
            <p14:sldId id="334"/>
            <p14:sldId id="429"/>
            <p14:sldId id="335"/>
            <p14:sldId id="391"/>
            <p14:sldId id="392"/>
            <p14:sldId id="393"/>
            <p14:sldId id="416"/>
            <p14:sldId id="325"/>
            <p14:sldId id="276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0E661A-16D0-5403-552F-030E5600146C}" name="Steve Kromer" initials="SK" userId="S::steve@counterfactual-designs.com::3422a2b1-b5f1-46bb-a09f-17841b28c920" providerId="AD"/>
  <p188:author id="{F929B92B-5FBA-2421-6909-2730212124E6}" name="Chris Balbach" initials="CB" userId="Chris Balbach" providerId="None"/>
  <p188:author id="{42565433-F785-EC19-A8EF-41BF281547A8}" name="Erick Piller" initials="EP" userId="S::erick@counterfactual-designs.com::69ba48c4-f2f4-4312-a5bd-1ff860b9d88b" providerId="AD"/>
  <p188:author id="{817C43A2-646B-8A36-C16B-0D72086A9FB8}" name="Hassan Ali Younes" initials="HAY" userId="S::hassan@grfn.global::6ea118d4-3ea0-471c-921f-4ae10ac6ccc8" providerId="AD"/>
  <p188:author id="{CE599FF2-E437-F2DC-FA8A-1EA3C907C036}" name="Erick Piller" initials="EP" userId="Erick Piller" providerId="None"/>
  <p188:author id="{456971F8-98E7-7C77-B56E-D29A03818428}" name="Sam Day" initials="SD" userId="S::sam.day@clearesult.com::6df82dd2-643e-45b8-8786-7555ffc5823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FB3"/>
    <a:srgbClr val="F05D5E"/>
    <a:srgbClr val="4A66AC"/>
    <a:srgbClr val="DC965A"/>
    <a:srgbClr val="609ED0"/>
    <a:srgbClr val="59A2AE"/>
    <a:srgbClr val="2C2A4A"/>
    <a:srgbClr val="DB2955"/>
    <a:srgbClr val="44455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40"/>
    <p:restoredTop sz="96159"/>
  </p:normalViewPr>
  <p:slideViewPr>
    <p:cSldViewPr snapToGrid="0">
      <p:cViewPr>
        <p:scale>
          <a:sx n="120" d="100"/>
          <a:sy n="120" d="100"/>
        </p:scale>
        <p:origin x="376" y="32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4320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font" Target="fonts/font8.fntdata"/><Relationship Id="rId21" Type="http://schemas.openxmlformats.org/officeDocument/2006/relationships/slide" Target="slides/slide14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font" Target="fonts/font5.fntdata"/><Relationship Id="rId49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handoutMaster" Target="handoutMasters/handoutMaster1.xml"/><Relationship Id="rId44" Type="http://schemas.openxmlformats.org/officeDocument/2006/relationships/font" Target="fonts/font1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 Kromer" userId="3422a2b1-b5f1-46bb-a09f-17841b28c920" providerId="ADAL" clId="{9560F0CE-FF35-5726-95CF-95A3A0A42013}"/>
    <pc:docChg chg="modSld">
      <pc:chgData name="Steve Kromer" userId="3422a2b1-b5f1-46bb-a09f-17841b28c920" providerId="ADAL" clId="{9560F0CE-FF35-5726-95CF-95A3A0A42013}" dt="2026-03-25T15:44:14.386" v="3" actId="207"/>
      <pc:docMkLst>
        <pc:docMk/>
      </pc:docMkLst>
      <pc:sldChg chg="modSp mod">
        <pc:chgData name="Steve Kromer" userId="3422a2b1-b5f1-46bb-a09f-17841b28c920" providerId="ADAL" clId="{9560F0CE-FF35-5726-95CF-95A3A0A42013}" dt="2026-03-25T15:19:41.146" v="0" actId="207"/>
        <pc:sldMkLst>
          <pc:docMk/>
          <pc:sldMk cId="319503734" sldId="327"/>
        </pc:sldMkLst>
        <pc:spChg chg="mod">
          <ac:chgData name="Steve Kromer" userId="3422a2b1-b5f1-46bb-a09f-17841b28c920" providerId="ADAL" clId="{9560F0CE-FF35-5726-95CF-95A3A0A42013}" dt="2026-03-25T15:19:41.146" v="0" actId="207"/>
          <ac:spMkLst>
            <pc:docMk/>
            <pc:sldMk cId="319503734" sldId="327"/>
            <ac:spMk id="3" creationId="{96FCEB43-7457-D8C7-CD7B-7F6AC54810C4}"/>
          </ac:spMkLst>
        </pc:spChg>
      </pc:sldChg>
      <pc:sldChg chg="modSp mod">
        <pc:chgData name="Steve Kromer" userId="3422a2b1-b5f1-46bb-a09f-17841b28c920" providerId="ADAL" clId="{9560F0CE-FF35-5726-95CF-95A3A0A42013}" dt="2026-03-25T15:44:14.386" v="3" actId="207"/>
        <pc:sldMkLst>
          <pc:docMk/>
          <pc:sldMk cId="1900194887" sldId="335"/>
        </pc:sldMkLst>
        <pc:spChg chg="mod">
          <ac:chgData name="Steve Kromer" userId="3422a2b1-b5f1-46bb-a09f-17841b28c920" providerId="ADAL" clId="{9560F0CE-FF35-5726-95CF-95A3A0A42013}" dt="2026-03-25T15:44:14.386" v="3" actId="207"/>
          <ac:spMkLst>
            <pc:docMk/>
            <pc:sldMk cId="1900194887" sldId="335"/>
            <ac:spMk id="7" creationId="{11D31BF5-C8EA-2DBE-4358-73DD5977D588}"/>
          </ac:spMkLst>
        </pc:spChg>
      </pc:sldChg>
      <pc:sldChg chg="modSp mod">
        <pc:chgData name="Steve Kromer" userId="3422a2b1-b5f1-46bb-a09f-17841b28c920" providerId="ADAL" clId="{9560F0CE-FF35-5726-95CF-95A3A0A42013}" dt="2026-03-25T15:26:47.962" v="2" actId="1076"/>
        <pc:sldMkLst>
          <pc:docMk/>
          <pc:sldMk cId="0" sldId="2822"/>
        </pc:sldMkLst>
        <pc:spChg chg="mod">
          <ac:chgData name="Steve Kromer" userId="3422a2b1-b5f1-46bb-a09f-17841b28c920" providerId="ADAL" clId="{9560F0CE-FF35-5726-95CF-95A3A0A42013}" dt="2026-03-25T15:26:27.105" v="1" actId="1076"/>
          <ac:spMkLst>
            <pc:docMk/>
            <pc:sldMk cId="0" sldId="2822"/>
            <ac:spMk id="8" creationId="{00000000-0000-0000-0000-000000000000}"/>
          </ac:spMkLst>
        </pc:spChg>
        <pc:spChg chg="mod">
          <ac:chgData name="Steve Kromer" userId="3422a2b1-b5f1-46bb-a09f-17841b28c920" providerId="ADAL" clId="{9560F0CE-FF35-5726-95CF-95A3A0A42013}" dt="2026-03-25T15:26:47.962" v="2" actId="1076"/>
          <ac:spMkLst>
            <pc:docMk/>
            <pc:sldMk cId="0" sldId="2822"/>
            <ac:spMk id="9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AC3932-3886-AF3B-4577-2492C27207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628000" y="9120188"/>
            <a:ext cx="2542238" cy="4810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CMVP_v2.0_G_v1.1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99AACF-F874-6EBB-6E79-2DC0B8D9F2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2542238" cy="4810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fld id="{6A0A43C9-0FE5-4E47-A9B5-EF746693113D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t>‹#›</a:t>
            </a:fld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 b="0" i="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 b="0" i="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240405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 b="0" i="0">
                <a:latin typeface="Verdana" panose="020B0604030504040204" pitchFamily="34" charset="0"/>
              </a:defRPr>
            </a:lvl1pPr>
          </a:lstStyle>
          <a:p>
            <a:r>
              <a:rPr lang="en-US"/>
              <a:t>CMVP_v2022.07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 b="0" i="0">
                <a:latin typeface="Verdana" panose="020B0604030504040204" pitchFamily="34" charset="0"/>
              </a:defRPr>
            </a:lvl1pPr>
          </a:lstStyle>
          <a:p>
            <a:fld id="{82869989-EB00-4EE7-BCB5-25BDC5BB29F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282D8A7A-2763-924E-9D2B-562D2FA8E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961" y="8838448"/>
            <a:ext cx="1291278" cy="56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9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B8F31-B97E-9ECB-8068-B94FF2D42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71829-3D46-EA5D-938E-C2E50D878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6B3BA-3BA3-2E6D-AAF1-7CB4DDA45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F84AB-8EB5-EBE6-59E2-BC936A9363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C0DB00-7C40-70EB-9C26-0235870EE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67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50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17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C39B8-34D4-7210-5B31-DD85264D67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</p:spTree>
    <p:extLst>
      <p:ext uri="{BB962C8B-B14F-4D97-AF65-F5344CB8AC3E}">
        <p14:creationId xmlns:p14="http://schemas.microsoft.com/office/powerpoint/2010/main" val="1802232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Instructor Note</a:t>
            </a:r>
          </a:p>
          <a:p>
            <a:r>
              <a:rPr lang="en-US"/>
              <a:t>Consider opening Table 5-2 during the class session. It is on page twenty-nine of this PDF: </a:t>
            </a:r>
          </a:p>
          <a:p>
            <a:r>
              <a:rPr lang="en-US"/>
              <a:t>https://piller.s3.us-east-2.amazonaws.com/ASHRAE+Guideline+14-2014.pdf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35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</a:t>
            </a:r>
            <a:r>
              <a:rPr lang="en-US" err="1"/>
              <a:t>www.nrel.gov</a:t>
            </a:r>
            <a:r>
              <a:rPr lang="en-US"/>
              <a:t>/docs/fy08osti/43156.pdf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14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Update example with something that has variability in the baseline. </a:t>
            </a:r>
          </a:p>
          <a:p>
            <a:r>
              <a:rPr lang="en-US"/>
              <a:t>Hannah Seeger?</a:t>
            </a:r>
          </a:p>
          <a:p>
            <a:r>
              <a:rPr lang="en-US"/>
              <a:t>Show ENRON or other typical physical models for retrofit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AC5E2-B143-3DCB-1034-D474DF4E4F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</p:spTree>
    <p:extLst>
      <p:ext uri="{BB962C8B-B14F-4D97-AF65-F5344CB8AC3E}">
        <p14:creationId xmlns:p14="http://schemas.microsoft.com/office/powerpoint/2010/main" val="3765033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608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4FCFE-E3AC-5A49-AB52-7B585736D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i="0">
                <a:latin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7D152-A22F-464C-9C1C-D6E70F476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476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6187-F6B8-AC44-9D7A-A7C736DA5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95E6-CE14-8942-9616-1BDD6E236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7216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9F4859F1-D5C7-EC48-BAD7-2B16180A04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41153"/>
            <a:ext cx="12192000" cy="16168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F6F62F-6086-F647-B44F-19908D7E2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76263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8EEF1-B00A-A645-A6F4-005FCEF7A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45598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85FC28C-C508-BD4C-8B9A-740C8339A1AA}"/>
              </a:ext>
            </a:extLst>
          </p:cNvPr>
          <p:cNvCxnSpPr>
            <a:cxnSpLocks/>
          </p:cNvCxnSpPr>
          <p:nvPr userDrawn="1"/>
        </p:nvCxnSpPr>
        <p:spPr>
          <a:xfrm>
            <a:off x="958362" y="4160700"/>
            <a:ext cx="10287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70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676D-77D7-1A45-91D1-8AFE4172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03B8F-EF2D-A146-8C3E-22846C450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46874-1196-5246-9CB9-C6D4A51F3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422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0B00-05FE-0842-A0E8-9645A44F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C8197-8236-F04B-B69A-98FED6B50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3F859-F5F2-784C-8AC4-C56A71A1A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D932B1-DF26-154B-AA2F-44BD59F17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2E3E7-6451-0747-8809-DDE98E6B7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25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3DF3-AC55-584C-B99A-A52890AB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377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89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ully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13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F94C-12C0-C24C-8F1B-DD7926C4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66F4-7466-E245-A5E5-E8ED23FCB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78C06-B8C0-724A-882F-4C5FFDAFC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772AB1D-AD15-EE40-B988-EBE8174638B8}"/>
              </a:ext>
            </a:extLst>
          </p:cNvPr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72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078D0-6ECA-8648-A088-37877487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102544-BA53-FD4E-8F5C-C6F86755C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E78FC-C2BF-174C-BEB1-388D3807F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26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6301F7A8-A7D0-17C1-1E8C-89853C42F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E577E1-9FB8-6A42-1A0F-FC0798BE1FB3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EF2BCEF-4B54-F240-35CA-EB6762DC31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7250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4FCFE-E3AC-5A49-AB52-7B585736D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7D152-A22F-464C-9C1C-D6E70F476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801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6187-F6B8-AC44-9D7A-A7C736DA5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95E6-CE14-8942-9616-1BDD6E236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178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B4653C8-34A1-8DB5-99AB-DED32CB2C0D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524" y="5241358"/>
            <a:ext cx="12188952" cy="161664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4ED4429-F895-F294-C9A9-CF2485FB4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362" y="1573469"/>
            <a:ext cx="10286999" cy="2387600"/>
          </a:xfrm>
          <a:prstGeom prst="rect">
            <a:avLst/>
          </a:prstGeom>
        </p:spPr>
        <p:txBody>
          <a:bodyPr anchor="b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0746AD0F-DA27-AA3E-CE83-FEBCA29ED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362" y="4360334"/>
            <a:ext cx="10286999" cy="897467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rgbClr val="89898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2F9FCB-9A33-E0F6-81A4-B060E24B7C33}"/>
              </a:ext>
            </a:extLst>
          </p:cNvPr>
          <p:cNvCxnSpPr>
            <a:cxnSpLocks/>
          </p:cNvCxnSpPr>
          <p:nvPr/>
        </p:nvCxnSpPr>
        <p:spPr>
          <a:xfrm>
            <a:off x="958363" y="4160700"/>
            <a:ext cx="10287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697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676D-77D7-1A45-91D1-8AFE4172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03B8F-EF2D-A146-8C3E-22846C450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46874-1196-5246-9CB9-C6D4A51F3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198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0B00-05FE-0842-A0E8-9645A44F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C8197-8236-F04B-B69A-98FED6B50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3F859-F5F2-784C-8AC4-C56A71A1A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D932B1-DF26-154B-AA2F-44BD59F17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2E3E7-6451-0747-8809-DDE98E6B7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678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3DF3-AC55-584C-B99A-A52890AB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374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330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ully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61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F94C-12C0-C24C-8F1B-DD7926C4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66F4-7466-E245-A5E5-E8ED23FCB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78C06-B8C0-724A-882F-4C5FFDAFC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772AB1D-AD15-EE40-B988-EBE8174638B8}"/>
              </a:ext>
            </a:extLst>
          </p:cNvPr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5575DB-02D9-E952-2213-315BDA88FD42}"/>
              </a:ext>
            </a:extLst>
          </p:cNvPr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34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078D0-6ECA-8648-A088-37877487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102544-BA53-FD4E-8F5C-C6F86755C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E78FC-C2BF-174C-BEB1-388D3807F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452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6301F7A8-A7D0-17C1-1E8C-89853C42F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E577E1-9FB8-6A42-1A0F-FC0798BE1FB3}"/>
              </a:ext>
            </a:extLst>
          </p:cNvPr>
          <p:cNvCxnSpPr>
            <a:cxnSpLocks/>
          </p:cNvCxnSpPr>
          <p:nvPr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EF2BCEF-4B54-F240-35CA-EB6762DC31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picture containing clipart&#10;&#10;Description automatically generated">
            <a:extLst>
              <a:ext uri="{FF2B5EF4-FFF2-40B4-BE49-F238E27FC236}">
                <a16:creationId xmlns:a16="http://schemas.microsoft.com/office/drawing/2014/main" id="{C49ED7A3-C649-6235-DF9D-F3B16E3C81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CE07EE-50FE-474D-0F8E-5F992A7404BA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4485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6301F7A8-A7D0-17C1-1E8C-89853C42F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E577E1-9FB8-6A42-1A0F-FC0798BE1FB3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EF2BCEF-4B54-F240-35CA-EB6762DC31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55640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B08F-9BA6-F36A-B0D9-029AA4C22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84258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992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3B1B-427B-4952-82AE-60202DAD1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361" y="1573469"/>
            <a:ext cx="10286999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303964-C8C6-AA7F-4B01-73CD18CA1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362" y="4360332"/>
            <a:ext cx="10286998" cy="897467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rgbClr val="89898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36028D5E-48DB-E431-5A76-631B89710B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41153"/>
            <a:ext cx="12192000" cy="161684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D4D6E7-D4E4-72C3-4120-84A91FF37BD3}"/>
              </a:ext>
            </a:extLst>
          </p:cNvPr>
          <p:cNvCxnSpPr>
            <a:cxnSpLocks/>
          </p:cNvCxnSpPr>
          <p:nvPr userDrawn="1"/>
        </p:nvCxnSpPr>
        <p:spPr>
          <a:xfrm>
            <a:off x="958362" y="4160700"/>
            <a:ext cx="10287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00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4872-5D78-0FCC-711A-523CD3A0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4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picture containing clipart&#10;&#10;Description automatically generated">
            <a:extLst>
              <a:ext uri="{FF2B5EF4-FFF2-40B4-BE49-F238E27FC236}">
                <a16:creationId xmlns:a16="http://schemas.microsoft.com/office/drawing/2014/main" id="{300D264E-B52D-083B-DDD1-A235CBA447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6F52A1-6E6E-F21A-3811-A193D1D93F4C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EA586E-8A46-1697-3026-716DEAC586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2C8A555-1706-5637-0DCF-42D6F9346F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4621" y="1028935"/>
            <a:ext cx="5259391" cy="240006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A15DAA1B-DA05-AF85-ED79-730185EDE2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4620" y="3429000"/>
            <a:ext cx="5259391" cy="2407939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932A95C9-5605-F23D-2E6D-18A350D72D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4409" y="1029548"/>
            <a:ext cx="5259391" cy="2407939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56FF05F1-D24D-C72C-AF1C-85FE33CA6D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4011" y="3429000"/>
            <a:ext cx="5259391" cy="240793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6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Images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4872-5D78-0FCC-711A-523CD3A0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81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82A5C-B66D-F1CF-7B6F-D6B17B516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2539"/>
            <a:ext cx="10515600" cy="2604423"/>
          </a:xfrm>
        </p:spPr>
        <p:txBody>
          <a:bodyPr tIns="2286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7" name="Picture 6" descr="A picture containing clipart&#10;&#10;Description automatically generated">
            <a:extLst>
              <a:ext uri="{FF2B5EF4-FFF2-40B4-BE49-F238E27FC236}">
                <a16:creationId xmlns:a16="http://schemas.microsoft.com/office/drawing/2014/main" id="{300D264E-B52D-083B-DDD1-A235CBA447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6F52A1-6E6E-F21A-3811-A193D1D93F4C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EA586E-8A46-1697-3026-716DEAC586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8D6E386-D8BA-D64A-058C-0CBA3881C59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63256"/>
            <a:ext cx="5257800" cy="250861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0ED7FFD3-1A10-2363-6DD7-943533E0315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68019"/>
            <a:ext cx="5257800" cy="249909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66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Heavy Swo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4872-5D78-0FCC-711A-523CD3A0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1805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82A5C-B66D-F1CF-7B6F-D6B17B516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18050" cy="4351338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picture containing clipart&#10;&#10;Description automatically generated">
            <a:extLst>
              <a:ext uri="{FF2B5EF4-FFF2-40B4-BE49-F238E27FC236}">
                <a16:creationId xmlns:a16="http://schemas.microsoft.com/office/drawing/2014/main" id="{300D264E-B52D-083B-DDD1-A235CBA447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6F52A1-6E6E-F21A-3811-A193D1D93F4C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752325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160E74C2-3127-E8CF-4918-164FEC8F7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681544" y="2347548"/>
            <a:ext cx="6858000" cy="2156088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6AA31C8-0E72-B9CC-4EDD-96355D3017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90206" y="1611"/>
            <a:ext cx="2098380" cy="6852981"/>
          </a:xfrm>
          <a:custGeom>
            <a:avLst/>
            <a:gdLst>
              <a:gd name="connsiteX0" fmla="*/ 56634 w 1503235"/>
              <a:gd name="connsiteY0" fmla="*/ 0 h 6852981"/>
              <a:gd name="connsiteX1" fmla="*/ 1503235 w 1503235"/>
              <a:gd name="connsiteY1" fmla="*/ 0 h 6852981"/>
              <a:gd name="connsiteX2" fmla="*/ 1503235 w 1503235"/>
              <a:gd name="connsiteY2" fmla="*/ 6852981 h 6852981"/>
              <a:gd name="connsiteX3" fmla="*/ 645860 w 1503235"/>
              <a:gd name="connsiteY3" fmla="*/ 6850473 h 6852981"/>
              <a:gd name="connsiteX4" fmla="*/ 58942 w 1503235"/>
              <a:gd name="connsiteY4" fmla="*/ 3178158 h 6852981"/>
              <a:gd name="connsiteX5" fmla="*/ 56634 w 1503235"/>
              <a:gd name="connsiteY5" fmla="*/ 0 h 6852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03235" h="6852981">
                <a:moveTo>
                  <a:pt x="56634" y="0"/>
                </a:moveTo>
                <a:lnTo>
                  <a:pt x="1503235" y="0"/>
                </a:lnTo>
                <a:lnTo>
                  <a:pt x="1503235" y="6852981"/>
                </a:lnTo>
                <a:lnTo>
                  <a:pt x="645860" y="6850473"/>
                </a:lnTo>
                <a:cubicBezTo>
                  <a:pt x="389952" y="5820167"/>
                  <a:pt x="162339" y="4584273"/>
                  <a:pt x="58942" y="3178158"/>
                </a:cubicBezTo>
                <a:cubicBezTo>
                  <a:pt x="-27949" y="1997097"/>
                  <a:pt x="-10190" y="927359"/>
                  <a:pt x="5663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16CF9A6-C7BC-B26A-AF92-4B1D034103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33613" y="6181725"/>
            <a:ext cx="752263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608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CC704-EDAD-4714-1BCE-6A9024D6E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37322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D63D1-B6F8-0EC2-FC6F-011DFCF5B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37322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609B6BFE-E691-89AD-4C91-86A211ED4C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2DA9E68-AAA7-4FD1-4ACF-A9E2C0529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F6F8C83-DA6C-9D74-DB7C-F33D17024F88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1C6D4C-DF41-8656-E66B-E27FA092EA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91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2CD7-2872-55FB-9A85-F5F5E3F7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016974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EF065-F4A6-A9AF-220D-6B0AFF176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03797"/>
            <a:ext cx="5157787" cy="662070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rgbClr val="89898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04EFB-41BC-9218-6F89-AE3FB427B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65867"/>
            <a:ext cx="5157787" cy="384643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53455-7029-147A-61AB-25BA398DD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03797"/>
            <a:ext cx="5183188" cy="662070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89898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D96CBB-5D01-3987-470C-1A7FCC38D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87564"/>
            <a:ext cx="5183188" cy="382473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DD0812C0-7373-E99F-5460-E09A85290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268754-B97E-FC72-F68A-60310D509A7E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BDA3658-DCCD-5826-B876-EFD9A557D8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0032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549A-74FA-128E-775E-E77CA78AD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E13FE51B-15E2-8B93-8643-6207770DA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78B7C8-8363-300B-388E-47F442A6CC14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F9140F1-3E50-ED16-0F6D-CF6A042F70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381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-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E13FE51B-15E2-8B93-8643-6207770DA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EE1DC80-828E-6A9C-8F1A-0CBE68FBD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1022460"/>
            <a:ext cx="3251662" cy="2262187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A79FBF-8B91-A687-78FA-EFAE1C3A19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3284647"/>
            <a:ext cx="3251661" cy="2419241"/>
          </a:xfrm>
        </p:spPr>
        <p:txBody>
          <a:bodyPr tIns="228600" bIns="45720">
            <a:normAutofit/>
          </a:bodyPr>
          <a:lstStyle>
            <a:lvl1pPr marL="0" indent="0"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4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C79C3993-1A7B-1600-3BFC-2556551018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02138" y="1022460"/>
            <a:ext cx="3251662" cy="2262187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B53C4B3-D449-5543-7867-C2372D3A0D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2137" y="3284647"/>
            <a:ext cx="3251661" cy="2419241"/>
          </a:xfrm>
        </p:spPr>
        <p:txBody>
          <a:bodyPr tIns="228600" bIns="45720">
            <a:normAutofit/>
          </a:bodyPr>
          <a:lstStyle>
            <a:lvl1pPr marL="0" indent="0">
              <a:buNone/>
              <a:defRPr sz="1600"/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011ED4E-3C7D-C1FC-B6FB-1B2743BB931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70166" y="1022460"/>
            <a:ext cx="3251662" cy="2262187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20B54E1-F126-7688-986D-67DBA659B6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70165" y="3284647"/>
            <a:ext cx="3251661" cy="2419241"/>
          </a:xfrm>
        </p:spPr>
        <p:txBody>
          <a:bodyPr tIns="228600" bIns="45720">
            <a:normAutofit/>
          </a:bodyPr>
          <a:lstStyle>
            <a:lvl1pPr marL="0" indent="0">
              <a:buNone/>
              <a:defRPr sz="1600"/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8A4121E-B38A-CF28-38D0-313AEC7A5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883"/>
            <a:ext cx="10515600" cy="740577"/>
          </a:xfrm>
        </p:spPr>
        <p:txBody>
          <a:bodyPr wrap="square" bIns="182880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32CE4B7-8E05-3FCE-DA71-6007B2B869D4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70F523C-BCE7-529C-51A6-A6B9A8A06C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696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-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E13FE51B-15E2-8B93-8643-6207770DA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EE1DC80-828E-6A9C-8F1A-0CBE68FBD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6611" y="1537847"/>
            <a:ext cx="3459155" cy="3456432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A79FBF-8B91-A687-78FA-EFAE1C3A19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09" y="4994279"/>
            <a:ext cx="3459155" cy="640818"/>
          </a:xfrm>
        </p:spPr>
        <p:txBody>
          <a:bodyPr tIns="228600" bIns="45720">
            <a:normAutofit/>
          </a:bodyPr>
          <a:lstStyle>
            <a:lvl1pPr marL="0" indent="0"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4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8A4121E-B38A-CF28-38D0-313AEC7A5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883"/>
            <a:ext cx="10515600" cy="740577"/>
          </a:xfrm>
        </p:spPr>
        <p:txBody>
          <a:bodyPr wrap="square" bIns="182880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32CE4B7-8E05-3FCE-DA71-6007B2B869D4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70F523C-BCE7-529C-51A6-A6B9A8A06C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FA4BA4A-A73F-3143-C1F1-47B555C36AD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65628" y="1537847"/>
            <a:ext cx="3459155" cy="3456432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34841F7F-FA2F-E60F-9887-F584B637EB7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894645" y="1537847"/>
            <a:ext cx="3459155" cy="345643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C94224B-95BE-84E5-884D-6A84F0D8B91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65628" y="4994279"/>
            <a:ext cx="3459155" cy="640818"/>
          </a:xfrm>
        </p:spPr>
        <p:txBody>
          <a:bodyPr tIns="228600" bIns="45720">
            <a:normAutofit/>
          </a:bodyPr>
          <a:lstStyle>
            <a:lvl1pPr marL="0" indent="0"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4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9D8B6C2-A903-A23D-B848-7FF26692CD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94645" y="4994279"/>
            <a:ext cx="3459155" cy="640818"/>
          </a:xfrm>
        </p:spPr>
        <p:txBody>
          <a:bodyPr tIns="228600" bIns="45720">
            <a:normAutofit/>
          </a:bodyPr>
          <a:lstStyle>
            <a:lvl1pPr marL="0" indent="0"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4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2876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-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549A-74FA-128E-775E-E77CA78AD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883"/>
            <a:ext cx="10515600" cy="740577"/>
          </a:xfrm>
        </p:spPr>
        <p:txBody>
          <a:bodyPr wrap="square" bIns="18288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E13FE51B-15E2-8B93-8643-6207770DA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EE1DC80-828E-6A9C-8F1A-0CBE68FBD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1022460"/>
            <a:ext cx="4911436" cy="2262187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A79FBF-8B91-A687-78FA-EFAE1C3A19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3284647"/>
            <a:ext cx="4911436" cy="2419241"/>
          </a:xfrm>
        </p:spPr>
        <p:txBody>
          <a:bodyPr tIns="228600">
            <a:normAutofit/>
          </a:bodyPr>
          <a:lstStyle>
            <a:lvl1pPr marL="0" indent="0"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C79C3993-1A7B-1600-3BFC-2556551018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42364" y="1022460"/>
            <a:ext cx="4911436" cy="2262187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B53C4B3-D449-5543-7867-C2372D3A0D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42361" y="3284647"/>
            <a:ext cx="4911437" cy="2419241"/>
          </a:xfrm>
        </p:spPr>
        <p:txBody>
          <a:bodyPr tIns="228600">
            <a:normAutofit/>
          </a:bodyPr>
          <a:lstStyle>
            <a:lvl1pPr marL="0" indent="0">
              <a:buNone/>
              <a:defRPr sz="1800"/>
            </a:lvl1pPr>
            <a:lvl2pPr>
              <a:defRPr sz="16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687E30-A7A9-328E-5509-110085809C30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8961F9F-8B61-6C21-9C24-7CF2D216A7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419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549A-74FA-128E-775E-E77CA78AD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883"/>
            <a:ext cx="10515600" cy="740577"/>
          </a:xfrm>
        </p:spPr>
        <p:txBody>
          <a:bodyPr wrap="square" bIns="18288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E13FE51B-15E2-8B93-8643-6207770DA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FBA75C-EE70-1C71-6D32-2BBC4A26679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749637" y="1022350"/>
            <a:ext cx="5604164" cy="4681538"/>
          </a:xfrm>
        </p:spPr>
        <p:txBody>
          <a:bodyPr lIns="2286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EE1DC80-828E-6A9C-8F1A-0CBE68FBD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1022460"/>
            <a:ext cx="4911436" cy="2262187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A79FBF-8B91-A687-78FA-EFAE1C3A19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3284647"/>
            <a:ext cx="4911436" cy="2419241"/>
          </a:xfrm>
        </p:spPr>
        <p:txBody>
          <a:bodyPr tIns="228600">
            <a:normAutofit/>
          </a:bodyPr>
          <a:lstStyle>
            <a:lvl1pPr marL="0" indent="0"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914400" indent="0">
              <a:buFont typeface="Arial" panose="020B0604020202020204" pitchFamily="34" charset="0"/>
              <a:buNone/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687E30-A7A9-328E-5509-110085809C30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8961F9F-8B61-6C21-9C24-7CF2D216A7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9499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Alternative (Inver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549A-74FA-128E-775E-E77CA78AD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883"/>
            <a:ext cx="10515600" cy="740577"/>
          </a:xfrm>
        </p:spPr>
        <p:txBody>
          <a:bodyPr wrap="square" bIns="18288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E13FE51B-15E2-8B93-8643-6207770DA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FBA75C-EE70-1C71-6D32-2BBC4A26679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8200" y="1022350"/>
            <a:ext cx="5604164" cy="4681538"/>
          </a:xfrm>
        </p:spPr>
        <p:txBody>
          <a:bodyPr lIns="91440" rIns="2286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EE1DC80-828E-6A9C-8F1A-0CBE68FBD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2364" y="1021737"/>
            <a:ext cx="4911436" cy="2262187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A79FBF-8B91-A687-78FA-EFAE1C3A19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42364" y="3311851"/>
            <a:ext cx="4911436" cy="2392038"/>
          </a:xfrm>
        </p:spPr>
        <p:txBody>
          <a:bodyPr tIns="228600">
            <a:normAutofit/>
          </a:bodyPr>
          <a:lstStyle>
            <a:lvl1pPr marL="0" indent="0"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914400" indent="0">
              <a:buFont typeface="Arial" panose="020B0604020202020204" pitchFamily="34" charset="0"/>
              <a:buNone/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687E30-A7A9-328E-5509-110085809C30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8961F9F-8B61-6C21-9C24-7CF2D216A7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964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w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E64B68C-19BD-94A4-BCA6-5C231578DB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25928"/>
            <a:ext cx="12192000" cy="5339537"/>
          </a:xfrm>
          <a:custGeom>
            <a:avLst/>
            <a:gdLst>
              <a:gd name="connsiteX0" fmla="*/ 0 w 12192000"/>
              <a:gd name="connsiteY0" fmla="*/ 0 h 5339537"/>
              <a:gd name="connsiteX1" fmla="*/ 12192000 w 12192000"/>
              <a:gd name="connsiteY1" fmla="*/ 0 h 5339537"/>
              <a:gd name="connsiteX2" fmla="*/ 12192000 w 12192000"/>
              <a:gd name="connsiteY2" fmla="*/ 4286547 h 5339537"/>
              <a:gd name="connsiteX3" fmla="*/ 6541940 w 12192000"/>
              <a:gd name="connsiteY3" fmla="*/ 4290650 h 5339537"/>
              <a:gd name="connsiteX4" fmla="*/ 13378 w 12192000"/>
              <a:gd name="connsiteY4" fmla="*/ 5334060 h 5339537"/>
              <a:gd name="connsiteX5" fmla="*/ 13373 w 12192000"/>
              <a:gd name="connsiteY5" fmla="*/ 5335896 h 5339537"/>
              <a:gd name="connsiteX6" fmla="*/ 0 w 12192000"/>
              <a:gd name="connsiteY6" fmla="*/ 5339537 h 533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39537">
                <a:moveTo>
                  <a:pt x="0" y="0"/>
                </a:moveTo>
                <a:lnTo>
                  <a:pt x="12192000" y="0"/>
                </a:lnTo>
                <a:lnTo>
                  <a:pt x="12192000" y="4286547"/>
                </a:lnTo>
                <a:cubicBezTo>
                  <a:pt x="10543360" y="4167749"/>
                  <a:pt x="8641604" y="4136176"/>
                  <a:pt x="6541940" y="4290650"/>
                </a:cubicBezTo>
                <a:cubicBezTo>
                  <a:pt x="4042179" y="4474466"/>
                  <a:pt x="1845032" y="4879112"/>
                  <a:pt x="13378" y="5334060"/>
                </a:cubicBezTo>
                <a:lnTo>
                  <a:pt x="13373" y="5335896"/>
                </a:lnTo>
                <a:lnTo>
                  <a:pt x="0" y="533953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2D5A594F-EE9B-015D-CFCD-15DF4937DF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150" y="4147098"/>
            <a:ext cx="12306300" cy="277345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648E24-F46E-01DE-04C1-967015ACA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010669"/>
            <a:ext cx="6096000" cy="847331"/>
          </a:xfrm>
        </p:spPr>
        <p:txBody>
          <a:bodyPr lIns="91440" tIns="91440" rIns="91440" bIns="91440" anchor="b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246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63C9E9-3ED8-F67B-0E27-68B346248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6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50FD-1749-6B32-C4E2-45BA3F46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932237" cy="106997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34D65-B365-95EE-54FD-870A0D8A9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40080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4B2F56-2B0D-0EF4-56CD-C05932CCA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35455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BB5AD11E-7CA2-195A-3AED-D4EA18A7CB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B7F537-9B65-DFA6-B015-6F9405446053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6790AD-ED52-1F38-55AF-266155ED0C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455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ED91-2D10-3C13-53AF-C0D31F58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080"/>
            <a:ext cx="4343400" cy="1069975"/>
          </a:xfrm>
        </p:spPr>
        <p:txBody>
          <a:bodyPr rIns="228600"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6A08B-B3AD-575A-A2E4-C242AB704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600" y="64008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97DD4-C389-6B3A-DFA1-D237B5C4E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714553"/>
            <a:ext cx="4343400" cy="3811588"/>
          </a:xfrm>
        </p:spPr>
        <p:txBody>
          <a:bodyPr rIns="22860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666E9DC7-4E55-131A-5A51-4CCFC9B259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8EBA64-C577-6D2A-2089-5D4B26D9FD27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4958A6-E09D-E372-1B47-93CBA0788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680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ED91-2D10-3C13-53AF-C0D31F58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0080"/>
            <a:ext cx="5257799" cy="1069975"/>
          </a:xfrm>
        </p:spPr>
        <p:txBody>
          <a:bodyPr rIns="228600"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6A08B-B3AD-575A-A2E4-C242AB704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640081"/>
            <a:ext cx="5257800" cy="2423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97DD4-C389-6B3A-DFA1-D237B5C4E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199" y="1714553"/>
            <a:ext cx="5257799" cy="3811588"/>
          </a:xfrm>
        </p:spPr>
        <p:txBody>
          <a:bodyPr rIns="22860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666E9DC7-4E55-131A-5A51-4CCFC9B259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8EBA64-C577-6D2A-2089-5D4B26D9FD27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4958A6-E09D-E372-1B47-93CBA0788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82FCC31-BC93-90AB-AF4D-96D2AAC1DC24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096000" y="3102981"/>
            <a:ext cx="5257800" cy="2423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6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(Inver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ED91-2D10-3C13-53AF-C0D31F58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40080"/>
            <a:ext cx="4343400" cy="1069975"/>
          </a:xfrm>
        </p:spPr>
        <p:txBody>
          <a:bodyPr lIns="228600" rIns="91440"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6A08B-B3AD-575A-A2E4-C242AB704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6614" y="64008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97DD4-C389-6B3A-DFA1-D237B5C4E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08814" y="1706086"/>
            <a:ext cx="4343400" cy="3811588"/>
          </a:xfrm>
        </p:spPr>
        <p:txBody>
          <a:bodyPr lIns="228600" rIns="9144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666E9DC7-4E55-131A-5A51-4CCFC9B259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CC310E-4748-C5E8-AE54-7AC1A2994018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1EF47C-843F-BE5E-8F02-5DE1A2AC11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981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ernativ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6A08B-B3AD-575A-A2E4-C242AB704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600" y="1710055"/>
            <a:ext cx="6172200" cy="38036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97DD4-C389-6B3A-DFA1-D237B5C4E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710056"/>
            <a:ext cx="4341812" cy="3811588"/>
          </a:xfrm>
        </p:spPr>
        <p:txBody>
          <a:bodyPr rIns="22860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666E9DC7-4E55-131A-5A51-4CCFC9B259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2FA145-7884-663E-2FD6-F146DBF165AD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442B31-B535-5FE2-2BC5-880EDD26F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9A7D85F-FFE4-4A07-245F-FEBB3A5BB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908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Picture with Caption (Inver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6A08B-B3AD-575A-A2E4-C242AB704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197" y="1717992"/>
            <a:ext cx="6172200" cy="38036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97DD4-C389-6B3A-DFA1-D237B5C4E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11988" y="1710055"/>
            <a:ext cx="4341812" cy="3811588"/>
          </a:xfrm>
        </p:spPr>
        <p:txBody>
          <a:bodyPr lIns="228600" rIns="9144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666E9DC7-4E55-131A-5A51-4CCFC9B259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8A5377-95D6-C530-0CF9-020320B808C6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17A37-EF31-074D-6E80-67675A8F2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C5E523F-BEDA-B92E-177F-92952F4C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257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B4653C8-34A1-8DB5-99AB-DED32CB2C0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524" y="5241358"/>
            <a:ext cx="12188952" cy="161664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4ED4429-F895-F294-C9A9-CF2485FB4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362" y="1573469"/>
            <a:ext cx="10286999" cy="2387600"/>
          </a:xfrm>
          <a:prstGeom prst="rect">
            <a:avLst/>
          </a:prstGeom>
        </p:spPr>
        <p:txBody>
          <a:bodyPr anchor="b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0746AD0F-DA27-AA3E-CE83-FEBCA29ED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362" y="4360334"/>
            <a:ext cx="10286999" cy="897467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rgbClr val="89898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2F9FCB-9A33-E0F6-81A4-B060E24B7C33}"/>
              </a:ext>
            </a:extLst>
          </p:cNvPr>
          <p:cNvCxnSpPr>
            <a:cxnSpLocks/>
          </p:cNvCxnSpPr>
          <p:nvPr userDrawn="1"/>
        </p:nvCxnSpPr>
        <p:spPr>
          <a:xfrm>
            <a:off x="958363" y="4160700"/>
            <a:ext cx="10287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233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6AAD5-8DD1-DC4F-C3FC-B95E383F0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86E25A-25B7-0AFF-66E9-21B368247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AAA45-371A-B61B-294F-DE211B145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6060D-87A1-4A21-509E-5852E923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9F6B3-1E80-9120-F2A6-44E6AB08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110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E6A91-2D10-E1DA-4346-43F91908B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A29A5-815C-527E-B2DC-FBCE17A53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45CA9-C736-BD95-5532-BD7D0504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77436-BE64-99AD-D140-5F1C7774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0D367-A36F-C89F-E1D7-95115A87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920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A8E33-CA27-88E2-9F92-AA12430C8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62745-7C1E-6A02-04C2-6F1EC0E01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A6416-DEA8-2A6F-135E-7445E4B9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DD8BD-2D8A-B3BD-27B8-7ED8DCCA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333E4-C1AC-A5A6-A1DE-1C42CDBC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301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BDE1-317E-29CD-73F7-74703C9F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B4BE4-BBEF-2B13-8055-53D27E94F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72DEF-0F28-A62C-3CDD-30FA57938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AE753-C79D-9851-31EF-E05956745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05142-9F70-CC54-60A4-3E09BC83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BA7BA-2731-3AED-08C7-C64BB662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042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0CE2-7508-E81C-06F1-28A034A17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21967-D4D0-6219-3AAB-9D2E4F75E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F3A03-1015-ACF5-F20B-DB2A14A5A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0E5BF-58E2-49EB-D836-6ED99AA10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C1CF98-ECC9-55E8-CD6F-1D5D4638D0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0247C5-C34D-ADEC-AC65-FE6C8FD0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685EF8-754E-9EDF-566D-D2DBC48D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B8C502-F336-234A-C5BD-3A7EFE877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137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4C712-081B-49DF-40D3-CA896D1E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01967A-6474-C9C7-09A5-D5C3F895D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5163C-7A9E-4772-1C06-9759F6C3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B45EDF-18A2-7D96-7ADF-DA791280A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943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8D037-04A9-F5D8-556C-9ECCE6402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D36C8-3553-1C68-A5E2-48BC5818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85F28-AB75-50BB-C03E-FAE7A9D5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293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3D1E-6132-B1F1-98DE-A0DBF6854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0ECE0-A6ED-6CF1-9EC4-6E7C8946D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223C8-35DE-CFC4-E5AA-555D45C34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319D3-C3D5-78F0-E7B8-91755BC3E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369DA-C9FF-BFE0-1EA8-F78CD564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B09E0-F147-AD07-BE6A-9BBAD80DE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737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86FB5-82B2-AAEA-443C-3E53C2AB3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BBF77-398D-E23F-F419-00CADA31C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95E83-21D3-CE30-DF9F-E78B4F169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28B0B-767F-E2AF-B42A-8971AF98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0D381-E325-7846-8518-6CB8F235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7B72B-56E1-C7D4-9132-DEDFD5824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722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6BDF-36A7-5718-E5A5-DE5382070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9E1C7-143D-57A1-72A1-EF36DB985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2236C-253F-CDE9-3078-4DF99D383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9742D-9740-9A95-463E-174B2D71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26397-AAEF-91D9-AB56-A5C31D582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583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887D61-6E7E-6C92-72F6-6AC3A5DD73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BB4B8-BCF0-9CA6-F340-C0A77C715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10D88-24BF-22A7-6352-8C048FA3B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AFD18-A41E-5830-3B37-37E15B198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0DB3D-B834-0C92-B6FC-71D0A7CF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3469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4FCFE-E3AC-5A49-AB52-7B585736D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7D152-A22F-464C-9C1C-D6E70F476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1296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6187-F6B8-AC44-9D7A-A7C736DA5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95E6-CE14-8942-9616-1BDD6E236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410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B4653C8-34A1-8DB5-99AB-DED32CB2C0D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524" y="5241358"/>
            <a:ext cx="12188952" cy="161664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4ED4429-F895-F294-C9A9-CF2485FB4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362" y="1573469"/>
            <a:ext cx="10286999" cy="2387600"/>
          </a:xfrm>
          <a:prstGeom prst="rect">
            <a:avLst/>
          </a:prstGeom>
        </p:spPr>
        <p:txBody>
          <a:bodyPr anchor="b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0746AD0F-DA27-AA3E-CE83-FEBCA29ED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362" y="4360334"/>
            <a:ext cx="10286999" cy="897467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rgbClr val="89898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2F9FCB-9A33-E0F6-81A4-B060E24B7C33}"/>
              </a:ext>
            </a:extLst>
          </p:cNvPr>
          <p:cNvCxnSpPr>
            <a:cxnSpLocks/>
          </p:cNvCxnSpPr>
          <p:nvPr/>
        </p:nvCxnSpPr>
        <p:spPr>
          <a:xfrm>
            <a:off x="958363" y="4160700"/>
            <a:ext cx="10287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5CAF67C-05D9-E035-DD4E-5DB53A813F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524" y="5241358"/>
            <a:ext cx="12188952" cy="161664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D6D67B6-5BB8-A321-DCC1-1CDE6D6F2B3E}"/>
              </a:ext>
            </a:extLst>
          </p:cNvPr>
          <p:cNvCxnSpPr>
            <a:cxnSpLocks/>
          </p:cNvCxnSpPr>
          <p:nvPr userDrawn="1"/>
        </p:nvCxnSpPr>
        <p:spPr>
          <a:xfrm>
            <a:off x="958363" y="4160700"/>
            <a:ext cx="10287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267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676D-77D7-1A45-91D1-8AFE4172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03B8F-EF2D-A146-8C3E-22846C450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46874-1196-5246-9CB9-C6D4A51F3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72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0B00-05FE-0842-A0E8-9645A44F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C8197-8236-F04B-B69A-98FED6B50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3F859-F5F2-784C-8AC4-C56A71A1A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D932B1-DF26-154B-AA2F-44BD59F17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2E3E7-6451-0747-8809-DDE98E6B7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4136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3DF3-AC55-584C-B99A-A52890AB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311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76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ully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45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F94C-12C0-C24C-8F1B-DD7926C4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66F4-7466-E245-A5E5-E8ED23FCB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78C06-B8C0-724A-882F-4C5FFDAFC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772AB1D-AD15-EE40-B988-EBE8174638B8}"/>
              </a:ext>
            </a:extLst>
          </p:cNvPr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7ABA80-BCE4-B20F-4ED2-67D0FB916F88}"/>
              </a:ext>
            </a:extLst>
          </p:cNvPr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42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078D0-6ECA-8648-A088-37877487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102544-BA53-FD4E-8F5C-C6F86755C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E78FC-C2BF-174C-BEB1-388D3807F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331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6301F7A8-A7D0-17C1-1E8C-89853C42F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E577E1-9FB8-6A42-1A0F-FC0798BE1FB3}"/>
              </a:ext>
            </a:extLst>
          </p:cNvPr>
          <p:cNvCxnSpPr>
            <a:cxnSpLocks/>
          </p:cNvCxnSpPr>
          <p:nvPr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EF2BCEF-4B54-F240-35CA-EB6762DC31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picture containing clipart&#10;&#10;Description automatically generated">
            <a:extLst>
              <a:ext uri="{FF2B5EF4-FFF2-40B4-BE49-F238E27FC236}">
                <a16:creationId xmlns:a16="http://schemas.microsoft.com/office/drawing/2014/main" id="{9A7EA1FE-70E8-377A-9BCA-4A1930CC56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B80E5E-C6B1-0D18-CCDF-82BD487A9022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7442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6301F7A8-A7D0-17C1-1E8C-89853C42F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E577E1-9FB8-6A42-1A0F-FC0798BE1FB3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EF2BCEF-4B54-F240-35CA-EB6762DC31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50650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B4653C8-34A1-8DB5-99AB-DED32CB2C0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524" y="5241358"/>
            <a:ext cx="12188952" cy="161664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4ED4429-F895-F294-C9A9-CF2485FB4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362" y="1573469"/>
            <a:ext cx="10286999" cy="2387600"/>
          </a:xfrm>
          <a:prstGeom prst="rect">
            <a:avLst/>
          </a:prstGeom>
        </p:spPr>
        <p:txBody>
          <a:bodyPr anchor="b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0746AD0F-DA27-AA3E-CE83-FEBCA29ED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362" y="4360334"/>
            <a:ext cx="10286999" cy="897467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rgbClr val="89898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2F9FCB-9A33-E0F6-81A4-B060E24B7C33}"/>
              </a:ext>
            </a:extLst>
          </p:cNvPr>
          <p:cNvCxnSpPr>
            <a:cxnSpLocks/>
          </p:cNvCxnSpPr>
          <p:nvPr userDrawn="1"/>
        </p:nvCxnSpPr>
        <p:spPr>
          <a:xfrm>
            <a:off x="958363" y="4160700"/>
            <a:ext cx="10287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189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image" Target="../media/image1.gif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image" Target="../media/image1.gif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AE405B-E484-1F44-BA92-DA0679518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8C3E7-28E6-4346-85A5-E468F7D3E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53D4319-6701-BB41-86DD-1E8E5CE28547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A picture containing clipart&#10;&#10;Description automatically generated">
            <a:extLst>
              <a:ext uri="{FF2B5EF4-FFF2-40B4-BE49-F238E27FC236}">
                <a16:creationId xmlns:a16="http://schemas.microsoft.com/office/drawing/2014/main" id="{794B8C55-2D15-E748-AB4D-6A62BBC3BBE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6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5" r:id="rId8"/>
    <p:sldLayoutId id="2147483690" r:id="rId9"/>
    <p:sldLayoutId id="2147483691" r:id="rId10"/>
    <p:sldLayoutId id="2147483694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AE405B-E484-1F44-BA92-DA0679518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8C3E7-28E6-4346-85A5-E468F7D3E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53D4319-6701-BB41-86DD-1E8E5CE28547}"/>
              </a:ext>
            </a:extLst>
          </p:cNvPr>
          <p:cNvCxnSpPr>
            <a:cxnSpLocks/>
          </p:cNvCxnSpPr>
          <p:nvPr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A picture containing clipart&#10;&#10;Description automatically generated">
            <a:extLst>
              <a:ext uri="{FF2B5EF4-FFF2-40B4-BE49-F238E27FC236}">
                <a16:creationId xmlns:a16="http://schemas.microsoft.com/office/drawing/2014/main" id="{794B8C55-2D15-E748-AB4D-6A62BBC3BBE0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F7A29A-0292-73AA-F083-6E595BAA8123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clipart&#10;&#10;Description automatically generated">
            <a:extLst>
              <a:ext uri="{FF2B5EF4-FFF2-40B4-BE49-F238E27FC236}">
                <a16:creationId xmlns:a16="http://schemas.microsoft.com/office/drawing/2014/main" id="{9477345E-DF3E-2C6E-4A34-F2D69FF9D719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15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28" r:id="rId13"/>
    <p:sldLayoutId id="2147483729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7" r:id="rId20"/>
    <p:sldLayoutId id="2147483738" r:id="rId21"/>
    <p:sldLayoutId id="2147483739" r:id="rId22"/>
    <p:sldLayoutId id="2147483741" r:id="rId23"/>
    <p:sldLayoutId id="2147483742" r:id="rId24"/>
    <p:sldLayoutId id="2147483743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7" r:id="rId3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2CBAF9-2965-A7C6-845B-62B5E12FB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8E179-5E80-77E1-3E99-B4B330015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2F81F-BA8C-758D-D699-32EC909F1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64B79-09C9-5020-93B1-FAC65CCB8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6E8D9-C481-7218-0559-0C6D8A14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1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AE405B-E484-1F44-BA92-DA0679518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8C3E7-28E6-4346-85A5-E468F7D3E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53D4319-6701-BB41-86DD-1E8E5CE28547}"/>
              </a:ext>
            </a:extLst>
          </p:cNvPr>
          <p:cNvCxnSpPr>
            <a:cxnSpLocks/>
          </p:cNvCxnSpPr>
          <p:nvPr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A picture containing clipart&#10;&#10;Description automatically generated">
            <a:extLst>
              <a:ext uri="{FF2B5EF4-FFF2-40B4-BE49-F238E27FC236}">
                <a16:creationId xmlns:a16="http://schemas.microsoft.com/office/drawing/2014/main" id="{794B8C55-2D15-E748-AB4D-6A62BBC3BBE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CC1EA0-8D57-D902-1BE8-8FCC4D5BBB36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clipart&#10;&#10;Description automatically generated">
            <a:extLst>
              <a:ext uri="{FF2B5EF4-FFF2-40B4-BE49-F238E27FC236}">
                <a16:creationId xmlns:a16="http://schemas.microsoft.com/office/drawing/2014/main" id="{DA96A409-0530-A5F0-99CF-4177755327AB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41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iller.s3.us-east-2.amazonaws.com/CMVP_Retrofit_Isolation_Example.xlsx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1FC88F-BB76-B842-B4E9-49C7603AC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1143" y="2235200"/>
            <a:ext cx="9869714" cy="2387600"/>
          </a:xfrm>
        </p:spPr>
        <p:txBody>
          <a:bodyPr anchor="ctr">
            <a:normAutofit/>
          </a:bodyPr>
          <a:lstStyle/>
          <a:p>
            <a:r>
              <a:rPr lang="en-US" sz="4000" b="0">
                <a:cs typeface="Calibri Light"/>
              </a:rPr>
              <a:t>MODULE 6</a:t>
            </a:r>
            <a:br>
              <a:rPr lang="en-US" b="0">
                <a:cs typeface="Calibri Light"/>
              </a:rPr>
            </a:br>
            <a:r>
              <a:rPr lang="en-US">
                <a:cs typeface="Calibri Light"/>
              </a:rPr>
              <a:t>Retrofit Isolation</a:t>
            </a:r>
            <a:endParaRPr lang="en-US" sz="5800"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6041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9658F-C393-CCB9-8539-C4ACEC20A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2E022A-CF75-85B5-6EE4-14371269C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/>
              <a:t>Understand retrofit isolation approaches and list their strengths and weaknesses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>
                <a:cs typeface="Semplicita Pro"/>
              </a:rPr>
              <a:t>Understand the challenges of interactive effects and tools used to quantify them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/>
              <a:t>Identify significant parameters as well as parameters that can be estimated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/>
              <a:t>Discuss the range of field engineering skills required for retrofit isolation approaches as well as safety requirements </a:t>
            </a:r>
          </a:p>
        </p:txBody>
      </p:sp>
    </p:spTree>
    <p:extLst>
      <p:ext uri="{BB962C8B-B14F-4D97-AF65-F5344CB8AC3E}">
        <p14:creationId xmlns:p14="http://schemas.microsoft.com/office/powerpoint/2010/main" val="33762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18DD-DC06-54A0-AB2B-7612E831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Retrofit Isolation?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CEB43-7457-D8C7-CD7B-7F6AC5481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 dirty="0"/>
              <a:t>To investigate a change—the impact of an energy savings project, for example—it is often feasible/beneficial to study the change as close to its source as possible. 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 dirty="0"/>
              <a:t>The smaller the change, the closer one must get to the source of the change to obtain clear and reliable results.</a:t>
            </a:r>
          </a:p>
        </p:txBody>
      </p:sp>
      <p:pic>
        <p:nvPicPr>
          <p:cNvPr id="6" name="Graphic 1">
            <a:extLst>
              <a:ext uri="{FF2B5EF4-FFF2-40B4-BE49-F238E27FC236}">
                <a16:creationId xmlns:a16="http://schemas.microsoft.com/office/drawing/2014/main" id="{3A93D3A2-76F9-9E50-FD30-198009568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53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18DD-DC06-54A0-AB2B-7612E831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Retrofit Isolation?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CEB43-7457-D8C7-CD7B-7F6AC5481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 dirty="0"/>
              <a:t>With retrofit isolation, the source of the change is small relative to its environment—a single piece of equipment, perhaps. 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 dirty="0"/>
              <a:t>To ensure that environmental “noise” isn’t clouding our measurements, we need to get close to the change. We draw a measurement boundary around the source of the change.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 dirty="0"/>
              <a:t>We </a:t>
            </a:r>
            <a:r>
              <a:rPr lang="en-US" sz="2400" dirty="0">
                <a:solidFill>
                  <a:srgbClr val="FF0000"/>
                </a:solidFill>
              </a:rPr>
              <a:t>ignore everything outside that boundary</a:t>
            </a:r>
            <a:r>
              <a:rPr lang="en-US" sz="2400" dirty="0"/>
              <a:t>, assuming that it doesn’t have a direct, meaningful influence on the change being assessed.</a:t>
            </a:r>
          </a:p>
        </p:txBody>
      </p:sp>
      <p:pic>
        <p:nvPicPr>
          <p:cNvPr id="6" name="Graphic 1">
            <a:extLst>
              <a:ext uri="{FF2B5EF4-FFF2-40B4-BE49-F238E27FC236}">
                <a16:creationId xmlns:a16="http://schemas.microsoft.com/office/drawing/2014/main" id="{3A93D3A2-76F9-9E50-FD30-198009568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1A524-A685-82F9-9C40-2DBC2009B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7EAF5-1577-FE09-0679-D4D183AE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697705" cy="1307264"/>
          </a:xfrm>
        </p:spPr>
        <p:txBody>
          <a:bodyPr anchor="ctr">
            <a:normAutofit/>
          </a:bodyPr>
          <a:lstStyle/>
          <a:p>
            <a:r>
              <a:rPr lang="en-US" dirty="0"/>
              <a:t>July 22-24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37271-B697-E27D-A25C-CA4045536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endParaRPr lang="en-US"/>
          </a:p>
          <a:p>
            <a:endParaRPr lang="en-US"/>
          </a:p>
        </p:txBody>
      </p:sp>
      <p:pic>
        <p:nvPicPr>
          <p:cNvPr id="7" name="Picture 6" descr="A diagram of a patient's condition&#10;&#10;Description automatically generated with medium confidence">
            <a:extLst>
              <a:ext uri="{FF2B5EF4-FFF2-40B4-BE49-F238E27FC236}">
                <a16:creationId xmlns:a16="http://schemas.microsoft.com/office/drawing/2014/main" id="{8B3D3C7B-BB25-9E2B-5753-BCC61A008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34" y="166663"/>
            <a:ext cx="10658266" cy="60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2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00391" y="274321"/>
            <a:ext cx="539121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200"/>
              <a:t>What Is a Single Line Diagram?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188721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0C0"/>
                </a:solidFill>
              </a:defRPr>
            </a:pPr>
            <a:r>
              <a:rPr sz="1400"/>
              <a:t>Also called: Riser Diagram, One-Line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400" y="1828801"/>
            <a:ext cx="36576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A simplified notation for representing: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• Electrical power distribution system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• Path from utility to end uses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• Major equipment: transformers, switchgear, panels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• Shows connectivity, not physical layout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• Critical for understanding measurement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0" y="1645920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366"/>
                </a:solidFill>
              </a:defRPr>
            </a:pPr>
            <a:r>
              <a:rPr sz="1300"/>
              <a:t>Simplified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7600" y="2194560"/>
            <a:ext cx="1828800" cy="457200"/>
          </a:xfrm>
          <a:prstGeom prst="rect">
            <a:avLst/>
          </a:prstGeom>
          <a:solidFill>
            <a:srgbClr val="C83232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100"/>
              <a:t>UTILITY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9120" y="269748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</a:defRPr>
            </a:pPr>
            <a:r>
              <a:rPr sz="2000"/>
              <a:t>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9120" y="288036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</a:defRPr>
            </a:pPr>
            <a:r>
              <a:rPr sz="2000"/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67600" y="3200400"/>
            <a:ext cx="1828800" cy="457200"/>
          </a:xfrm>
          <a:prstGeom prst="rect">
            <a:avLst/>
          </a:prstGeom>
          <a:solidFill>
            <a:srgbClr val="0070C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100"/>
              <a:t>Main 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9120" y="370332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</a:defRPr>
            </a:pPr>
            <a:r>
              <a:rPr sz="2000"/>
              <a:t>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67600" y="4023360"/>
            <a:ext cx="1828800" cy="457200"/>
          </a:xfrm>
          <a:prstGeom prst="rect">
            <a:avLst/>
          </a:prstGeom>
          <a:solidFill>
            <a:srgbClr val="646464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100"/>
              <a:t>Switchgear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1920" y="452628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</a:defRPr>
            </a:pPr>
            <a:r>
              <a:rPr sz="2000"/>
              <a:t>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9120" y="452628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</a:defRPr>
            </a:pPr>
            <a:r>
              <a:rPr sz="2000"/>
              <a:t>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6320" y="452628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</a:defRPr>
            </a:pPr>
            <a:r>
              <a:rPr sz="2000"/>
              <a:t>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27520" y="4937760"/>
            <a:ext cx="1097280" cy="457200"/>
          </a:xfrm>
          <a:prstGeom prst="rect">
            <a:avLst/>
          </a:prstGeom>
          <a:solidFill>
            <a:srgbClr val="00B05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/>
              <a:t>Panel A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/>
              <a:t>Lighting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6240" y="4937760"/>
            <a:ext cx="1097280" cy="457200"/>
          </a:xfrm>
          <a:prstGeom prst="rect">
            <a:avLst/>
          </a:prstGeom>
          <a:solidFill>
            <a:srgbClr val="00B05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/>
              <a:t>Panel B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/>
              <a:t>HVAC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04960" y="4937760"/>
            <a:ext cx="1097280" cy="457200"/>
          </a:xfrm>
          <a:prstGeom prst="rect">
            <a:avLst/>
          </a:prstGeom>
          <a:solidFill>
            <a:srgbClr val="00B05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/>
              <a:t>Panel C</a:t>
            </a:r>
          </a:p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/>
              <a:t>Plugs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8400" y="5212081"/>
            <a:ext cx="3657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0000"/>
                </a:solidFill>
              </a:defRPr>
            </a:pPr>
            <a:r>
              <a:rPr sz="1300"/>
              <a:t>Key Point: Shows WHERE to meter</a:t>
            </a:r>
          </a:p>
          <a:p>
            <a:pPr>
              <a:defRPr sz="1300" b="1">
                <a:solidFill>
                  <a:srgbClr val="C00000"/>
                </a:solidFill>
              </a:defRPr>
            </a:pPr>
            <a:r>
              <a:rPr sz="1300"/>
              <a:t>and defines measurement boundaries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84082" y="274321"/>
            <a:ext cx="72238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200"/>
              <a:t>Why Single Line Diagrams Matter in M&amp;V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200" y="1645920"/>
            <a:ext cx="2560320" cy="548640"/>
          </a:xfrm>
          <a:prstGeom prst="rect">
            <a:avLst/>
          </a:prstGeom>
          <a:solidFill>
            <a:srgbClr val="0070C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Define Measurement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286001"/>
            <a:ext cx="256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rPr sz="1100"/>
              <a:t>Shows what's inside/outside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rPr sz="1100"/>
              <a:t>the project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400" y="1645920"/>
            <a:ext cx="2560320" cy="548640"/>
          </a:xfrm>
          <a:prstGeom prst="rect">
            <a:avLst/>
          </a:prstGeom>
          <a:solidFill>
            <a:srgbClr val="00B05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Identify Metering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Locations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400" y="2286001"/>
            <a:ext cx="256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rPr sz="1100"/>
              <a:t>Where to place meters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rPr sz="1100"/>
              <a:t>for retrofit isolation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467600" y="1645920"/>
            <a:ext cx="2560320" cy="548640"/>
          </a:xfrm>
          <a:prstGeom prst="rect">
            <a:avLst/>
          </a:prstGeom>
          <a:solidFill>
            <a:srgbClr val="7030A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Document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600" y="2286001"/>
            <a:ext cx="256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rPr sz="1100"/>
              <a:t>Record system configuration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rPr sz="1100"/>
              <a:t>at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200" y="3840480"/>
            <a:ext cx="2560320" cy="548640"/>
          </a:xfrm>
          <a:prstGeom prst="rect">
            <a:avLst/>
          </a:prstGeom>
          <a:solidFill>
            <a:srgbClr val="ED7D31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Plan Retrofits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1200" y="4480561"/>
            <a:ext cx="256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rPr sz="1100"/>
              <a:t>Understand impacts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rPr sz="1100"/>
              <a:t>on electrical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4400" y="3840480"/>
            <a:ext cx="2560320" cy="548640"/>
          </a:xfrm>
          <a:prstGeom prst="rect">
            <a:avLst/>
          </a:prstGeom>
          <a:solidFill>
            <a:srgbClr val="FFC00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Verify Installation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400" y="4480561"/>
            <a:ext cx="256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rPr sz="1100"/>
              <a:t>Confirm ECMs installed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rPr sz="1100"/>
              <a:t>as designed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67600" y="3840480"/>
            <a:ext cx="2560320" cy="548640"/>
          </a:xfrm>
          <a:prstGeom prst="rect">
            <a:avLst/>
          </a:prstGeom>
          <a:solidFill>
            <a:srgbClr val="C83232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Support Settlement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7600" y="4480561"/>
            <a:ext cx="256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rPr sz="1100"/>
              <a:t>Evidence for disputes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rPr sz="1100"/>
              <a:t>and verification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5600" y="5943600"/>
            <a:ext cx="6400800" cy="640080"/>
          </a:xfrm>
          <a:prstGeom prst="rect">
            <a:avLst/>
          </a:prstGeom>
          <a:solidFill>
            <a:srgbClr val="C0000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sz="1600"/>
              <a:t>Without a single line diagram, you're doing M&amp;V blind!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60823" y="274321"/>
            <a:ext cx="527035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200"/>
              <a:t>Reading a Single Line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09728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366"/>
                </a:solidFill>
              </a:defRPr>
            </a:pPr>
            <a:r>
              <a:rPr sz="1300"/>
              <a:t>Key symbols and what they tell us for M&amp;V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5520" y="1645921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rPr sz="1400"/>
              <a:t>Common Symbols: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40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0C0"/>
                </a:solidFill>
              </a:defRPr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800" y="210312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rPr sz="1100"/>
              <a:t>Power source / Utility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8400" y="2560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0C0"/>
                </a:solidFill>
              </a:defRPr>
            </a:pPr>
            <a:r>
              <a:t>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256032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rPr sz="1100"/>
              <a:t>Transformer (voltage conversion)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0C0"/>
                </a:solidFill>
              </a:defRPr>
            </a:pPr>
            <a:r>
              <a:t>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2800" y="301752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rPr sz="1100"/>
              <a:t>Circuit breaker / Disconnect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840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0C0"/>
                </a:solidFill>
              </a:defRPr>
            </a:pPr>
            <a:r>
              <a:t>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2800" y="347472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rPr sz="1100"/>
              <a:t>Meter (energy measurement point)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400" y="3931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0C0"/>
                </a:solidFill>
              </a:defRPr>
            </a:pPr>
            <a:r>
              <a:t>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2800" y="393192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rPr sz="1100" dirty="0"/>
              <a:t>Bus / Main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840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0C0"/>
                </a:solidFill>
              </a:defRPr>
            </a:pPr>
            <a:r>
              <a:t>├┤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2800" y="438912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rPr sz="1100"/>
              <a:t>Branch circuit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400" y="4846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0C0"/>
                </a:solidFill>
              </a:defRPr>
            </a:pPr>
            <a:r>
              <a:t>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2800" y="484632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0000"/>
                </a:solidFill>
              </a:defRPr>
            </a:pPr>
            <a:r>
              <a:rPr sz="1100"/>
              <a:t>Load (equipment, panel, etc.)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1645921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rPr sz="1400"/>
              <a:t>What to Look For in M&amp;V: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210312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3366"/>
                </a:solidFill>
              </a:defRPr>
            </a:pPr>
            <a:r>
              <a:rPr sz="1100"/>
              <a:t>✓ Existing meters and their locations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251460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3366"/>
                </a:solidFill>
              </a:defRPr>
            </a:pPr>
            <a:r>
              <a:rPr sz="1100"/>
              <a:t>✓ Where you could add sub-meters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29260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3366"/>
                </a:solidFill>
              </a:defRPr>
            </a:pPr>
            <a:r>
              <a:rPr sz="1100"/>
              <a:t>✓ What loads are on which circuits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333756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3366"/>
                </a:solidFill>
              </a:defRPr>
            </a:pPr>
            <a:r>
              <a:rPr sz="1100"/>
              <a:t>✓ Voltage levels (480V, 208V, 120V)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200" y="374904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3366"/>
                </a:solidFill>
              </a:defRPr>
            </a:pPr>
            <a:r>
              <a:rPr sz="1100"/>
              <a:t>✓ Transformer locations and sizes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0" y="416052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3366"/>
                </a:solidFill>
              </a:defRPr>
            </a:pPr>
            <a:r>
              <a:rPr sz="1100"/>
              <a:t>✓ Service entrance and utility connection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0" y="457200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3366"/>
                </a:solidFill>
              </a:defRPr>
            </a:pPr>
            <a:r>
              <a:rPr sz="1100"/>
              <a:t>✓ Emergency/standby power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0" y="498348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3366"/>
                </a:solidFill>
              </a:defRPr>
            </a:pPr>
            <a:r>
              <a:rPr sz="1100"/>
              <a:t>✓ Major loads: HVAC, lighting, data center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98545" y="274321"/>
            <a:ext cx="59949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200"/>
              <a:t>Example: Real Single Line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09728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0000"/>
                </a:solidFill>
              </a:defRPr>
            </a:pPr>
            <a:r>
              <a:t>INSERT YOUR REAL DIAGRAM IMAGE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38400" y="1737360"/>
            <a:ext cx="7315200" cy="3840480"/>
          </a:xfrm>
          <a:prstGeom prst="rect">
            <a:avLst/>
          </a:prstGeom>
          <a:solidFill>
            <a:srgbClr val="F0F0F0"/>
          </a:solidFill>
          <a:ln w="38100">
            <a:solidFill>
              <a:srgbClr val="C8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C80000"/>
                </a:solidFill>
              </a:defRPr>
            </a:pPr>
            <a:r>
              <a:rPr sz="2400" dirty="0"/>
              <a:t>PLACEHOLDER FOR</a:t>
            </a:r>
          </a:p>
          <a:p>
            <a:pPr algn="ctr">
              <a:defRPr sz="2400" b="1">
                <a:solidFill>
                  <a:srgbClr val="C80000"/>
                </a:solidFill>
              </a:defRPr>
            </a:pPr>
            <a:r>
              <a:rPr sz="2400" dirty="0"/>
              <a:t>YOUR REAL</a:t>
            </a:r>
          </a:p>
          <a:p>
            <a:pPr algn="ctr">
              <a:defRPr sz="2400" b="1">
                <a:solidFill>
                  <a:srgbClr val="C80000"/>
                </a:solidFill>
              </a:defRPr>
            </a:pPr>
            <a:r>
              <a:rPr sz="2400" dirty="0"/>
              <a:t>SINGLE LINE DIAGRAM</a:t>
            </a:r>
          </a:p>
          <a:p>
            <a:pPr algn="ctr">
              <a:defRPr sz="2400" b="1">
                <a:solidFill>
                  <a:srgbClr val="C80000"/>
                </a:solidFill>
              </a:defRPr>
            </a:pPr>
            <a:r>
              <a:rPr sz="2400" dirty="0"/>
              <a:t>JPG IMAGE</a:t>
            </a:r>
          </a:p>
          <a:p>
            <a:pPr algn="ctr">
              <a:defRPr sz="2400" b="1">
                <a:solidFill>
                  <a:srgbClr val="C80000"/>
                </a:solidFill>
              </a:defRPr>
            </a:pPr>
            <a:endParaRPr sz="2400" dirty="0"/>
          </a:p>
          <a:p>
            <a:pPr algn="ctr">
              <a:defRPr sz="2400" b="1">
                <a:solidFill>
                  <a:srgbClr val="C80000"/>
                </a:solidFill>
              </a:defRPr>
            </a:pPr>
            <a:r>
              <a:rPr sz="2400" dirty="0"/>
              <a:t>(Delete this shape and insert your image here)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5760720"/>
            <a:ext cx="82296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3366"/>
                </a:solidFill>
              </a:defRPr>
            </a:pPr>
            <a:r>
              <a:rPr sz="1100"/>
              <a:t>Teaching Points for Your Diagram:</a:t>
            </a:r>
          </a:p>
          <a:p>
            <a:pPr algn="ctr">
              <a:defRPr sz="1100" b="0">
                <a:solidFill>
                  <a:srgbClr val="003366"/>
                </a:solidFill>
              </a:defRPr>
            </a:pPr>
            <a:r>
              <a:rPr sz="1100"/>
              <a:t>• Identify the main meter location   • Trace power flow from utility to loads</a:t>
            </a:r>
          </a:p>
          <a:p>
            <a:pPr algn="ctr">
              <a:defRPr sz="1100" b="0">
                <a:solidFill>
                  <a:srgbClr val="003366"/>
                </a:solidFill>
              </a:defRPr>
            </a:pPr>
            <a:r>
              <a:rPr sz="1100"/>
              <a:t>• Find potential sub-metering points   • Note measurement boundaries for different ECMs</a:t>
            </a:r>
          </a:p>
        </p:txBody>
      </p:sp>
      <p:pic>
        <p:nvPicPr>
          <p:cNvPr id="7" name="Picture 2" descr="1 Line Diagram (Pillar)">
            <a:extLst>
              <a:ext uri="{FF2B5EF4-FFF2-40B4-BE49-F238E27FC236}">
                <a16:creationId xmlns:a16="http://schemas.microsoft.com/office/drawing/2014/main" id="{AD71E75C-DEA6-E8C5-310B-6913412CB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96" y="1146843"/>
            <a:ext cx="11242796" cy="4465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0231" y="274321"/>
            <a:ext cx="749153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200"/>
              <a:t>Using Single Line Diagrams in M&amp;V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55520" y="1371600"/>
            <a:ext cx="3657600" cy="548640"/>
          </a:xfrm>
          <a:prstGeom prst="rect">
            <a:avLst/>
          </a:prstGeom>
          <a:solidFill>
            <a:srgbClr val="0070C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M&amp;V Planning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5520" y="2011681"/>
            <a:ext cx="36576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✓ Request existing diagram from facility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✓ Verify diagram matches reality (site visit)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✓ Identify existing meters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✓ Mark potential sub-meter locations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✓ Define measurement boundaries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✓ Include annotated diagram in M&amp;V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8880" y="1371600"/>
            <a:ext cx="3657600" cy="548640"/>
          </a:xfrm>
          <a:prstGeom prst="rect">
            <a:avLst/>
          </a:prstGeom>
          <a:solidFill>
            <a:srgbClr val="00B05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Implementation &amp;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880" y="2011681"/>
            <a:ext cx="3657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✓ Document ECM locations on diagram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✓ Show installed meters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✓ Update for any system changes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✓ Include in post-installation report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✓ Use for operational verification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✓ Reference in settlement discussions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809" y="6355079"/>
            <a:ext cx="7680960" cy="457200"/>
          </a:xfrm>
          <a:prstGeom prst="rect">
            <a:avLst/>
          </a:prstGeom>
          <a:solidFill>
            <a:srgbClr val="003366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Key Action: Annotate the Diagram for Your Specific M&amp;V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9907" y="4937761"/>
            <a:ext cx="7315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sz="1600" dirty="0"/>
              <a:t>★ Highlight measurement boundary with colored box or dashed line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 dirty="0"/>
              <a:t>★ Mark all meter locations with labels (M1, M2, etc.)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 dirty="0"/>
              <a:t>★ Indicate ECM locations (use color coding or symbols)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 dirty="0"/>
              <a:t>★ Add legend explaining your annotations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 dirty="0"/>
              <a:t>★ Include both 'before' and 'after' versions if system changes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29534" y="274321"/>
            <a:ext cx="813293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200"/>
              <a:t>Single Line Diagrams: Common M&amp;V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18872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366"/>
                </a:solidFill>
              </a:defRPr>
            </a:pPr>
            <a:r>
              <a:rPr sz="1300"/>
              <a:t>How the diagram guides your measurement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255520" y="1737360"/>
            <a:ext cx="7680960" cy="457200"/>
          </a:xfrm>
          <a:prstGeom prst="rect">
            <a:avLst/>
          </a:prstGeom>
          <a:solidFill>
            <a:srgbClr val="0070C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Scenario 1: Lighting Retrofit (Option 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400" y="228600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rPr sz="1000"/>
              <a:t>What Diagram Shows:</a:t>
            </a:r>
          </a:p>
          <a:p>
            <a:pPr>
              <a:defRPr sz="1000" b="0">
                <a:solidFill>
                  <a:srgbClr val="000000"/>
                </a:solidFill>
              </a:defRPr>
            </a:pPr>
            <a:r>
              <a:rPr sz="1000"/>
              <a:t>Shows panel serving lighting circuits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1760" y="2286000"/>
            <a:ext cx="3474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rPr sz="1000"/>
              <a:t>M&amp;V Approach:</a:t>
            </a:r>
          </a:p>
          <a:p>
            <a:pPr>
              <a:defRPr sz="1000" b="1">
                <a:solidFill>
                  <a:srgbClr val="003366"/>
                </a:solidFill>
              </a:defRPr>
            </a:pPr>
            <a:r>
              <a:rPr sz="1000"/>
              <a:t>Sub-meter at lighting panel</a:t>
            </a:r>
          </a:p>
          <a:p>
            <a:pPr>
              <a:defRPr sz="1000" b="1">
                <a:solidFill>
                  <a:srgbClr val="003366"/>
                </a:solidFill>
              </a:defRPr>
            </a:pPr>
            <a:r>
              <a:rPr sz="1000"/>
              <a:t>OR</a:t>
            </a:r>
          </a:p>
          <a:p>
            <a:pPr>
              <a:defRPr sz="1000" b="1">
                <a:solidFill>
                  <a:srgbClr val="003366"/>
                </a:solidFill>
              </a:defRPr>
            </a:pPr>
            <a:r>
              <a:rPr sz="1000"/>
              <a:t>Stipulate hours, measure watts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5520" y="3200400"/>
            <a:ext cx="7680960" cy="457200"/>
          </a:xfrm>
          <a:prstGeom prst="rect">
            <a:avLst/>
          </a:prstGeom>
          <a:solidFill>
            <a:srgbClr val="00B05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Scenario 2: HVAC Upgrade (Option 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8400" y="3749039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rPr sz="1000"/>
              <a:t>What Diagram Shows:</a:t>
            </a:r>
          </a:p>
          <a:p>
            <a:pPr>
              <a:defRPr sz="1000" b="0">
                <a:solidFill>
                  <a:srgbClr val="000000"/>
                </a:solidFill>
              </a:defRPr>
            </a:pPr>
            <a:r>
              <a:rPr sz="1000"/>
              <a:t>Shows dedicated HVAC electrical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760" y="3749039"/>
            <a:ext cx="3474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rPr sz="1000"/>
              <a:t>M&amp;V Approach:</a:t>
            </a:r>
          </a:p>
          <a:p>
            <a:pPr>
              <a:defRPr sz="1000" b="1">
                <a:solidFill>
                  <a:srgbClr val="003366"/>
                </a:solidFill>
              </a:defRPr>
            </a:pPr>
            <a:r>
              <a:rPr sz="1000"/>
              <a:t>Sub-meter at HVAC disconnect</a:t>
            </a:r>
          </a:p>
          <a:p>
            <a:pPr>
              <a:defRPr sz="1000" b="1">
                <a:solidFill>
                  <a:srgbClr val="003366"/>
                </a:solidFill>
              </a:defRPr>
            </a:pPr>
            <a:r>
              <a:rPr sz="1000"/>
              <a:t>Measure all parameters (kW, runtime, etc.)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5520" y="4663440"/>
            <a:ext cx="7680960" cy="457200"/>
          </a:xfrm>
          <a:prstGeom prst="rect">
            <a:avLst/>
          </a:prstGeom>
          <a:solidFill>
            <a:srgbClr val="7030A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Scenario 3: Whole Building (Option 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8400" y="5212079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rPr sz="1000"/>
              <a:t>What Diagram Shows:</a:t>
            </a:r>
          </a:p>
          <a:p>
            <a:pPr>
              <a:defRPr sz="1000" b="0">
                <a:solidFill>
                  <a:srgbClr val="000000"/>
                </a:solidFill>
              </a:defRPr>
            </a:pPr>
            <a:r>
              <a:rPr sz="1000"/>
              <a:t>Shows main utility meter 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760" y="5212079"/>
            <a:ext cx="3474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366"/>
                </a:solidFill>
              </a:defRPr>
            </a:pPr>
            <a:r>
              <a:rPr sz="1000"/>
              <a:t>M&amp;V Approach:</a:t>
            </a:r>
          </a:p>
          <a:p>
            <a:pPr>
              <a:defRPr sz="1000" b="1">
                <a:solidFill>
                  <a:srgbClr val="003366"/>
                </a:solidFill>
              </a:defRPr>
            </a:pPr>
            <a:r>
              <a:rPr sz="1000"/>
              <a:t>Use existing main meter</a:t>
            </a:r>
          </a:p>
          <a:p>
            <a:pPr>
              <a:defRPr sz="1000" b="1">
                <a:solidFill>
                  <a:srgbClr val="003366"/>
                </a:solidFill>
              </a:defRPr>
            </a:pPr>
            <a:r>
              <a:rPr sz="1000"/>
              <a:t>No new metering required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50A23-588A-5FAB-9E22-4F19E4ABA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Interactive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583F2-A83C-6204-14AA-55C5F670E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sz="2200" dirty="0"/>
              <a:t>Interactive effects are the influence of an ECM on the energy use of other equipment in a facility. For example: lighting reduction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cooling savings.</a:t>
            </a:r>
          </a:p>
          <a:p>
            <a:pPr>
              <a:spcBef>
                <a:spcPts val="1000"/>
              </a:spcBef>
            </a:pPr>
            <a:r>
              <a:rPr lang="en-US" sz="2200" dirty="0"/>
              <a:t>Some possible approaches: ignore, estimate, measure, or expand the measurement boundary.</a:t>
            </a:r>
          </a:p>
          <a:p>
            <a:pPr>
              <a:lnSpc>
                <a:spcPct val="100000"/>
              </a:lnSpc>
              <a:spcBef>
                <a:spcPts val="1000"/>
              </a:spcBef>
            </a:pPr>
            <a:r>
              <a:rPr lang="en-US" sz="2200" dirty="0"/>
              <a:t>Methods for estimating interactive effects: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sz="2200" dirty="0"/>
              <a:t>Calibrated computer simulation</a:t>
            </a:r>
          </a:p>
          <a:p>
            <a:pPr lvl="1">
              <a:spcBef>
                <a:spcPts val="1000"/>
              </a:spcBef>
            </a:pPr>
            <a:r>
              <a:rPr lang="en-US" sz="2200" dirty="0"/>
              <a:t>Spreadsheet calculation</a:t>
            </a:r>
          </a:p>
          <a:p>
            <a:pPr lvl="1">
              <a:spcBef>
                <a:spcPts val="1000"/>
              </a:spcBef>
            </a:pPr>
            <a:r>
              <a:rPr lang="en-US" sz="2200" dirty="0"/>
              <a:t>Sub-metering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sz="2200" dirty="0"/>
              <a:t>Stipulation from reference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2962C61-AC74-0A98-AF6C-4B61B7D9A9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02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F066F-B99F-5C6F-A504-87B28BD26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“Savings” Attribution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F6FB9-E452-BA49-FEC1-3EB63CACAD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r>
              <a:rPr lang="en-US" sz="2400"/>
              <a:t>When multiple ECMs exist in a single system, it can be challenging to attribute “savings” to specific ECMs.</a:t>
            </a:r>
          </a:p>
          <a:p>
            <a:r>
              <a:rPr lang="en-US" sz="2400" b="1"/>
              <a:t>Example</a:t>
            </a:r>
            <a:r>
              <a:rPr lang="en-US" sz="2400"/>
              <a:t>: lighting power and occupancy sensors.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594311-AAD0-35C1-D492-17E5C5B2F3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6D67EE4-3FE3-E02F-7ABC-40B4A8F21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54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5D2D6-0689-756C-35BF-36FFDF01F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Fundamental Methods of Measurement in Retrofit Isolation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8A1975-A01C-1FB2-46EE-B90BD9B2DC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/>
              <a:t>Performance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/>
              <a:t>Snapshot measurements are taken of the key parameters of energy use in the system.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/>
              <a:t>Justified and auditable estimates provide the rest of the data.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AFB9F6-902F-6E50-E45C-5BE9F8B1DE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/>
              <a:t>Performance/Operation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/>
              <a:t>Continuous measurements are taken of the key parameters.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/>
              <a:t>No assumptions or estimates are made.</a:t>
            </a:r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51A51B72-FD26-2A30-8D27-7EB8EDD91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1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56727-2976-A709-FEE6-51F9EC6CA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Terminology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794773-DC72-5969-153A-6B3E62D6C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IPMVP</a:t>
            </a:r>
            <a:r>
              <a:rPr lang="en-US" sz="2400"/>
              <a:t> refers to the performance approach as “key parameter measurement(s)” (Option A) and to the performance/operation approach as “all parameter measurement” (Option B).</a:t>
            </a:r>
          </a:p>
          <a:p>
            <a:r>
              <a:rPr lang="en-US" sz="2400" b="1"/>
              <a:t>ASHRAE</a:t>
            </a:r>
            <a:r>
              <a:rPr lang="en-US" sz="2400"/>
              <a:t> distinguishes more than twenty retrofit isolation approaches in Table 5-2 of ASHRAE Guideline 14-2014.</a:t>
            </a:r>
          </a:p>
          <a:p>
            <a:r>
              <a:rPr lang="en-US" sz="2400" b="1"/>
              <a:t>ISO</a:t>
            </a:r>
            <a:r>
              <a:rPr lang="en-US" sz="2400"/>
              <a:t> does not provide terminology for retrofit isolation approaches.</a:t>
            </a:r>
          </a:p>
        </p:txBody>
      </p:sp>
      <p:pic>
        <p:nvPicPr>
          <p:cNvPr id="9" name="Graphic 1">
            <a:extLst>
              <a:ext uri="{FF2B5EF4-FFF2-40B4-BE49-F238E27FC236}">
                <a16:creationId xmlns:a16="http://schemas.microsoft.com/office/drawing/2014/main" id="{9BFFBE2E-DB81-7FD6-E287-30408187E7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EC5AF0-1FD5-A849-57DA-409F9AAEC361}"/>
              </a:ext>
            </a:extLst>
          </p:cNvPr>
          <p:cNvSpPr txBox="1"/>
          <p:nvPr/>
        </p:nvSpPr>
        <p:spPr>
          <a:xfrm>
            <a:off x="2293621" y="6492875"/>
            <a:ext cx="91592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IPMVP is a registered trademark of EVO. AEE is using the term “IPMVP” only to refer to the protocol.</a:t>
            </a:r>
            <a:endParaRPr lang="en-US" sz="100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47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DBA0-AEB7-C074-8681-99D2EC521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Identifying Significant Parameters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D31BF5-C8EA-2DBE-4358-73DD5977D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400" dirty="0"/>
              <a:t>Identifying the significant parameters—ones that </a:t>
            </a:r>
            <a:r>
              <a:rPr lang="en-US" sz="2400" dirty="0">
                <a:solidFill>
                  <a:srgbClr val="FF0000"/>
                </a:solidFill>
              </a:rPr>
              <a:t>must</a:t>
            </a:r>
            <a:r>
              <a:rPr lang="en-US" sz="2400" dirty="0"/>
              <a:t> be measured—when using a retrofit isolation approach is usually a straightforward process, but there can be challenges, and oversights are always possible. </a:t>
            </a:r>
          </a:p>
          <a:p>
            <a:pPr>
              <a:lnSpc>
                <a:spcPct val="100000"/>
              </a:lnSpc>
              <a:spcBef>
                <a:spcPts val="1600"/>
              </a:spcBef>
            </a:pPr>
            <a:r>
              <a:rPr lang="en-US" sz="2400" dirty="0"/>
              <a:t>A set of checks can ensure that no significant parameters are missed:</a:t>
            </a:r>
          </a:p>
          <a:p>
            <a:pPr lvl="1">
              <a:lnSpc>
                <a:spcPct val="100000"/>
              </a:lnSpc>
              <a:spcBef>
                <a:spcPts val="1600"/>
              </a:spcBef>
            </a:pPr>
            <a:r>
              <a:rPr lang="en-US" dirty="0"/>
              <a:t>Review the project’s contractual performance clauses.</a:t>
            </a:r>
          </a:p>
          <a:p>
            <a:pPr lvl="1">
              <a:lnSpc>
                <a:spcPct val="100000"/>
              </a:lnSpc>
              <a:spcBef>
                <a:spcPts val="1600"/>
              </a:spcBef>
            </a:pPr>
            <a:r>
              <a:rPr lang="en-US" dirty="0"/>
              <a:t>Consider additional parameters that will likely be influenced by the ECM.</a:t>
            </a:r>
          </a:p>
          <a:p>
            <a:pPr lvl="1">
              <a:lnSpc>
                <a:spcPct val="100000"/>
              </a:lnSpc>
              <a:spcBef>
                <a:spcPts val="1600"/>
              </a:spcBef>
            </a:pPr>
            <a:r>
              <a:rPr lang="en-US" dirty="0"/>
              <a:t>Define alternative parameters that the client and/or implementer might need measured.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33856EE-3088-A621-35B4-77690DE99C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19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E783-C9A6-D64E-B799-2D3F843C0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Identifying Estimable Parameters – when accuracy is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5C907-D23C-8713-3168-AFE9D8A1C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cs typeface="Semplicita Pro"/>
              </a:rPr>
              <a:t>Whereas significant parameters </a:t>
            </a:r>
            <a:r>
              <a:rPr lang="en-US" sz="2400" dirty="0">
                <a:solidFill>
                  <a:srgbClr val="FF0000"/>
                </a:solidFill>
                <a:cs typeface="Semplicita Pro"/>
              </a:rPr>
              <a:t>must (?)</a:t>
            </a:r>
            <a:r>
              <a:rPr lang="en-US" sz="2400" dirty="0">
                <a:cs typeface="Semplicita Pro"/>
              </a:rPr>
              <a:t> be measured, estimations </a:t>
            </a:r>
            <a:r>
              <a:rPr lang="en-US" sz="2400" dirty="0">
                <a:solidFill>
                  <a:srgbClr val="FF0000"/>
                </a:solidFill>
                <a:cs typeface="Semplicita Pro"/>
              </a:rPr>
              <a:t>must (?)</a:t>
            </a:r>
            <a:r>
              <a:rPr lang="en-US" sz="2400" dirty="0">
                <a:cs typeface="Semplicita Pro"/>
              </a:rPr>
              <a:t> be justified and auditable.</a:t>
            </a:r>
          </a:p>
          <a:p>
            <a:pPr marL="1143000" lvl="1" indent="-457200">
              <a:buChar char="•"/>
            </a:pPr>
            <a:r>
              <a:rPr lang="en-US" dirty="0">
                <a:cs typeface="Semplicita Pro"/>
              </a:rPr>
              <a:t>If a parameter meaningfully influences the range of the reported answer, then the parameter </a:t>
            </a:r>
            <a:r>
              <a:rPr lang="en-US" dirty="0">
                <a:solidFill>
                  <a:srgbClr val="FF0000"/>
                </a:solidFill>
                <a:cs typeface="Semplicita Pro"/>
              </a:rPr>
              <a:t>should</a:t>
            </a:r>
            <a:r>
              <a:rPr lang="en-US" dirty="0">
                <a:cs typeface="Semplicita Pro"/>
              </a:rPr>
              <a:t> likely be defined as a significant parameter and be measured rather than estimated. In other words, estimating the parameter would be unjustifiable. (</a:t>
            </a:r>
            <a:r>
              <a:rPr lang="en-US" dirty="0">
                <a:solidFill>
                  <a:srgbClr val="00B050"/>
                </a:solidFill>
                <a:cs typeface="Semplicita Pro"/>
              </a:rPr>
              <a:t>if cost effective</a:t>
            </a:r>
            <a:r>
              <a:rPr lang="en-US" dirty="0">
                <a:cs typeface="Semplicita Pro"/>
              </a:rPr>
              <a:t>)(or </a:t>
            </a:r>
            <a:r>
              <a:rPr lang="en-US" dirty="0">
                <a:solidFill>
                  <a:srgbClr val="FF0000"/>
                </a:solidFill>
                <a:cs typeface="Semplicita Pro"/>
              </a:rPr>
              <a:t>allowed</a:t>
            </a:r>
            <a:r>
              <a:rPr lang="en-US" dirty="0">
                <a:cs typeface="Semplicita Pro"/>
              </a:rPr>
              <a:t>)</a:t>
            </a:r>
          </a:p>
          <a:p>
            <a:pPr marL="1143000" lvl="1" indent="-457200">
              <a:buChar char="•"/>
            </a:pPr>
            <a:r>
              <a:rPr lang="en-US" dirty="0">
                <a:cs typeface="Semplicita Pro"/>
              </a:rPr>
              <a:t>In terms of audibility, an estimate should be able to be traced to its origin and thus evaluated based on its applicability and “correctness.”</a:t>
            </a:r>
          </a:p>
          <a:p>
            <a:endParaRPr lang="en-US" dirty="0">
              <a:cs typeface="Semplicita Pro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E7B5ACA-F782-D3E1-FA11-91FA34777C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8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4E65-8CDD-1192-64D8-C573A948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mplicita Pro"/>
              </a:rPr>
              <a:t>Enhanced Measurement Approaches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13732-256D-D49A-1393-D3B30C475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>
                <a:cs typeface="Semplicita Pro"/>
              </a:rPr>
              <a:t>Apart from counting items and measuring electricity, numerous forms of parameter measurement are available in a retrofit isolation approach. Some typical parameters and their measurement approaches include:</a:t>
            </a:r>
            <a:endParaRPr lang="en-US"/>
          </a:p>
          <a:p>
            <a:pPr marL="1143000" lvl="1" indent="-457200">
              <a:lnSpc>
                <a:spcPct val="110000"/>
              </a:lnSpc>
              <a:spcBef>
                <a:spcPts val="1200"/>
              </a:spcBef>
              <a:buChar char="•"/>
            </a:pPr>
            <a:r>
              <a:rPr lang="en-US" b="1">
                <a:cs typeface="Semplicita Pro"/>
              </a:rPr>
              <a:t>Process or ambient temperature</a:t>
            </a:r>
            <a:r>
              <a:rPr lang="en-US">
                <a:cs typeface="Semplicita Pro"/>
              </a:rPr>
              <a:t>: Dedicated probes or infrared sensors</a:t>
            </a:r>
          </a:p>
          <a:p>
            <a:pPr marL="1143000" lvl="1" indent="-457200">
              <a:lnSpc>
                <a:spcPct val="110000"/>
              </a:lnSpc>
              <a:spcBef>
                <a:spcPts val="1200"/>
              </a:spcBef>
            </a:pPr>
            <a:r>
              <a:rPr lang="en-US" b="1">
                <a:cs typeface="Semplicita Pro"/>
              </a:rPr>
              <a:t>Process flow</a:t>
            </a:r>
            <a:r>
              <a:rPr lang="en-US">
                <a:cs typeface="Semplicita Pro"/>
              </a:rPr>
              <a:t>: Internal or external flow meters</a:t>
            </a:r>
          </a:p>
          <a:p>
            <a:pPr marL="1143000" lvl="1" indent="-457200">
              <a:lnSpc>
                <a:spcPct val="110000"/>
              </a:lnSpc>
              <a:spcBef>
                <a:spcPts val="1200"/>
              </a:spcBef>
            </a:pPr>
            <a:r>
              <a:rPr lang="en-US" b="1">
                <a:cs typeface="Semplicita Pro"/>
              </a:rPr>
              <a:t>Humidity</a:t>
            </a:r>
            <a:r>
              <a:rPr lang="en-US">
                <a:cs typeface="Semplicita Pro"/>
              </a:rPr>
              <a:t>: Dedicated sensors adapted for environmental or process-specific use </a:t>
            </a:r>
          </a:p>
          <a:p>
            <a:pPr marL="1143000" lvl="1" indent="-457200">
              <a:lnSpc>
                <a:spcPct val="110000"/>
              </a:lnSpc>
              <a:spcBef>
                <a:spcPts val="1200"/>
              </a:spcBef>
            </a:pPr>
            <a:r>
              <a:rPr lang="en-US" b="1">
                <a:cs typeface="Semplicita Pro"/>
              </a:rPr>
              <a:t>Quality</a:t>
            </a:r>
            <a:r>
              <a:rPr lang="en-US">
                <a:cs typeface="Semplicita Pro"/>
              </a:rPr>
              <a:t>: Batch sampling or continuous measurement, using devices ranging from lasers to belt scales to cameras allowing for visual inspections by AI</a:t>
            </a:r>
          </a:p>
          <a:p>
            <a:pPr marL="1143000" lvl="1" indent="-457200">
              <a:lnSpc>
                <a:spcPct val="110000"/>
              </a:lnSpc>
              <a:spcBef>
                <a:spcPts val="1200"/>
              </a:spcBef>
            </a:pPr>
            <a:r>
              <a:rPr lang="en-US" b="1">
                <a:cs typeface="Semplicita Pro"/>
              </a:rPr>
              <a:t>Fuel energy</a:t>
            </a:r>
            <a:r>
              <a:rPr lang="en-US">
                <a:cs typeface="Semplicita Pro"/>
              </a:rPr>
              <a:t>: Periodic lab tests and flow meters capable of applying the calorific value to the actual volume measured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endParaRPr lang="en-US">
              <a:cs typeface="Semplicita Pro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5B65AC1-0D4B-8A78-5493-13DE2B2885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9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CA2FB-E912-5305-DB00-F56ADD43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mplicita Pro"/>
              </a:rPr>
              <a:t>Other Metering Considerations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B6C57-0A52-431A-898D-64549A91C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cs typeface="Semplicita Pro"/>
              </a:rPr>
              <a:t>Sometimes additional metering is not required as it is already in existence. Measurements may be available through the building management system (BMS) or supervisory control and data acquisition (SCADA) system. </a:t>
            </a:r>
          </a:p>
          <a:p>
            <a:r>
              <a:rPr lang="en-US" sz="2400">
                <a:cs typeface="Semplicita Pro"/>
              </a:rPr>
              <a:t>In some cases, a measurement could even be sourced from outside the physical measurement boundary—from a weather station, for example. </a:t>
            </a:r>
            <a:endParaRPr lang="en-US" sz="2400">
              <a:cs typeface="Semplicita Pro" panose="02000000000000000000" pitchFamily="2" charset="77"/>
            </a:endParaRPr>
          </a:p>
          <a:p>
            <a:r>
              <a:rPr lang="en-US" sz="2400">
                <a:cs typeface="Semplicita Pro"/>
              </a:rPr>
              <a:t>Each source should be assessed for credibility and applicability.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321B18F-71C2-0A38-2308-8109E112C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1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4D04-8FC9-245F-FF23-1F70697EF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Excel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03F0F-6725-602E-B31B-44A1AC4F6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CMVP_Retrofit_Isolation_Example.xlsx</a:t>
            </a:r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AC74B2-39BD-5B5F-7F61-CFE131932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85439"/>
            <a:ext cx="10515600" cy="184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9ECACA2-A291-0AA8-91D6-BAFB61FEB0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09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4DE5-3D22-1F3A-975B-E7115113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E4337-ECC2-7EF4-9444-FF9FDFB8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sz="2400"/>
              <a:t>Retrofit isolation approaches draw a measurement boundary around a specific equipment or systems affected by an energy conservation measure. </a:t>
            </a:r>
          </a:p>
          <a:p>
            <a:pPr marL="457200" indent="-457200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en-US" sz="2400"/>
              <a:t>There are two fundamental methods of measurement in retrofit isolation: performance and performance/operation. These are sometimes referred to as Option A and Option B.</a:t>
            </a:r>
          </a:p>
        </p:txBody>
      </p:sp>
    </p:spTree>
    <p:extLst>
      <p:ext uri="{BB962C8B-B14F-4D97-AF65-F5344CB8AC3E}">
        <p14:creationId xmlns:p14="http://schemas.microsoft.com/office/powerpoint/2010/main" val="172041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C37E-AB1E-88AA-F095-13AFC518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Module 6: Retrofit Isolation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0F4B2-4249-3CDD-487C-8659C184F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Describe how you would determine whether a parameter should be measured directly or can be reasonably estimated in a retrofit isolation study.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are interactive effects, and how might they complicate the attribution of savings in a facility with multiple ECMs?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field skills are most critical for a practitioner carrying out a retrofit isolation approach, and how do safety considerations come into play?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340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orkbook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Workbooks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rkbooks" id="{97888F8D-FCE6-4A54-972D-8F39DFCC3DF7}" vid="{B9283D6F-5C70-4FF0-A54C-00C549D04FED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Workbook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Workbooks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rkbooks" id="{97888F8D-FCE6-4A54-972D-8F39DFCC3DF7}" vid="{B9283D6F-5C70-4FF0-A54C-00C549D04FED}"/>
    </a:ext>
  </a:extLst>
</a:theme>
</file>

<file path=ppt/theme/theme5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3e92f2-5613-46e7-b45d-3aef96e77e3b" xsi:nil="true"/>
    <lcf76f155ced4ddcb4097134ff3c332f xmlns="eede6f60-fd02-4aa8-96b3-c6d8596d5a0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8908EB78113947A2551702793187F6" ma:contentTypeVersion="20" ma:contentTypeDescription="Create a new document." ma:contentTypeScope="" ma:versionID="8fa1d89827d6287d4aa55d021510eae1">
  <xsd:schema xmlns:xsd="http://www.w3.org/2001/XMLSchema" xmlns:xs="http://www.w3.org/2001/XMLSchema" xmlns:p="http://schemas.microsoft.com/office/2006/metadata/properties" xmlns:ns2="eede6f60-fd02-4aa8-96b3-c6d8596d5a0b" xmlns:ns3="0a3e92f2-5613-46e7-b45d-3aef96e77e3b" targetNamespace="http://schemas.microsoft.com/office/2006/metadata/properties" ma:root="true" ma:fieldsID="f205a015fb39f47bd8f6727bb7547130" ns2:_="" ns3:_="">
    <xsd:import namespace="eede6f60-fd02-4aa8-96b3-c6d8596d5a0b"/>
    <xsd:import namespace="0a3e92f2-5613-46e7-b45d-3aef96e77e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de6f60-fd02-4aa8-96b3-c6d8596d5a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1cda971e-2c5b-4836-b7b3-048297a31d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3e92f2-5613-46e7-b45d-3aef96e77e3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1b9f90b-3c36-435b-ab9f-2f962144757d}" ma:internalName="TaxCatchAll" ma:showField="CatchAllData" ma:web="0a3e92f2-5613-46e7-b45d-3aef96e77e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BF64DB-D942-4A20-80F1-FB121BB9C9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F8726B-B980-4ED5-9F11-E65DB1718071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eede6f60-fd02-4aa8-96b3-c6d8596d5a0b"/>
    <ds:schemaRef ds:uri="http://www.w3.org/XML/1998/namespace"/>
    <ds:schemaRef ds:uri="http://schemas.microsoft.com/office/infopath/2007/PartnerControls"/>
    <ds:schemaRef ds:uri="http://purl.org/dc/terms/"/>
    <ds:schemaRef ds:uri="0a3e92f2-5613-46e7-b45d-3aef96e77e3b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60862AB-04DD-4A58-9220-DAB1E6FF30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de6f60-fd02-4aa8-96b3-c6d8596d5a0b"/>
    <ds:schemaRef ds:uri="0a3e92f2-5613-46e7-b45d-3aef96e77e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28815</TotalTime>
  <Words>1669</Words>
  <Application>Microsoft Macintosh PowerPoint</Application>
  <PresentationFormat>Widescreen</PresentationFormat>
  <Paragraphs>235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Aptos</vt:lpstr>
      <vt:lpstr>Segoe UI Light</vt:lpstr>
      <vt:lpstr>Calibri Light</vt:lpstr>
      <vt:lpstr>Wingdings</vt:lpstr>
      <vt:lpstr>Semplicita Pro</vt:lpstr>
      <vt:lpstr>Segoe UI Semibold</vt:lpstr>
      <vt:lpstr>Arial</vt:lpstr>
      <vt:lpstr>Aptos Display</vt:lpstr>
      <vt:lpstr>Verdana</vt:lpstr>
      <vt:lpstr>Office Theme</vt:lpstr>
      <vt:lpstr>Workbooks</vt:lpstr>
      <vt:lpstr>Custom Design</vt:lpstr>
      <vt:lpstr>1_Workbooks</vt:lpstr>
      <vt:lpstr>MODULE 6 Retrofit Isolation</vt:lpstr>
      <vt:lpstr>Learning Objectives</vt:lpstr>
      <vt:lpstr>What Is Retrofit Isolation?</vt:lpstr>
      <vt:lpstr>What Is Retrofit Isolation?</vt:lpstr>
      <vt:lpstr>July 22-24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Interactive Effects</vt:lpstr>
      <vt:lpstr>“Savings” Attribution</vt:lpstr>
      <vt:lpstr>Fundamental Methods of Measurement in Retrofit Isolation</vt:lpstr>
      <vt:lpstr>Common Terminology</vt:lpstr>
      <vt:lpstr>Identifying Significant Parameters</vt:lpstr>
      <vt:lpstr>Identifying Estimable Parameters – when accuracy is key</vt:lpstr>
      <vt:lpstr>Enhanced Measurement Approaches</vt:lpstr>
      <vt:lpstr>Other Metering Considerations</vt:lpstr>
      <vt:lpstr>Excel Example </vt:lpstr>
      <vt:lpstr>Key Takeaways</vt:lpstr>
      <vt:lpstr>Module 6: Retrofit Isolation</vt:lpstr>
    </vt:vector>
  </TitlesOfParts>
  <Manager/>
  <Company>Association of Energy Engineers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AEE Certified Training Template</dc:title>
  <dc:subject>Version 1.0 January 1, 2019</dc:subject>
  <dc:creator>Michael Hewson</dc:creator>
  <cp:keywords/>
  <dc:description/>
  <cp:lastModifiedBy>Steve Kromer</cp:lastModifiedBy>
  <cp:revision>69</cp:revision>
  <cp:lastPrinted>2023-09-28T19:47:32Z</cp:lastPrinted>
  <dcterms:created xsi:type="dcterms:W3CDTF">2018-12-23T18:03:31Z</dcterms:created>
  <dcterms:modified xsi:type="dcterms:W3CDTF">2026-03-25T15:44:24Z</dcterms:modified>
  <cp:category>Certified Training Material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0x010100F68908EB78113947A2551702793187F6</vt:lpwstr>
  </property>
  <property fmtid="{D5CDD505-2E9C-101B-9397-08002B2CF9AE}" pid="3" name="MediaServiceImageTags">
    <vt:lpwstr/>
  </property>
  <property fmtid="{D5CDD505-2E9C-101B-9397-08002B2CF9AE}" pid="4" name="Order">
    <vt:r8>622000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