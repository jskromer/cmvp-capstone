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2" r:id="rId4"/>
    <p:sldMasterId id="2147483759" r:id="rId5"/>
    <p:sldMasterId id="2147483791" r:id="rId6"/>
    <p:sldMasterId id="2147483772" r:id="rId7"/>
  </p:sldMasterIdLst>
  <p:notesMasterIdLst>
    <p:notesMasterId r:id="rId52"/>
  </p:notesMasterIdLst>
  <p:handoutMasterIdLst>
    <p:handoutMasterId r:id="rId53"/>
  </p:handoutMasterIdLst>
  <p:sldIdLst>
    <p:sldId id="294" r:id="rId8"/>
    <p:sldId id="402" r:id="rId9"/>
    <p:sldId id="401" r:id="rId10"/>
    <p:sldId id="2784" r:id="rId11"/>
    <p:sldId id="2785" r:id="rId12"/>
    <p:sldId id="2786" r:id="rId13"/>
    <p:sldId id="2787" r:id="rId14"/>
    <p:sldId id="2788" r:id="rId15"/>
    <p:sldId id="2790" r:id="rId16"/>
    <p:sldId id="2791" r:id="rId17"/>
    <p:sldId id="617" r:id="rId18"/>
    <p:sldId id="296" r:id="rId19"/>
    <p:sldId id="2752" r:id="rId20"/>
    <p:sldId id="616" r:id="rId21"/>
    <p:sldId id="363" r:id="rId22"/>
    <p:sldId id="356" r:id="rId23"/>
    <p:sldId id="385" r:id="rId24"/>
    <p:sldId id="499" r:id="rId25"/>
    <p:sldId id="503" r:id="rId26"/>
    <p:sldId id="511" r:id="rId27"/>
    <p:sldId id="485" r:id="rId28"/>
    <p:sldId id="486" r:id="rId29"/>
    <p:sldId id="297" r:id="rId30"/>
    <p:sldId id="2806" r:id="rId31"/>
    <p:sldId id="2807" r:id="rId32"/>
    <p:sldId id="537" r:id="rId33"/>
    <p:sldId id="2824" r:id="rId34"/>
    <p:sldId id="538" r:id="rId35"/>
    <p:sldId id="298" r:id="rId36"/>
    <p:sldId id="299" r:id="rId37"/>
    <p:sldId id="491" r:id="rId38"/>
    <p:sldId id="492" r:id="rId39"/>
    <p:sldId id="624" r:id="rId40"/>
    <p:sldId id="301" r:id="rId41"/>
    <p:sldId id="302" r:id="rId42"/>
    <p:sldId id="303" r:id="rId43"/>
    <p:sldId id="619" r:id="rId44"/>
    <p:sldId id="649" r:id="rId45"/>
    <p:sldId id="305" r:id="rId46"/>
    <p:sldId id="428" r:id="rId47"/>
    <p:sldId id="648" r:id="rId48"/>
    <p:sldId id="300" r:id="rId49"/>
    <p:sldId id="304" r:id="rId50"/>
    <p:sldId id="2757" r:id="rId51"/>
  </p:sldIdLst>
  <p:sldSz cx="12192000" cy="6858000"/>
  <p:notesSz cx="7315200" cy="9601200"/>
  <p:embeddedFontLst>
    <p:embeddedFont>
      <p:font typeface="Segoe UI Light" panose="020B0502040204020203" pitchFamily="34" charset="0"/>
      <p:regular r:id="rId54"/>
      <p:italic r:id="rId55"/>
    </p:embeddedFont>
    <p:embeddedFont>
      <p:font typeface="Segoe UI Semibold" panose="020B0702040204020203" pitchFamily="34" charset="0"/>
      <p:regular r:id="rId56"/>
      <p:bold r:id="rId57"/>
      <p:italic r:id="rId58"/>
      <p:boldItalic r:id="rId59"/>
    </p:embeddedFont>
    <p:embeddedFont>
      <p:font typeface="Semplicita Pro" panose="020B0604020202020204" charset="0"/>
      <p:regular r:id="rId60"/>
      <p:bold r:id="rId61"/>
      <p:italic r:id="rId62"/>
      <p:boldItalic r:id="rId63"/>
    </p:embeddedFont>
    <p:embeddedFont>
      <p:font typeface="Verdana" panose="020B0604030504040204" pitchFamily="34" charset="0"/>
      <p:regular r:id="rId64"/>
      <p:bold r:id="rId65"/>
      <p:italic r:id="rId66"/>
      <p:boldItalic r:id="rId6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2" id="{071AF6EA-BF61-D048-8753-9DBD95869984}">
          <p14:sldIdLst>
            <p14:sldId id="294"/>
            <p14:sldId id="402"/>
            <p14:sldId id="401"/>
            <p14:sldId id="2784"/>
            <p14:sldId id="2785"/>
            <p14:sldId id="2786"/>
            <p14:sldId id="2787"/>
            <p14:sldId id="2788"/>
            <p14:sldId id="2790"/>
            <p14:sldId id="2791"/>
            <p14:sldId id="617"/>
            <p14:sldId id="296"/>
            <p14:sldId id="2752"/>
            <p14:sldId id="616"/>
            <p14:sldId id="363"/>
            <p14:sldId id="356"/>
            <p14:sldId id="385"/>
            <p14:sldId id="499"/>
            <p14:sldId id="503"/>
            <p14:sldId id="511"/>
            <p14:sldId id="485"/>
            <p14:sldId id="486"/>
            <p14:sldId id="297"/>
            <p14:sldId id="2806"/>
            <p14:sldId id="2807"/>
            <p14:sldId id="537"/>
            <p14:sldId id="2824"/>
            <p14:sldId id="538"/>
            <p14:sldId id="298"/>
            <p14:sldId id="299"/>
            <p14:sldId id="491"/>
            <p14:sldId id="492"/>
            <p14:sldId id="624"/>
            <p14:sldId id="301"/>
            <p14:sldId id="302"/>
            <p14:sldId id="303"/>
            <p14:sldId id="619"/>
            <p14:sldId id="649"/>
            <p14:sldId id="305"/>
            <p14:sldId id="428"/>
            <p14:sldId id="648"/>
            <p14:sldId id="300"/>
            <p14:sldId id="304"/>
            <p14:sldId id="2757"/>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0E661A-16D0-5403-552F-030E5600146C}" name="Steve Kromer" initials="SK" userId="S::steve@counterfactual-designs.com::3422a2b1-b5f1-46bb-a09f-17841b28c920" providerId="AD"/>
  <p188:author id="{F929B92B-5FBA-2421-6909-2730212124E6}" name="Chris Balbach" initials="CB" userId="Chris Balbach" providerId="None"/>
  <p188:author id="{42565433-F785-EC19-A8EF-41BF281547A8}" name="Erick Piller" initials="EP" userId="S::erick@counterfactual-designs.com::69ba48c4-f2f4-4312-a5bd-1ff860b9d88b" providerId="AD"/>
  <p188:author id="{817C43A2-646B-8A36-C16B-0D72086A9FB8}" name="Hassan Ali Younes" initials="HAY" userId="S::hassan@grfn.global::6ea118d4-3ea0-471c-921f-4ae10ac6ccc8" providerId="AD"/>
  <p188:author id="{CE599FF2-E437-F2DC-FA8A-1EA3C907C036}" name="Erick Piller" initials="EP" userId="Erick Piller" providerId="None"/>
  <p188:author id="{456971F8-98E7-7C77-B56E-D29A03818428}" name="Sam Day" initials="SD" userId="S::sam.day@clearesult.com::6df82dd2-643e-45b8-8786-7555ffc5823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FB3"/>
    <a:srgbClr val="F05D5E"/>
    <a:srgbClr val="4A66AC"/>
    <a:srgbClr val="DC965A"/>
    <a:srgbClr val="609ED0"/>
    <a:srgbClr val="59A2AE"/>
    <a:srgbClr val="2C2A4A"/>
    <a:srgbClr val="DB2955"/>
    <a:srgbClr val="44455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handoutView">
  <p:normalViewPr>
    <p:restoredLeft sz="23636"/>
    <p:restoredTop sz="60137"/>
  </p:normalViewPr>
  <p:slideViewPr>
    <p:cSldViewPr snapToGrid="0">
      <p:cViewPr varScale="1">
        <p:scale>
          <a:sx n="46" d="100"/>
          <a:sy n="46" d="100"/>
        </p:scale>
        <p:origin x="168" y="760"/>
      </p:cViewPr>
      <p:guideLst>
        <p:guide pos="3840"/>
        <p:guide orient="horz" pos="2160"/>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1746" y="-301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font" Target="fonts/font10.fntdata"/><Relationship Id="rId68" Type="http://schemas.openxmlformats.org/officeDocument/2006/relationships/presProps" Target="presProps.xml"/><Relationship Id="rId7" Type="http://schemas.openxmlformats.org/officeDocument/2006/relationships/slideMaster" Target="slideMasters/slideMaster4.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handoutMaster" Target="handoutMasters/handoutMaster1.xml"/><Relationship Id="rId58" Type="http://schemas.openxmlformats.org/officeDocument/2006/relationships/font" Target="fonts/font5.fntdata"/><Relationship Id="rId66" Type="http://schemas.openxmlformats.org/officeDocument/2006/relationships/font" Target="fonts/font13.fntdata"/><Relationship Id="rId5" Type="http://schemas.openxmlformats.org/officeDocument/2006/relationships/slideMaster" Target="slideMasters/slideMaster2.xml"/><Relationship Id="rId61" Type="http://schemas.openxmlformats.org/officeDocument/2006/relationships/font" Target="fonts/font8.fntdata"/><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slide" Target="slides/slide44.xml"/><Relationship Id="rId72"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font" Target="fonts/font4.fntdata"/><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notesMaster" Target="notesMasters/notesMaster1.xml"/><Relationship Id="rId60" Type="http://schemas.openxmlformats.org/officeDocument/2006/relationships/font" Target="fonts/font7.fntdata"/><Relationship Id="rId65" Type="http://schemas.openxmlformats.org/officeDocument/2006/relationships/font" Target="fonts/font12.fntdata"/><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font" Target="fonts/font2.fntdata"/></Relationships>
</file>

<file path=ppt/diagrams/_rels/data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382CAE-5F0D-C74F-920D-893C96237D0D}" type="doc">
      <dgm:prSet loTypeId="urn:microsoft.com/office/officeart/2005/8/layout/hProcess9" loCatId="" qsTypeId="urn:microsoft.com/office/officeart/2005/8/quickstyle/simple1" qsCatId="simple" csTypeId="urn:microsoft.com/office/officeart/2005/8/colors/colorful1" csCatId="colorful" phldr="1"/>
      <dgm:spPr/>
    </dgm:pt>
    <dgm:pt modelId="{037D1578-6FB0-7241-8029-1B8A2F9AF36E}">
      <dgm:prSet/>
      <dgm:spPr/>
      <dgm:t>
        <a:bodyPr/>
        <a:lstStyle/>
        <a:p>
          <a:r>
            <a:rPr lang="en-US" b="0" i="0">
              <a:latin typeface="Verdana" panose="020B0604030504040204" pitchFamily="34" charset="0"/>
            </a:rPr>
            <a:t>An energy service company (ESCO) implements an energy conservation measure (ECM) at a facility.</a:t>
          </a:r>
        </a:p>
      </dgm:t>
    </dgm:pt>
    <dgm:pt modelId="{36BFEE0A-3C81-1947-B5DA-3BA547F6443D}" type="parTrans" cxnId="{6D8F4244-D994-AB42-B9E4-023E46CF84E5}">
      <dgm:prSet/>
      <dgm:spPr/>
      <dgm:t>
        <a:bodyPr/>
        <a:lstStyle/>
        <a:p>
          <a:endParaRPr lang="en-US"/>
        </a:p>
      </dgm:t>
    </dgm:pt>
    <dgm:pt modelId="{05DD1316-403B-4B4B-AB5D-FC81AB7095A0}" type="sibTrans" cxnId="{6D8F4244-D994-AB42-B9E4-023E46CF84E5}">
      <dgm:prSet/>
      <dgm:spPr/>
      <dgm:t>
        <a:bodyPr/>
        <a:lstStyle/>
        <a:p>
          <a:endParaRPr lang="en-US"/>
        </a:p>
      </dgm:t>
    </dgm:pt>
    <dgm:pt modelId="{B83CAC0B-1A38-2349-8B33-A449BD99D3B2}">
      <dgm:prSet/>
      <dgm:spPr/>
      <dgm:t>
        <a:bodyPr/>
        <a:lstStyle/>
        <a:p>
          <a:r>
            <a:rPr lang="en-US" b="0" i="0">
              <a:latin typeface="Verdana" panose="020B0604030504040204" pitchFamily="34" charset="0"/>
            </a:rPr>
            <a:t>The facility’s energy efficiency improves, leading to cost savings for the facility’s owner.</a:t>
          </a:r>
        </a:p>
      </dgm:t>
    </dgm:pt>
    <dgm:pt modelId="{1197EF14-18A4-784D-B50E-424B4D4A36FB}" type="parTrans" cxnId="{5FD1C207-8C99-1241-8E68-19C13816EE3C}">
      <dgm:prSet/>
      <dgm:spPr/>
      <dgm:t>
        <a:bodyPr/>
        <a:lstStyle/>
        <a:p>
          <a:endParaRPr lang="en-US"/>
        </a:p>
      </dgm:t>
    </dgm:pt>
    <dgm:pt modelId="{3C1FA377-E8C4-D649-97D7-795DA614D918}" type="sibTrans" cxnId="{5FD1C207-8C99-1241-8E68-19C13816EE3C}">
      <dgm:prSet/>
      <dgm:spPr/>
      <dgm:t>
        <a:bodyPr/>
        <a:lstStyle/>
        <a:p>
          <a:endParaRPr lang="en-US"/>
        </a:p>
      </dgm:t>
    </dgm:pt>
    <dgm:pt modelId="{6582048C-43D4-0548-937A-7BEB3100F4CF}">
      <dgm:prSet/>
      <dgm:spPr/>
      <dgm:t>
        <a:bodyPr/>
        <a:lstStyle/>
        <a:p>
          <a:r>
            <a:rPr lang="en-US" b="0" i="0">
              <a:latin typeface="Verdana" panose="020B0604030504040204" pitchFamily="34" charset="0"/>
            </a:rPr>
            <a:t>The facility’s owner repays the ESCO from cost savings.</a:t>
          </a:r>
        </a:p>
      </dgm:t>
    </dgm:pt>
    <dgm:pt modelId="{9015772E-89B4-AB4B-A546-6954E42E765A}" type="parTrans" cxnId="{BD49C082-60AE-A546-9DE8-D334472514C4}">
      <dgm:prSet/>
      <dgm:spPr/>
      <dgm:t>
        <a:bodyPr/>
        <a:lstStyle/>
        <a:p>
          <a:endParaRPr lang="en-US"/>
        </a:p>
      </dgm:t>
    </dgm:pt>
    <dgm:pt modelId="{80CC328F-DB1A-8F4E-88C3-5D1D6392EE70}" type="sibTrans" cxnId="{BD49C082-60AE-A546-9DE8-D334472514C4}">
      <dgm:prSet/>
      <dgm:spPr/>
      <dgm:t>
        <a:bodyPr/>
        <a:lstStyle/>
        <a:p>
          <a:endParaRPr lang="en-US"/>
        </a:p>
      </dgm:t>
    </dgm:pt>
    <dgm:pt modelId="{C8EF0DCC-F29E-1146-9F1D-B643794DFBF7}" type="pres">
      <dgm:prSet presAssocID="{30382CAE-5F0D-C74F-920D-893C96237D0D}" presName="CompostProcess" presStyleCnt="0">
        <dgm:presLayoutVars>
          <dgm:dir/>
          <dgm:resizeHandles val="exact"/>
        </dgm:presLayoutVars>
      </dgm:prSet>
      <dgm:spPr/>
    </dgm:pt>
    <dgm:pt modelId="{0D34DB60-67E6-C244-AB98-CB018E974B46}" type="pres">
      <dgm:prSet presAssocID="{30382CAE-5F0D-C74F-920D-893C96237D0D}" presName="arrow" presStyleLbl="bgShp" presStyleIdx="0" presStyleCnt="1"/>
      <dgm:spPr/>
    </dgm:pt>
    <dgm:pt modelId="{92F66ABF-2392-144B-ACDE-2B8B03B0F540}" type="pres">
      <dgm:prSet presAssocID="{30382CAE-5F0D-C74F-920D-893C96237D0D}" presName="linearProcess" presStyleCnt="0"/>
      <dgm:spPr/>
    </dgm:pt>
    <dgm:pt modelId="{F619B418-3B51-364F-B064-E15933B207D6}" type="pres">
      <dgm:prSet presAssocID="{037D1578-6FB0-7241-8029-1B8A2F9AF36E}" presName="textNode" presStyleLbl="node1" presStyleIdx="0" presStyleCnt="3">
        <dgm:presLayoutVars>
          <dgm:bulletEnabled val="1"/>
        </dgm:presLayoutVars>
      </dgm:prSet>
      <dgm:spPr/>
    </dgm:pt>
    <dgm:pt modelId="{B208F7B6-36F3-FD4B-99EB-28AAC38789FB}" type="pres">
      <dgm:prSet presAssocID="{05DD1316-403B-4B4B-AB5D-FC81AB7095A0}" presName="sibTrans" presStyleCnt="0"/>
      <dgm:spPr/>
    </dgm:pt>
    <dgm:pt modelId="{81BE0AAD-F918-AA43-AACB-4A9E38C70714}" type="pres">
      <dgm:prSet presAssocID="{B83CAC0B-1A38-2349-8B33-A449BD99D3B2}" presName="textNode" presStyleLbl="node1" presStyleIdx="1" presStyleCnt="3">
        <dgm:presLayoutVars>
          <dgm:bulletEnabled val="1"/>
        </dgm:presLayoutVars>
      </dgm:prSet>
      <dgm:spPr/>
    </dgm:pt>
    <dgm:pt modelId="{36022740-74AB-5541-8BD9-D1C5EC16392E}" type="pres">
      <dgm:prSet presAssocID="{3C1FA377-E8C4-D649-97D7-795DA614D918}" presName="sibTrans" presStyleCnt="0"/>
      <dgm:spPr/>
    </dgm:pt>
    <dgm:pt modelId="{B88002D3-0404-774A-96E4-45426A40560E}" type="pres">
      <dgm:prSet presAssocID="{6582048C-43D4-0548-937A-7BEB3100F4CF}" presName="textNode" presStyleLbl="node1" presStyleIdx="2" presStyleCnt="3">
        <dgm:presLayoutVars>
          <dgm:bulletEnabled val="1"/>
        </dgm:presLayoutVars>
      </dgm:prSet>
      <dgm:spPr/>
    </dgm:pt>
  </dgm:ptLst>
  <dgm:cxnLst>
    <dgm:cxn modelId="{5FD1C207-8C99-1241-8E68-19C13816EE3C}" srcId="{30382CAE-5F0D-C74F-920D-893C96237D0D}" destId="{B83CAC0B-1A38-2349-8B33-A449BD99D3B2}" srcOrd="1" destOrd="0" parTransId="{1197EF14-18A4-784D-B50E-424B4D4A36FB}" sibTransId="{3C1FA377-E8C4-D649-97D7-795DA614D918}"/>
    <dgm:cxn modelId="{6D8F4244-D994-AB42-B9E4-023E46CF84E5}" srcId="{30382CAE-5F0D-C74F-920D-893C96237D0D}" destId="{037D1578-6FB0-7241-8029-1B8A2F9AF36E}" srcOrd="0" destOrd="0" parTransId="{36BFEE0A-3C81-1947-B5DA-3BA547F6443D}" sibTransId="{05DD1316-403B-4B4B-AB5D-FC81AB7095A0}"/>
    <dgm:cxn modelId="{0608B182-212F-6E49-8800-485CA6A11FA6}" type="presOf" srcId="{6582048C-43D4-0548-937A-7BEB3100F4CF}" destId="{B88002D3-0404-774A-96E4-45426A40560E}" srcOrd="0" destOrd="0" presId="urn:microsoft.com/office/officeart/2005/8/layout/hProcess9"/>
    <dgm:cxn modelId="{BD49C082-60AE-A546-9DE8-D334472514C4}" srcId="{30382CAE-5F0D-C74F-920D-893C96237D0D}" destId="{6582048C-43D4-0548-937A-7BEB3100F4CF}" srcOrd="2" destOrd="0" parTransId="{9015772E-89B4-AB4B-A546-6954E42E765A}" sibTransId="{80CC328F-DB1A-8F4E-88C3-5D1D6392EE70}"/>
    <dgm:cxn modelId="{7027E78E-0805-9A48-B828-3A2F9C717897}" type="presOf" srcId="{037D1578-6FB0-7241-8029-1B8A2F9AF36E}" destId="{F619B418-3B51-364F-B064-E15933B207D6}" srcOrd="0" destOrd="0" presId="urn:microsoft.com/office/officeart/2005/8/layout/hProcess9"/>
    <dgm:cxn modelId="{819006B7-0394-7A42-8DB5-215DB695E937}" type="presOf" srcId="{B83CAC0B-1A38-2349-8B33-A449BD99D3B2}" destId="{81BE0AAD-F918-AA43-AACB-4A9E38C70714}" srcOrd="0" destOrd="0" presId="urn:microsoft.com/office/officeart/2005/8/layout/hProcess9"/>
    <dgm:cxn modelId="{149FADCC-DB40-6848-8747-75859DDB0C33}" type="presOf" srcId="{30382CAE-5F0D-C74F-920D-893C96237D0D}" destId="{C8EF0DCC-F29E-1146-9F1D-B643794DFBF7}" srcOrd="0" destOrd="0" presId="urn:microsoft.com/office/officeart/2005/8/layout/hProcess9"/>
    <dgm:cxn modelId="{A5B870F1-7A46-4242-B58C-6046A4DB9834}" type="presParOf" srcId="{C8EF0DCC-F29E-1146-9F1D-B643794DFBF7}" destId="{0D34DB60-67E6-C244-AB98-CB018E974B46}" srcOrd="0" destOrd="0" presId="urn:microsoft.com/office/officeart/2005/8/layout/hProcess9"/>
    <dgm:cxn modelId="{59A66983-7E41-744B-8619-42E4F6580602}" type="presParOf" srcId="{C8EF0DCC-F29E-1146-9F1D-B643794DFBF7}" destId="{92F66ABF-2392-144B-ACDE-2B8B03B0F540}" srcOrd="1" destOrd="0" presId="urn:microsoft.com/office/officeart/2005/8/layout/hProcess9"/>
    <dgm:cxn modelId="{FB9933F7-699C-B24D-822C-1B31B9254EED}" type="presParOf" srcId="{92F66ABF-2392-144B-ACDE-2B8B03B0F540}" destId="{F619B418-3B51-364F-B064-E15933B207D6}" srcOrd="0" destOrd="0" presId="urn:microsoft.com/office/officeart/2005/8/layout/hProcess9"/>
    <dgm:cxn modelId="{600E7A73-2612-A842-8CF7-222A0696D832}" type="presParOf" srcId="{92F66ABF-2392-144B-ACDE-2B8B03B0F540}" destId="{B208F7B6-36F3-FD4B-99EB-28AAC38789FB}" srcOrd="1" destOrd="0" presId="urn:microsoft.com/office/officeart/2005/8/layout/hProcess9"/>
    <dgm:cxn modelId="{5132D57C-9CC9-9C48-B4CE-64AD27D6F69C}" type="presParOf" srcId="{92F66ABF-2392-144B-ACDE-2B8B03B0F540}" destId="{81BE0AAD-F918-AA43-AACB-4A9E38C70714}" srcOrd="2" destOrd="0" presId="urn:microsoft.com/office/officeart/2005/8/layout/hProcess9"/>
    <dgm:cxn modelId="{8C1363D0-F88F-E047-81E7-9BE19325CD75}" type="presParOf" srcId="{92F66ABF-2392-144B-ACDE-2B8B03B0F540}" destId="{36022740-74AB-5541-8BD9-D1C5EC16392E}" srcOrd="3" destOrd="0" presId="urn:microsoft.com/office/officeart/2005/8/layout/hProcess9"/>
    <dgm:cxn modelId="{99ACA681-5C89-E241-A846-2859F51762B1}" type="presParOf" srcId="{92F66ABF-2392-144B-ACDE-2B8B03B0F540}" destId="{B88002D3-0404-774A-96E4-45426A40560E}"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0382CAE-5F0D-C74F-920D-893C96237D0D}" type="doc">
      <dgm:prSet loTypeId="urn:microsoft.com/office/officeart/2005/8/layout/hProcess9" loCatId="" qsTypeId="urn:microsoft.com/office/officeart/2005/8/quickstyle/simple1" qsCatId="simple" csTypeId="urn:microsoft.com/office/officeart/2005/8/colors/colorful1" csCatId="colorful" phldr="1"/>
      <dgm:spPr/>
    </dgm:pt>
    <dgm:pt modelId="{037D1578-6FB0-7241-8029-1B8A2F9AF36E}">
      <dgm:prSet custT="1"/>
      <dgm:spPr/>
      <dgm:t>
        <a:bodyPr/>
        <a:lstStyle/>
        <a:p>
          <a:r>
            <a:rPr lang="en-US" sz="1900" b="0" i="0">
              <a:latin typeface="Verdana" panose="020B0604030504040204" pitchFamily="34" charset="0"/>
            </a:rPr>
            <a:t>A utility or government agency sponsors a program with rate payer or taxpayer monies.</a:t>
          </a:r>
        </a:p>
      </dgm:t>
    </dgm:pt>
    <dgm:pt modelId="{36BFEE0A-3C81-1947-B5DA-3BA547F6443D}" type="parTrans" cxnId="{6D8F4244-D994-AB42-B9E4-023E46CF84E5}">
      <dgm:prSet/>
      <dgm:spPr/>
      <dgm:t>
        <a:bodyPr/>
        <a:lstStyle/>
        <a:p>
          <a:endParaRPr lang="en-US"/>
        </a:p>
      </dgm:t>
    </dgm:pt>
    <dgm:pt modelId="{05DD1316-403B-4B4B-AB5D-FC81AB7095A0}" type="sibTrans" cxnId="{6D8F4244-D994-AB42-B9E4-023E46CF84E5}">
      <dgm:prSet/>
      <dgm:spPr/>
      <dgm:t>
        <a:bodyPr/>
        <a:lstStyle/>
        <a:p>
          <a:endParaRPr lang="en-US"/>
        </a:p>
      </dgm:t>
    </dgm:pt>
    <dgm:pt modelId="{B83CAC0B-1A38-2349-8B33-A449BD99D3B2}">
      <dgm:prSet custT="1"/>
      <dgm:spPr/>
      <dgm:t>
        <a:bodyPr/>
        <a:lstStyle/>
        <a:p>
          <a:r>
            <a:rPr lang="en-US" sz="1900" b="0" i="0">
              <a:latin typeface="Verdana" panose="020B0604030504040204" pitchFamily="34" charset="0"/>
            </a:rPr>
            <a:t>An implementer facilitates program implementation to generate end use savings.</a:t>
          </a:r>
        </a:p>
      </dgm:t>
    </dgm:pt>
    <dgm:pt modelId="{1197EF14-18A4-784D-B50E-424B4D4A36FB}" type="parTrans" cxnId="{5FD1C207-8C99-1241-8E68-19C13816EE3C}">
      <dgm:prSet/>
      <dgm:spPr/>
      <dgm:t>
        <a:bodyPr/>
        <a:lstStyle/>
        <a:p>
          <a:endParaRPr lang="en-US"/>
        </a:p>
      </dgm:t>
    </dgm:pt>
    <dgm:pt modelId="{3C1FA377-E8C4-D649-97D7-795DA614D918}" type="sibTrans" cxnId="{5FD1C207-8C99-1241-8E68-19C13816EE3C}">
      <dgm:prSet/>
      <dgm:spPr/>
      <dgm:t>
        <a:bodyPr/>
        <a:lstStyle/>
        <a:p>
          <a:endParaRPr lang="en-US"/>
        </a:p>
      </dgm:t>
    </dgm:pt>
    <dgm:pt modelId="{6582048C-43D4-0548-937A-7BEB3100F4CF}">
      <dgm:prSet custT="1"/>
      <dgm:spPr/>
      <dgm:t>
        <a:bodyPr/>
        <a:lstStyle/>
        <a:p>
          <a:r>
            <a:rPr lang="en-US" sz="1900" b="0" i="0">
              <a:latin typeface="Verdana" panose="020B0604030504040204" pitchFamily="34" charset="0"/>
            </a:rPr>
            <a:t>The utility submits savings to the regulating entity and pays the implementer for successful implementation.</a:t>
          </a:r>
        </a:p>
      </dgm:t>
    </dgm:pt>
    <dgm:pt modelId="{9015772E-89B4-AB4B-A546-6954E42E765A}" type="parTrans" cxnId="{BD49C082-60AE-A546-9DE8-D334472514C4}">
      <dgm:prSet/>
      <dgm:spPr/>
      <dgm:t>
        <a:bodyPr/>
        <a:lstStyle/>
        <a:p>
          <a:endParaRPr lang="en-US"/>
        </a:p>
      </dgm:t>
    </dgm:pt>
    <dgm:pt modelId="{80CC328F-DB1A-8F4E-88C3-5D1D6392EE70}" type="sibTrans" cxnId="{BD49C082-60AE-A546-9DE8-D334472514C4}">
      <dgm:prSet/>
      <dgm:spPr/>
      <dgm:t>
        <a:bodyPr/>
        <a:lstStyle/>
        <a:p>
          <a:endParaRPr lang="en-US"/>
        </a:p>
      </dgm:t>
    </dgm:pt>
    <dgm:pt modelId="{C8EF0DCC-F29E-1146-9F1D-B643794DFBF7}" type="pres">
      <dgm:prSet presAssocID="{30382CAE-5F0D-C74F-920D-893C96237D0D}" presName="CompostProcess" presStyleCnt="0">
        <dgm:presLayoutVars>
          <dgm:dir/>
          <dgm:resizeHandles val="exact"/>
        </dgm:presLayoutVars>
      </dgm:prSet>
      <dgm:spPr/>
    </dgm:pt>
    <dgm:pt modelId="{0D34DB60-67E6-C244-AB98-CB018E974B46}" type="pres">
      <dgm:prSet presAssocID="{30382CAE-5F0D-C74F-920D-893C96237D0D}" presName="arrow" presStyleLbl="bgShp" presStyleIdx="0" presStyleCnt="1"/>
      <dgm:spPr/>
    </dgm:pt>
    <dgm:pt modelId="{92F66ABF-2392-144B-ACDE-2B8B03B0F540}" type="pres">
      <dgm:prSet presAssocID="{30382CAE-5F0D-C74F-920D-893C96237D0D}" presName="linearProcess" presStyleCnt="0"/>
      <dgm:spPr/>
    </dgm:pt>
    <dgm:pt modelId="{F619B418-3B51-364F-B064-E15933B207D6}" type="pres">
      <dgm:prSet presAssocID="{037D1578-6FB0-7241-8029-1B8A2F9AF36E}" presName="textNode" presStyleLbl="node1" presStyleIdx="0" presStyleCnt="3">
        <dgm:presLayoutVars>
          <dgm:bulletEnabled val="1"/>
        </dgm:presLayoutVars>
      </dgm:prSet>
      <dgm:spPr/>
    </dgm:pt>
    <dgm:pt modelId="{B208F7B6-36F3-FD4B-99EB-28AAC38789FB}" type="pres">
      <dgm:prSet presAssocID="{05DD1316-403B-4B4B-AB5D-FC81AB7095A0}" presName="sibTrans" presStyleCnt="0"/>
      <dgm:spPr/>
    </dgm:pt>
    <dgm:pt modelId="{81BE0AAD-F918-AA43-AACB-4A9E38C70714}" type="pres">
      <dgm:prSet presAssocID="{B83CAC0B-1A38-2349-8B33-A449BD99D3B2}" presName="textNode" presStyleLbl="node1" presStyleIdx="1" presStyleCnt="3">
        <dgm:presLayoutVars>
          <dgm:bulletEnabled val="1"/>
        </dgm:presLayoutVars>
      </dgm:prSet>
      <dgm:spPr/>
    </dgm:pt>
    <dgm:pt modelId="{36022740-74AB-5541-8BD9-D1C5EC16392E}" type="pres">
      <dgm:prSet presAssocID="{3C1FA377-E8C4-D649-97D7-795DA614D918}" presName="sibTrans" presStyleCnt="0"/>
      <dgm:spPr/>
    </dgm:pt>
    <dgm:pt modelId="{B88002D3-0404-774A-96E4-45426A40560E}" type="pres">
      <dgm:prSet presAssocID="{6582048C-43D4-0548-937A-7BEB3100F4CF}" presName="textNode" presStyleLbl="node1" presStyleIdx="2" presStyleCnt="3">
        <dgm:presLayoutVars>
          <dgm:bulletEnabled val="1"/>
        </dgm:presLayoutVars>
      </dgm:prSet>
      <dgm:spPr/>
    </dgm:pt>
  </dgm:ptLst>
  <dgm:cxnLst>
    <dgm:cxn modelId="{5FD1C207-8C99-1241-8E68-19C13816EE3C}" srcId="{30382CAE-5F0D-C74F-920D-893C96237D0D}" destId="{B83CAC0B-1A38-2349-8B33-A449BD99D3B2}" srcOrd="1" destOrd="0" parTransId="{1197EF14-18A4-784D-B50E-424B4D4A36FB}" sibTransId="{3C1FA377-E8C4-D649-97D7-795DA614D918}"/>
    <dgm:cxn modelId="{6D8F4244-D994-AB42-B9E4-023E46CF84E5}" srcId="{30382CAE-5F0D-C74F-920D-893C96237D0D}" destId="{037D1578-6FB0-7241-8029-1B8A2F9AF36E}" srcOrd="0" destOrd="0" parTransId="{36BFEE0A-3C81-1947-B5DA-3BA547F6443D}" sibTransId="{05DD1316-403B-4B4B-AB5D-FC81AB7095A0}"/>
    <dgm:cxn modelId="{0608B182-212F-6E49-8800-485CA6A11FA6}" type="presOf" srcId="{6582048C-43D4-0548-937A-7BEB3100F4CF}" destId="{B88002D3-0404-774A-96E4-45426A40560E}" srcOrd="0" destOrd="0" presId="urn:microsoft.com/office/officeart/2005/8/layout/hProcess9"/>
    <dgm:cxn modelId="{BD49C082-60AE-A546-9DE8-D334472514C4}" srcId="{30382CAE-5F0D-C74F-920D-893C96237D0D}" destId="{6582048C-43D4-0548-937A-7BEB3100F4CF}" srcOrd="2" destOrd="0" parTransId="{9015772E-89B4-AB4B-A546-6954E42E765A}" sibTransId="{80CC328F-DB1A-8F4E-88C3-5D1D6392EE70}"/>
    <dgm:cxn modelId="{7027E78E-0805-9A48-B828-3A2F9C717897}" type="presOf" srcId="{037D1578-6FB0-7241-8029-1B8A2F9AF36E}" destId="{F619B418-3B51-364F-B064-E15933B207D6}" srcOrd="0" destOrd="0" presId="urn:microsoft.com/office/officeart/2005/8/layout/hProcess9"/>
    <dgm:cxn modelId="{819006B7-0394-7A42-8DB5-215DB695E937}" type="presOf" srcId="{B83CAC0B-1A38-2349-8B33-A449BD99D3B2}" destId="{81BE0AAD-F918-AA43-AACB-4A9E38C70714}" srcOrd="0" destOrd="0" presId="urn:microsoft.com/office/officeart/2005/8/layout/hProcess9"/>
    <dgm:cxn modelId="{149FADCC-DB40-6848-8747-75859DDB0C33}" type="presOf" srcId="{30382CAE-5F0D-C74F-920D-893C96237D0D}" destId="{C8EF0DCC-F29E-1146-9F1D-B643794DFBF7}" srcOrd="0" destOrd="0" presId="urn:microsoft.com/office/officeart/2005/8/layout/hProcess9"/>
    <dgm:cxn modelId="{A5B870F1-7A46-4242-B58C-6046A4DB9834}" type="presParOf" srcId="{C8EF0DCC-F29E-1146-9F1D-B643794DFBF7}" destId="{0D34DB60-67E6-C244-AB98-CB018E974B46}" srcOrd="0" destOrd="0" presId="urn:microsoft.com/office/officeart/2005/8/layout/hProcess9"/>
    <dgm:cxn modelId="{59A66983-7E41-744B-8619-42E4F6580602}" type="presParOf" srcId="{C8EF0DCC-F29E-1146-9F1D-B643794DFBF7}" destId="{92F66ABF-2392-144B-ACDE-2B8B03B0F540}" srcOrd="1" destOrd="0" presId="urn:microsoft.com/office/officeart/2005/8/layout/hProcess9"/>
    <dgm:cxn modelId="{FB9933F7-699C-B24D-822C-1B31B9254EED}" type="presParOf" srcId="{92F66ABF-2392-144B-ACDE-2B8B03B0F540}" destId="{F619B418-3B51-364F-B064-E15933B207D6}" srcOrd="0" destOrd="0" presId="urn:microsoft.com/office/officeart/2005/8/layout/hProcess9"/>
    <dgm:cxn modelId="{600E7A73-2612-A842-8CF7-222A0696D832}" type="presParOf" srcId="{92F66ABF-2392-144B-ACDE-2B8B03B0F540}" destId="{B208F7B6-36F3-FD4B-99EB-28AAC38789FB}" srcOrd="1" destOrd="0" presId="urn:microsoft.com/office/officeart/2005/8/layout/hProcess9"/>
    <dgm:cxn modelId="{5132D57C-9CC9-9C48-B4CE-64AD27D6F69C}" type="presParOf" srcId="{92F66ABF-2392-144B-ACDE-2B8B03B0F540}" destId="{81BE0AAD-F918-AA43-AACB-4A9E38C70714}" srcOrd="2" destOrd="0" presId="urn:microsoft.com/office/officeart/2005/8/layout/hProcess9"/>
    <dgm:cxn modelId="{8C1363D0-F88F-E047-81E7-9BE19325CD75}" type="presParOf" srcId="{92F66ABF-2392-144B-ACDE-2B8B03B0F540}" destId="{36022740-74AB-5541-8BD9-D1C5EC16392E}" srcOrd="3" destOrd="0" presId="urn:microsoft.com/office/officeart/2005/8/layout/hProcess9"/>
    <dgm:cxn modelId="{99ACA681-5C89-E241-A846-2859F51762B1}" type="presParOf" srcId="{92F66ABF-2392-144B-ACDE-2B8B03B0F540}" destId="{B88002D3-0404-774A-96E4-45426A40560E}"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C4C17D1E-0D8C-C74A-B287-60FBCE0028DB}" type="doc">
      <dgm:prSet loTypeId="urn:microsoft.com/office/officeart/2008/layout/AlternatingPictureBlocks" loCatId="list" qsTypeId="urn:microsoft.com/office/officeart/2005/8/quickstyle/simple1" qsCatId="simple" csTypeId="urn:microsoft.com/office/officeart/2005/8/colors/accent1_2" csCatId="accent1" phldr="1"/>
      <dgm:spPr/>
      <dgm:t>
        <a:bodyPr/>
        <a:lstStyle/>
        <a:p>
          <a:endParaRPr lang="en-US"/>
        </a:p>
      </dgm:t>
    </dgm:pt>
    <dgm:pt modelId="{958F8C0F-7053-7741-AFFB-0A1D5A20D955}">
      <dgm:prSet phldrT="[Text]"/>
      <dgm:spPr/>
      <dgm:t>
        <a:bodyPr/>
        <a:lstStyle/>
        <a:p>
          <a:pPr>
            <a:buFont typeface="+mj-lt"/>
            <a:buAutoNum type="arabicPeriod"/>
          </a:pPr>
          <a:r>
            <a:rPr lang="en-US" b="0" i="0">
              <a:latin typeface="Verdana" panose="020B0604030504040204" pitchFamily="34" charset="0"/>
            </a:rPr>
            <a:t>An aggregator (ESCO) implements energy efficiency projects at residential or commercial sites, which are connected by meter to the FLEXmarket platform.</a:t>
          </a:r>
        </a:p>
      </dgm:t>
    </dgm:pt>
    <dgm:pt modelId="{61BECB7F-65DF-D840-9DF1-31AC880B7CED}" type="parTrans" cxnId="{AECFF928-F71A-214B-8057-D363D2115473}">
      <dgm:prSet/>
      <dgm:spPr/>
      <dgm:t>
        <a:bodyPr/>
        <a:lstStyle/>
        <a:p>
          <a:endParaRPr lang="en-US">
            <a:latin typeface="Semplicita Pro" panose="02000000000000000000" pitchFamily="2" charset="77"/>
          </a:endParaRPr>
        </a:p>
      </dgm:t>
    </dgm:pt>
    <dgm:pt modelId="{0A98D8A7-B17F-5345-8564-2CC6601BB58E}" type="sibTrans" cxnId="{AECFF928-F71A-214B-8057-D363D2115473}">
      <dgm:prSet/>
      <dgm:spPr/>
      <dgm:t>
        <a:bodyPr/>
        <a:lstStyle/>
        <a:p>
          <a:endParaRPr lang="en-US">
            <a:latin typeface="Semplicita Pro" panose="02000000000000000000" pitchFamily="2" charset="77"/>
          </a:endParaRPr>
        </a:p>
      </dgm:t>
    </dgm:pt>
    <dgm:pt modelId="{56F2A230-6E94-AD41-B256-AA7A9DF34B19}">
      <dgm:prSet phldrT="[Text]"/>
      <dgm:spPr/>
      <dgm:t>
        <a:bodyPr/>
        <a:lstStyle/>
        <a:p>
          <a:pPr>
            <a:buFont typeface="+mj-lt"/>
            <a:buAutoNum type="arabicPeriod"/>
          </a:pPr>
          <a:r>
            <a:rPr lang="en-US" b="0" i="0">
              <a:latin typeface="Verdana" panose="020B0604030504040204" pitchFamily="34" charset="0"/>
            </a:rPr>
            <a:t>Advanced metering systems collect hourly data at enrolled sites and measure outcomes against baseline models.</a:t>
          </a:r>
        </a:p>
      </dgm:t>
    </dgm:pt>
    <dgm:pt modelId="{A2038736-0B95-4641-9CC6-EE592CE917F6}" type="parTrans" cxnId="{CD6642CE-F938-4641-9EFE-CFED523EED04}">
      <dgm:prSet/>
      <dgm:spPr/>
      <dgm:t>
        <a:bodyPr/>
        <a:lstStyle/>
        <a:p>
          <a:endParaRPr lang="en-US">
            <a:latin typeface="Semplicita Pro" panose="02000000000000000000" pitchFamily="2" charset="77"/>
          </a:endParaRPr>
        </a:p>
      </dgm:t>
    </dgm:pt>
    <dgm:pt modelId="{289AEF33-BD6D-E347-9EC7-E69B1E1D2C12}" type="sibTrans" cxnId="{CD6642CE-F938-4641-9EFE-CFED523EED04}">
      <dgm:prSet/>
      <dgm:spPr/>
      <dgm:t>
        <a:bodyPr/>
        <a:lstStyle/>
        <a:p>
          <a:endParaRPr lang="en-US">
            <a:latin typeface="Semplicita Pro" panose="02000000000000000000" pitchFamily="2" charset="77"/>
          </a:endParaRPr>
        </a:p>
      </dgm:t>
    </dgm:pt>
    <dgm:pt modelId="{F730F9D1-28DA-F140-9754-64156A4DC417}">
      <dgm:prSet phldrT="[Text]"/>
      <dgm:spPr/>
      <dgm:t>
        <a:bodyPr/>
        <a:lstStyle/>
        <a:p>
          <a:pPr>
            <a:buFont typeface="+mj-lt"/>
            <a:buAutoNum type="arabicPeriod"/>
          </a:pPr>
          <a:r>
            <a:rPr lang="en-US" b="0" i="0">
              <a:latin typeface="Verdana" panose="020B0604030504040204" pitchFamily="34" charset="0"/>
            </a:rPr>
            <a:t>The aggregator is paid for reducing demand or shifting demand away from peak hours.</a:t>
          </a:r>
        </a:p>
      </dgm:t>
    </dgm:pt>
    <dgm:pt modelId="{28005362-5AA2-0D40-9A45-492997E199BB}" type="parTrans" cxnId="{34C8D284-9645-B444-BE6B-51BCA794EA83}">
      <dgm:prSet/>
      <dgm:spPr/>
      <dgm:t>
        <a:bodyPr/>
        <a:lstStyle/>
        <a:p>
          <a:endParaRPr lang="en-US">
            <a:latin typeface="Semplicita Pro" panose="02000000000000000000" pitchFamily="2" charset="77"/>
          </a:endParaRPr>
        </a:p>
      </dgm:t>
    </dgm:pt>
    <dgm:pt modelId="{49896ACF-5856-784F-84C6-21D37ADB0554}" type="sibTrans" cxnId="{34C8D284-9645-B444-BE6B-51BCA794EA83}">
      <dgm:prSet/>
      <dgm:spPr/>
      <dgm:t>
        <a:bodyPr/>
        <a:lstStyle/>
        <a:p>
          <a:endParaRPr lang="en-US">
            <a:latin typeface="Semplicita Pro" panose="02000000000000000000" pitchFamily="2" charset="77"/>
          </a:endParaRPr>
        </a:p>
      </dgm:t>
    </dgm:pt>
    <dgm:pt modelId="{BB444BA5-02BC-BE45-947A-C01B970F038B}" type="pres">
      <dgm:prSet presAssocID="{C4C17D1E-0D8C-C74A-B287-60FBCE0028DB}" presName="linearFlow" presStyleCnt="0">
        <dgm:presLayoutVars>
          <dgm:dir/>
          <dgm:resizeHandles val="exact"/>
        </dgm:presLayoutVars>
      </dgm:prSet>
      <dgm:spPr/>
    </dgm:pt>
    <dgm:pt modelId="{B0CC3357-54F8-1940-A261-1F2A6C882352}" type="pres">
      <dgm:prSet presAssocID="{958F8C0F-7053-7741-AFFB-0A1D5A20D955}" presName="comp" presStyleCnt="0"/>
      <dgm:spPr/>
    </dgm:pt>
    <dgm:pt modelId="{2D21C4CE-6210-0D45-A4D7-391D001D9D7F}" type="pres">
      <dgm:prSet presAssocID="{958F8C0F-7053-7741-AFFB-0A1D5A20D955}" presName="rect2" presStyleLbl="node1" presStyleIdx="0" presStyleCnt="3">
        <dgm:presLayoutVars>
          <dgm:bulletEnabled val="1"/>
        </dgm:presLayoutVars>
      </dgm:prSet>
      <dgm:spPr/>
    </dgm:pt>
    <dgm:pt modelId="{0D259002-B06A-0242-8868-D008EB285112}" type="pres">
      <dgm:prSet presAssocID="{958F8C0F-7053-7741-AFFB-0A1D5A20D955}" presName="rect1" presStyleLbl="ln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l="-1000" r="-1000"/>
          </a:stretch>
        </a:blipFill>
      </dgm:spPr>
      <dgm:extLst>
        <a:ext uri="{E40237B7-FDA0-4F09-8148-C483321AD2D9}">
          <dgm14:cNvPr xmlns:dgm14="http://schemas.microsoft.com/office/drawing/2010/diagram" id="0" name="" descr="Tools with solid fill"/>
        </a:ext>
      </dgm:extLst>
    </dgm:pt>
    <dgm:pt modelId="{A2B63925-F397-8949-BC49-CBF6DB273C15}" type="pres">
      <dgm:prSet presAssocID="{0A98D8A7-B17F-5345-8564-2CC6601BB58E}" presName="sibTrans" presStyleCnt="0"/>
      <dgm:spPr/>
    </dgm:pt>
    <dgm:pt modelId="{AD2D9F25-7AAD-244A-8639-101C17F228BD}" type="pres">
      <dgm:prSet presAssocID="{56F2A230-6E94-AD41-B256-AA7A9DF34B19}" presName="comp" presStyleCnt="0"/>
      <dgm:spPr/>
    </dgm:pt>
    <dgm:pt modelId="{0BBCF06B-08F7-454B-885D-52C13B5BFE64}" type="pres">
      <dgm:prSet presAssocID="{56F2A230-6E94-AD41-B256-AA7A9DF34B19}" presName="rect2" presStyleLbl="node1" presStyleIdx="1" presStyleCnt="3">
        <dgm:presLayoutVars>
          <dgm:bulletEnabled val="1"/>
        </dgm:presLayoutVars>
      </dgm:prSet>
      <dgm:spPr/>
    </dgm:pt>
    <dgm:pt modelId="{CDDCF513-C323-E546-AE83-FDF7807C70F3}" type="pres">
      <dgm:prSet presAssocID="{56F2A230-6E94-AD41-B256-AA7A9DF34B19}" presName="rect1" presStyleLbl="ln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l="-1000" r="-1000"/>
          </a:stretch>
        </a:blipFill>
      </dgm:spPr>
      <dgm:extLst>
        <a:ext uri="{E40237B7-FDA0-4F09-8148-C483321AD2D9}">
          <dgm14:cNvPr xmlns:dgm14="http://schemas.microsoft.com/office/drawing/2010/diagram" id="0" name="" descr="Ruler with solid fill"/>
        </a:ext>
      </dgm:extLst>
    </dgm:pt>
    <dgm:pt modelId="{091F0289-6AEA-904D-B946-3BA624B48811}" type="pres">
      <dgm:prSet presAssocID="{289AEF33-BD6D-E347-9EC7-E69B1E1D2C12}" presName="sibTrans" presStyleCnt="0"/>
      <dgm:spPr/>
    </dgm:pt>
    <dgm:pt modelId="{9ADF4CDD-98A5-5949-880D-AEDAF8A0ED2D}" type="pres">
      <dgm:prSet presAssocID="{F730F9D1-28DA-F140-9754-64156A4DC417}" presName="comp" presStyleCnt="0"/>
      <dgm:spPr/>
    </dgm:pt>
    <dgm:pt modelId="{7E1CBEC3-5027-9B46-89E0-667CD84A0F28}" type="pres">
      <dgm:prSet presAssocID="{F730F9D1-28DA-F140-9754-64156A4DC417}" presName="rect2" presStyleLbl="node1" presStyleIdx="2" presStyleCnt="3">
        <dgm:presLayoutVars>
          <dgm:bulletEnabled val="1"/>
        </dgm:presLayoutVars>
      </dgm:prSet>
      <dgm:spPr/>
    </dgm:pt>
    <dgm:pt modelId="{ACCF1612-585A-3340-AFE4-8D364F229FE5}" type="pres">
      <dgm:prSet presAssocID="{F730F9D1-28DA-F140-9754-64156A4DC417}" presName="rect1" presStyleLbl="ln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l="-1000" r="-1000"/>
          </a:stretch>
        </a:blipFill>
      </dgm:spPr>
      <dgm:extLst>
        <a:ext uri="{E40237B7-FDA0-4F09-8148-C483321AD2D9}">
          <dgm14:cNvPr xmlns:dgm14="http://schemas.microsoft.com/office/drawing/2010/diagram" id="0" name="" descr="Dollar with solid fill"/>
        </a:ext>
      </dgm:extLst>
    </dgm:pt>
  </dgm:ptLst>
  <dgm:cxnLst>
    <dgm:cxn modelId="{E4417D24-8D75-664E-B879-36DFAFD7B75F}" type="presOf" srcId="{F730F9D1-28DA-F140-9754-64156A4DC417}" destId="{7E1CBEC3-5027-9B46-89E0-667CD84A0F28}" srcOrd="0" destOrd="0" presId="urn:microsoft.com/office/officeart/2008/layout/AlternatingPictureBlocks"/>
    <dgm:cxn modelId="{AECFF928-F71A-214B-8057-D363D2115473}" srcId="{C4C17D1E-0D8C-C74A-B287-60FBCE0028DB}" destId="{958F8C0F-7053-7741-AFFB-0A1D5A20D955}" srcOrd="0" destOrd="0" parTransId="{61BECB7F-65DF-D840-9DF1-31AC880B7CED}" sibTransId="{0A98D8A7-B17F-5345-8564-2CC6601BB58E}"/>
    <dgm:cxn modelId="{A030FA63-16F1-D94C-9CEB-E8C6D8617BF5}" type="presOf" srcId="{958F8C0F-7053-7741-AFFB-0A1D5A20D955}" destId="{2D21C4CE-6210-0D45-A4D7-391D001D9D7F}" srcOrd="0" destOrd="0" presId="urn:microsoft.com/office/officeart/2008/layout/AlternatingPictureBlocks"/>
    <dgm:cxn modelId="{34C8D284-9645-B444-BE6B-51BCA794EA83}" srcId="{C4C17D1E-0D8C-C74A-B287-60FBCE0028DB}" destId="{F730F9D1-28DA-F140-9754-64156A4DC417}" srcOrd="2" destOrd="0" parTransId="{28005362-5AA2-0D40-9A45-492997E199BB}" sibTransId="{49896ACF-5856-784F-84C6-21D37ADB0554}"/>
    <dgm:cxn modelId="{4281DFA9-240E-8047-9A44-6177CDB75602}" type="presOf" srcId="{56F2A230-6E94-AD41-B256-AA7A9DF34B19}" destId="{0BBCF06B-08F7-454B-885D-52C13B5BFE64}" srcOrd="0" destOrd="0" presId="urn:microsoft.com/office/officeart/2008/layout/AlternatingPictureBlocks"/>
    <dgm:cxn modelId="{CD6642CE-F938-4641-9EFE-CFED523EED04}" srcId="{C4C17D1E-0D8C-C74A-B287-60FBCE0028DB}" destId="{56F2A230-6E94-AD41-B256-AA7A9DF34B19}" srcOrd="1" destOrd="0" parTransId="{A2038736-0B95-4641-9CC6-EE592CE917F6}" sibTransId="{289AEF33-BD6D-E347-9EC7-E69B1E1D2C12}"/>
    <dgm:cxn modelId="{F44BBBDF-C61A-E14F-94D5-8548ED0C4B79}" type="presOf" srcId="{C4C17D1E-0D8C-C74A-B287-60FBCE0028DB}" destId="{BB444BA5-02BC-BE45-947A-C01B970F038B}" srcOrd="0" destOrd="0" presId="urn:microsoft.com/office/officeart/2008/layout/AlternatingPictureBlocks"/>
    <dgm:cxn modelId="{BFBACB0A-19E8-CE4A-8052-A7B3EBD5C51A}" type="presParOf" srcId="{BB444BA5-02BC-BE45-947A-C01B970F038B}" destId="{B0CC3357-54F8-1940-A261-1F2A6C882352}" srcOrd="0" destOrd="0" presId="urn:microsoft.com/office/officeart/2008/layout/AlternatingPictureBlocks"/>
    <dgm:cxn modelId="{32E7F235-23F8-DD41-A5FC-90ABD69212FF}" type="presParOf" srcId="{B0CC3357-54F8-1940-A261-1F2A6C882352}" destId="{2D21C4CE-6210-0D45-A4D7-391D001D9D7F}" srcOrd="0" destOrd="0" presId="urn:microsoft.com/office/officeart/2008/layout/AlternatingPictureBlocks"/>
    <dgm:cxn modelId="{FF2E5FB7-46ED-3944-87A4-33924FC8866E}" type="presParOf" srcId="{B0CC3357-54F8-1940-A261-1F2A6C882352}" destId="{0D259002-B06A-0242-8868-D008EB285112}" srcOrd="1" destOrd="0" presId="urn:microsoft.com/office/officeart/2008/layout/AlternatingPictureBlocks"/>
    <dgm:cxn modelId="{40B07B80-34A3-4F4C-A45D-2E636CD30116}" type="presParOf" srcId="{BB444BA5-02BC-BE45-947A-C01B970F038B}" destId="{A2B63925-F397-8949-BC49-CBF6DB273C15}" srcOrd="1" destOrd="0" presId="urn:microsoft.com/office/officeart/2008/layout/AlternatingPictureBlocks"/>
    <dgm:cxn modelId="{AEA1F23D-826C-234C-8165-C56F32D3DB40}" type="presParOf" srcId="{BB444BA5-02BC-BE45-947A-C01B970F038B}" destId="{AD2D9F25-7AAD-244A-8639-101C17F228BD}" srcOrd="2" destOrd="0" presId="urn:microsoft.com/office/officeart/2008/layout/AlternatingPictureBlocks"/>
    <dgm:cxn modelId="{E0978E34-75A5-CA46-8EE4-95FDF5A69FC1}" type="presParOf" srcId="{AD2D9F25-7AAD-244A-8639-101C17F228BD}" destId="{0BBCF06B-08F7-454B-885D-52C13B5BFE64}" srcOrd="0" destOrd="0" presId="urn:microsoft.com/office/officeart/2008/layout/AlternatingPictureBlocks"/>
    <dgm:cxn modelId="{48B711B7-617B-6E49-99D9-0CE03ADBCED2}" type="presParOf" srcId="{AD2D9F25-7AAD-244A-8639-101C17F228BD}" destId="{CDDCF513-C323-E546-AE83-FDF7807C70F3}" srcOrd="1" destOrd="0" presId="urn:microsoft.com/office/officeart/2008/layout/AlternatingPictureBlocks"/>
    <dgm:cxn modelId="{D988DD4C-481D-1046-9294-EBAD03728C72}" type="presParOf" srcId="{BB444BA5-02BC-BE45-947A-C01B970F038B}" destId="{091F0289-6AEA-904D-B946-3BA624B48811}" srcOrd="3" destOrd="0" presId="urn:microsoft.com/office/officeart/2008/layout/AlternatingPictureBlocks"/>
    <dgm:cxn modelId="{767AC8B0-5278-B242-9E5E-6C767FFA4EBE}" type="presParOf" srcId="{BB444BA5-02BC-BE45-947A-C01B970F038B}" destId="{9ADF4CDD-98A5-5949-880D-AEDAF8A0ED2D}" srcOrd="4" destOrd="0" presId="urn:microsoft.com/office/officeart/2008/layout/AlternatingPictureBlocks"/>
    <dgm:cxn modelId="{74817FD8-C16F-404B-A9D6-8E3E2CE340CC}" type="presParOf" srcId="{9ADF4CDD-98A5-5949-880D-AEDAF8A0ED2D}" destId="{7E1CBEC3-5027-9B46-89E0-667CD84A0F28}" srcOrd="0" destOrd="0" presId="urn:microsoft.com/office/officeart/2008/layout/AlternatingPictureBlocks"/>
    <dgm:cxn modelId="{40163196-4DBB-0644-A9D6-93686A2DB691}" type="presParOf" srcId="{9ADF4CDD-98A5-5949-880D-AEDAF8A0ED2D}" destId="{ACCF1612-585A-3340-AFE4-8D364F229FE5}" srcOrd="1" destOrd="0" presId="urn:microsoft.com/office/officeart/2008/layout/AlternatingPictureBlocks"/>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34DB60-67E6-C244-AB98-CB018E974B46}">
      <dsp:nvSpPr>
        <dsp:cNvPr id="0" name=""/>
        <dsp:cNvSpPr/>
      </dsp:nvSpPr>
      <dsp:spPr>
        <a:xfrm>
          <a:off x="788669" y="0"/>
          <a:ext cx="8938260" cy="4351338"/>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19B418-3B51-364F-B064-E15933B207D6}">
      <dsp:nvSpPr>
        <dsp:cNvPr id="0" name=""/>
        <dsp:cNvSpPr/>
      </dsp:nvSpPr>
      <dsp:spPr>
        <a:xfrm>
          <a:off x="11296" y="1305401"/>
          <a:ext cx="3384708" cy="174053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latin typeface="Verdana" panose="020B0604030504040204" pitchFamily="34" charset="0"/>
            </a:rPr>
            <a:t>An energy service company (ESCO) implements an energy conservation measure (ECM) at a facility.</a:t>
          </a:r>
        </a:p>
      </dsp:txBody>
      <dsp:txXfrm>
        <a:off x="96262" y="1390367"/>
        <a:ext cx="3214776" cy="1570603"/>
      </dsp:txXfrm>
    </dsp:sp>
    <dsp:sp modelId="{81BE0AAD-F918-AA43-AACB-4A9E38C70714}">
      <dsp:nvSpPr>
        <dsp:cNvPr id="0" name=""/>
        <dsp:cNvSpPr/>
      </dsp:nvSpPr>
      <dsp:spPr>
        <a:xfrm>
          <a:off x="3565445" y="1305401"/>
          <a:ext cx="3384708" cy="174053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latin typeface="Verdana" panose="020B0604030504040204" pitchFamily="34" charset="0"/>
            </a:rPr>
            <a:t>The facility’s energy efficiency improves, leading to cost savings for the facility’s owner.</a:t>
          </a:r>
        </a:p>
      </dsp:txBody>
      <dsp:txXfrm>
        <a:off x="3650411" y="1390367"/>
        <a:ext cx="3214776" cy="1570603"/>
      </dsp:txXfrm>
    </dsp:sp>
    <dsp:sp modelId="{B88002D3-0404-774A-96E4-45426A40560E}">
      <dsp:nvSpPr>
        <dsp:cNvPr id="0" name=""/>
        <dsp:cNvSpPr/>
      </dsp:nvSpPr>
      <dsp:spPr>
        <a:xfrm>
          <a:off x="7119595" y="1305401"/>
          <a:ext cx="3384708" cy="174053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latin typeface="Verdana" panose="020B0604030504040204" pitchFamily="34" charset="0"/>
            </a:rPr>
            <a:t>The facility’s owner repays the ESCO from cost savings.</a:t>
          </a:r>
        </a:p>
      </dsp:txBody>
      <dsp:txXfrm>
        <a:off x="7204561" y="1390367"/>
        <a:ext cx="3214776" cy="15706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34DB60-67E6-C244-AB98-CB018E974B46}">
      <dsp:nvSpPr>
        <dsp:cNvPr id="0" name=""/>
        <dsp:cNvSpPr/>
      </dsp:nvSpPr>
      <dsp:spPr>
        <a:xfrm>
          <a:off x="788669" y="0"/>
          <a:ext cx="8938260" cy="4351338"/>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19B418-3B51-364F-B064-E15933B207D6}">
      <dsp:nvSpPr>
        <dsp:cNvPr id="0" name=""/>
        <dsp:cNvSpPr/>
      </dsp:nvSpPr>
      <dsp:spPr>
        <a:xfrm>
          <a:off x="1123" y="1305401"/>
          <a:ext cx="3194665" cy="174053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a:latin typeface="Verdana" panose="020B0604030504040204" pitchFamily="34" charset="0"/>
            </a:rPr>
            <a:t>A utility or government agency sponsors a program with rate payer or taxpayer monies.</a:t>
          </a:r>
        </a:p>
      </dsp:txBody>
      <dsp:txXfrm>
        <a:off x="86089" y="1390367"/>
        <a:ext cx="3024733" cy="1570603"/>
      </dsp:txXfrm>
    </dsp:sp>
    <dsp:sp modelId="{81BE0AAD-F918-AA43-AACB-4A9E38C70714}">
      <dsp:nvSpPr>
        <dsp:cNvPr id="0" name=""/>
        <dsp:cNvSpPr/>
      </dsp:nvSpPr>
      <dsp:spPr>
        <a:xfrm>
          <a:off x="3660467" y="1305401"/>
          <a:ext cx="3194665" cy="174053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a:latin typeface="Verdana" panose="020B0604030504040204" pitchFamily="34" charset="0"/>
            </a:rPr>
            <a:t>An implementer facilitates program implementation to generate end use savings.</a:t>
          </a:r>
        </a:p>
      </dsp:txBody>
      <dsp:txXfrm>
        <a:off x="3745433" y="1390367"/>
        <a:ext cx="3024733" cy="1570603"/>
      </dsp:txXfrm>
    </dsp:sp>
    <dsp:sp modelId="{B88002D3-0404-774A-96E4-45426A40560E}">
      <dsp:nvSpPr>
        <dsp:cNvPr id="0" name=""/>
        <dsp:cNvSpPr/>
      </dsp:nvSpPr>
      <dsp:spPr>
        <a:xfrm>
          <a:off x="7319811" y="1305401"/>
          <a:ext cx="3194665" cy="174053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a:latin typeface="Verdana" panose="020B0604030504040204" pitchFamily="34" charset="0"/>
            </a:rPr>
            <a:t>The utility submits savings to the regulating entity and pays the implementer for successful implementation.</a:t>
          </a:r>
        </a:p>
      </dsp:txBody>
      <dsp:txXfrm>
        <a:off x="7404777" y="1390367"/>
        <a:ext cx="3024733" cy="15706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21C4CE-6210-0D45-A4D7-391D001D9D7F}">
      <dsp:nvSpPr>
        <dsp:cNvPr id="0" name=""/>
        <dsp:cNvSpPr/>
      </dsp:nvSpPr>
      <dsp:spPr>
        <a:xfrm>
          <a:off x="2346590" y="563"/>
          <a:ext cx="3648348" cy="16500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a:latin typeface="Verdana" panose="020B0604030504040204" pitchFamily="34" charset="0"/>
            </a:rPr>
            <a:t>An aggregator (ESCO) implements energy efficiency projects at residential or commercial sites, which are connected by meter to the FLEXmarket platform.</a:t>
          </a:r>
        </a:p>
      </dsp:txBody>
      <dsp:txXfrm>
        <a:off x="2346590" y="563"/>
        <a:ext cx="3648348" cy="1650089"/>
      </dsp:txXfrm>
    </dsp:sp>
    <dsp:sp modelId="{0D259002-B06A-0242-8868-D008EB285112}">
      <dsp:nvSpPr>
        <dsp:cNvPr id="0" name=""/>
        <dsp:cNvSpPr/>
      </dsp:nvSpPr>
      <dsp:spPr>
        <a:xfrm>
          <a:off x="549642" y="563"/>
          <a:ext cx="1633589" cy="165008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BCF06B-08F7-454B-885D-52C13B5BFE64}">
      <dsp:nvSpPr>
        <dsp:cNvPr id="0" name=""/>
        <dsp:cNvSpPr/>
      </dsp:nvSpPr>
      <dsp:spPr>
        <a:xfrm>
          <a:off x="549642" y="1922918"/>
          <a:ext cx="3648348" cy="16500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a:latin typeface="Verdana" panose="020B0604030504040204" pitchFamily="34" charset="0"/>
            </a:rPr>
            <a:t>Advanced metering systems collect hourly data at enrolled sites and measure outcomes against baseline models.</a:t>
          </a:r>
        </a:p>
      </dsp:txBody>
      <dsp:txXfrm>
        <a:off x="549642" y="1922918"/>
        <a:ext cx="3648348" cy="1650089"/>
      </dsp:txXfrm>
    </dsp:sp>
    <dsp:sp modelId="{CDDCF513-C323-E546-AE83-FDF7807C70F3}">
      <dsp:nvSpPr>
        <dsp:cNvPr id="0" name=""/>
        <dsp:cNvSpPr/>
      </dsp:nvSpPr>
      <dsp:spPr>
        <a:xfrm>
          <a:off x="4361350" y="1922918"/>
          <a:ext cx="1633589" cy="1650089"/>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1CBEC3-5027-9B46-89E0-667CD84A0F28}">
      <dsp:nvSpPr>
        <dsp:cNvPr id="0" name=""/>
        <dsp:cNvSpPr/>
      </dsp:nvSpPr>
      <dsp:spPr>
        <a:xfrm>
          <a:off x="2346590" y="3845272"/>
          <a:ext cx="3648348" cy="165008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a:latin typeface="Verdana" panose="020B0604030504040204" pitchFamily="34" charset="0"/>
            </a:rPr>
            <a:t>The aggregator is paid for reducing demand or shifting demand away from peak hours.</a:t>
          </a:r>
        </a:p>
      </dsp:txBody>
      <dsp:txXfrm>
        <a:off x="2346590" y="3845272"/>
        <a:ext cx="3648348" cy="1650089"/>
      </dsp:txXfrm>
    </dsp:sp>
    <dsp:sp modelId="{ACCF1612-585A-3340-AFE4-8D364F229FE5}">
      <dsp:nvSpPr>
        <dsp:cNvPr id="0" name=""/>
        <dsp:cNvSpPr/>
      </dsp:nvSpPr>
      <dsp:spPr>
        <a:xfrm>
          <a:off x="549642" y="3845272"/>
          <a:ext cx="1633589" cy="1650089"/>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AlternatingPictureBlocks">
  <dgm:title val=""/>
  <dgm:desc val=""/>
  <dgm:catLst>
    <dgm:cat type="picture" pri="15000"/>
    <dgm:cat type="pictureconvert" pri="15000"/>
    <dgm:cat type="list" pri="13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primFontSz" for="des" ptType="node" op="equ" val="65"/>
      <dgm:constr type="w" for="ch" forName="comp" refType="w"/>
      <dgm:constr type="h" for="ch" forName="comp" refType="h"/>
      <dgm:constr type="h" for="ch" forName="sibTrans" refType="w" refFor="ch" refForName="comp" op="equ" fact="0.05"/>
    </dgm:constrLst>
    <dgm:ruleLst/>
    <dgm:forEach name="Name0" axis="ch" ptType="node">
      <dgm:layoutNode name="comp" styleLbl="node1">
        <dgm:alg type="composite">
          <dgm:param type="ar" val="3.30"/>
        </dgm:alg>
        <dgm:shape xmlns:r="http://schemas.openxmlformats.org/officeDocument/2006/relationships" r:blip="">
          <dgm:adjLst/>
        </dgm:shape>
        <dgm:presOf/>
        <dgm:choose name="Name1">
          <dgm:if name="Name2" func="var" arg="dir" op="equ" val="norm">
            <dgm:choose name="Name4">
              <dgm:if name="Name5" axis="desOrSelf" ptType="node" func="posOdd" op="equ" val="1">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if>
              <dgm:else name="Name6">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else>
            </dgm:choose>
          </dgm:if>
          <dgm:else name="Name3">
            <dgm:choose name="Name7">
              <dgm:if name="Name8" axis="desOrSelf" ptType="node" func="posOdd" op="equ" val="1">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if>
              <dgm:else name="Name9">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else>
            </dgm:choose>
          </dgm:else>
        </dgm:choose>
        <dgm:ruleLst/>
        <dgm:layoutNode name="rect2" styleLbl="node1">
          <dgm:varLst>
            <dgm:bulletEnabled val="1"/>
          </dgm:varLst>
          <dgm:alg type="tx"/>
          <dgm:shape xmlns:r="http://schemas.openxmlformats.org/officeDocument/2006/relationships" type="rect" r:blip="">
            <dgm:adjLst/>
          </dgm:shape>
          <dgm:presOf axis="desOrSelf" ptType="node"/>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 styleLbl="lnNod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4AC3932-3886-AF3B-4577-2492C2720727}"/>
              </a:ext>
            </a:extLst>
          </p:cNvPr>
          <p:cNvSpPr>
            <a:spLocks noGrp="1"/>
          </p:cNvSpPr>
          <p:nvPr>
            <p:ph type="ftr" sz="quarter" idx="2"/>
          </p:nvPr>
        </p:nvSpPr>
        <p:spPr>
          <a:xfrm>
            <a:off x="628000" y="9120188"/>
            <a:ext cx="2542238" cy="481012"/>
          </a:xfrm>
          <a:prstGeom prst="rect">
            <a:avLst/>
          </a:prstGeom>
        </p:spPr>
        <p:txBody>
          <a:bodyPr vert="horz" lIns="91440" tIns="45720" rIns="91440" bIns="45720" rtlCol="0" anchor="ctr"/>
          <a:lstStyle>
            <a:lvl1pPr algn="l">
              <a:defRPr sz="1200"/>
            </a:lvl1pPr>
          </a:lstStyle>
          <a:p>
            <a:r>
              <a:rPr lang="en-US" dirty="0">
                <a:latin typeface="Verdana" panose="020B0604030504040204" pitchFamily="34" charset="0"/>
                <a:ea typeface="Verdana" panose="020B0604030504040204" pitchFamily="34" charset="0"/>
              </a:rPr>
              <a:t>CMVP_v2.0_G_v1.1</a:t>
            </a:r>
          </a:p>
        </p:txBody>
      </p:sp>
      <p:sp>
        <p:nvSpPr>
          <p:cNvPr id="3" name="Slide Number Placeholder 2">
            <a:extLst>
              <a:ext uri="{FF2B5EF4-FFF2-40B4-BE49-F238E27FC236}">
                <a16:creationId xmlns:a16="http://schemas.microsoft.com/office/drawing/2014/main" id="{7099AACF-F874-6EBB-6E79-2DC0B8D9F232}"/>
              </a:ext>
            </a:extLst>
          </p:cNvPr>
          <p:cNvSpPr>
            <a:spLocks noGrp="1"/>
          </p:cNvSpPr>
          <p:nvPr>
            <p:ph type="sldNum" sz="quarter" idx="3"/>
          </p:nvPr>
        </p:nvSpPr>
        <p:spPr>
          <a:xfrm>
            <a:off x="4143375" y="9120188"/>
            <a:ext cx="2542238" cy="481012"/>
          </a:xfrm>
          <a:prstGeom prst="rect">
            <a:avLst/>
          </a:prstGeom>
        </p:spPr>
        <p:txBody>
          <a:bodyPr vert="horz" lIns="91440" tIns="45720" rIns="91440" bIns="45720" rtlCol="0" anchor="ctr"/>
          <a:lstStyle>
            <a:lvl1pPr algn="r">
              <a:defRPr sz="1200"/>
            </a:lvl1pPr>
          </a:lstStyle>
          <a:p>
            <a:fld id="{6A0A43C9-0FE5-4E47-A9B5-EF746693113D}" type="slidenum">
              <a:rPr lang="en-US" smtClean="0">
                <a:latin typeface="Verdana" panose="020B0604030504040204" pitchFamily="34" charset="0"/>
                <a:ea typeface="Verdana" panose="020B0604030504040204" pitchFamily="34" charset="0"/>
              </a:rPr>
              <a:t>‹#›</a:t>
            </a:fld>
            <a:endParaRPr lang="en-US">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b="0" i="0">
                <a:latin typeface="Verdana" panose="020B0604030504040204" pitchFamily="34" charset="0"/>
              </a:defRPr>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b="0" i="0">
                <a:latin typeface="Verdana" panose="020B0604030504040204" pitchFamily="34" charset="0"/>
              </a:defRPr>
            </a:lvl1pPr>
          </a:lstStyle>
          <a:p>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8"/>
            <a:ext cx="5852160" cy="3240405"/>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b="0" i="0">
                <a:latin typeface="Verdana" panose="020B0604030504040204" pitchFamily="34" charset="0"/>
              </a:defRPr>
            </a:lvl1pPr>
          </a:lstStyle>
          <a:p>
            <a:r>
              <a:rPr lang="en-US"/>
              <a:t>CMVP_v2022.07</a:t>
            </a:r>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b="0" i="0">
                <a:latin typeface="Verdana" panose="020B0604030504040204" pitchFamily="34" charset="0"/>
              </a:defRPr>
            </a:lvl1pPr>
          </a:lstStyle>
          <a:p>
            <a:fld id="{82869989-EB00-4EE7-BCB5-25BDC5BB29F8}" type="slidenum">
              <a:rPr lang="en-US" smtClean="0"/>
              <a:pPr/>
              <a:t>‹#›</a:t>
            </a:fld>
            <a:endParaRPr lang="en-US"/>
          </a:p>
        </p:txBody>
      </p:sp>
      <p:pic>
        <p:nvPicPr>
          <p:cNvPr id="8" name="Picture 7" descr="A picture containing clipart&#10;&#10;Description automatically generated">
            <a:extLst>
              <a:ext uri="{FF2B5EF4-FFF2-40B4-BE49-F238E27FC236}">
                <a16:creationId xmlns:a16="http://schemas.microsoft.com/office/drawing/2014/main" id="{282D8A7A-2763-924E-9D2B-562D2FA8E6F8}"/>
              </a:ext>
            </a:extLst>
          </p:cNvPr>
          <p:cNvPicPr>
            <a:picLocks noChangeAspect="1"/>
          </p:cNvPicPr>
          <p:nvPr/>
        </p:nvPicPr>
        <p:blipFill>
          <a:blip r:embed="rId2"/>
          <a:stretch>
            <a:fillRect/>
          </a:stretch>
        </p:blipFill>
        <p:spPr>
          <a:xfrm>
            <a:off x="3011961" y="8838448"/>
            <a:ext cx="1291278" cy="562051"/>
          </a:xfrm>
          <a:prstGeom prst="rect">
            <a:avLst/>
          </a:prstGeom>
        </p:spPr>
      </p:pic>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b="0" i="0" kern="1200">
        <a:solidFill>
          <a:schemeClr val="tx1"/>
        </a:solidFill>
        <a:latin typeface="Verdana" panose="020B0604030504040204" pitchFamily="34" charset="0"/>
        <a:ea typeface="+mn-ea"/>
        <a:cs typeface="+mn-cs"/>
      </a:defRPr>
    </a:lvl1pPr>
    <a:lvl2pPr marL="457200" algn="l" defTabSz="914400" rtl="0" eaLnBrk="1" latinLnBrk="0" hangingPunct="1">
      <a:defRPr sz="1200" b="0" i="0" kern="1200">
        <a:solidFill>
          <a:schemeClr val="tx1"/>
        </a:solidFill>
        <a:latin typeface="Verdana" panose="020B0604030504040204" pitchFamily="34" charset="0"/>
        <a:ea typeface="+mn-ea"/>
        <a:cs typeface="+mn-cs"/>
      </a:defRPr>
    </a:lvl2pPr>
    <a:lvl3pPr marL="914400" algn="l" defTabSz="914400" rtl="0" eaLnBrk="1" latinLnBrk="0" hangingPunct="1">
      <a:defRPr sz="1200" b="0" i="0" kern="1200">
        <a:solidFill>
          <a:schemeClr val="tx1"/>
        </a:solidFill>
        <a:latin typeface="Verdana" panose="020B0604030504040204" pitchFamily="34" charset="0"/>
        <a:ea typeface="+mn-ea"/>
        <a:cs typeface="+mn-cs"/>
      </a:defRPr>
    </a:lvl3pPr>
    <a:lvl4pPr marL="1371600" algn="l" defTabSz="914400" rtl="0" eaLnBrk="1" latinLnBrk="0" hangingPunct="1">
      <a:defRPr sz="1200" b="0" i="0" kern="1200">
        <a:solidFill>
          <a:schemeClr val="tx1"/>
        </a:solidFill>
        <a:latin typeface="Verdana" panose="020B0604030504040204" pitchFamily="34" charset="0"/>
        <a:ea typeface="+mn-ea"/>
        <a:cs typeface="+mn-cs"/>
      </a:defRPr>
    </a:lvl4pPr>
    <a:lvl5pPr marL="1828800" algn="l" defTabSz="914400" rtl="0" eaLnBrk="1" latinLnBrk="0" hangingPunct="1">
      <a:defRPr sz="1200" b="0" i="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“Legal” encompasses contracts as well as disputes between parties.</a:t>
            </a:r>
          </a:p>
        </p:txBody>
      </p:sp>
      <p:sp>
        <p:nvSpPr>
          <p:cNvPr id="4" name="Slide Number Placeholder 3"/>
          <p:cNvSpPr>
            <a:spLocks noGrp="1"/>
          </p:cNvSpPr>
          <p:nvPr>
            <p:ph type="sldNum" sz="quarter" idx="5"/>
          </p:nvPr>
        </p:nvSpPr>
        <p:spPr/>
        <p:txBody>
          <a:bodyPr/>
          <a:lstStyle/>
          <a:p>
            <a:fld id="{82869989-EB00-4EE7-BCB5-25BDC5BB29F8}" type="slidenum">
              <a:rPr lang="en-US" smtClean="0"/>
              <a:pPr/>
              <a:t>3</a:t>
            </a:fld>
            <a:endParaRPr lang="en-US"/>
          </a:p>
        </p:txBody>
      </p:sp>
      <p:sp>
        <p:nvSpPr>
          <p:cNvPr id="5" name="Footer Placeholder 4">
            <a:extLst>
              <a:ext uri="{FF2B5EF4-FFF2-40B4-BE49-F238E27FC236}">
                <a16:creationId xmlns:a16="http://schemas.microsoft.com/office/drawing/2014/main" id="{DE3D839E-92D6-3974-A588-47B40D737ED6}"/>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670873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7D752-75C2-4761-F0A3-2094E928C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3F61A0-B02F-EE31-42E6-52A8FC4A42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43B6A-4D48-CEE8-7E95-72238C361087}"/>
              </a:ext>
            </a:extLst>
          </p:cNvPr>
          <p:cNvSpPr>
            <a:spLocks noGrp="1"/>
          </p:cNvSpPr>
          <p:nvPr>
            <p:ph type="body" idx="1"/>
          </p:nvPr>
        </p:nvSpPr>
        <p:spPr/>
        <p:txBody>
          <a:bodyPr/>
          <a:lstStyle/>
          <a:p>
            <a:r>
              <a:rPr lang="en-US" b="1"/>
              <a:t>Instructor Note</a:t>
            </a:r>
            <a:r>
              <a:rPr lang="en-US"/>
              <a:t>: “Legal” encompasses contracts as well as disputes between parties.</a:t>
            </a:r>
          </a:p>
        </p:txBody>
      </p:sp>
      <p:sp>
        <p:nvSpPr>
          <p:cNvPr id="4" name="Slide Number Placeholder 3">
            <a:extLst>
              <a:ext uri="{FF2B5EF4-FFF2-40B4-BE49-F238E27FC236}">
                <a16:creationId xmlns:a16="http://schemas.microsoft.com/office/drawing/2014/main" id="{2EFBD228-A382-3B21-3816-B15392116D3F}"/>
              </a:ext>
            </a:extLst>
          </p:cNvPr>
          <p:cNvSpPr>
            <a:spLocks noGrp="1"/>
          </p:cNvSpPr>
          <p:nvPr>
            <p:ph type="sldNum" sz="quarter" idx="5"/>
          </p:nvPr>
        </p:nvSpPr>
        <p:spPr/>
        <p:txBody>
          <a:bodyPr/>
          <a:lstStyle/>
          <a:p>
            <a:fld id="{82869989-EB00-4EE7-BCB5-25BDC5BB29F8}" type="slidenum">
              <a:rPr lang="en-US" smtClean="0"/>
              <a:pPr/>
              <a:t>4</a:t>
            </a:fld>
            <a:endParaRPr lang="en-US"/>
          </a:p>
        </p:txBody>
      </p:sp>
      <p:sp>
        <p:nvSpPr>
          <p:cNvPr id="5" name="Footer Placeholder 4">
            <a:extLst>
              <a:ext uri="{FF2B5EF4-FFF2-40B4-BE49-F238E27FC236}">
                <a16:creationId xmlns:a16="http://schemas.microsoft.com/office/drawing/2014/main" id="{993D5BD0-938A-E391-1724-BE331B186093}"/>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4250677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35AE0-A8AA-4C55-31B2-A87BD3D67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7156-704F-6545-75B1-90ECA6D2A0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B5F5B-B32D-95E8-041C-1E5E394E2DD4}"/>
              </a:ext>
            </a:extLst>
          </p:cNvPr>
          <p:cNvSpPr>
            <a:spLocks noGrp="1"/>
          </p:cNvSpPr>
          <p:nvPr>
            <p:ph type="body" idx="1"/>
          </p:nvPr>
        </p:nvSpPr>
        <p:spPr/>
        <p:txBody>
          <a:bodyPr/>
          <a:lstStyle/>
          <a:p>
            <a:r>
              <a:rPr lang="en-US" b="1" dirty="0"/>
              <a:t>Instructor Note</a:t>
            </a:r>
            <a:r>
              <a:rPr lang="en-US" dirty="0"/>
              <a:t>: </a:t>
            </a:r>
          </a:p>
          <a:p>
            <a:r>
              <a:rPr lang="en-US" dirty="0"/>
              <a:t>“In the government and regulatory domain, the major risks include non-compliance with standards, inadequate documentation, and inability to adapt to policy changes. Most projects are subject to audits or inspections, and a lack of transparency can undermine the integrity of reported savings. Always design your M&amp;V plan to exceed current regulatory expectations and maintain a clear audit trail.”</a:t>
            </a:r>
          </a:p>
        </p:txBody>
      </p:sp>
      <p:sp>
        <p:nvSpPr>
          <p:cNvPr id="4" name="Slide Number Placeholder 3">
            <a:extLst>
              <a:ext uri="{FF2B5EF4-FFF2-40B4-BE49-F238E27FC236}">
                <a16:creationId xmlns:a16="http://schemas.microsoft.com/office/drawing/2014/main" id="{41216207-AC84-BD9B-9457-CDEAC7111777}"/>
              </a:ext>
            </a:extLst>
          </p:cNvPr>
          <p:cNvSpPr>
            <a:spLocks noGrp="1"/>
          </p:cNvSpPr>
          <p:nvPr>
            <p:ph type="sldNum" sz="quarter" idx="5"/>
          </p:nvPr>
        </p:nvSpPr>
        <p:spPr/>
        <p:txBody>
          <a:bodyPr/>
          <a:lstStyle/>
          <a:p>
            <a:fld id="{82869989-EB00-4EE7-BCB5-25BDC5BB29F8}" type="slidenum">
              <a:rPr lang="en-US" smtClean="0"/>
              <a:pPr/>
              <a:t>5</a:t>
            </a:fld>
            <a:endParaRPr lang="en-US"/>
          </a:p>
        </p:txBody>
      </p:sp>
      <p:sp>
        <p:nvSpPr>
          <p:cNvPr id="5" name="Footer Placeholder 4">
            <a:extLst>
              <a:ext uri="{FF2B5EF4-FFF2-40B4-BE49-F238E27FC236}">
                <a16:creationId xmlns:a16="http://schemas.microsoft.com/office/drawing/2014/main" id="{F23EA8F1-ACBC-BD35-8F2A-6B0C46AA9A80}"/>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058099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BC04F-EA07-AE04-6223-812C62E4F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EFE51-6AA1-BBEA-6B42-43F4F976A9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FC7541-B283-600A-C408-53ACAFD3B809}"/>
              </a:ext>
            </a:extLst>
          </p:cNvPr>
          <p:cNvSpPr>
            <a:spLocks noGrp="1"/>
          </p:cNvSpPr>
          <p:nvPr>
            <p:ph type="body" idx="1"/>
          </p:nvPr>
        </p:nvSpPr>
        <p:spPr/>
        <p:txBody>
          <a:bodyPr/>
          <a:lstStyle/>
          <a:p>
            <a:r>
              <a:rPr lang="en-US" b="1" dirty="0"/>
              <a:t>Instructor Note</a:t>
            </a:r>
            <a:r>
              <a:rPr lang="en-US" dirty="0"/>
              <a:t>:</a:t>
            </a:r>
          </a:p>
          <a:p>
            <a:r>
              <a:rPr lang="en-US" dirty="0"/>
              <a:t>“Today we’ll explore the main risk domains in Measurement and Verification projects. By understanding where risks arise—governmental, financial, legal, and technical—we can ensure our protocols address the real challenges of implementing and defending energy savings claims. This roadmap improves credibility, reduces disputes, and strengthens outcomes for all stakeholders.”</a:t>
            </a:r>
          </a:p>
          <a:p>
            <a:endParaRPr lang="en-US" dirty="0"/>
          </a:p>
          <a:p>
            <a:endParaRPr lang="en-US" dirty="0"/>
          </a:p>
        </p:txBody>
      </p:sp>
      <p:sp>
        <p:nvSpPr>
          <p:cNvPr id="4" name="Slide Number Placeholder 3">
            <a:extLst>
              <a:ext uri="{FF2B5EF4-FFF2-40B4-BE49-F238E27FC236}">
                <a16:creationId xmlns:a16="http://schemas.microsoft.com/office/drawing/2014/main" id="{D8EAA84B-B352-2456-13CA-174DA67B0D63}"/>
              </a:ext>
            </a:extLst>
          </p:cNvPr>
          <p:cNvSpPr>
            <a:spLocks noGrp="1"/>
          </p:cNvSpPr>
          <p:nvPr>
            <p:ph type="sldNum" sz="quarter" idx="5"/>
          </p:nvPr>
        </p:nvSpPr>
        <p:spPr/>
        <p:txBody>
          <a:bodyPr/>
          <a:lstStyle/>
          <a:p>
            <a:fld id="{82869989-EB00-4EE7-BCB5-25BDC5BB29F8}" type="slidenum">
              <a:rPr lang="en-US" smtClean="0"/>
              <a:pPr/>
              <a:t>6</a:t>
            </a:fld>
            <a:endParaRPr lang="en-US"/>
          </a:p>
        </p:txBody>
      </p:sp>
      <p:sp>
        <p:nvSpPr>
          <p:cNvPr id="5" name="Footer Placeholder 4">
            <a:extLst>
              <a:ext uri="{FF2B5EF4-FFF2-40B4-BE49-F238E27FC236}">
                <a16:creationId xmlns:a16="http://schemas.microsoft.com/office/drawing/2014/main" id="{538B4D13-BA4C-6DDC-BBF7-D2846BE9A5C2}"/>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1321814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B0B56-1AB5-08BD-A7FC-0B3E2E991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0EC6BB-4DF7-EC0B-AF6A-BB75CEDFB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4B94B6-76AD-E3C7-CC87-F51129EA039D}"/>
              </a:ext>
            </a:extLst>
          </p:cNvPr>
          <p:cNvSpPr>
            <a:spLocks noGrp="1"/>
          </p:cNvSpPr>
          <p:nvPr>
            <p:ph type="body" idx="1"/>
          </p:nvPr>
        </p:nvSpPr>
        <p:spPr/>
        <p:txBody>
          <a:bodyPr/>
          <a:lstStyle/>
          <a:p>
            <a:r>
              <a:rPr lang="en-US" b="1" dirty="0"/>
              <a:t>“On the financial and commercial front, quantifying risks is vital to securing payment, incentives, and project success. Overstating savings may lead to </a:t>
            </a:r>
            <a:r>
              <a:rPr lang="en-US" b="1" dirty="0" err="1"/>
              <a:t>clawbacks</a:t>
            </a:r>
            <a:r>
              <a:rPr lang="en-US" b="1" dirty="0"/>
              <a:t> or disputes, while cost overruns in M&amp;V can erode project value. Likewise, uncertainty or errors can delay payments and cause friction between parties. Independent review and robust savings calculations serve as best practices for risk mitigation.”</a:t>
            </a:r>
            <a:endParaRPr lang="en-US" dirty="0"/>
          </a:p>
        </p:txBody>
      </p:sp>
      <p:sp>
        <p:nvSpPr>
          <p:cNvPr id="4" name="Slide Number Placeholder 3">
            <a:extLst>
              <a:ext uri="{FF2B5EF4-FFF2-40B4-BE49-F238E27FC236}">
                <a16:creationId xmlns:a16="http://schemas.microsoft.com/office/drawing/2014/main" id="{628F23D7-0BF1-0715-8000-67F0721E8BFB}"/>
              </a:ext>
            </a:extLst>
          </p:cNvPr>
          <p:cNvSpPr>
            <a:spLocks noGrp="1"/>
          </p:cNvSpPr>
          <p:nvPr>
            <p:ph type="sldNum" sz="quarter" idx="5"/>
          </p:nvPr>
        </p:nvSpPr>
        <p:spPr/>
        <p:txBody>
          <a:bodyPr/>
          <a:lstStyle/>
          <a:p>
            <a:fld id="{82869989-EB00-4EE7-BCB5-25BDC5BB29F8}" type="slidenum">
              <a:rPr lang="en-US" smtClean="0"/>
              <a:pPr/>
              <a:t>7</a:t>
            </a:fld>
            <a:endParaRPr lang="en-US"/>
          </a:p>
        </p:txBody>
      </p:sp>
      <p:sp>
        <p:nvSpPr>
          <p:cNvPr id="5" name="Footer Placeholder 4">
            <a:extLst>
              <a:ext uri="{FF2B5EF4-FFF2-40B4-BE49-F238E27FC236}">
                <a16:creationId xmlns:a16="http://schemas.microsoft.com/office/drawing/2014/main" id="{EFFAEC78-7433-0DC2-C10C-75FD97989B61}"/>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074313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C4B4E-7E71-9268-3206-130C6BF36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5A9E6-D125-73A8-CD99-F662494333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637FA-1FDA-AE5A-0251-B032184692F5}"/>
              </a:ext>
            </a:extLst>
          </p:cNvPr>
          <p:cNvSpPr>
            <a:spLocks noGrp="1"/>
          </p:cNvSpPr>
          <p:nvPr>
            <p:ph type="body" idx="1"/>
          </p:nvPr>
        </p:nvSpPr>
        <p:spPr/>
        <p:txBody>
          <a:bodyPr/>
          <a:lstStyle/>
          <a:p>
            <a:r>
              <a:rPr lang="en-US" b="1" dirty="0"/>
              <a:t>Instructor Note</a:t>
            </a:r>
            <a:r>
              <a:rPr lang="en-US" dirty="0"/>
              <a:t>: “Legal” encompasses contracts as well as disputes between parties.</a:t>
            </a:r>
          </a:p>
          <a:p>
            <a:endParaRPr lang="en-US" dirty="0"/>
          </a:p>
          <a:p>
            <a:r>
              <a:rPr lang="en-US" dirty="0"/>
              <a:t>“Legal and contractual risks center on the enforceability and clarity of M&amp;V plans. Ambiguous language or breach of contract can trigger costly disputes. Always ensure contracts faithfully capture the M&amp;V process, define remedies for nonperformance or dispute, and include third-party resolution where needed. This approach reduces legal uncertainty and helps all parties trust the results.”</a:t>
            </a:r>
          </a:p>
        </p:txBody>
      </p:sp>
      <p:sp>
        <p:nvSpPr>
          <p:cNvPr id="4" name="Slide Number Placeholder 3">
            <a:extLst>
              <a:ext uri="{FF2B5EF4-FFF2-40B4-BE49-F238E27FC236}">
                <a16:creationId xmlns:a16="http://schemas.microsoft.com/office/drawing/2014/main" id="{8D9498C9-33F0-BC5B-33EB-5178F9B76165}"/>
              </a:ext>
            </a:extLst>
          </p:cNvPr>
          <p:cNvSpPr>
            <a:spLocks noGrp="1"/>
          </p:cNvSpPr>
          <p:nvPr>
            <p:ph type="sldNum" sz="quarter" idx="5"/>
          </p:nvPr>
        </p:nvSpPr>
        <p:spPr/>
        <p:txBody>
          <a:bodyPr/>
          <a:lstStyle/>
          <a:p>
            <a:fld id="{82869989-EB00-4EE7-BCB5-25BDC5BB29F8}" type="slidenum">
              <a:rPr lang="en-US" smtClean="0"/>
              <a:pPr/>
              <a:t>8</a:t>
            </a:fld>
            <a:endParaRPr lang="en-US"/>
          </a:p>
        </p:txBody>
      </p:sp>
      <p:sp>
        <p:nvSpPr>
          <p:cNvPr id="5" name="Footer Placeholder 4">
            <a:extLst>
              <a:ext uri="{FF2B5EF4-FFF2-40B4-BE49-F238E27FC236}">
                <a16:creationId xmlns:a16="http://schemas.microsoft.com/office/drawing/2014/main" id="{000DA241-1C06-1B90-1734-10B2AF588BF4}"/>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1080758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996B-0CB5-454E-240B-19636B9E0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B826F-BF7D-37C4-B09D-E7EDFAB060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896D7D-BC54-2059-7C2A-7F3DB9D0428B}"/>
              </a:ext>
            </a:extLst>
          </p:cNvPr>
          <p:cNvSpPr>
            <a:spLocks noGrp="1"/>
          </p:cNvSpPr>
          <p:nvPr>
            <p:ph type="body" idx="1"/>
          </p:nvPr>
        </p:nvSpPr>
        <p:spPr/>
        <p:txBody>
          <a:bodyPr/>
          <a:lstStyle/>
          <a:p>
            <a:r>
              <a:rPr lang="en-US" b="1" dirty="0"/>
              <a:t>Instructor Note</a:t>
            </a:r>
            <a:r>
              <a:rPr lang="en-US" dirty="0"/>
              <a:t>: “Technical and physical risks arise from failures in measurement instruments, data quality, and inappropriate model selection. These risks are usually the most visible but can also be overlooked, especially during operation. Consistent calibration, validated data management, and rigorous model documentation help prevent these problems and maintain project credibility.”</a:t>
            </a:r>
          </a:p>
        </p:txBody>
      </p:sp>
      <p:sp>
        <p:nvSpPr>
          <p:cNvPr id="4" name="Slide Number Placeholder 3">
            <a:extLst>
              <a:ext uri="{FF2B5EF4-FFF2-40B4-BE49-F238E27FC236}">
                <a16:creationId xmlns:a16="http://schemas.microsoft.com/office/drawing/2014/main" id="{621A5D8F-0C76-2C5F-95AE-22364CDC9403}"/>
              </a:ext>
            </a:extLst>
          </p:cNvPr>
          <p:cNvSpPr>
            <a:spLocks noGrp="1"/>
          </p:cNvSpPr>
          <p:nvPr>
            <p:ph type="sldNum" sz="quarter" idx="5"/>
          </p:nvPr>
        </p:nvSpPr>
        <p:spPr/>
        <p:txBody>
          <a:bodyPr/>
          <a:lstStyle/>
          <a:p>
            <a:fld id="{82869989-EB00-4EE7-BCB5-25BDC5BB29F8}" type="slidenum">
              <a:rPr lang="en-US" smtClean="0"/>
              <a:pPr/>
              <a:t>9</a:t>
            </a:fld>
            <a:endParaRPr lang="en-US"/>
          </a:p>
        </p:txBody>
      </p:sp>
      <p:sp>
        <p:nvSpPr>
          <p:cNvPr id="5" name="Footer Placeholder 4">
            <a:extLst>
              <a:ext uri="{FF2B5EF4-FFF2-40B4-BE49-F238E27FC236}">
                <a16:creationId xmlns:a16="http://schemas.microsoft.com/office/drawing/2014/main" id="{9496F6C5-C9F4-9005-E4CF-198582764E2A}"/>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4202062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960C6-77D9-D97D-B594-16B9EABB48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226F8D-E438-97D2-FD59-2D46B203E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DC8196-BBC6-826D-4AC0-97EC45DF8B2C}"/>
              </a:ext>
            </a:extLst>
          </p:cNvPr>
          <p:cNvSpPr>
            <a:spLocks noGrp="1"/>
          </p:cNvSpPr>
          <p:nvPr>
            <p:ph type="body" idx="1"/>
          </p:nvPr>
        </p:nvSpPr>
        <p:spPr/>
        <p:txBody>
          <a:bodyPr/>
          <a:lstStyle/>
          <a:p>
            <a:r>
              <a:rPr lang="en-US" b="1" dirty="0"/>
              <a:t>Instructor </a:t>
            </a:r>
            <a:r>
              <a:rPr lang="en-US" b="1" dirty="0" err="1"/>
              <a:t>Note</a:t>
            </a:r>
            <a:r>
              <a:rPr lang="en-US" dirty="0" err="1"/>
              <a:t>“The</a:t>
            </a:r>
            <a:r>
              <a:rPr lang="en-US" dirty="0"/>
              <a:t> key to successful risk management in M&amp;V is quantifying, tracking, and actively mitigating each risk. Doing so not only protects project value, but also equips your team to respond effectively to surprises. Routine documentation and periodic reviews promote continuous improvement and adaptability in the face of emerging risks.”</a:t>
            </a:r>
          </a:p>
          <a:p>
            <a:r>
              <a:rPr lang="en-US" dirty="0"/>
              <a:t>These notes are designed to keep your delivery focused, encourage engagement, and provide context for each risk domain as you present your slides.</a:t>
            </a:r>
          </a:p>
        </p:txBody>
      </p:sp>
      <p:sp>
        <p:nvSpPr>
          <p:cNvPr id="4" name="Slide Number Placeholder 3">
            <a:extLst>
              <a:ext uri="{FF2B5EF4-FFF2-40B4-BE49-F238E27FC236}">
                <a16:creationId xmlns:a16="http://schemas.microsoft.com/office/drawing/2014/main" id="{BB70CF75-B467-0DBA-0560-0BAA7B8EE61A}"/>
              </a:ext>
            </a:extLst>
          </p:cNvPr>
          <p:cNvSpPr>
            <a:spLocks noGrp="1"/>
          </p:cNvSpPr>
          <p:nvPr>
            <p:ph type="sldNum" sz="quarter" idx="5"/>
          </p:nvPr>
        </p:nvSpPr>
        <p:spPr/>
        <p:txBody>
          <a:bodyPr/>
          <a:lstStyle/>
          <a:p>
            <a:fld id="{82869989-EB00-4EE7-BCB5-25BDC5BB29F8}" type="slidenum">
              <a:rPr lang="en-US" smtClean="0"/>
              <a:pPr/>
              <a:t>10</a:t>
            </a:fld>
            <a:endParaRPr lang="en-US"/>
          </a:p>
        </p:txBody>
      </p:sp>
      <p:sp>
        <p:nvSpPr>
          <p:cNvPr id="5" name="Footer Placeholder 4">
            <a:extLst>
              <a:ext uri="{FF2B5EF4-FFF2-40B4-BE49-F238E27FC236}">
                <a16:creationId xmlns:a16="http://schemas.microsoft.com/office/drawing/2014/main" id="{3EFDEA2A-B608-7315-AF51-B34E6A79F7D2}"/>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666465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Colors correspond with the color of the icons (regulatory, legal, commercial, technical).</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12</a:t>
            </a:fld>
            <a:endParaRPr lang="en-US"/>
          </a:p>
        </p:txBody>
      </p:sp>
    </p:spTree>
    <p:extLst>
      <p:ext uri="{BB962C8B-B14F-4D97-AF65-F5344CB8AC3E}">
        <p14:creationId xmlns:p14="http://schemas.microsoft.com/office/powerpoint/2010/main" val="562436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71148-2B47-5D75-1E3E-5AD120E378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54945-CBD0-AFF6-D12D-4E2F21F072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AE4645-C8A5-098D-9D16-567E75F48D5C}"/>
              </a:ext>
            </a:extLst>
          </p:cNvPr>
          <p:cNvSpPr>
            <a:spLocks noGrp="1"/>
          </p:cNvSpPr>
          <p:nvPr>
            <p:ph type="body" idx="1"/>
          </p:nvPr>
        </p:nvSpPr>
        <p:spPr/>
        <p:txBody>
          <a:bodyPr/>
          <a:lstStyle/>
          <a:p>
            <a:r>
              <a:rPr lang="en-US" b="1"/>
              <a:t>Instructor Note</a:t>
            </a:r>
            <a:r>
              <a:rPr lang="en-US"/>
              <a:t>: Colors correspond with the color of the icons (regulatory, legal, commercial, technical).</a:t>
            </a:r>
          </a:p>
        </p:txBody>
      </p:sp>
      <p:sp>
        <p:nvSpPr>
          <p:cNvPr id="4" name="Footer Placeholder 3">
            <a:extLst>
              <a:ext uri="{FF2B5EF4-FFF2-40B4-BE49-F238E27FC236}">
                <a16:creationId xmlns:a16="http://schemas.microsoft.com/office/drawing/2014/main" id="{00ADD920-F808-53B9-E955-BD020BBB1B1A}"/>
              </a:ext>
            </a:extLst>
          </p:cNvPr>
          <p:cNvSpPr>
            <a:spLocks noGrp="1"/>
          </p:cNvSpPr>
          <p:nvPr>
            <p:ph type="ftr" sz="quarter" idx="4"/>
          </p:nvPr>
        </p:nvSpPr>
        <p:spPr/>
        <p:txBody>
          <a:bodyPr/>
          <a:lstStyle/>
          <a:p>
            <a:r>
              <a:rPr lang="en-US"/>
              <a:t>CMVP_v2022.07</a:t>
            </a:r>
          </a:p>
        </p:txBody>
      </p:sp>
      <p:sp>
        <p:nvSpPr>
          <p:cNvPr id="5" name="Slide Number Placeholder 4">
            <a:extLst>
              <a:ext uri="{FF2B5EF4-FFF2-40B4-BE49-F238E27FC236}">
                <a16:creationId xmlns:a16="http://schemas.microsoft.com/office/drawing/2014/main" id="{7D3525DF-30DC-971C-3C85-B24D73757E10}"/>
              </a:ext>
            </a:extLst>
          </p:cNvPr>
          <p:cNvSpPr>
            <a:spLocks noGrp="1"/>
          </p:cNvSpPr>
          <p:nvPr>
            <p:ph type="sldNum" sz="quarter" idx="5"/>
          </p:nvPr>
        </p:nvSpPr>
        <p:spPr/>
        <p:txBody>
          <a:bodyPr/>
          <a:lstStyle/>
          <a:p>
            <a:fld id="{82869989-EB00-4EE7-BCB5-25BDC5BB29F8}" type="slidenum">
              <a:rPr lang="en-US" smtClean="0"/>
              <a:pPr/>
              <a:t>13</a:t>
            </a:fld>
            <a:endParaRPr lang="en-US"/>
          </a:p>
        </p:txBody>
      </p:sp>
    </p:spTree>
    <p:extLst>
      <p:ext uri="{BB962C8B-B14F-4D97-AF65-F5344CB8AC3E}">
        <p14:creationId xmlns:p14="http://schemas.microsoft.com/office/powerpoint/2010/main" val="237424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Instructor Note: These are examples of other roles that can play a crucial role in M&amp;V projects.</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14</a:t>
            </a:fld>
            <a:endParaRPr lang="en-US"/>
          </a:p>
        </p:txBody>
      </p:sp>
    </p:spTree>
    <p:extLst>
      <p:ext uri="{BB962C8B-B14F-4D97-AF65-F5344CB8AC3E}">
        <p14:creationId xmlns:p14="http://schemas.microsoft.com/office/powerpoint/2010/main" val="3629948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PSEG Full page description of rules </a:t>
            </a:r>
          </a:p>
          <a:p>
            <a:endParaRPr lang="en-US" dirty="0"/>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16</a:t>
            </a:fld>
            <a:endParaRPr lang="en-US"/>
          </a:p>
        </p:txBody>
      </p:sp>
    </p:spTree>
    <p:extLst>
      <p:ext uri="{BB962C8B-B14F-4D97-AF65-F5344CB8AC3E}">
        <p14:creationId xmlns:p14="http://schemas.microsoft.com/office/powerpoint/2010/main" val="3958342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t>17</a:t>
            </a:fld>
            <a:endParaRPr lang="en-US"/>
          </a:p>
        </p:txBody>
      </p:sp>
      <p:sp>
        <p:nvSpPr>
          <p:cNvPr id="5" name="Footer Placeholder 4">
            <a:extLst>
              <a:ext uri="{FF2B5EF4-FFF2-40B4-BE49-F238E27FC236}">
                <a16:creationId xmlns:a16="http://schemas.microsoft.com/office/drawing/2014/main" id="{23ACE84F-1FD4-302F-D7F1-8F4BFF181177}"/>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14529723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DSIRE: Database of US Utility Programs. If possible, instructor should find a similar slide for the relevant region. However, the takeaway is that policies and incentives can vary dramatically.</a:t>
            </a:r>
          </a:p>
        </p:txBody>
      </p:sp>
      <p:sp>
        <p:nvSpPr>
          <p:cNvPr id="4" name="Slide Number Placeholder 3"/>
          <p:cNvSpPr>
            <a:spLocks noGrp="1"/>
          </p:cNvSpPr>
          <p:nvPr>
            <p:ph type="sldNum" sz="quarter" idx="5"/>
          </p:nvPr>
        </p:nvSpPr>
        <p:spPr/>
        <p:txBody>
          <a:bodyPr/>
          <a:lstStyle/>
          <a:p>
            <a:fld id="{82869989-EB00-4EE7-BCB5-25BDC5BB29F8}" type="slidenum">
              <a:rPr lang="en-US" smtClean="0"/>
              <a:pPr/>
              <a:t>19</a:t>
            </a:fld>
            <a:endParaRPr lang="en-US"/>
          </a:p>
        </p:txBody>
      </p:sp>
      <p:sp>
        <p:nvSpPr>
          <p:cNvPr id="5" name="Footer Placeholder 4">
            <a:extLst>
              <a:ext uri="{FF2B5EF4-FFF2-40B4-BE49-F238E27FC236}">
                <a16:creationId xmlns:a16="http://schemas.microsoft.com/office/drawing/2014/main" id="{349B7FE5-8556-8A22-FA0C-B21BBD86EF02}"/>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629066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300" b="1"/>
              <a:t>Instructor Note</a:t>
            </a:r>
            <a:r>
              <a:rPr lang="en-US" sz="1300"/>
              <a:t>: M&amp;V 2.0 and FLEXmarket are discussed at length later in the module.</a:t>
            </a:r>
            <a:endParaRPr lang="en-US" b="0"/>
          </a:p>
        </p:txBody>
      </p:sp>
      <p:sp>
        <p:nvSpPr>
          <p:cNvPr id="4" name="Slide Number Placeholder 3"/>
          <p:cNvSpPr>
            <a:spLocks noGrp="1"/>
          </p:cNvSpPr>
          <p:nvPr>
            <p:ph type="sldNum" sz="quarter" idx="5"/>
          </p:nvPr>
        </p:nvSpPr>
        <p:spPr/>
        <p:txBody>
          <a:bodyPr/>
          <a:lstStyle/>
          <a:p>
            <a:fld id="{82869989-EB00-4EE7-BCB5-25BDC5BB29F8}" type="slidenum">
              <a:rPr lang="en-US" smtClean="0"/>
              <a:t>23</a:t>
            </a:fld>
            <a:endParaRPr lang="en-US"/>
          </a:p>
        </p:txBody>
      </p:sp>
      <p:sp>
        <p:nvSpPr>
          <p:cNvPr id="5" name="Footer Placeholder 4">
            <a:extLst>
              <a:ext uri="{FF2B5EF4-FFF2-40B4-BE49-F238E27FC236}">
                <a16:creationId xmlns:a16="http://schemas.microsoft.com/office/drawing/2014/main" id="{430A5A0E-A937-70C3-0BBA-52E3897B9D11}"/>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5252856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E456F-380B-3580-76AB-B4C714C66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AF614-B9DE-C0B3-809A-51EAD2AEDF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80E19-E6FA-74F6-CC2B-B81952B528F5}"/>
              </a:ext>
            </a:extLst>
          </p:cNvPr>
          <p:cNvSpPr>
            <a:spLocks noGrp="1"/>
          </p:cNvSpPr>
          <p:nvPr>
            <p:ph type="body" idx="1"/>
          </p:nvPr>
        </p:nvSpPr>
        <p:spPr/>
        <p:txBody>
          <a:bodyPr/>
          <a:lstStyle/>
          <a:p>
            <a:pPr fontAlgn="t"/>
            <a:r>
              <a:rPr lang="en-US" sz="1300" b="1"/>
              <a:t>Instructor Note</a:t>
            </a:r>
            <a:r>
              <a:rPr lang="en-US" sz="1300"/>
              <a:t>: M&amp;V 2.0 and FLEXmarket are discussed at length later in the module.</a:t>
            </a:r>
            <a:endParaRPr lang="en-US" b="0"/>
          </a:p>
        </p:txBody>
      </p:sp>
      <p:sp>
        <p:nvSpPr>
          <p:cNvPr id="4" name="Slide Number Placeholder 3">
            <a:extLst>
              <a:ext uri="{FF2B5EF4-FFF2-40B4-BE49-F238E27FC236}">
                <a16:creationId xmlns:a16="http://schemas.microsoft.com/office/drawing/2014/main" id="{BDBE5D8E-7044-26F3-4088-ED26CF002945}"/>
              </a:ext>
            </a:extLst>
          </p:cNvPr>
          <p:cNvSpPr>
            <a:spLocks noGrp="1"/>
          </p:cNvSpPr>
          <p:nvPr>
            <p:ph type="sldNum" sz="quarter" idx="5"/>
          </p:nvPr>
        </p:nvSpPr>
        <p:spPr/>
        <p:txBody>
          <a:bodyPr/>
          <a:lstStyle/>
          <a:p>
            <a:fld id="{82869989-EB00-4EE7-BCB5-25BDC5BB29F8}" type="slidenum">
              <a:rPr lang="en-US" smtClean="0"/>
              <a:t>24</a:t>
            </a:fld>
            <a:endParaRPr lang="en-US"/>
          </a:p>
        </p:txBody>
      </p:sp>
      <p:sp>
        <p:nvSpPr>
          <p:cNvPr id="5" name="Footer Placeholder 4">
            <a:extLst>
              <a:ext uri="{FF2B5EF4-FFF2-40B4-BE49-F238E27FC236}">
                <a16:creationId xmlns:a16="http://schemas.microsoft.com/office/drawing/2014/main" id="{7991A3E0-98D5-2670-343F-A5D04E2E74C6}"/>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177761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84B2E-9683-9166-8304-DE1710B71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876FE-2B82-9722-3646-0AD56314A4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D9E77-3712-823A-33C5-787B9A1D65BA}"/>
              </a:ext>
            </a:extLst>
          </p:cNvPr>
          <p:cNvSpPr>
            <a:spLocks noGrp="1"/>
          </p:cNvSpPr>
          <p:nvPr>
            <p:ph type="body" idx="1"/>
          </p:nvPr>
        </p:nvSpPr>
        <p:spPr/>
        <p:txBody>
          <a:bodyPr/>
          <a:lstStyle/>
          <a:p>
            <a:pPr fontAlgn="t"/>
            <a:r>
              <a:rPr lang="en-US" sz="1300" b="1"/>
              <a:t>Instructor Note</a:t>
            </a:r>
            <a:r>
              <a:rPr lang="en-US" sz="1300"/>
              <a:t>: M&amp;V 2.0 and FLEXmarket are discussed at length later in the module.</a:t>
            </a:r>
            <a:endParaRPr lang="en-US" b="0"/>
          </a:p>
        </p:txBody>
      </p:sp>
      <p:sp>
        <p:nvSpPr>
          <p:cNvPr id="4" name="Slide Number Placeholder 3">
            <a:extLst>
              <a:ext uri="{FF2B5EF4-FFF2-40B4-BE49-F238E27FC236}">
                <a16:creationId xmlns:a16="http://schemas.microsoft.com/office/drawing/2014/main" id="{A1886F90-EB94-0B75-56A5-0FDAB2AEC14F}"/>
              </a:ext>
            </a:extLst>
          </p:cNvPr>
          <p:cNvSpPr>
            <a:spLocks noGrp="1"/>
          </p:cNvSpPr>
          <p:nvPr>
            <p:ph type="sldNum" sz="quarter" idx="5"/>
          </p:nvPr>
        </p:nvSpPr>
        <p:spPr/>
        <p:txBody>
          <a:bodyPr/>
          <a:lstStyle/>
          <a:p>
            <a:fld id="{82869989-EB00-4EE7-BCB5-25BDC5BB29F8}" type="slidenum">
              <a:rPr lang="en-US" smtClean="0"/>
              <a:t>25</a:t>
            </a:fld>
            <a:endParaRPr lang="en-US"/>
          </a:p>
        </p:txBody>
      </p:sp>
      <p:sp>
        <p:nvSpPr>
          <p:cNvPr id="5" name="Footer Placeholder 4">
            <a:extLst>
              <a:ext uri="{FF2B5EF4-FFF2-40B4-BE49-F238E27FC236}">
                <a16:creationId xmlns:a16="http://schemas.microsoft.com/office/drawing/2014/main" id="{B832B8A8-4BDC-A410-61BF-E3146C9B7AFF}"/>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4657087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28</a:t>
            </a:fld>
            <a:endParaRPr lang="en-US"/>
          </a:p>
        </p:txBody>
      </p:sp>
      <p:sp>
        <p:nvSpPr>
          <p:cNvPr id="5" name="Footer Placeholder 4">
            <a:extLst>
              <a:ext uri="{FF2B5EF4-FFF2-40B4-BE49-F238E27FC236}">
                <a16:creationId xmlns:a16="http://schemas.microsoft.com/office/drawing/2014/main" id="{1433FBD6-CAD0-4AD6-3036-20031CB90614}"/>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17180336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b="0"/>
              <a:t>: </a:t>
            </a:r>
            <a:r>
              <a:rPr lang="en-US"/>
              <a:t>NEMVP defined Options A/B/C. IPMVP defines Options A/B/C/D​. In this training, we sometimes refer to Performance/Operation. Protocols are written by committees of human beings—they change over time to reflect current needs.</a:t>
            </a:r>
          </a:p>
        </p:txBody>
      </p:sp>
      <p:sp>
        <p:nvSpPr>
          <p:cNvPr id="4" name="Slide Number Placeholder 3"/>
          <p:cNvSpPr>
            <a:spLocks noGrp="1"/>
          </p:cNvSpPr>
          <p:nvPr>
            <p:ph type="sldNum" sz="quarter" idx="5"/>
          </p:nvPr>
        </p:nvSpPr>
        <p:spPr/>
        <p:txBody>
          <a:bodyPr/>
          <a:lstStyle/>
          <a:p>
            <a:fld id="{82869989-EB00-4EE7-BCB5-25BDC5BB29F8}" type="slidenum">
              <a:rPr lang="en-US" smtClean="0"/>
              <a:pPr/>
              <a:t>31</a:t>
            </a:fld>
            <a:endParaRPr lang="en-US"/>
          </a:p>
        </p:txBody>
      </p:sp>
      <p:sp>
        <p:nvSpPr>
          <p:cNvPr id="5" name="Footer Placeholder 4">
            <a:extLst>
              <a:ext uri="{FF2B5EF4-FFF2-40B4-BE49-F238E27FC236}">
                <a16:creationId xmlns:a16="http://schemas.microsoft.com/office/drawing/2014/main" id="{4877E0BD-7372-A464-A013-4C923C51D0B3}"/>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7178363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These are excerpts from the table of contents for versions 1 and 4 of the FEMP guidelines, intended to illustrate that the organization and presentation of M&amp;V knowledge and protocols has evolved. The QR codes link to the complete documents.</a:t>
            </a:r>
          </a:p>
        </p:txBody>
      </p:sp>
      <p:sp>
        <p:nvSpPr>
          <p:cNvPr id="4" name="Slide Number Placeholder 3"/>
          <p:cNvSpPr>
            <a:spLocks noGrp="1"/>
          </p:cNvSpPr>
          <p:nvPr>
            <p:ph type="sldNum" sz="quarter" idx="5"/>
          </p:nvPr>
        </p:nvSpPr>
        <p:spPr/>
        <p:txBody>
          <a:bodyPr/>
          <a:lstStyle/>
          <a:p>
            <a:fld id="{82869989-EB00-4EE7-BCB5-25BDC5BB29F8}" type="slidenum">
              <a:rPr lang="en-US" smtClean="0"/>
              <a:pPr/>
              <a:t>32</a:t>
            </a:fld>
            <a:endParaRPr lang="en-US"/>
          </a:p>
        </p:txBody>
      </p:sp>
      <p:sp>
        <p:nvSpPr>
          <p:cNvPr id="5" name="Footer Placeholder 4">
            <a:extLst>
              <a:ext uri="{FF2B5EF4-FFF2-40B4-BE49-F238E27FC236}">
                <a16:creationId xmlns:a16="http://schemas.microsoft.com/office/drawing/2014/main" id="{DA7E0933-EBDB-3D9F-5BF6-6BFE686FBC6F}"/>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4706369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Soft Skills. Know your audience. Discuss key terms and concepts. </a:t>
            </a:r>
          </a:p>
        </p:txBody>
      </p:sp>
      <p:sp>
        <p:nvSpPr>
          <p:cNvPr id="4" name="Slide Number Placeholder 3"/>
          <p:cNvSpPr>
            <a:spLocks noGrp="1"/>
          </p:cNvSpPr>
          <p:nvPr>
            <p:ph type="sldNum" sz="quarter" idx="5"/>
          </p:nvPr>
        </p:nvSpPr>
        <p:spPr/>
        <p:txBody>
          <a:bodyPr/>
          <a:lstStyle/>
          <a:p>
            <a:fld id="{82869989-EB00-4EE7-BCB5-25BDC5BB29F8}" type="slidenum">
              <a:rPr lang="en-US" smtClean="0"/>
              <a:pPr/>
              <a:t>36</a:t>
            </a:fld>
            <a:endParaRPr lang="en-US"/>
          </a:p>
        </p:txBody>
      </p:sp>
      <p:sp>
        <p:nvSpPr>
          <p:cNvPr id="5" name="Footer Placeholder 4">
            <a:extLst>
              <a:ext uri="{FF2B5EF4-FFF2-40B4-BE49-F238E27FC236}">
                <a16:creationId xmlns:a16="http://schemas.microsoft.com/office/drawing/2014/main" id="{FA1C5ABA-1968-0EFD-42B2-1954FFAA2FB6}"/>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216317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37</a:t>
            </a:fld>
            <a:endParaRPr lang="en-US"/>
          </a:p>
        </p:txBody>
      </p:sp>
    </p:spTree>
    <p:extLst>
      <p:ext uri="{BB962C8B-B14F-4D97-AF65-F5344CB8AC3E}">
        <p14:creationId xmlns:p14="http://schemas.microsoft.com/office/powerpoint/2010/main" val="25205144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38</a:t>
            </a:fld>
            <a:endParaRPr lang="en-US"/>
          </a:p>
        </p:txBody>
      </p:sp>
    </p:spTree>
    <p:extLst>
      <p:ext uri="{BB962C8B-B14F-4D97-AF65-F5344CB8AC3E}">
        <p14:creationId xmlns:p14="http://schemas.microsoft.com/office/powerpoint/2010/main" val="27234123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 </a:t>
            </a:r>
            <a:r>
              <a:rPr lang="en-US" b="0"/>
              <a:t>“The value of M&amp;V work”: </a:t>
            </a:r>
            <a:r>
              <a:rPr lang="en-US"/>
              <a:t>In some South African contexts, tax incentives apply only when a 10 percent threshold for avoided energy use has been reached. This increases the value of the M&amp;V work significantly.</a:t>
            </a:r>
          </a:p>
        </p:txBody>
      </p:sp>
      <p:sp>
        <p:nvSpPr>
          <p:cNvPr id="4" name="Slide Number Placeholder 3"/>
          <p:cNvSpPr>
            <a:spLocks noGrp="1"/>
          </p:cNvSpPr>
          <p:nvPr>
            <p:ph type="sldNum" sz="quarter" idx="5"/>
          </p:nvPr>
        </p:nvSpPr>
        <p:spPr/>
        <p:txBody>
          <a:bodyPr/>
          <a:lstStyle/>
          <a:p>
            <a:fld id="{82869989-EB00-4EE7-BCB5-25BDC5BB29F8}" type="slidenum">
              <a:rPr lang="en-US" smtClean="0"/>
              <a:t>39</a:t>
            </a:fld>
            <a:endParaRPr lang="en-US"/>
          </a:p>
        </p:txBody>
      </p:sp>
      <p:sp>
        <p:nvSpPr>
          <p:cNvPr id="5" name="Footer Placeholder 4">
            <a:extLst>
              <a:ext uri="{FF2B5EF4-FFF2-40B4-BE49-F238E27FC236}">
                <a16:creationId xmlns:a16="http://schemas.microsoft.com/office/drawing/2014/main" id="{0EE55A83-5EEA-F581-81DC-DE7516B84374}"/>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3226503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40</a:t>
            </a:fld>
            <a:endParaRPr lang="en-US"/>
          </a:p>
        </p:txBody>
      </p:sp>
    </p:spTree>
    <p:extLst>
      <p:ext uri="{BB962C8B-B14F-4D97-AF65-F5344CB8AC3E}">
        <p14:creationId xmlns:p14="http://schemas.microsoft.com/office/powerpoint/2010/main" val="31164379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Screenshot from FEMP 4.0.</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41</a:t>
            </a:fld>
            <a:endParaRPr lang="en-US"/>
          </a:p>
        </p:txBody>
      </p:sp>
    </p:spTree>
    <p:extLst>
      <p:ext uri="{BB962C8B-B14F-4D97-AF65-F5344CB8AC3E}">
        <p14:creationId xmlns:p14="http://schemas.microsoft.com/office/powerpoint/2010/main" val="2897178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Verdana" panose="020B060403050404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64763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7216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9F4859F1-D5C7-EC48-BAD7-2B16180A04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sp>
        <p:nvSpPr>
          <p:cNvPr id="2" name="Title 1">
            <a:extLst>
              <a:ext uri="{FF2B5EF4-FFF2-40B4-BE49-F238E27FC236}">
                <a16:creationId xmlns:a16="http://schemas.microsoft.com/office/drawing/2014/main" id="{59F6F62F-6086-F647-B44F-19908D7E21F7}"/>
              </a:ext>
            </a:extLst>
          </p:cNvPr>
          <p:cNvSpPr>
            <a:spLocks noGrp="1"/>
          </p:cNvSpPr>
          <p:nvPr>
            <p:ph type="title"/>
          </p:nvPr>
        </p:nvSpPr>
        <p:spPr>
          <a:xfrm>
            <a:off x="831850" y="576263"/>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C8EEF1-B00A-A645-A6F4-005FCEF7A515}"/>
              </a:ext>
            </a:extLst>
          </p:cNvPr>
          <p:cNvSpPr>
            <a:spLocks noGrp="1"/>
          </p:cNvSpPr>
          <p:nvPr>
            <p:ph type="body" idx="1"/>
          </p:nvPr>
        </p:nvSpPr>
        <p:spPr>
          <a:xfrm>
            <a:off x="831850" y="3455988"/>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58" name="Straight Connector 57">
            <a:extLst>
              <a:ext uri="{FF2B5EF4-FFF2-40B4-BE49-F238E27FC236}">
                <a16:creationId xmlns:a16="http://schemas.microsoft.com/office/drawing/2014/main" id="{985FC28C-C508-BD4C-8B9A-740C8339A1AA}"/>
              </a:ext>
            </a:extLst>
          </p:cNvPr>
          <p:cNvCxnSpPr>
            <a:cxnSpLocks/>
          </p:cNvCxnSpPr>
          <p:nvPr userDrawn="1"/>
        </p:nvCxnSpPr>
        <p:spPr>
          <a:xfrm>
            <a:off x="958362" y="4160700"/>
            <a:ext cx="10287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70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4221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25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377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5895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132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722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00269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2725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9801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178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697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198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678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374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33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7615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45575DB-02D9-E952-2213-315BDA88FD42}"/>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34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61452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C49ED7A3-C649-6235-DF9D-F3B16E3C813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C9CE07EE-50FE-474D-0F8E-5F992A7404BA}"/>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4485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965564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B08F-9BA6-F36A-B0D9-029AA4C2262C}"/>
              </a:ext>
            </a:extLst>
          </p:cNvPr>
          <p:cNvSpPr>
            <a:spLocks noGrp="1"/>
          </p:cNvSpPr>
          <p:nvPr>
            <p:ph type="title"/>
          </p:nvPr>
        </p:nvSpPr>
        <p:spPr>
          <a:xfrm>
            <a:off x="838200" y="5284258"/>
            <a:ext cx="10515600" cy="1325563"/>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4159926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93B1B-427B-4952-82AE-60202DAD191C}"/>
              </a:ext>
            </a:extLst>
          </p:cNvPr>
          <p:cNvSpPr>
            <a:spLocks noGrp="1"/>
          </p:cNvSpPr>
          <p:nvPr>
            <p:ph type="ctrTitle"/>
          </p:nvPr>
        </p:nvSpPr>
        <p:spPr>
          <a:xfrm>
            <a:off x="958361" y="1573469"/>
            <a:ext cx="10286999" cy="2387600"/>
          </a:xfrm>
        </p:spPr>
        <p:txBody>
          <a:bodyPr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67303964-C8C6-AA7F-4B01-73CD18CA12C9}"/>
              </a:ext>
            </a:extLst>
          </p:cNvPr>
          <p:cNvSpPr>
            <a:spLocks noGrp="1"/>
          </p:cNvSpPr>
          <p:nvPr>
            <p:ph type="subTitle" idx="1"/>
          </p:nvPr>
        </p:nvSpPr>
        <p:spPr>
          <a:xfrm>
            <a:off x="958362" y="4360332"/>
            <a:ext cx="10286998"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descr="A screenshot of a computer&#10;&#10;Description automatically generated with medium confidence">
            <a:extLst>
              <a:ext uri="{FF2B5EF4-FFF2-40B4-BE49-F238E27FC236}">
                <a16:creationId xmlns:a16="http://schemas.microsoft.com/office/drawing/2014/main" id="{36028D5E-48DB-E431-5A76-631B89710B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cxnSp>
        <p:nvCxnSpPr>
          <p:cNvPr id="9" name="Straight Connector 8">
            <a:extLst>
              <a:ext uri="{FF2B5EF4-FFF2-40B4-BE49-F238E27FC236}">
                <a16:creationId xmlns:a16="http://schemas.microsoft.com/office/drawing/2014/main" id="{33D4D6E7-D4E4-72C3-4120-84A91FF37BD3}"/>
              </a:ext>
            </a:extLst>
          </p:cNvPr>
          <p:cNvCxnSpPr>
            <a:cxnSpLocks/>
          </p:cNvCxnSpPr>
          <p:nvPr userDrawn="1"/>
        </p:nvCxnSpPr>
        <p:spPr>
          <a:xfrm>
            <a:off x="958362"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6006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6"/>
            <a:ext cx="10515600" cy="664422"/>
          </a:xfrm>
        </p:spPr>
        <p:txBody>
          <a:bodyPr/>
          <a:lstStyle/>
          <a:p>
            <a:r>
              <a:rPr lang="en-US"/>
              <a:t>Click to edit Master title style</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52C8A555-1706-5637-0DCF-42D6F9346F99}"/>
              </a:ext>
            </a:extLst>
          </p:cNvPr>
          <p:cNvSpPr>
            <a:spLocks noGrp="1"/>
          </p:cNvSpPr>
          <p:nvPr>
            <p:ph type="pic" sz="quarter" idx="11"/>
          </p:nvPr>
        </p:nvSpPr>
        <p:spPr>
          <a:xfrm>
            <a:off x="834621" y="1028935"/>
            <a:ext cx="5259391" cy="2400065"/>
          </a:xfrm>
        </p:spPr>
        <p:txBody>
          <a:bodyPr/>
          <a:lstStyle/>
          <a:p>
            <a:endParaRPr lang="en-US"/>
          </a:p>
        </p:txBody>
      </p:sp>
      <p:sp>
        <p:nvSpPr>
          <p:cNvPr id="12" name="Picture Placeholder 4">
            <a:extLst>
              <a:ext uri="{FF2B5EF4-FFF2-40B4-BE49-F238E27FC236}">
                <a16:creationId xmlns:a16="http://schemas.microsoft.com/office/drawing/2014/main" id="{A15DAA1B-DA05-AF85-ED79-730185EDE2B1}"/>
              </a:ext>
            </a:extLst>
          </p:cNvPr>
          <p:cNvSpPr>
            <a:spLocks noGrp="1"/>
          </p:cNvSpPr>
          <p:nvPr>
            <p:ph type="pic" sz="quarter" idx="12"/>
          </p:nvPr>
        </p:nvSpPr>
        <p:spPr>
          <a:xfrm>
            <a:off x="834620" y="3429000"/>
            <a:ext cx="5259391" cy="2407939"/>
          </a:xfrm>
        </p:spPr>
        <p:txBody>
          <a:bodyPr/>
          <a:lstStyle/>
          <a:p>
            <a:endParaRPr lang="en-US"/>
          </a:p>
        </p:txBody>
      </p:sp>
      <p:sp>
        <p:nvSpPr>
          <p:cNvPr id="13" name="Picture Placeholder 4">
            <a:extLst>
              <a:ext uri="{FF2B5EF4-FFF2-40B4-BE49-F238E27FC236}">
                <a16:creationId xmlns:a16="http://schemas.microsoft.com/office/drawing/2014/main" id="{932A95C9-5605-F23D-2E6D-18A350D72D15}"/>
              </a:ext>
            </a:extLst>
          </p:cNvPr>
          <p:cNvSpPr>
            <a:spLocks noGrp="1"/>
          </p:cNvSpPr>
          <p:nvPr>
            <p:ph type="pic" sz="quarter" idx="13"/>
          </p:nvPr>
        </p:nvSpPr>
        <p:spPr>
          <a:xfrm>
            <a:off x="6094409" y="1029548"/>
            <a:ext cx="5259391" cy="2407939"/>
          </a:xfrm>
        </p:spPr>
        <p:txBody>
          <a:bodyPr/>
          <a:lstStyle/>
          <a:p>
            <a:endParaRPr lang="en-US"/>
          </a:p>
        </p:txBody>
      </p:sp>
      <p:sp>
        <p:nvSpPr>
          <p:cNvPr id="14" name="Picture Placeholder 4">
            <a:extLst>
              <a:ext uri="{FF2B5EF4-FFF2-40B4-BE49-F238E27FC236}">
                <a16:creationId xmlns:a16="http://schemas.microsoft.com/office/drawing/2014/main" id="{56FF05F1-D24D-C72C-AF1C-85FE33CA6D91}"/>
              </a:ext>
            </a:extLst>
          </p:cNvPr>
          <p:cNvSpPr>
            <a:spLocks noGrp="1"/>
          </p:cNvSpPr>
          <p:nvPr>
            <p:ph type="pic" sz="quarter" idx="14"/>
          </p:nvPr>
        </p:nvSpPr>
        <p:spPr>
          <a:xfrm>
            <a:off x="6094011" y="3429000"/>
            <a:ext cx="5259391" cy="2407939"/>
          </a:xfrm>
        </p:spPr>
        <p:txBody>
          <a:bodyPr/>
          <a:lstStyle/>
          <a:p>
            <a:endParaRPr lang="en-US"/>
          </a:p>
        </p:txBody>
      </p:sp>
    </p:spTree>
    <p:extLst>
      <p:ext uri="{BB962C8B-B14F-4D97-AF65-F5344CB8AC3E}">
        <p14:creationId xmlns:p14="http://schemas.microsoft.com/office/powerpoint/2010/main" val="2568165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Images-To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10515600" cy="6981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3572539"/>
            <a:ext cx="10515600" cy="2604423"/>
          </a:xfrm>
        </p:spPr>
        <p:txBody>
          <a:bodyPr tIns="228600"/>
          <a:lstStyle/>
          <a:p>
            <a:pPr lvl="0"/>
            <a:r>
              <a:rPr lang="en-US"/>
              <a:t>Click to edit Master text styles</a:t>
            </a:r>
          </a:p>
          <a:p>
            <a:pPr lvl="1"/>
            <a:r>
              <a:rPr lang="en-US"/>
              <a:t>Second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C8D6E386-D8BA-D64A-058C-0CBA3881C59B}"/>
              </a:ext>
            </a:extLst>
          </p:cNvPr>
          <p:cNvSpPr>
            <a:spLocks noGrp="1"/>
          </p:cNvSpPr>
          <p:nvPr>
            <p:ph type="pic" sz="quarter" idx="11"/>
          </p:nvPr>
        </p:nvSpPr>
        <p:spPr>
          <a:xfrm>
            <a:off x="838200" y="1063256"/>
            <a:ext cx="5257800" cy="2508619"/>
          </a:xfrm>
        </p:spPr>
        <p:txBody>
          <a:bodyPr/>
          <a:lstStyle/>
          <a:p>
            <a:endParaRPr lang="en-US"/>
          </a:p>
        </p:txBody>
      </p:sp>
      <p:sp>
        <p:nvSpPr>
          <p:cNvPr id="9" name="Picture Placeholder 4">
            <a:extLst>
              <a:ext uri="{FF2B5EF4-FFF2-40B4-BE49-F238E27FC236}">
                <a16:creationId xmlns:a16="http://schemas.microsoft.com/office/drawing/2014/main" id="{0ED7FFD3-1A10-2363-6DD7-943533E03150}"/>
              </a:ext>
            </a:extLst>
          </p:cNvPr>
          <p:cNvSpPr>
            <a:spLocks noGrp="1"/>
          </p:cNvSpPr>
          <p:nvPr>
            <p:ph type="pic" sz="quarter" idx="12"/>
          </p:nvPr>
        </p:nvSpPr>
        <p:spPr>
          <a:xfrm>
            <a:off x="6096000" y="1068019"/>
            <a:ext cx="5257800" cy="2499093"/>
          </a:xfrm>
        </p:spPr>
        <p:txBody>
          <a:bodyPr/>
          <a:lstStyle/>
          <a:p>
            <a:endParaRPr lang="en-US"/>
          </a:p>
        </p:txBody>
      </p:sp>
    </p:spTree>
    <p:extLst>
      <p:ext uri="{BB962C8B-B14F-4D97-AF65-F5344CB8AC3E}">
        <p14:creationId xmlns:p14="http://schemas.microsoft.com/office/powerpoint/2010/main" val="507366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Heavy Swoop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891805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1825625"/>
            <a:ext cx="8918050" cy="4351338"/>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752325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16" name="Picture 15" descr="A picture containing text&#10;&#10;Description automatically generated">
            <a:extLst>
              <a:ext uri="{FF2B5EF4-FFF2-40B4-BE49-F238E27FC236}">
                <a16:creationId xmlns:a16="http://schemas.microsoft.com/office/drawing/2014/main" id="{160E74C2-3127-E8CF-4918-164FEC8F7D4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7681544" y="2347548"/>
            <a:ext cx="6858000" cy="2156088"/>
          </a:xfrm>
          <a:prstGeom prst="rect">
            <a:avLst/>
          </a:prstGeom>
        </p:spPr>
      </p:pic>
      <p:sp>
        <p:nvSpPr>
          <p:cNvPr id="14" name="Picture Placeholder 13">
            <a:extLst>
              <a:ext uri="{FF2B5EF4-FFF2-40B4-BE49-F238E27FC236}">
                <a16:creationId xmlns:a16="http://schemas.microsoft.com/office/drawing/2014/main" id="{86AA31C8-0E72-B9CC-4EDD-96355D3017D2}"/>
              </a:ext>
            </a:extLst>
          </p:cNvPr>
          <p:cNvSpPr>
            <a:spLocks noGrp="1"/>
          </p:cNvSpPr>
          <p:nvPr>
            <p:ph type="pic" sz="quarter" idx="10"/>
          </p:nvPr>
        </p:nvSpPr>
        <p:spPr>
          <a:xfrm>
            <a:off x="10090206" y="1611"/>
            <a:ext cx="2098380" cy="6852981"/>
          </a:xfrm>
          <a:custGeom>
            <a:avLst/>
            <a:gdLst>
              <a:gd name="connsiteX0" fmla="*/ 56634 w 1503235"/>
              <a:gd name="connsiteY0" fmla="*/ 0 h 6852981"/>
              <a:gd name="connsiteX1" fmla="*/ 1503235 w 1503235"/>
              <a:gd name="connsiteY1" fmla="*/ 0 h 6852981"/>
              <a:gd name="connsiteX2" fmla="*/ 1503235 w 1503235"/>
              <a:gd name="connsiteY2" fmla="*/ 6852981 h 6852981"/>
              <a:gd name="connsiteX3" fmla="*/ 645860 w 1503235"/>
              <a:gd name="connsiteY3" fmla="*/ 6850473 h 6852981"/>
              <a:gd name="connsiteX4" fmla="*/ 58942 w 1503235"/>
              <a:gd name="connsiteY4" fmla="*/ 3178158 h 6852981"/>
              <a:gd name="connsiteX5" fmla="*/ 56634 w 1503235"/>
              <a:gd name="connsiteY5" fmla="*/ 0 h 6852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3235" h="6852981">
                <a:moveTo>
                  <a:pt x="56634" y="0"/>
                </a:moveTo>
                <a:lnTo>
                  <a:pt x="1503235" y="0"/>
                </a:lnTo>
                <a:lnTo>
                  <a:pt x="1503235" y="6852981"/>
                </a:lnTo>
                <a:lnTo>
                  <a:pt x="645860" y="6850473"/>
                </a:lnTo>
                <a:cubicBezTo>
                  <a:pt x="389952" y="5820167"/>
                  <a:pt x="162339" y="4584273"/>
                  <a:pt x="58942" y="3178158"/>
                </a:cubicBezTo>
                <a:cubicBezTo>
                  <a:pt x="-27949" y="1997097"/>
                  <a:pt x="-10190" y="927359"/>
                  <a:pt x="56634" y="0"/>
                </a:cubicBezTo>
                <a:close/>
              </a:path>
            </a:pathLst>
          </a:custGeom>
        </p:spPr>
        <p:txBody>
          <a:bodyPr wrap="square">
            <a:noAutofit/>
          </a:bodyPr>
          <a:lstStyle/>
          <a:p>
            <a:endParaRPr lang="en-US"/>
          </a:p>
        </p:txBody>
      </p:sp>
      <p:sp>
        <p:nvSpPr>
          <p:cNvPr id="9" name="Text Placeholder 5">
            <a:extLst>
              <a:ext uri="{FF2B5EF4-FFF2-40B4-BE49-F238E27FC236}">
                <a16:creationId xmlns:a16="http://schemas.microsoft.com/office/drawing/2014/main" id="{116CF9A6-C7BC-B26A-AF92-4B1D03410300}"/>
              </a:ext>
            </a:extLst>
          </p:cNvPr>
          <p:cNvSpPr>
            <a:spLocks noGrp="1"/>
          </p:cNvSpPr>
          <p:nvPr>
            <p:ph type="body" sz="quarter" idx="11"/>
          </p:nvPr>
        </p:nvSpPr>
        <p:spPr>
          <a:xfrm>
            <a:off x="2233613" y="6181725"/>
            <a:ext cx="752263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79608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8CC704-EDAD-4714-1BCE-6A9024D6E2C0}"/>
              </a:ext>
            </a:extLst>
          </p:cNvPr>
          <p:cNvSpPr>
            <a:spLocks noGrp="1"/>
          </p:cNvSpPr>
          <p:nvPr>
            <p:ph sz="half" idx="1"/>
          </p:nvPr>
        </p:nvSpPr>
        <p:spPr>
          <a:xfrm>
            <a:off x="838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3D63D1-B6F8-0EC2-FC6F-011DFCF5B1E2}"/>
              </a:ext>
            </a:extLst>
          </p:cNvPr>
          <p:cNvSpPr>
            <a:spLocks noGrp="1"/>
          </p:cNvSpPr>
          <p:nvPr>
            <p:ph sz="half" idx="2"/>
          </p:nvPr>
        </p:nvSpPr>
        <p:spPr>
          <a:xfrm>
            <a:off x="6172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picture containing clipart&#10;&#10;Description automatically generated">
            <a:extLst>
              <a:ext uri="{FF2B5EF4-FFF2-40B4-BE49-F238E27FC236}">
                <a16:creationId xmlns:a16="http://schemas.microsoft.com/office/drawing/2014/main" id="{609B6BFE-E691-89AD-4C91-86A211ED4C26}"/>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5" name="Title 1">
            <a:extLst>
              <a:ext uri="{FF2B5EF4-FFF2-40B4-BE49-F238E27FC236}">
                <a16:creationId xmlns:a16="http://schemas.microsoft.com/office/drawing/2014/main" id="{52DA9E68-AAA7-4FD1-4ACF-A9E2C052979F}"/>
              </a:ext>
            </a:extLst>
          </p:cNvPr>
          <p:cNvSpPr>
            <a:spLocks noGrp="1"/>
          </p:cNvSpPr>
          <p:nvPr>
            <p:ph type="title"/>
          </p:nvPr>
        </p:nvSpPr>
        <p:spPr>
          <a:xfrm>
            <a:off x="839788" y="365125"/>
            <a:ext cx="10515600" cy="1325563"/>
          </a:xfrm>
        </p:spPr>
        <p:txBody>
          <a:bodyPr/>
          <a:lstStyle/>
          <a:p>
            <a:r>
              <a:rPr lang="en-US"/>
              <a:t>Click to edit Master title style</a:t>
            </a:r>
          </a:p>
        </p:txBody>
      </p:sp>
      <p:cxnSp>
        <p:nvCxnSpPr>
          <p:cNvPr id="2" name="Straight Connector 1">
            <a:extLst>
              <a:ext uri="{FF2B5EF4-FFF2-40B4-BE49-F238E27FC236}">
                <a16:creationId xmlns:a16="http://schemas.microsoft.com/office/drawing/2014/main" id="{BF6F8C83-DA6C-9D74-DB7C-F33D17024F8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51C6D4C-DF41-8656-E66B-E27FA092EA74}"/>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50791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CD7-2872-55FB-9A85-F5F5E3F7A1F6}"/>
              </a:ext>
            </a:extLst>
          </p:cNvPr>
          <p:cNvSpPr>
            <a:spLocks noGrp="1"/>
          </p:cNvSpPr>
          <p:nvPr>
            <p:ph type="title"/>
          </p:nvPr>
        </p:nvSpPr>
        <p:spPr>
          <a:xfrm>
            <a:off x="839788" y="365126"/>
            <a:ext cx="10515600" cy="1016974"/>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2E4EF065-F4A6-A9AF-220D-6B0AFF176C11}"/>
              </a:ext>
            </a:extLst>
          </p:cNvPr>
          <p:cNvSpPr>
            <a:spLocks noGrp="1"/>
          </p:cNvSpPr>
          <p:nvPr>
            <p:ph type="body" idx="1"/>
          </p:nvPr>
        </p:nvSpPr>
        <p:spPr>
          <a:xfrm>
            <a:off x="839788" y="1403797"/>
            <a:ext cx="5157787" cy="662070"/>
          </a:xfrm>
        </p:spPr>
        <p:txBody>
          <a:bodyPr anchor="b"/>
          <a:lstStyle>
            <a:lvl1pPr marL="0" indent="0">
              <a:buNone/>
              <a:defRPr sz="2400" b="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A04EFB-41BC-9218-6F89-AE3FB427B9AF}"/>
              </a:ext>
            </a:extLst>
          </p:cNvPr>
          <p:cNvSpPr>
            <a:spLocks noGrp="1"/>
          </p:cNvSpPr>
          <p:nvPr>
            <p:ph sz="half" idx="2"/>
          </p:nvPr>
        </p:nvSpPr>
        <p:spPr>
          <a:xfrm>
            <a:off x="839788" y="2065867"/>
            <a:ext cx="5157787" cy="384643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253455-7029-147A-61AB-25BA398DD8A2}"/>
              </a:ext>
            </a:extLst>
          </p:cNvPr>
          <p:cNvSpPr>
            <a:spLocks noGrp="1"/>
          </p:cNvSpPr>
          <p:nvPr>
            <p:ph type="body" sz="quarter" idx="3"/>
          </p:nvPr>
        </p:nvSpPr>
        <p:spPr>
          <a:xfrm>
            <a:off x="6172200" y="1403797"/>
            <a:ext cx="5183188" cy="662070"/>
          </a:xfrm>
        </p:spPr>
        <p:txBody>
          <a:bodyPr anchor="b"/>
          <a:lstStyle>
            <a:lvl1pPr marL="0" indent="0">
              <a:buNone/>
              <a:defRPr sz="2400" b="0" i="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D96CBB-5D01-3987-470C-1A7FCC38DBD4}"/>
              </a:ext>
            </a:extLst>
          </p:cNvPr>
          <p:cNvSpPr>
            <a:spLocks noGrp="1"/>
          </p:cNvSpPr>
          <p:nvPr>
            <p:ph sz="quarter" idx="4"/>
          </p:nvPr>
        </p:nvSpPr>
        <p:spPr>
          <a:xfrm>
            <a:off x="6172200" y="2087564"/>
            <a:ext cx="5183188" cy="3824733"/>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A picture containing clipart&#10;&#10;Description automatically generated">
            <a:extLst>
              <a:ext uri="{FF2B5EF4-FFF2-40B4-BE49-F238E27FC236}">
                <a16:creationId xmlns:a16="http://schemas.microsoft.com/office/drawing/2014/main" id="{DD0812C0-7373-E99F-5460-E09A85290A1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7" name="Straight Connector 6">
            <a:extLst>
              <a:ext uri="{FF2B5EF4-FFF2-40B4-BE49-F238E27FC236}">
                <a16:creationId xmlns:a16="http://schemas.microsoft.com/office/drawing/2014/main" id="{CD268754-B97E-FC72-F68A-60310D509A7E}"/>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 Placeholder 5">
            <a:extLst>
              <a:ext uri="{FF2B5EF4-FFF2-40B4-BE49-F238E27FC236}">
                <a16:creationId xmlns:a16="http://schemas.microsoft.com/office/drawing/2014/main" id="{6BDA3658-DCCD-5826-B876-EFD9A557D850}"/>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4003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p:txBody>
          <a:bodyPr/>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3" name="Straight Connector 2">
            <a:extLst>
              <a:ext uri="{FF2B5EF4-FFF2-40B4-BE49-F238E27FC236}">
                <a16:creationId xmlns:a16="http://schemas.microsoft.com/office/drawing/2014/main" id="{EC78B7C8-8363-300B-388E-47F442A6CC1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 Placeholder 5">
            <a:extLst>
              <a:ext uri="{FF2B5EF4-FFF2-40B4-BE49-F238E27FC236}">
                <a16:creationId xmlns:a16="http://schemas.microsoft.com/office/drawing/2014/main" id="{5F9140F1-3E50-ED16-0F6D-CF6A042F70FC}"/>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63818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Image-Text Colum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3251662"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199" y="3284647"/>
            <a:ext cx="3251661" cy="2419241"/>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8102138" y="1022460"/>
            <a:ext cx="3251662"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8102137"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17" name="Picture Placeholder 3">
            <a:extLst>
              <a:ext uri="{FF2B5EF4-FFF2-40B4-BE49-F238E27FC236}">
                <a16:creationId xmlns:a16="http://schemas.microsoft.com/office/drawing/2014/main" id="{F011ED4E-3C7D-C1FC-B6FB-1B2743BB9310}"/>
              </a:ext>
            </a:extLst>
          </p:cNvPr>
          <p:cNvSpPr>
            <a:spLocks noGrp="1"/>
          </p:cNvSpPr>
          <p:nvPr>
            <p:ph type="pic" sz="quarter" idx="16"/>
          </p:nvPr>
        </p:nvSpPr>
        <p:spPr>
          <a:xfrm>
            <a:off x="4470166" y="1022460"/>
            <a:ext cx="3251662" cy="2262187"/>
          </a:xfrm>
        </p:spPr>
        <p:txBody>
          <a:bodyPr/>
          <a:lstStyle/>
          <a:p>
            <a:endParaRPr lang="en-US"/>
          </a:p>
        </p:txBody>
      </p:sp>
      <p:sp>
        <p:nvSpPr>
          <p:cNvPr id="18" name="Text Placeholder 9">
            <a:extLst>
              <a:ext uri="{FF2B5EF4-FFF2-40B4-BE49-F238E27FC236}">
                <a16:creationId xmlns:a16="http://schemas.microsoft.com/office/drawing/2014/main" id="{620B54E1-F126-7688-986D-67DBA659B6A6}"/>
              </a:ext>
            </a:extLst>
          </p:cNvPr>
          <p:cNvSpPr>
            <a:spLocks noGrp="1"/>
          </p:cNvSpPr>
          <p:nvPr>
            <p:ph type="body" sz="quarter" idx="17"/>
          </p:nvPr>
        </p:nvSpPr>
        <p:spPr>
          <a:xfrm>
            <a:off x="4470165"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6696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Image-Captio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6611" y="1537847"/>
            <a:ext cx="3459155" cy="3456432"/>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6609"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9" name="Picture Placeholder 3">
            <a:extLst>
              <a:ext uri="{FF2B5EF4-FFF2-40B4-BE49-F238E27FC236}">
                <a16:creationId xmlns:a16="http://schemas.microsoft.com/office/drawing/2014/main" id="{3FA4BA4A-A73F-3143-C1F1-47B555C36AD2}"/>
              </a:ext>
            </a:extLst>
          </p:cNvPr>
          <p:cNvSpPr>
            <a:spLocks noGrp="1"/>
          </p:cNvSpPr>
          <p:nvPr>
            <p:ph type="pic" sz="quarter" idx="19"/>
          </p:nvPr>
        </p:nvSpPr>
        <p:spPr>
          <a:xfrm>
            <a:off x="4365628" y="1537847"/>
            <a:ext cx="3459155" cy="3456432"/>
          </a:xfrm>
        </p:spPr>
        <p:txBody>
          <a:bodyPr/>
          <a:lstStyle/>
          <a:p>
            <a:endParaRPr lang="en-US"/>
          </a:p>
        </p:txBody>
      </p:sp>
      <p:sp>
        <p:nvSpPr>
          <p:cNvPr id="11" name="Picture Placeholder 3">
            <a:extLst>
              <a:ext uri="{FF2B5EF4-FFF2-40B4-BE49-F238E27FC236}">
                <a16:creationId xmlns:a16="http://schemas.microsoft.com/office/drawing/2014/main" id="{34841F7F-FA2F-E60F-9887-F584B637EB70}"/>
              </a:ext>
            </a:extLst>
          </p:cNvPr>
          <p:cNvSpPr>
            <a:spLocks noGrp="1"/>
          </p:cNvSpPr>
          <p:nvPr>
            <p:ph type="pic" sz="quarter" idx="20"/>
          </p:nvPr>
        </p:nvSpPr>
        <p:spPr>
          <a:xfrm>
            <a:off x="7894645" y="1537847"/>
            <a:ext cx="3459155" cy="3456432"/>
          </a:xfrm>
        </p:spPr>
        <p:txBody>
          <a:bodyPr/>
          <a:lstStyle/>
          <a:p>
            <a:endParaRPr lang="en-US"/>
          </a:p>
        </p:txBody>
      </p:sp>
      <p:sp>
        <p:nvSpPr>
          <p:cNvPr id="12" name="Text Placeholder 9">
            <a:extLst>
              <a:ext uri="{FF2B5EF4-FFF2-40B4-BE49-F238E27FC236}">
                <a16:creationId xmlns:a16="http://schemas.microsoft.com/office/drawing/2014/main" id="{FC94224B-95BE-84E5-884D-6A84F0D8B918}"/>
              </a:ext>
            </a:extLst>
          </p:cNvPr>
          <p:cNvSpPr>
            <a:spLocks noGrp="1"/>
          </p:cNvSpPr>
          <p:nvPr>
            <p:ph type="body" sz="quarter" idx="21"/>
          </p:nvPr>
        </p:nvSpPr>
        <p:spPr>
          <a:xfrm>
            <a:off x="4365628"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13" name="Text Placeholder 9">
            <a:extLst>
              <a:ext uri="{FF2B5EF4-FFF2-40B4-BE49-F238E27FC236}">
                <a16:creationId xmlns:a16="http://schemas.microsoft.com/office/drawing/2014/main" id="{19D8B6C2-A903-A23D-B848-7FF26692CD47}"/>
              </a:ext>
            </a:extLst>
          </p:cNvPr>
          <p:cNvSpPr>
            <a:spLocks noGrp="1"/>
          </p:cNvSpPr>
          <p:nvPr>
            <p:ph type="body" sz="quarter" idx="22"/>
          </p:nvPr>
        </p:nvSpPr>
        <p:spPr>
          <a:xfrm>
            <a:off x="7894645"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Tree>
    <p:extLst>
      <p:ext uri="{BB962C8B-B14F-4D97-AF65-F5344CB8AC3E}">
        <p14:creationId xmlns:p14="http://schemas.microsoft.com/office/powerpoint/2010/main" val="168287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Image-Text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1200150" indent="-285750">
              <a:buFont typeface="Arial" panose="020B0604020202020204" pitchFamily="34" charset="0"/>
              <a:buChar char="•"/>
              <a:defRPr sz="16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6442364" y="1022460"/>
            <a:ext cx="4911436"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6442361" y="3284647"/>
            <a:ext cx="4911437" cy="2419241"/>
          </a:xfrm>
        </p:spPr>
        <p:txBody>
          <a:bodyPr tIns="228600">
            <a:normAutofit/>
          </a:bodyPr>
          <a:lstStyle>
            <a:lvl1pPr marL="0" indent="0">
              <a:buNone/>
              <a:defRPr sz="1800"/>
            </a:lvl1pPr>
            <a:lvl2pPr>
              <a:defRPr sz="1600"/>
            </a:lvl2pPr>
            <a:lvl3pPr>
              <a:defRPr sz="1600"/>
            </a:lvl3pPr>
          </a:lstStyle>
          <a:p>
            <a:pPr lvl="0"/>
            <a:r>
              <a:rPr lang="en-US"/>
              <a:t>Click to edit Master text styles</a:t>
            </a:r>
          </a:p>
          <a:p>
            <a:pPr lvl="1"/>
            <a:r>
              <a:rPr lang="en-US"/>
              <a:t>Second level</a:t>
            </a:r>
          </a:p>
          <a:p>
            <a:pPr lvl="2"/>
            <a:r>
              <a:rPr lang="en-US"/>
              <a:t>Third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864199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Column Alternati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5749637" y="1022350"/>
            <a:ext cx="5604164" cy="4681538"/>
          </a:xfrm>
        </p:spPr>
        <p:txBody>
          <a:bodyPr l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67949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Column Alternative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838200" y="1022350"/>
            <a:ext cx="5604164" cy="4681538"/>
          </a:xfrm>
        </p:spPr>
        <p:txBody>
          <a:bodyPr lIns="91440" r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6442364" y="1021737"/>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6442364" y="3311851"/>
            <a:ext cx="4911436" cy="2392038"/>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259645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ow Frame">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7E64B68C-19BD-94A4-BCA6-5C231578DBE6}"/>
              </a:ext>
            </a:extLst>
          </p:cNvPr>
          <p:cNvSpPr>
            <a:spLocks noGrp="1"/>
          </p:cNvSpPr>
          <p:nvPr>
            <p:ph type="pic" sz="quarter" idx="10"/>
          </p:nvPr>
        </p:nvSpPr>
        <p:spPr>
          <a:xfrm>
            <a:off x="0" y="-25928"/>
            <a:ext cx="12192000" cy="5339537"/>
          </a:xfrm>
          <a:custGeom>
            <a:avLst/>
            <a:gdLst>
              <a:gd name="connsiteX0" fmla="*/ 0 w 12192000"/>
              <a:gd name="connsiteY0" fmla="*/ 0 h 5339537"/>
              <a:gd name="connsiteX1" fmla="*/ 12192000 w 12192000"/>
              <a:gd name="connsiteY1" fmla="*/ 0 h 5339537"/>
              <a:gd name="connsiteX2" fmla="*/ 12192000 w 12192000"/>
              <a:gd name="connsiteY2" fmla="*/ 4286547 h 5339537"/>
              <a:gd name="connsiteX3" fmla="*/ 6541940 w 12192000"/>
              <a:gd name="connsiteY3" fmla="*/ 4290650 h 5339537"/>
              <a:gd name="connsiteX4" fmla="*/ 13378 w 12192000"/>
              <a:gd name="connsiteY4" fmla="*/ 5334060 h 5339537"/>
              <a:gd name="connsiteX5" fmla="*/ 13373 w 12192000"/>
              <a:gd name="connsiteY5" fmla="*/ 5335896 h 5339537"/>
              <a:gd name="connsiteX6" fmla="*/ 0 w 12192000"/>
              <a:gd name="connsiteY6" fmla="*/ 5339537 h 533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339537">
                <a:moveTo>
                  <a:pt x="0" y="0"/>
                </a:moveTo>
                <a:lnTo>
                  <a:pt x="12192000" y="0"/>
                </a:lnTo>
                <a:lnTo>
                  <a:pt x="12192000" y="4286547"/>
                </a:lnTo>
                <a:cubicBezTo>
                  <a:pt x="10543360" y="4167749"/>
                  <a:pt x="8641604" y="4136176"/>
                  <a:pt x="6541940" y="4290650"/>
                </a:cubicBezTo>
                <a:cubicBezTo>
                  <a:pt x="4042179" y="4474466"/>
                  <a:pt x="1845032" y="4879112"/>
                  <a:pt x="13378" y="5334060"/>
                </a:cubicBezTo>
                <a:lnTo>
                  <a:pt x="13373" y="5335896"/>
                </a:lnTo>
                <a:lnTo>
                  <a:pt x="0" y="5339537"/>
                </a:lnTo>
                <a:close/>
              </a:path>
            </a:pathLst>
          </a:custGeom>
          <a:pattFill prst="pct5">
            <a:fgClr>
              <a:schemeClr val="accent1"/>
            </a:fgClr>
            <a:bgClr>
              <a:schemeClr val="bg1"/>
            </a:bgClr>
          </a:pattFill>
        </p:spPr>
        <p:txBody>
          <a:bodyPr wrap="square">
            <a:noAutofit/>
          </a:bodyPr>
          <a:lstStyle/>
          <a:p>
            <a:endParaRPr lang="en-US"/>
          </a:p>
        </p:txBody>
      </p:sp>
      <p:pic>
        <p:nvPicPr>
          <p:cNvPr id="11" name="Picture 10" descr="A picture containing text&#10;&#10;Description automatically generated">
            <a:extLst>
              <a:ext uri="{FF2B5EF4-FFF2-40B4-BE49-F238E27FC236}">
                <a16:creationId xmlns:a16="http://schemas.microsoft.com/office/drawing/2014/main" id="{2D5A594F-EE9B-015D-CFCD-15DF4937DF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50" y="4147098"/>
            <a:ext cx="12306300" cy="2773451"/>
          </a:xfrm>
          <a:prstGeom prst="rect">
            <a:avLst/>
          </a:prstGeom>
        </p:spPr>
      </p:pic>
      <p:sp>
        <p:nvSpPr>
          <p:cNvPr id="6" name="Title 1">
            <a:extLst>
              <a:ext uri="{FF2B5EF4-FFF2-40B4-BE49-F238E27FC236}">
                <a16:creationId xmlns:a16="http://schemas.microsoft.com/office/drawing/2014/main" id="{8D648E24-F46E-01DE-04C1-967015ACA31E}"/>
              </a:ext>
            </a:extLst>
          </p:cNvPr>
          <p:cNvSpPr>
            <a:spLocks noGrp="1"/>
          </p:cNvSpPr>
          <p:nvPr>
            <p:ph type="title"/>
          </p:nvPr>
        </p:nvSpPr>
        <p:spPr>
          <a:xfrm>
            <a:off x="6096000" y="6010669"/>
            <a:ext cx="6096000" cy="847331"/>
          </a:xfrm>
        </p:spPr>
        <p:txBody>
          <a:bodyPr lIns="91440" tIns="91440" rIns="91440" bIns="91440" anchor="b"/>
          <a:lstStyle>
            <a:lvl1pPr algn="r">
              <a:defRPr/>
            </a:lvl1pPr>
          </a:lstStyle>
          <a:p>
            <a:r>
              <a:rPr lang="en-US"/>
              <a:t>Click to edit Master title style</a:t>
            </a:r>
          </a:p>
        </p:txBody>
      </p:sp>
    </p:spTree>
    <p:extLst>
      <p:ext uri="{BB962C8B-B14F-4D97-AF65-F5344CB8AC3E}">
        <p14:creationId xmlns:p14="http://schemas.microsoft.com/office/powerpoint/2010/main" val="321246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plash">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563C9E9-3ED8-F67B-0E27-68B346248583}"/>
              </a:ext>
            </a:extLst>
          </p:cNvPr>
          <p:cNvSpPr>
            <a:spLocks noGrp="1"/>
          </p:cNvSpPr>
          <p:nvPr>
            <p:ph type="pic" sz="quarter" idx="10"/>
          </p:nvPr>
        </p:nvSpPr>
        <p:spPr>
          <a:xfrm>
            <a:off x="0" y="0"/>
            <a:ext cx="12192000" cy="6858000"/>
          </a:xfrm>
        </p:spPr>
        <p:txBody>
          <a:bodyPr/>
          <a:lstStyle/>
          <a:p>
            <a:endParaRPr lang="en-US"/>
          </a:p>
        </p:txBody>
      </p:sp>
    </p:spTree>
    <p:extLst>
      <p:ext uri="{BB962C8B-B14F-4D97-AF65-F5344CB8AC3E}">
        <p14:creationId xmlns:p14="http://schemas.microsoft.com/office/powerpoint/2010/main" val="2201168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50FD-1749-6B32-C4E2-45BA3F46BADE}"/>
              </a:ext>
            </a:extLst>
          </p:cNvPr>
          <p:cNvSpPr>
            <a:spLocks noGrp="1"/>
          </p:cNvSpPr>
          <p:nvPr>
            <p:ph type="title"/>
          </p:nvPr>
        </p:nvSpPr>
        <p:spPr>
          <a:xfrm>
            <a:off x="839788" y="640080"/>
            <a:ext cx="3932237" cy="1069975"/>
          </a:xfrm>
        </p:spPr>
        <p:txBody>
          <a:bodyPr anchor="t">
            <a:normAutofit/>
          </a:bodyPr>
          <a:lstStyle>
            <a:lvl1pPr>
              <a:defRPr sz="3000"/>
            </a:lvl1pPr>
          </a:lstStyle>
          <a:p>
            <a:r>
              <a:rPr lang="en-US"/>
              <a:t>Click to edit Master title style</a:t>
            </a:r>
          </a:p>
        </p:txBody>
      </p:sp>
      <p:sp>
        <p:nvSpPr>
          <p:cNvPr id="3" name="Content Placeholder 2">
            <a:extLst>
              <a:ext uri="{FF2B5EF4-FFF2-40B4-BE49-F238E27FC236}">
                <a16:creationId xmlns:a16="http://schemas.microsoft.com/office/drawing/2014/main" id="{D3734D65-B365-95EE-54FD-870A0D8A919E}"/>
              </a:ext>
            </a:extLst>
          </p:cNvPr>
          <p:cNvSpPr>
            <a:spLocks noGrp="1"/>
          </p:cNvSpPr>
          <p:nvPr>
            <p:ph idx="1"/>
          </p:nvPr>
        </p:nvSpPr>
        <p:spPr>
          <a:xfrm>
            <a:off x="5183188" y="640080"/>
            <a:ext cx="6172200" cy="4873625"/>
          </a:xfrm>
        </p:spPr>
        <p:txBody>
          <a:bodyPr>
            <a:normAutofit/>
          </a:bodyPr>
          <a:lstStyle>
            <a:lvl1pPr>
              <a:defRPr sz="18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4B2F56-2B0D-0EF4-56CD-C05932CCA913}"/>
              </a:ext>
            </a:extLst>
          </p:cNvPr>
          <p:cNvSpPr>
            <a:spLocks noGrp="1"/>
          </p:cNvSpPr>
          <p:nvPr>
            <p:ph type="body" sz="half" idx="2"/>
          </p:nvPr>
        </p:nvSpPr>
        <p:spPr>
          <a:xfrm>
            <a:off x="839788" y="1735455"/>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BB5AD11E-7CA2-195A-3AED-D4EA18A7CBF0}"/>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8B7F537-9B65-DFA6-B015-6F940544605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26790AD-ED52-1F38-55AF-266155ED0CFF}"/>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14559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200" y="640080"/>
            <a:ext cx="4343400"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4553"/>
            <a:ext cx="4343400"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3680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Pictures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199" y="640080"/>
            <a:ext cx="5257799"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6096000" y="6400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199" y="1714553"/>
            <a:ext cx="5257799"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Picture Placeholder 2">
            <a:extLst>
              <a:ext uri="{FF2B5EF4-FFF2-40B4-BE49-F238E27FC236}">
                <a16:creationId xmlns:a16="http://schemas.microsoft.com/office/drawing/2014/main" id="{E82FCC31-BC93-90AB-AF4D-96D2AAC1DC24}"/>
              </a:ext>
            </a:extLst>
          </p:cNvPr>
          <p:cNvSpPr>
            <a:spLocks noGrp="1"/>
          </p:cNvSpPr>
          <p:nvPr>
            <p:ph type="pic" idx="11"/>
          </p:nvPr>
        </p:nvSpPr>
        <p:spPr>
          <a:xfrm>
            <a:off x="6096000" y="31029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252286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with Caption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7010400" y="640080"/>
            <a:ext cx="4343400" cy="1069975"/>
          </a:xfrm>
        </p:spPr>
        <p:txBody>
          <a:bodyPr lIns="228600" rIns="9144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6614"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08814" y="1706086"/>
            <a:ext cx="4343400"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58CC310E-4748-C5E8-AE54-7AC1A299401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E1EF47C-843F-BE5E-8F02-5DE1A2AC11B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589816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Alternative 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1710055"/>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0056"/>
            <a:ext cx="4341812"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42FA145-7884-663E-2FD6-F146DBF165AD}"/>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5E442B31-B535-5FE2-2BC5-880EDD26FEF6}"/>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9A7D85F-FFE4-4A07-245F-FEBB3A5BB908}"/>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325908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lternative Picture with Caption (Invers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8197" y="1717992"/>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11988" y="1710055"/>
            <a:ext cx="4341812"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0F8A5377-95D6-C530-0CF9-020320B808C6}"/>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7417A37-EF31-074D-6E80-67675A8F2A7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C5E523F-BEDA-B92E-177F-92952F4CFFF3}"/>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772575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2330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AAD5-8DD1-DC4F-C3FC-B95E383F0D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86E25A-25B7-0AFF-66E9-21B3682472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CAAA45-371A-B61B-294F-DE211B14540A}"/>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5" name="Footer Placeholder 4">
            <a:extLst>
              <a:ext uri="{FF2B5EF4-FFF2-40B4-BE49-F238E27FC236}">
                <a16:creationId xmlns:a16="http://schemas.microsoft.com/office/drawing/2014/main" id="{9EE6060D-87A1-4A21-509E-5852E923CF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9F6B3-1E80-9120-F2A6-44E6AB084BF5}"/>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720511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6A91-2D10-E1DA-4346-43F91908BE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2A29A5-815C-527E-B2DC-FBCE17A53B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C45CA9-C736-BD95-5532-BD7D05049A93}"/>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5" name="Footer Placeholder 4">
            <a:extLst>
              <a:ext uri="{FF2B5EF4-FFF2-40B4-BE49-F238E27FC236}">
                <a16:creationId xmlns:a16="http://schemas.microsoft.com/office/drawing/2014/main" id="{B1877436-BE64-99AD-D140-5F1C7774B8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0D367-A36F-C89F-E1D7-95115A871A4E}"/>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7891920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A8E33-CA27-88E2-9F92-AA12430C84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E62745-7C1E-6A02-04C2-6F1EC0E0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EA6416-DEA8-2A6F-135E-7445E4B9DC74}"/>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5" name="Footer Placeholder 4">
            <a:extLst>
              <a:ext uri="{FF2B5EF4-FFF2-40B4-BE49-F238E27FC236}">
                <a16:creationId xmlns:a16="http://schemas.microsoft.com/office/drawing/2014/main" id="{42BDD8BD-2D8A-B3BD-27B8-7ED8DCCA5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B333E4-C1AC-A5A6-A1DE-1C42CDBC5843}"/>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3655301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5BDE1-317E-29CD-73F7-74703C9F8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3B4BE4-BBEF-2B13-8055-53D27E94F1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172DEF-0F28-A62C-3CDD-30FA579384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AAE753-C79D-9851-31EF-E05956745397}"/>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6" name="Footer Placeholder 5">
            <a:extLst>
              <a:ext uri="{FF2B5EF4-FFF2-40B4-BE49-F238E27FC236}">
                <a16:creationId xmlns:a16="http://schemas.microsoft.com/office/drawing/2014/main" id="{3B705142-9F70-CC54-60A4-3E09BC83A2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BA7BA-2731-3AED-08C7-C64BB662CAE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5337042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0CE2-7508-E81C-06F1-28A034A17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F21967-D4D0-6219-3AAB-9D2E4F75E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2F3A03-1015-ACF5-F20B-DB2A14A5A2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C0E5BF-58E2-49EB-D836-6ED99AA106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C1CF98-ECC9-55E8-CD6F-1D5D4638D0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0247C5-C34D-ADEC-AC65-FE6C8FD0C5C4}"/>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8" name="Footer Placeholder 7">
            <a:extLst>
              <a:ext uri="{FF2B5EF4-FFF2-40B4-BE49-F238E27FC236}">
                <a16:creationId xmlns:a16="http://schemas.microsoft.com/office/drawing/2014/main" id="{2D685EF8-754E-9EDF-566D-D2DBC48DF2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B8C502-F336-234A-C5BD-3A7EFE8771D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1628137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4C712-081B-49DF-40D3-CA896D1E5E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01967A-6474-C9C7-09A5-D5C3F895D1FD}"/>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4" name="Footer Placeholder 3">
            <a:extLst>
              <a:ext uri="{FF2B5EF4-FFF2-40B4-BE49-F238E27FC236}">
                <a16:creationId xmlns:a16="http://schemas.microsoft.com/office/drawing/2014/main" id="{6C55163C-7A9E-4772-1C06-9759F6C308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B45EDF-18A2-7D96-7ADF-DA791280AF2C}"/>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9608943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C8D037-04A9-F5D8-556C-9ECCE6402FB1}"/>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3" name="Footer Placeholder 2">
            <a:extLst>
              <a:ext uri="{FF2B5EF4-FFF2-40B4-BE49-F238E27FC236}">
                <a16:creationId xmlns:a16="http://schemas.microsoft.com/office/drawing/2014/main" id="{45ED36C8-3553-1C68-A5E2-48BC581803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185F28-AB75-50BB-C03E-FAE7A9D589C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224293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03D1E-6132-B1F1-98DE-A0DBF6854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F0ECE0-A6ED-6CF1-9EC4-6E7C8946D8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223C8-35DE-CFC4-E5AA-555D45C342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319D3-C3D5-78F0-E7B8-91755BC3E3A2}"/>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6" name="Footer Placeholder 5">
            <a:extLst>
              <a:ext uri="{FF2B5EF4-FFF2-40B4-BE49-F238E27FC236}">
                <a16:creationId xmlns:a16="http://schemas.microsoft.com/office/drawing/2014/main" id="{89C369DA-C9FF-BFE0-1EA8-F78CD56427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B09E0-F147-AD07-BE6A-9BBAD80DED8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5410737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86FB5-82B2-AAEA-443C-3E53C2AB3B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5BBF77-398D-E23F-F419-00CADA31C7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F95E83-21D3-CE30-DF9F-E78B4F1692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428B0B-767F-E2AF-B42A-8971AF98189E}"/>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6" name="Footer Placeholder 5">
            <a:extLst>
              <a:ext uri="{FF2B5EF4-FFF2-40B4-BE49-F238E27FC236}">
                <a16:creationId xmlns:a16="http://schemas.microsoft.com/office/drawing/2014/main" id="{CFA0D381-E325-7846-8518-6CB8F235E9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A7B72B-56E1-C7D4-9132-DEDFD582450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450722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D6BDF-36A7-5718-E5A5-DE5382070B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89E1C7-143D-57A1-72A1-EF36DB985F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2236C-253F-CDE9-3078-4DF99D383828}"/>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5" name="Footer Placeholder 4">
            <a:extLst>
              <a:ext uri="{FF2B5EF4-FFF2-40B4-BE49-F238E27FC236}">
                <a16:creationId xmlns:a16="http://schemas.microsoft.com/office/drawing/2014/main" id="{C609742D-9740-9A95-463E-174B2D718F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26397-AAEF-91D9-AB56-A5C31D582E3A}"/>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5808583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887D61-6E7E-6C92-72F6-6AC3A5DD73E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5BB4B8-BCF0-9CA6-F340-C0A77C7158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010D88-24BF-22A7-6352-8C048FA3B15E}"/>
              </a:ext>
            </a:extLst>
          </p:cNvPr>
          <p:cNvSpPr>
            <a:spLocks noGrp="1"/>
          </p:cNvSpPr>
          <p:nvPr>
            <p:ph type="dt" sz="half" idx="10"/>
          </p:nvPr>
        </p:nvSpPr>
        <p:spPr/>
        <p:txBody>
          <a:bodyPr/>
          <a:lstStyle/>
          <a:p>
            <a:fld id="{E5E6E620-59F5-2C4A-92BD-F98311598A11}" type="datetimeFigureOut">
              <a:rPr lang="en-US" smtClean="0"/>
              <a:t>11/21/2025</a:t>
            </a:fld>
            <a:endParaRPr lang="en-US"/>
          </a:p>
        </p:txBody>
      </p:sp>
      <p:sp>
        <p:nvSpPr>
          <p:cNvPr id="5" name="Footer Placeholder 4">
            <a:extLst>
              <a:ext uri="{FF2B5EF4-FFF2-40B4-BE49-F238E27FC236}">
                <a16:creationId xmlns:a16="http://schemas.microsoft.com/office/drawing/2014/main" id="{5BCAFD18-A41E-5830-3B37-37E15B198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40DB3D-B834-0C92-B6FC-71D0A7CFE44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8412346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12964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410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65CAF67C-05D9-E035-DD4E-5DB53A813F9F}"/>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cxnSp>
        <p:nvCxnSpPr>
          <p:cNvPr id="3" name="Straight Connector 2">
            <a:extLst>
              <a:ext uri="{FF2B5EF4-FFF2-40B4-BE49-F238E27FC236}">
                <a16:creationId xmlns:a16="http://schemas.microsoft.com/office/drawing/2014/main" id="{CD6D67B6-5BB8-A321-DCC1-1CDE6D6F2B3E}"/>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2678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672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4136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63110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764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45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B7ABA80-BCE4-B20F-4ED2-67D0FB916F8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42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3331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9A7EA1FE-70E8-377A-9BCA-4A1930CC561D}"/>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54B80E5E-C6B1-0D18-CCDF-82BD487A9022}"/>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7442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35065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18954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image" Target="../media/image1.gif"/><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theme" Target="../theme/theme2.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3.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image" Target="../media/image1.gif"/><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userDrawn="1"/>
        </p:nvPicPr>
        <p:blipFill>
          <a:blip r:embed="rId13"/>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332867967"/>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5" r:id="rId8"/>
    <p:sldLayoutId id="2147483690" r:id="rId9"/>
    <p:sldLayoutId id="2147483691" r:id="rId10"/>
    <p:sldLayoutId id="2147483694"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accent1"/>
          </a:solidFill>
          <a:latin typeface="Verdana" panose="020B0604030504040204" pitchFamily="34" charset="0"/>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36"/>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ADF7A29A-0292-73AA-F083-6E595BAA8123}"/>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9477345E-DF3E-2C6E-4A34-F2D69FF9D719}"/>
              </a:ext>
            </a:extLst>
          </p:cNvPr>
          <p:cNvPicPr>
            <a:picLocks noChangeAspect="1"/>
          </p:cNvPicPr>
          <p:nvPr userDrawn="1"/>
        </p:nvPicPr>
        <p:blipFill>
          <a:blip r:embed="rId36"/>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252115318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28" r:id="rId13"/>
    <p:sldLayoutId id="2147483729" r:id="rId14"/>
    <p:sldLayoutId id="2147483731" r:id="rId15"/>
    <p:sldLayoutId id="2147483732" r:id="rId16"/>
    <p:sldLayoutId id="2147483733" r:id="rId17"/>
    <p:sldLayoutId id="2147483734" r:id="rId18"/>
    <p:sldLayoutId id="2147483735" r:id="rId19"/>
    <p:sldLayoutId id="2147483737" r:id="rId20"/>
    <p:sldLayoutId id="2147483738" r:id="rId21"/>
    <p:sldLayoutId id="2147483739" r:id="rId22"/>
    <p:sldLayoutId id="2147483741" r:id="rId23"/>
    <p:sldLayoutId id="2147483742" r:id="rId24"/>
    <p:sldLayoutId id="2147483743" r:id="rId25"/>
    <p:sldLayoutId id="2147483746" r:id="rId26"/>
    <p:sldLayoutId id="2147483747" r:id="rId27"/>
    <p:sldLayoutId id="2147483748" r:id="rId28"/>
    <p:sldLayoutId id="2147483749" r:id="rId29"/>
    <p:sldLayoutId id="2147483750" r:id="rId30"/>
    <p:sldLayoutId id="2147483751" r:id="rId31"/>
    <p:sldLayoutId id="2147483752" r:id="rId32"/>
    <p:sldLayoutId id="2147483753" r:id="rId33"/>
    <p:sldLayoutId id="2147483757"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2CBAF9-2965-A7C6-845B-62B5E12FB7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28E179-5E80-77E1-3E99-B4B3300155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2F81F-BA8C-758D-D699-32EC909F1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E6E620-59F5-2C4A-92BD-F98311598A11}" type="datetimeFigureOut">
              <a:rPr lang="en-US" smtClean="0"/>
              <a:t>11/21/2025</a:t>
            </a:fld>
            <a:endParaRPr lang="en-US"/>
          </a:p>
        </p:txBody>
      </p:sp>
      <p:sp>
        <p:nvSpPr>
          <p:cNvPr id="5" name="Footer Placeholder 4">
            <a:extLst>
              <a:ext uri="{FF2B5EF4-FFF2-40B4-BE49-F238E27FC236}">
                <a16:creationId xmlns:a16="http://schemas.microsoft.com/office/drawing/2014/main" id="{A8564B79-09C9-5020-93B1-FAC65CCB8A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A6E8D9-C481-7218-0559-0C6D8A14D7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A4FBA9-C6FD-EE4B-9F7E-379E16761BEB}" type="slidenum">
              <a:rPr lang="en-US" smtClean="0"/>
              <a:t>‹#›</a:t>
            </a:fld>
            <a:endParaRPr lang="en-US"/>
          </a:p>
        </p:txBody>
      </p:sp>
    </p:spTree>
    <p:extLst>
      <p:ext uri="{BB962C8B-B14F-4D97-AF65-F5344CB8AC3E}">
        <p14:creationId xmlns:p14="http://schemas.microsoft.com/office/powerpoint/2010/main" val="1451717990"/>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15"/>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75CC1EA0-8D57-D902-1BE8-8FCC4D5BBB36}"/>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DA96A409-0530-A5F0-99CF-4177755327AB}"/>
              </a:ext>
            </a:extLst>
          </p:cNvPr>
          <p:cNvPicPr>
            <a:picLocks noChangeAspect="1"/>
          </p:cNvPicPr>
          <p:nvPr userDrawn="1"/>
        </p:nvPicPr>
        <p:blipFill>
          <a:blip r:embed="rId15"/>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233541644"/>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1.png"/><Relationship Id="rId3" Type="http://schemas.openxmlformats.org/officeDocument/2006/relationships/diagramLayout" Target="../diagrams/layout1.xml"/><Relationship Id="rId7" Type="http://schemas.openxmlformats.org/officeDocument/2006/relationships/image" Target="../media/image7.png"/><Relationship Id="rId12" Type="http://schemas.openxmlformats.org/officeDocument/2006/relationships/image" Target="../media/image14.sv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13.png"/><Relationship Id="rId5" Type="http://schemas.openxmlformats.org/officeDocument/2006/relationships/diagramColors" Target="../diagrams/colors1.xml"/><Relationship Id="rId10" Type="http://schemas.openxmlformats.org/officeDocument/2006/relationships/image" Target="../media/image10.svg"/><Relationship Id="rId4" Type="http://schemas.openxmlformats.org/officeDocument/2006/relationships/diagramQuickStyle" Target="../diagrams/quickStyle1.xml"/><Relationship Id="rId9" Type="http://schemas.openxmlformats.org/officeDocument/2006/relationships/image" Target="../media/image9.png"/><Relationship Id="rId14" Type="http://schemas.openxmlformats.org/officeDocument/2006/relationships/image" Target="../media/image12.svg"/></Relationships>
</file>

<file path=ppt/slides/_rels/slide1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4.sv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10.svg"/><Relationship Id="rId5" Type="http://schemas.openxmlformats.org/officeDocument/2006/relationships/diagramQuickStyle" Target="../diagrams/quickStyle2.xml"/><Relationship Id="rId15" Type="http://schemas.openxmlformats.org/officeDocument/2006/relationships/image" Target="../media/image12.svg"/><Relationship Id="rId10" Type="http://schemas.openxmlformats.org/officeDocument/2006/relationships/image" Target="../media/image9.png"/><Relationship Id="rId4" Type="http://schemas.openxmlformats.org/officeDocument/2006/relationships/diagramLayout" Target="../diagrams/layout2.xml"/><Relationship Id="rId9" Type="http://schemas.openxmlformats.org/officeDocument/2006/relationships/image" Target="../media/image8.svg"/><Relationship Id="rId14" Type="http://schemas.openxmlformats.org/officeDocument/2006/relationships/image" Target="../media/image11.png"/></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14.svg"/><Relationship Id="rId2" Type="http://schemas.openxmlformats.org/officeDocument/2006/relationships/image" Target="../media/image17.pn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2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2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7.png"/><Relationship Id="rId7" Type="http://schemas.openxmlformats.org/officeDocument/2006/relationships/diagramQuickStyle" Target="../diagrams/quickStyle3.xml"/><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8.svg"/><Relationship Id="rId9" Type="http://schemas.microsoft.com/office/2007/relationships/diagramDrawing" Target="../diagrams/drawing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energy.gov/femp/articles/mv-guidelines-measurement-and-verification-performance-based-contracts-version-50" TargetMode="External"/><Relationship Id="rId1" Type="http://schemas.openxmlformats.org/officeDocument/2006/relationships/slideLayout" Target="../slideLayouts/slideLayout4.xml"/><Relationship Id="rId4" Type="http://schemas.openxmlformats.org/officeDocument/2006/relationships/image" Target="../media/image25.sv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3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1.png"/><Relationship Id="rId7"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svg"/></Relationships>
</file>

<file path=ppt/slides/_rels/slide3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3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36.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31.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30.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8.sv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1FC88F-BB76-B842-B4E9-49C7603ACA13}"/>
              </a:ext>
            </a:extLst>
          </p:cNvPr>
          <p:cNvSpPr>
            <a:spLocks noGrp="1"/>
          </p:cNvSpPr>
          <p:nvPr>
            <p:ph type="ctrTitle"/>
          </p:nvPr>
        </p:nvSpPr>
        <p:spPr>
          <a:xfrm>
            <a:off x="1161143" y="2235200"/>
            <a:ext cx="9869714" cy="2387600"/>
          </a:xfrm>
        </p:spPr>
        <p:txBody>
          <a:bodyPr anchor="ctr">
            <a:normAutofit fontScale="90000"/>
          </a:bodyPr>
          <a:lstStyle/>
          <a:p>
            <a:r>
              <a:rPr lang="en-US" sz="4000" b="0" dirty="0">
                <a:cs typeface="Calibri Light"/>
              </a:rPr>
              <a:t>MODULE 2</a:t>
            </a:r>
            <a:br>
              <a:rPr lang="en-US" b="0" dirty="0">
                <a:cs typeface="Calibri Light"/>
              </a:rPr>
            </a:br>
            <a:r>
              <a:rPr lang="en-US" dirty="0">
                <a:cs typeface="Calibri Light"/>
              </a:rPr>
              <a:t>Contextual Considerations</a:t>
            </a:r>
            <a:br>
              <a:rPr lang="en-US" dirty="0">
                <a:cs typeface="Calibri Light"/>
              </a:rPr>
            </a:br>
            <a:r>
              <a:rPr lang="en-US" sz="4000" dirty="0">
                <a:cs typeface="Calibri Light"/>
              </a:rPr>
              <a:t>(Who cares?)</a:t>
            </a:r>
            <a:endParaRPr lang="en-US" dirty="0">
              <a:cs typeface="Calibri Light"/>
            </a:endParaRPr>
          </a:p>
        </p:txBody>
      </p:sp>
    </p:spTree>
    <p:extLst>
      <p:ext uri="{BB962C8B-B14F-4D97-AF65-F5344CB8AC3E}">
        <p14:creationId xmlns:p14="http://schemas.microsoft.com/office/powerpoint/2010/main" val="93660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9658F-C393-CCB9-8539-C4ACEC20A11F}"/>
              </a:ext>
            </a:extLst>
          </p:cNvPr>
          <p:cNvSpPr>
            <a:spLocks noGrp="1"/>
          </p:cNvSpPr>
          <p:nvPr>
            <p:ph type="title"/>
          </p:nvPr>
        </p:nvSpPr>
        <p:spPr/>
        <p:txBody>
          <a:bodyPr/>
          <a:lstStyle/>
          <a:p>
            <a:r>
              <a:rPr lang="en-US"/>
              <a:t>Learning Objectives</a:t>
            </a:r>
          </a:p>
        </p:txBody>
      </p:sp>
      <p:sp>
        <p:nvSpPr>
          <p:cNvPr id="9" name="Content Placeholder 8">
            <a:extLst>
              <a:ext uri="{FF2B5EF4-FFF2-40B4-BE49-F238E27FC236}">
                <a16:creationId xmlns:a16="http://schemas.microsoft.com/office/drawing/2014/main" id="{6F2E022A-CF75-85B5-6EE4-14371269CDE6}"/>
              </a:ext>
            </a:extLst>
          </p:cNvPr>
          <p:cNvSpPr>
            <a:spLocks noGrp="1"/>
          </p:cNvSpPr>
          <p:nvPr>
            <p:ph idx="1"/>
          </p:nvPr>
        </p:nvSpPr>
        <p:spPr/>
        <p:txBody>
          <a:bodyPr vert="horz" lIns="91440" tIns="45720" rIns="91440" bIns="45720" rtlCol="0" anchor="t">
            <a:normAutofit/>
          </a:bodyPr>
          <a:lstStyle/>
          <a:p>
            <a:pPr marL="457200" indent="-457200">
              <a:lnSpc>
                <a:spcPct val="100000"/>
              </a:lnSpc>
              <a:spcBef>
                <a:spcPts val="1000"/>
              </a:spcBef>
              <a:buFont typeface="Arial" panose="020B0604020202020204" pitchFamily="34" charset="0"/>
              <a:buChar char="•"/>
            </a:pPr>
            <a:r>
              <a:rPr lang="en-US" sz="2400" dirty="0"/>
              <a:t>Define key terms: </a:t>
            </a:r>
            <a:r>
              <a:rPr lang="en-US" sz="2400" i="1" dirty="0"/>
              <a:t>energy efficiency project</a:t>
            </a:r>
            <a:r>
              <a:rPr lang="en-US" sz="2400" dirty="0"/>
              <a:t>, </a:t>
            </a:r>
            <a:r>
              <a:rPr lang="en-US" sz="2400" i="1" dirty="0"/>
              <a:t>M&amp;V 2.0</a:t>
            </a:r>
            <a:r>
              <a:rPr lang="en-US" sz="2400" dirty="0"/>
              <a:t>, </a:t>
            </a:r>
            <a:r>
              <a:rPr lang="en-US" sz="2400" i="1" dirty="0"/>
              <a:t>Super ESCO</a:t>
            </a:r>
            <a:r>
              <a:rPr lang="en-US" sz="2400" dirty="0"/>
              <a:t>, </a:t>
            </a:r>
            <a:r>
              <a:rPr lang="en-US" sz="2400" i="1" dirty="0"/>
              <a:t>utility program, UESC, ESG, Carbon Credits</a:t>
            </a:r>
          </a:p>
          <a:p>
            <a:pPr marL="457200" indent="-457200">
              <a:lnSpc>
                <a:spcPct val="100000"/>
              </a:lnSpc>
              <a:spcBef>
                <a:spcPts val="1000"/>
              </a:spcBef>
              <a:buFont typeface="Arial" panose="020B0604020202020204" pitchFamily="34" charset="0"/>
              <a:buChar char="•"/>
            </a:pPr>
            <a:r>
              <a:rPr lang="en-US" sz="2400" dirty="0"/>
              <a:t>Recognize the primary types of contextual considerations of M&amp;V activities: technical, regulatory, commercial, and legal</a:t>
            </a:r>
            <a:endParaRPr lang="en-US" sz="2400" dirty="0">
              <a:cs typeface="Semplicita Pro" panose="02000000000000000000" pitchFamily="2" charset="77"/>
            </a:endParaRPr>
          </a:p>
          <a:p>
            <a:pPr marL="457200" indent="-457200">
              <a:lnSpc>
                <a:spcPct val="100000"/>
              </a:lnSpc>
              <a:spcBef>
                <a:spcPts val="1000"/>
              </a:spcBef>
              <a:buFont typeface="Arial" panose="020B0604020202020204" pitchFamily="34" charset="0"/>
              <a:buChar char="•"/>
            </a:pPr>
            <a:r>
              <a:rPr lang="en-US" sz="2400" dirty="0"/>
              <a:t>Identify guidelines, standards, and protocols for M&amp;V activities and their issuing organizations</a:t>
            </a:r>
            <a:endParaRPr lang="en-US" sz="2400" dirty="0">
              <a:cs typeface="Semplicita Pro" panose="02000000000000000000" pitchFamily="2" charset="77"/>
            </a:endParaRPr>
          </a:p>
          <a:p>
            <a:pPr marL="457200" indent="-457200">
              <a:spcBef>
                <a:spcPts val="1000"/>
              </a:spcBef>
              <a:buFont typeface="Arial" panose="020B0604020202020204" pitchFamily="34" charset="0"/>
              <a:buChar char="•"/>
            </a:pPr>
            <a:r>
              <a:rPr lang="en-US" sz="2400" dirty="0"/>
              <a:t>Name guiding principles of M&amp;V activities</a:t>
            </a:r>
            <a:endParaRPr lang="en-US" sz="2400" dirty="0">
              <a:cs typeface="Semplicita Pro" panose="02000000000000000000" pitchFamily="2" charset="77"/>
            </a:endParaRPr>
          </a:p>
          <a:p>
            <a:pPr marL="457200" indent="-457200">
              <a:lnSpc>
                <a:spcPct val="100000"/>
              </a:lnSpc>
              <a:spcBef>
                <a:spcPts val="1000"/>
              </a:spcBef>
              <a:buFont typeface="Arial" panose="020B0604020202020204" pitchFamily="34" charset="0"/>
              <a:buChar char="•"/>
            </a:pPr>
            <a:r>
              <a:rPr lang="en-US" sz="2400" dirty="0"/>
              <a:t>Explain how M&amp;V projects can vary in cost, risk, and scope</a:t>
            </a:r>
            <a:endParaRPr lang="en-US" sz="2400" dirty="0">
              <a:cs typeface="Semplicita Pro" panose="02000000000000000000" pitchFamily="2" charset="77"/>
            </a:endParaRPr>
          </a:p>
        </p:txBody>
      </p:sp>
    </p:spTree>
    <p:extLst>
      <p:ext uri="{BB962C8B-B14F-4D97-AF65-F5344CB8AC3E}">
        <p14:creationId xmlns:p14="http://schemas.microsoft.com/office/powerpoint/2010/main" val="233704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05999-AEE7-EEC5-ECDE-46B43493D5FD}"/>
              </a:ext>
            </a:extLst>
          </p:cNvPr>
          <p:cNvSpPr>
            <a:spLocks noGrp="1"/>
          </p:cNvSpPr>
          <p:nvPr>
            <p:ph type="title"/>
          </p:nvPr>
        </p:nvSpPr>
        <p:spPr/>
        <p:txBody>
          <a:bodyPr/>
          <a:lstStyle/>
          <a:p>
            <a:r>
              <a:rPr lang="en-US"/>
              <a:t>The Importance of Context</a:t>
            </a:r>
          </a:p>
        </p:txBody>
      </p:sp>
      <p:sp>
        <p:nvSpPr>
          <p:cNvPr id="3" name="Content Placeholder 2">
            <a:extLst>
              <a:ext uri="{FF2B5EF4-FFF2-40B4-BE49-F238E27FC236}">
                <a16:creationId xmlns:a16="http://schemas.microsoft.com/office/drawing/2014/main" id="{100A1A0E-4F62-A072-0DC6-954A01B843AF}"/>
              </a:ext>
            </a:extLst>
          </p:cNvPr>
          <p:cNvSpPr>
            <a:spLocks noGrp="1"/>
          </p:cNvSpPr>
          <p:nvPr>
            <p:ph idx="1"/>
          </p:nvPr>
        </p:nvSpPr>
        <p:spPr/>
        <p:txBody>
          <a:bodyPr>
            <a:normAutofit/>
          </a:bodyPr>
          <a:lstStyle/>
          <a:p>
            <a:r>
              <a:rPr lang="en-US" sz="2400"/>
              <a:t>Every M&amp;V project occurs within a context. For a CMVP, the primary characteristics of a project’s context are …</a:t>
            </a:r>
          </a:p>
        </p:txBody>
      </p:sp>
      <p:pic>
        <p:nvPicPr>
          <p:cNvPr id="7" name="Graphic 6">
            <a:extLst>
              <a:ext uri="{FF2B5EF4-FFF2-40B4-BE49-F238E27FC236}">
                <a16:creationId xmlns:a16="http://schemas.microsoft.com/office/drawing/2014/main" id="{EFA0AB5F-C7B1-332A-FCFD-A0FF2A4DF0DC}"/>
              </a:ext>
            </a:extLst>
          </p:cNvPr>
          <p:cNvPicPr>
            <a:picLocks noChangeAspect="1"/>
          </p:cNvPicPr>
          <p:nvPr/>
        </p:nvPicPr>
        <p:blipFill>
          <a:blip r:embed="rId3"/>
          <a:srcRect/>
          <a:stretch/>
        </p:blipFill>
        <p:spPr>
          <a:xfrm>
            <a:off x="838200" y="3101806"/>
            <a:ext cx="10493550" cy="2518452"/>
          </a:xfrm>
          <a:prstGeom prst="rect">
            <a:avLst/>
          </a:prstGeom>
        </p:spPr>
      </p:pic>
    </p:spTree>
    <p:extLst>
      <p:ext uri="{BB962C8B-B14F-4D97-AF65-F5344CB8AC3E}">
        <p14:creationId xmlns:p14="http://schemas.microsoft.com/office/powerpoint/2010/main" val="109001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D77AA-18B0-4443-1AE2-4E32C7594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6BB35-F954-E249-3AAE-FE8657DAA389}"/>
              </a:ext>
            </a:extLst>
          </p:cNvPr>
          <p:cNvSpPr>
            <a:spLocks noGrp="1"/>
          </p:cNvSpPr>
          <p:nvPr>
            <p:ph type="title"/>
          </p:nvPr>
        </p:nvSpPr>
        <p:spPr/>
        <p:txBody>
          <a:bodyPr/>
          <a:lstStyle/>
          <a:p>
            <a:r>
              <a:rPr lang="en-US" dirty="0"/>
              <a:t>Domain Evolution - </a:t>
            </a:r>
          </a:p>
        </p:txBody>
      </p:sp>
      <p:sp>
        <p:nvSpPr>
          <p:cNvPr id="3" name="Content Placeholder 2">
            <a:extLst>
              <a:ext uri="{FF2B5EF4-FFF2-40B4-BE49-F238E27FC236}">
                <a16:creationId xmlns:a16="http://schemas.microsoft.com/office/drawing/2014/main" id="{C2A73A2E-D0FC-B814-86B2-B5CC9549A825}"/>
              </a:ext>
            </a:extLst>
          </p:cNvPr>
          <p:cNvSpPr>
            <a:spLocks noGrp="1"/>
          </p:cNvSpPr>
          <p:nvPr>
            <p:ph idx="1"/>
          </p:nvPr>
        </p:nvSpPr>
        <p:spPr/>
        <p:txBody>
          <a:bodyPr>
            <a:normAutofit/>
          </a:bodyPr>
          <a:lstStyle/>
          <a:p>
            <a:r>
              <a:rPr lang="en-US" sz="2400" dirty="0"/>
              <a:t>Slide 1: M&amp;V Risks – Overview</a:t>
            </a:r>
          </a:p>
          <a:p>
            <a:r>
              <a:rPr lang="en-US" sz="2400" dirty="0"/>
              <a:t>	•	M&amp;V projects face risks in four domains: Government/Regulatory, Financial/Commercial, Legal/Contractual, and Technical/Physical.</a:t>
            </a:r>
          </a:p>
          <a:p>
            <a:r>
              <a:rPr lang="en-US" sz="2400" dirty="0"/>
              <a:t>	•	Quantifying risks in each domain enables targeted mitigation and increases project robustness.</a:t>
            </a:r>
          </a:p>
        </p:txBody>
      </p:sp>
    </p:spTree>
    <p:extLst>
      <p:ext uri="{BB962C8B-B14F-4D97-AF65-F5344CB8AC3E}">
        <p14:creationId xmlns:p14="http://schemas.microsoft.com/office/powerpoint/2010/main" val="265597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B065-2A56-1142-9C23-8FF21EBEE0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A01BB-803A-8F3E-1CF5-8386F46DE4A3}"/>
              </a:ext>
            </a:extLst>
          </p:cNvPr>
          <p:cNvSpPr>
            <a:spLocks noGrp="1"/>
          </p:cNvSpPr>
          <p:nvPr>
            <p:ph type="title"/>
          </p:nvPr>
        </p:nvSpPr>
        <p:spPr/>
        <p:txBody>
          <a:bodyPr/>
          <a:lstStyle/>
          <a:p>
            <a:r>
              <a:rPr lang="en-US" dirty="0"/>
              <a:t>M&amp;V Risks – Overview</a:t>
            </a:r>
          </a:p>
        </p:txBody>
      </p:sp>
      <p:sp>
        <p:nvSpPr>
          <p:cNvPr id="3" name="Content Placeholder 2">
            <a:extLst>
              <a:ext uri="{FF2B5EF4-FFF2-40B4-BE49-F238E27FC236}">
                <a16:creationId xmlns:a16="http://schemas.microsoft.com/office/drawing/2014/main" id="{9EA98063-1267-D4C1-7E2B-0D2FAF5CE97E}"/>
              </a:ext>
            </a:extLst>
          </p:cNvPr>
          <p:cNvSpPr>
            <a:spLocks noGrp="1"/>
          </p:cNvSpPr>
          <p:nvPr>
            <p:ph idx="1"/>
          </p:nvPr>
        </p:nvSpPr>
        <p:spPr/>
        <p:txBody>
          <a:bodyPr>
            <a:normAutofit/>
          </a:bodyPr>
          <a:lstStyle/>
          <a:p>
            <a:r>
              <a:rPr lang="en-US" sz="2400" dirty="0"/>
              <a:t>	•	M&amp;V projects face risks in four domains: Government/Regulatory, Financial/Commercial, Legal/Contractual, and Technical/Physical.</a:t>
            </a:r>
          </a:p>
          <a:p>
            <a:r>
              <a:rPr lang="en-US" sz="2400" dirty="0"/>
              <a:t>	•	Quantifying risks in each domain enables targeted mitigation and increases project robustness.</a:t>
            </a:r>
          </a:p>
        </p:txBody>
      </p:sp>
    </p:spTree>
    <p:extLst>
      <p:ext uri="{BB962C8B-B14F-4D97-AF65-F5344CB8AC3E}">
        <p14:creationId xmlns:p14="http://schemas.microsoft.com/office/powerpoint/2010/main" val="180571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B63B9-D311-ACD5-F3B2-EC50036E19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9C4127-B233-2C59-19A7-F20A8845A9C6}"/>
              </a:ext>
            </a:extLst>
          </p:cNvPr>
          <p:cNvSpPr>
            <a:spLocks noGrp="1"/>
          </p:cNvSpPr>
          <p:nvPr>
            <p:ph type="title"/>
          </p:nvPr>
        </p:nvSpPr>
        <p:spPr/>
        <p:txBody>
          <a:bodyPr/>
          <a:lstStyle/>
          <a:p>
            <a:r>
              <a:rPr lang="en-US" dirty="0"/>
              <a:t>Government / Regulatory Risks</a:t>
            </a:r>
          </a:p>
        </p:txBody>
      </p:sp>
      <p:sp>
        <p:nvSpPr>
          <p:cNvPr id="3" name="Content Placeholder 2">
            <a:extLst>
              <a:ext uri="{FF2B5EF4-FFF2-40B4-BE49-F238E27FC236}">
                <a16:creationId xmlns:a16="http://schemas.microsoft.com/office/drawing/2014/main" id="{256CE7CD-9683-C9F8-20CC-E3795371FFE9}"/>
              </a:ext>
            </a:extLst>
          </p:cNvPr>
          <p:cNvSpPr>
            <a:spLocks noGrp="1"/>
          </p:cNvSpPr>
          <p:nvPr>
            <p:ph idx="1"/>
          </p:nvPr>
        </p:nvSpPr>
        <p:spPr/>
        <p:txBody>
          <a:bodyPr>
            <a:normAutofit/>
          </a:bodyPr>
          <a:lstStyle/>
          <a:p>
            <a:r>
              <a:rPr lang="en-US" sz="2400" dirty="0"/>
              <a:t>	•	Non-compliance with required standards or reporting</a:t>
            </a:r>
          </a:p>
          <a:p>
            <a:r>
              <a:rPr lang="en-US" sz="2400" dirty="0"/>
              <a:t>	•	Documentation gaps or inadequate audit trails</a:t>
            </a:r>
          </a:p>
          <a:p>
            <a:r>
              <a:rPr lang="en-US" sz="2400" dirty="0"/>
              <a:t>	•	Failure to adapt to policy or regulatory changes</a:t>
            </a:r>
          </a:p>
          <a:p>
            <a:r>
              <a:rPr lang="en-US" sz="2400" dirty="0"/>
              <a:t>	•	Incorrect baseline calibration or data leading to regulatory rejection</a:t>
            </a:r>
          </a:p>
          <a:p>
            <a:r>
              <a:rPr lang="en-US" sz="2400" dirty="0"/>
              <a:t>	•	Insufficient transparency or auditability</a:t>
            </a:r>
          </a:p>
        </p:txBody>
      </p:sp>
    </p:spTree>
    <p:extLst>
      <p:ext uri="{BB962C8B-B14F-4D97-AF65-F5344CB8AC3E}">
        <p14:creationId xmlns:p14="http://schemas.microsoft.com/office/powerpoint/2010/main" val="509753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C2DCC-4CD2-350C-FA88-60BAFEAAF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595CB-EBCF-C932-3789-48FC4B3B663A}"/>
              </a:ext>
            </a:extLst>
          </p:cNvPr>
          <p:cNvSpPr>
            <a:spLocks noGrp="1"/>
          </p:cNvSpPr>
          <p:nvPr>
            <p:ph type="title"/>
          </p:nvPr>
        </p:nvSpPr>
        <p:spPr/>
        <p:txBody>
          <a:bodyPr/>
          <a:lstStyle/>
          <a:p>
            <a:r>
              <a:rPr lang="en-US" dirty="0"/>
              <a:t>Financial / Commercial Risks</a:t>
            </a:r>
          </a:p>
        </p:txBody>
      </p:sp>
      <p:sp>
        <p:nvSpPr>
          <p:cNvPr id="3" name="Content Placeholder 2">
            <a:extLst>
              <a:ext uri="{FF2B5EF4-FFF2-40B4-BE49-F238E27FC236}">
                <a16:creationId xmlns:a16="http://schemas.microsoft.com/office/drawing/2014/main" id="{EF854C36-B86F-1798-B7E7-386F7B726AE1}"/>
              </a:ext>
            </a:extLst>
          </p:cNvPr>
          <p:cNvSpPr>
            <a:spLocks noGrp="1"/>
          </p:cNvSpPr>
          <p:nvPr>
            <p:ph idx="1"/>
          </p:nvPr>
        </p:nvSpPr>
        <p:spPr>
          <a:xfrm>
            <a:off x="838200" y="1825625"/>
            <a:ext cx="10868130" cy="4351338"/>
          </a:xfrm>
        </p:spPr>
        <p:txBody>
          <a:bodyPr>
            <a:normAutofit/>
          </a:bodyPr>
          <a:lstStyle/>
          <a:p>
            <a:r>
              <a:rPr lang="en-US" sz="2400" dirty="0"/>
              <a:t>	•</a:t>
            </a:r>
            <a:r>
              <a:rPr lang="en-US" sz="2000" dirty="0"/>
              <a:t>	Over- or under-estimate of savings affecting payments or incentives</a:t>
            </a:r>
          </a:p>
          <a:p>
            <a:r>
              <a:rPr lang="en-US" sz="2000" dirty="0"/>
              <a:t>	•	Cost overruns in metering, data handling, or reporting</a:t>
            </a:r>
          </a:p>
          <a:p>
            <a:r>
              <a:rPr lang="en-US" sz="2000" dirty="0"/>
              <a:t>	•	Uncertainty or errors leading to payment disputes or delays</a:t>
            </a:r>
          </a:p>
          <a:p>
            <a:r>
              <a:rPr lang="en-US" sz="2000" dirty="0"/>
              <a:t>	•	Investment value loss due to baseline or reporting errors</a:t>
            </a:r>
          </a:p>
          <a:p>
            <a:r>
              <a:rPr lang="en-US" sz="2000" dirty="0"/>
              <a:t>	•	Risk of savings manipulation or data fraud</a:t>
            </a:r>
          </a:p>
        </p:txBody>
      </p:sp>
    </p:spTree>
    <p:extLst>
      <p:ext uri="{BB962C8B-B14F-4D97-AF65-F5344CB8AC3E}">
        <p14:creationId xmlns:p14="http://schemas.microsoft.com/office/powerpoint/2010/main" val="425943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BD942-B3F5-B86A-9532-03B0D4856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BC9BC-2E7F-A756-1886-B81A6394AA4C}"/>
              </a:ext>
            </a:extLst>
          </p:cNvPr>
          <p:cNvSpPr>
            <a:spLocks noGrp="1"/>
          </p:cNvSpPr>
          <p:nvPr>
            <p:ph type="title"/>
          </p:nvPr>
        </p:nvSpPr>
        <p:spPr/>
        <p:txBody>
          <a:bodyPr/>
          <a:lstStyle/>
          <a:p>
            <a:r>
              <a:rPr lang="en-US" dirty="0"/>
              <a:t>Legal / Contractual Risks</a:t>
            </a:r>
          </a:p>
        </p:txBody>
      </p:sp>
      <p:sp>
        <p:nvSpPr>
          <p:cNvPr id="3" name="Content Placeholder 2">
            <a:extLst>
              <a:ext uri="{FF2B5EF4-FFF2-40B4-BE49-F238E27FC236}">
                <a16:creationId xmlns:a16="http://schemas.microsoft.com/office/drawing/2014/main" id="{8E08ABF0-8548-2A08-B3B4-99607F09F5D5}"/>
              </a:ext>
            </a:extLst>
          </p:cNvPr>
          <p:cNvSpPr>
            <a:spLocks noGrp="1"/>
          </p:cNvSpPr>
          <p:nvPr>
            <p:ph idx="1"/>
          </p:nvPr>
        </p:nvSpPr>
        <p:spPr/>
        <p:txBody>
          <a:bodyPr>
            <a:normAutofit/>
          </a:bodyPr>
          <a:lstStyle/>
          <a:p>
            <a:r>
              <a:rPr lang="en-US" sz="2400" dirty="0"/>
              <a:t>	•	Ambiguous contract language creating disputes</a:t>
            </a:r>
          </a:p>
          <a:p>
            <a:r>
              <a:rPr lang="en-US" sz="2400" dirty="0"/>
              <a:t>	•	Breach of M&amp;V contractual requirements</a:t>
            </a:r>
          </a:p>
          <a:p>
            <a:r>
              <a:rPr lang="en-US" sz="2400" dirty="0"/>
              <a:t>	•	Unenforceable M&amp;V plans in court</a:t>
            </a:r>
          </a:p>
          <a:p>
            <a:r>
              <a:rPr lang="en-US" sz="2400" dirty="0"/>
              <a:t>	•	Disputes over measurement period, boundary, or adjustments</a:t>
            </a:r>
          </a:p>
          <a:p>
            <a:r>
              <a:rPr lang="en-US" sz="2400" dirty="0"/>
              <a:t>	•	Failure to follow contractual dispute-resolution steps</a:t>
            </a:r>
          </a:p>
        </p:txBody>
      </p:sp>
    </p:spTree>
    <p:extLst>
      <p:ext uri="{BB962C8B-B14F-4D97-AF65-F5344CB8AC3E}">
        <p14:creationId xmlns:p14="http://schemas.microsoft.com/office/powerpoint/2010/main" val="270664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D0806-AC42-8A90-71D1-CC75DA490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D71F4-13F7-D76B-3142-1E91F29E0CAA}"/>
              </a:ext>
            </a:extLst>
          </p:cNvPr>
          <p:cNvSpPr>
            <a:spLocks noGrp="1"/>
          </p:cNvSpPr>
          <p:nvPr>
            <p:ph type="title"/>
          </p:nvPr>
        </p:nvSpPr>
        <p:spPr/>
        <p:txBody>
          <a:bodyPr/>
          <a:lstStyle/>
          <a:p>
            <a:r>
              <a:rPr lang="en-US" dirty="0"/>
              <a:t>Technical / Physical Risks</a:t>
            </a:r>
          </a:p>
        </p:txBody>
      </p:sp>
      <p:sp>
        <p:nvSpPr>
          <p:cNvPr id="3" name="Content Placeholder 2">
            <a:extLst>
              <a:ext uri="{FF2B5EF4-FFF2-40B4-BE49-F238E27FC236}">
                <a16:creationId xmlns:a16="http://schemas.microsoft.com/office/drawing/2014/main" id="{2342737A-BE38-C537-20D5-EC87ACC3D016}"/>
              </a:ext>
            </a:extLst>
          </p:cNvPr>
          <p:cNvSpPr>
            <a:spLocks noGrp="1"/>
          </p:cNvSpPr>
          <p:nvPr>
            <p:ph idx="1"/>
          </p:nvPr>
        </p:nvSpPr>
        <p:spPr/>
        <p:txBody>
          <a:bodyPr>
            <a:normAutofit/>
          </a:bodyPr>
          <a:lstStyle/>
          <a:p>
            <a:r>
              <a:rPr lang="en-US" sz="2400" dirty="0"/>
              <a:t>	•	Meter or sensor failure and uncalibrated instruments</a:t>
            </a:r>
          </a:p>
          <a:p>
            <a:r>
              <a:rPr lang="en-US" sz="2400" dirty="0"/>
              <a:t>	•	Missing, corrupted, or incomplete data records</a:t>
            </a:r>
          </a:p>
          <a:p>
            <a:r>
              <a:rPr lang="en-US" sz="2400" dirty="0"/>
              <a:t>	•	Model selection or specification errors</a:t>
            </a:r>
          </a:p>
          <a:p>
            <a:r>
              <a:rPr lang="en-US" sz="2400" dirty="0"/>
              <a:t>	•	Overlooked interactive effects or non-routine adjustments</a:t>
            </a:r>
          </a:p>
          <a:p>
            <a:r>
              <a:rPr lang="en-US" sz="2400" dirty="0"/>
              <a:t>	•	Insufficient data frequency or duration for statistical confidence</a:t>
            </a:r>
          </a:p>
        </p:txBody>
      </p:sp>
    </p:spTree>
    <p:extLst>
      <p:ext uri="{BB962C8B-B14F-4D97-AF65-F5344CB8AC3E}">
        <p14:creationId xmlns:p14="http://schemas.microsoft.com/office/powerpoint/2010/main" val="2437047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0BC09-F5C7-5AAB-120C-ABDDD56358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3EEBC-0495-DD4E-527C-162D35046D7A}"/>
              </a:ext>
            </a:extLst>
          </p:cNvPr>
          <p:cNvSpPr>
            <a:spLocks noGrp="1"/>
          </p:cNvSpPr>
          <p:nvPr>
            <p:ph type="title"/>
          </p:nvPr>
        </p:nvSpPr>
        <p:spPr/>
        <p:txBody>
          <a:bodyPr>
            <a:normAutofit/>
          </a:bodyPr>
          <a:lstStyle/>
          <a:p>
            <a:r>
              <a:rPr lang="en-US" sz="4000" dirty="0"/>
              <a:t>Risk Quantification &amp; Management</a:t>
            </a:r>
          </a:p>
        </p:txBody>
      </p:sp>
      <p:sp>
        <p:nvSpPr>
          <p:cNvPr id="3" name="Content Placeholder 2">
            <a:extLst>
              <a:ext uri="{FF2B5EF4-FFF2-40B4-BE49-F238E27FC236}">
                <a16:creationId xmlns:a16="http://schemas.microsoft.com/office/drawing/2014/main" id="{71668DE8-007E-B2F5-E9B4-B7080227F06D}"/>
              </a:ext>
            </a:extLst>
          </p:cNvPr>
          <p:cNvSpPr>
            <a:spLocks noGrp="1"/>
          </p:cNvSpPr>
          <p:nvPr>
            <p:ph idx="1"/>
          </p:nvPr>
        </p:nvSpPr>
        <p:spPr/>
        <p:txBody>
          <a:bodyPr>
            <a:normAutofit/>
          </a:bodyPr>
          <a:lstStyle/>
          <a:p>
            <a:r>
              <a:rPr lang="en-US" sz="2400" dirty="0"/>
              <a:t>	•	Regularly assess, quantify, and track these risks throughout the project</a:t>
            </a:r>
          </a:p>
          <a:p>
            <a:r>
              <a:rPr lang="en-US" sz="2400" dirty="0"/>
              <a:t>	•	Assign specific mitigation strategies to each risk</a:t>
            </a:r>
          </a:p>
          <a:p>
            <a:r>
              <a:rPr lang="en-US" sz="2400" dirty="0"/>
              <a:t>	•	Maintain documentation and review procedures for continuous improvement</a:t>
            </a:r>
          </a:p>
        </p:txBody>
      </p:sp>
    </p:spTree>
    <p:extLst>
      <p:ext uri="{BB962C8B-B14F-4D97-AF65-F5344CB8AC3E}">
        <p14:creationId xmlns:p14="http://schemas.microsoft.com/office/powerpoint/2010/main" val="4157416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22C31-ADB5-1459-8CE2-3D1FB4BDC914}"/>
              </a:ext>
            </a:extLst>
          </p:cNvPr>
          <p:cNvSpPr>
            <a:spLocks noGrp="1"/>
          </p:cNvSpPr>
          <p:nvPr>
            <p:ph type="title"/>
          </p:nvPr>
        </p:nvSpPr>
        <p:spPr>
          <a:xfrm>
            <a:off x="838200" y="365125"/>
            <a:ext cx="9433334" cy="1325563"/>
          </a:xfrm>
        </p:spPr>
        <p:txBody>
          <a:bodyPr>
            <a:normAutofit/>
          </a:bodyPr>
          <a:lstStyle/>
          <a:p>
            <a:r>
              <a:rPr lang="en-US" sz="4000" b="1"/>
              <a:t>Energy Savings Performance Contracting (ESPC)</a:t>
            </a:r>
          </a:p>
        </p:txBody>
      </p:sp>
      <p:sp>
        <p:nvSpPr>
          <p:cNvPr id="3" name="Content Placeholder 2">
            <a:extLst>
              <a:ext uri="{FF2B5EF4-FFF2-40B4-BE49-F238E27FC236}">
                <a16:creationId xmlns:a16="http://schemas.microsoft.com/office/drawing/2014/main" id="{2435F0D6-0969-67B1-8AF4-33C51D373B7A}"/>
              </a:ext>
            </a:extLst>
          </p:cNvPr>
          <p:cNvSpPr>
            <a:spLocks noGrp="1"/>
          </p:cNvSpPr>
          <p:nvPr>
            <p:ph idx="1"/>
          </p:nvPr>
        </p:nvSpPr>
        <p:spPr/>
        <p:txBody>
          <a:bodyPr>
            <a:normAutofit/>
          </a:bodyPr>
          <a:lstStyle/>
          <a:p>
            <a:r>
              <a:rPr lang="en-US" sz="2400"/>
              <a:t>A financing mechanism used primarily by the public sector to pay for energy-related improvements in buildings and facilities. </a:t>
            </a:r>
          </a:p>
          <a:p>
            <a:r>
              <a:rPr lang="en-US" sz="2400"/>
              <a:t>Instead of relying on appropriations or traditional borrowing, agencies can partner with energy service companies (ESCOs) to fund and implement upgrades.</a:t>
            </a:r>
          </a:p>
          <a:p>
            <a:r>
              <a:rPr lang="en-US" sz="2400"/>
              <a:t>The key characteristic of ESPC is that the resulting cost savings (in terms of reduced utility bills) are used to pay for the financing of the upgrades.</a:t>
            </a:r>
          </a:p>
        </p:txBody>
      </p:sp>
      <p:pic>
        <p:nvPicPr>
          <p:cNvPr id="4" name="Graphic 3">
            <a:extLst>
              <a:ext uri="{FF2B5EF4-FFF2-40B4-BE49-F238E27FC236}">
                <a16:creationId xmlns:a16="http://schemas.microsoft.com/office/drawing/2014/main" id="{328FC84A-4D85-9FA5-69DF-9426AA7B23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85934" y="89019"/>
            <a:ext cx="914400" cy="914400"/>
          </a:xfrm>
          <a:prstGeom prst="rect">
            <a:avLst/>
          </a:prstGeom>
        </p:spPr>
      </p:pic>
      <p:pic>
        <p:nvPicPr>
          <p:cNvPr id="5" name="Graphic 4">
            <a:extLst>
              <a:ext uri="{FF2B5EF4-FFF2-40B4-BE49-F238E27FC236}">
                <a16:creationId xmlns:a16="http://schemas.microsoft.com/office/drawing/2014/main" id="{A7DF86B6-F09E-2499-2C0D-061A7E3EA7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71534" y="89019"/>
            <a:ext cx="914400" cy="914400"/>
          </a:xfrm>
          <a:prstGeom prst="rect">
            <a:avLst/>
          </a:prstGeom>
        </p:spPr>
      </p:pic>
      <p:pic>
        <p:nvPicPr>
          <p:cNvPr id="6" name="Graphic 5">
            <a:extLst>
              <a:ext uri="{FF2B5EF4-FFF2-40B4-BE49-F238E27FC236}">
                <a16:creationId xmlns:a16="http://schemas.microsoft.com/office/drawing/2014/main" id="{305712E8-74A4-AE0E-90FF-024E730AAA6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57134" y="89019"/>
            <a:ext cx="914400" cy="914400"/>
          </a:xfrm>
          <a:prstGeom prst="rect">
            <a:avLst/>
          </a:prstGeom>
        </p:spPr>
      </p:pic>
    </p:spTree>
    <p:extLst>
      <p:ext uri="{BB962C8B-B14F-4D97-AF65-F5344CB8AC3E}">
        <p14:creationId xmlns:p14="http://schemas.microsoft.com/office/powerpoint/2010/main" val="2159389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67377-EFD0-7B39-3125-6696264C0527}"/>
              </a:ext>
            </a:extLst>
          </p:cNvPr>
          <p:cNvSpPr>
            <a:spLocks noGrp="1"/>
          </p:cNvSpPr>
          <p:nvPr>
            <p:ph type="title"/>
          </p:nvPr>
        </p:nvSpPr>
        <p:spPr/>
        <p:txBody>
          <a:bodyPr/>
          <a:lstStyle/>
          <a:p>
            <a:r>
              <a:rPr lang="en-US"/>
              <a:t>An Example</a:t>
            </a:r>
          </a:p>
        </p:txBody>
      </p:sp>
      <p:sp>
        <p:nvSpPr>
          <p:cNvPr id="3" name="Content Placeholder 2">
            <a:extLst>
              <a:ext uri="{FF2B5EF4-FFF2-40B4-BE49-F238E27FC236}">
                <a16:creationId xmlns:a16="http://schemas.microsoft.com/office/drawing/2014/main" id="{C69D8337-64DA-694A-FAEF-204740EF653B}"/>
              </a:ext>
            </a:extLst>
          </p:cNvPr>
          <p:cNvSpPr>
            <a:spLocks noGrp="1"/>
          </p:cNvSpPr>
          <p:nvPr>
            <p:ph idx="1"/>
          </p:nvPr>
        </p:nvSpPr>
        <p:spPr/>
        <p:txBody>
          <a:bodyPr>
            <a:normAutofit/>
          </a:bodyPr>
          <a:lstStyle/>
          <a:p>
            <a:pPr marL="0" indent="0">
              <a:lnSpc>
                <a:spcPct val="125000"/>
              </a:lnSpc>
              <a:buNone/>
            </a:pPr>
            <a:r>
              <a:rPr lang="en-US" sz="2400"/>
              <a:t>A </a:t>
            </a:r>
            <a:r>
              <a:rPr lang="en-US" sz="2400">
                <a:highlight>
                  <a:srgbClr val="F05D5E"/>
                </a:highlight>
              </a:rPr>
              <a:t>performance contract </a:t>
            </a:r>
            <a:r>
              <a:rPr lang="en-US" sz="2400"/>
              <a:t>for a project in Dubai must conform to </a:t>
            </a:r>
            <a:r>
              <a:rPr lang="en-US" sz="2400">
                <a:highlight>
                  <a:srgbClr val="DC965A"/>
                </a:highlight>
              </a:rPr>
              <a:t>local regulations</a:t>
            </a:r>
            <a:r>
              <a:rPr lang="en-US" sz="2400"/>
              <a:t> while also accounting for commercial considerations such as </a:t>
            </a:r>
            <a:r>
              <a:rPr lang="en-US" sz="2400">
                <a:highlight>
                  <a:srgbClr val="59A2AE"/>
                </a:highlight>
              </a:rPr>
              <a:t>local utility prices </a:t>
            </a:r>
            <a:r>
              <a:rPr lang="en-US" sz="2400"/>
              <a:t>and </a:t>
            </a:r>
            <a:r>
              <a:rPr lang="en-US" sz="2400">
                <a:highlight>
                  <a:srgbClr val="59A2AE"/>
                </a:highlight>
              </a:rPr>
              <a:t>cost of capital</a:t>
            </a:r>
            <a:r>
              <a:rPr lang="en-US" sz="2400"/>
              <a:t>. It must also reflect technical characteristics—e.g., what </a:t>
            </a:r>
            <a:r>
              <a:rPr lang="en-US" sz="2400">
                <a:highlight>
                  <a:srgbClr val="609ED0"/>
                </a:highlight>
              </a:rPr>
              <a:t>energy assets</a:t>
            </a:r>
            <a:r>
              <a:rPr lang="en-US" sz="2400"/>
              <a:t> are used in that region, and what </a:t>
            </a:r>
            <a:r>
              <a:rPr lang="en-US" sz="2400">
                <a:highlight>
                  <a:srgbClr val="609ED0"/>
                </a:highlight>
              </a:rPr>
              <a:t>constraints</a:t>
            </a:r>
            <a:r>
              <a:rPr lang="en-US" sz="2400"/>
              <a:t> do climate and geography impose?</a:t>
            </a:r>
          </a:p>
        </p:txBody>
      </p:sp>
      <p:pic>
        <p:nvPicPr>
          <p:cNvPr id="6" name="Graphic 5">
            <a:extLst>
              <a:ext uri="{FF2B5EF4-FFF2-40B4-BE49-F238E27FC236}">
                <a16:creationId xmlns:a16="http://schemas.microsoft.com/office/drawing/2014/main" id="{078B03E9-D0A4-BD23-3E3E-3EB28E5F7F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E118B847-BECA-DCD5-8A83-B485F68EF4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876417D8-728B-D831-828F-4BDEF000EA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85314" y="89019"/>
            <a:ext cx="914400" cy="914400"/>
          </a:xfrm>
          <a:prstGeom prst="rect">
            <a:avLst/>
          </a:prstGeom>
        </p:spPr>
      </p:pic>
      <p:pic>
        <p:nvPicPr>
          <p:cNvPr id="9" name="Graphic 8">
            <a:extLst>
              <a:ext uri="{FF2B5EF4-FFF2-40B4-BE49-F238E27FC236}">
                <a16:creationId xmlns:a16="http://schemas.microsoft.com/office/drawing/2014/main" id="{0F5EB511-C180-F509-3E7A-2B961E3A257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497473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4DEB8-93F9-6D85-8D12-B2B0B9D7B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8F317D-D29C-6C95-760F-B68376CC683E}"/>
              </a:ext>
            </a:extLst>
          </p:cNvPr>
          <p:cNvSpPr>
            <a:spLocks noGrp="1"/>
          </p:cNvSpPr>
          <p:nvPr>
            <p:ph type="title"/>
          </p:nvPr>
        </p:nvSpPr>
        <p:spPr>
          <a:xfrm>
            <a:off x="838200" y="528415"/>
            <a:ext cx="10515600" cy="1325563"/>
          </a:xfrm>
        </p:spPr>
        <p:txBody>
          <a:bodyPr/>
          <a:lstStyle/>
          <a:p>
            <a:r>
              <a:rPr lang="en-US" dirty="0"/>
              <a:t>ESPC – shared or guaranteed?</a:t>
            </a:r>
          </a:p>
        </p:txBody>
      </p:sp>
      <p:sp>
        <p:nvSpPr>
          <p:cNvPr id="3" name="Content Placeholder 2">
            <a:extLst>
              <a:ext uri="{FF2B5EF4-FFF2-40B4-BE49-F238E27FC236}">
                <a16:creationId xmlns:a16="http://schemas.microsoft.com/office/drawing/2014/main" id="{FA04710B-1D8B-1911-A657-D1F2C6039B70}"/>
              </a:ext>
            </a:extLst>
          </p:cNvPr>
          <p:cNvSpPr>
            <a:spLocks noGrp="1"/>
          </p:cNvSpPr>
          <p:nvPr>
            <p:ph idx="1"/>
          </p:nvPr>
        </p:nvSpPr>
        <p:spPr>
          <a:xfrm>
            <a:off x="838200" y="2070560"/>
            <a:ext cx="10515600" cy="4351338"/>
          </a:xfrm>
        </p:spPr>
        <p:txBody>
          <a:bodyPr>
            <a:normAutofit/>
          </a:bodyPr>
          <a:lstStyle/>
          <a:p>
            <a:pPr algn="l">
              <a:buNone/>
            </a:pPr>
            <a:r>
              <a:rPr lang="en-US" sz="1600" b="1" i="0" u="none" strike="noStrike" dirty="0">
                <a:solidFill>
                  <a:srgbClr val="000000"/>
                </a:solidFill>
                <a:effectLst/>
              </a:rPr>
              <a:t>Guaranteed Savings</a:t>
            </a:r>
            <a:r>
              <a:rPr lang="en-US" sz="1600" b="0" i="0" u="none" strike="noStrike" dirty="0">
                <a:solidFill>
                  <a:srgbClr val="000000"/>
                </a:solidFill>
                <a:effectLst/>
              </a:rPr>
              <a:t>:</a:t>
            </a:r>
            <a:br>
              <a:rPr lang="en-US" sz="1600" b="0" i="0" u="none" strike="noStrike" dirty="0">
                <a:solidFill>
                  <a:srgbClr val="000000"/>
                </a:solidFill>
                <a:effectLst/>
              </a:rPr>
            </a:br>
            <a:r>
              <a:rPr lang="en-US" sz="1600" b="0" i="0" u="none" strike="noStrike" dirty="0">
                <a:solidFill>
                  <a:srgbClr val="000000"/>
                </a:solidFill>
                <a:effectLst/>
              </a:rPr>
              <a:t>The Energy Service Company (ESCO) guarantees a minimum amount of energy savings. If actual savings fall short, the ESCO pays the difference. The client typically finances the project independently.</a:t>
            </a:r>
          </a:p>
          <a:p>
            <a:pPr algn="l">
              <a:buNone/>
            </a:pPr>
            <a:r>
              <a:rPr lang="en-US" sz="1600" b="1" i="0" u="none" strike="noStrike" dirty="0">
                <a:solidFill>
                  <a:srgbClr val="000000"/>
                </a:solidFill>
                <a:effectLst/>
              </a:rPr>
              <a:t>Shared Savings</a:t>
            </a:r>
            <a:r>
              <a:rPr lang="en-US" sz="1600" b="0" i="0" u="none" strike="noStrike" dirty="0">
                <a:solidFill>
                  <a:srgbClr val="000000"/>
                </a:solidFill>
                <a:effectLst/>
              </a:rPr>
              <a:t>:</a:t>
            </a:r>
            <a:br>
              <a:rPr lang="en-US" sz="1600" b="0" i="0" u="none" strike="noStrike" dirty="0">
                <a:solidFill>
                  <a:srgbClr val="000000"/>
                </a:solidFill>
                <a:effectLst/>
              </a:rPr>
            </a:br>
            <a:r>
              <a:rPr lang="en-US" sz="1600" b="0" i="0" u="none" strike="noStrike" dirty="0">
                <a:solidFill>
                  <a:srgbClr val="000000"/>
                </a:solidFill>
                <a:effectLst/>
              </a:rPr>
              <a:t>The ESCO finances the project, and both the ESCO and the client share the achieved energy savings. There's no guaranteed minimum, and payments depend entirely on actual savings.</a:t>
            </a:r>
          </a:p>
          <a:p>
            <a:pPr algn="l">
              <a:buNone/>
            </a:pPr>
            <a:r>
              <a:rPr lang="en-US" sz="1600" b="1" i="0" u="none" strike="noStrike" dirty="0">
                <a:solidFill>
                  <a:srgbClr val="000000"/>
                </a:solidFill>
                <a:effectLst/>
              </a:rPr>
              <a:t>Key Difference</a:t>
            </a:r>
            <a:r>
              <a:rPr lang="en-US" sz="1600" b="0" i="0" u="none" strike="noStrike" dirty="0">
                <a:solidFill>
                  <a:srgbClr val="000000"/>
                </a:solidFill>
                <a:effectLst/>
              </a:rPr>
              <a:t>:</a:t>
            </a:r>
          </a:p>
          <a:p>
            <a:pPr algn="l">
              <a:buFont typeface="Arial" panose="020B0604020202020204" pitchFamily="34" charset="0"/>
              <a:buChar char="•"/>
            </a:pPr>
            <a:r>
              <a:rPr lang="en-US" sz="1600" b="1" i="0" u="none" strike="noStrike" dirty="0">
                <a:solidFill>
                  <a:srgbClr val="000000"/>
                </a:solidFill>
                <a:effectLst/>
              </a:rPr>
              <a:t>Guaranteed savings</a:t>
            </a:r>
            <a:r>
              <a:rPr lang="en-US" sz="1600" b="0" i="0" u="none" strike="noStrike" dirty="0">
                <a:solidFill>
                  <a:srgbClr val="000000"/>
                </a:solidFill>
                <a:effectLst/>
              </a:rPr>
              <a:t> shifts performance risk to the ESCO but financial responsibility to the client.</a:t>
            </a:r>
          </a:p>
          <a:p>
            <a:pPr algn="l">
              <a:buFont typeface="Arial" panose="020B0604020202020204" pitchFamily="34" charset="0"/>
              <a:buChar char="•"/>
            </a:pPr>
            <a:r>
              <a:rPr lang="en-US" sz="1600" b="1" i="0" u="none" strike="noStrike" dirty="0">
                <a:solidFill>
                  <a:srgbClr val="000000"/>
                </a:solidFill>
                <a:effectLst/>
              </a:rPr>
              <a:t>Shared savings</a:t>
            </a:r>
            <a:r>
              <a:rPr lang="en-US" sz="1600" b="0" i="0" u="none" strike="noStrike" dirty="0">
                <a:solidFill>
                  <a:srgbClr val="000000"/>
                </a:solidFill>
                <a:effectLst/>
              </a:rPr>
              <a:t> shifts both performance and financial risks primarily to the ESCO, with the client sharing only actual achieved savings.</a:t>
            </a:r>
          </a:p>
        </p:txBody>
      </p:sp>
      <p:pic>
        <p:nvPicPr>
          <p:cNvPr id="6" name="Graphic 5">
            <a:extLst>
              <a:ext uri="{FF2B5EF4-FFF2-40B4-BE49-F238E27FC236}">
                <a16:creationId xmlns:a16="http://schemas.microsoft.com/office/drawing/2014/main" id="{FA10CA5B-C57B-234D-0D19-89D746C2A7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0D19CC72-D962-1B68-2B4B-69B5CA546F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9795BA06-A3C6-02C6-1BAE-14F87551DBD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85314" y="89019"/>
            <a:ext cx="914400" cy="914400"/>
          </a:xfrm>
          <a:prstGeom prst="rect">
            <a:avLst/>
          </a:prstGeom>
        </p:spPr>
      </p:pic>
      <p:pic>
        <p:nvPicPr>
          <p:cNvPr id="9" name="Graphic 8">
            <a:extLst>
              <a:ext uri="{FF2B5EF4-FFF2-40B4-BE49-F238E27FC236}">
                <a16:creationId xmlns:a16="http://schemas.microsoft.com/office/drawing/2014/main" id="{C0051C8F-F243-6235-2583-12D7C969564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186910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57194-E3F1-46CB-D7E6-51EEA934A335}"/>
              </a:ext>
            </a:extLst>
          </p:cNvPr>
          <p:cNvSpPr>
            <a:spLocks noGrp="1"/>
          </p:cNvSpPr>
          <p:nvPr>
            <p:ph type="title"/>
          </p:nvPr>
        </p:nvSpPr>
        <p:spPr/>
        <p:txBody>
          <a:bodyPr/>
          <a:lstStyle/>
          <a:p>
            <a:r>
              <a:rPr lang="en-US"/>
              <a:t>It’s Not Just Engineers</a:t>
            </a:r>
          </a:p>
        </p:txBody>
      </p:sp>
      <p:sp>
        <p:nvSpPr>
          <p:cNvPr id="4" name="Text Placeholder 3">
            <a:extLst>
              <a:ext uri="{FF2B5EF4-FFF2-40B4-BE49-F238E27FC236}">
                <a16:creationId xmlns:a16="http://schemas.microsoft.com/office/drawing/2014/main" id="{87215EBF-9575-E79F-C121-27CB193DEDEA}"/>
              </a:ext>
            </a:extLst>
          </p:cNvPr>
          <p:cNvSpPr>
            <a:spLocks noGrp="1"/>
          </p:cNvSpPr>
          <p:nvPr>
            <p:ph type="body" idx="1"/>
          </p:nvPr>
        </p:nvSpPr>
        <p:spPr/>
        <p:txBody>
          <a:bodyPr/>
          <a:lstStyle/>
          <a:p>
            <a:r>
              <a:rPr lang="en-US"/>
              <a:t>Procurement Officers</a:t>
            </a:r>
          </a:p>
        </p:txBody>
      </p:sp>
      <p:sp>
        <p:nvSpPr>
          <p:cNvPr id="3" name="Content Placeholder 2">
            <a:extLst>
              <a:ext uri="{FF2B5EF4-FFF2-40B4-BE49-F238E27FC236}">
                <a16:creationId xmlns:a16="http://schemas.microsoft.com/office/drawing/2014/main" id="{0D4ADC0D-0283-51D3-04F1-3A74DF1DA44A}"/>
              </a:ext>
            </a:extLst>
          </p:cNvPr>
          <p:cNvSpPr>
            <a:spLocks noGrp="1"/>
          </p:cNvSpPr>
          <p:nvPr>
            <p:ph sz="half" idx="2"/>
          </p:nvPr>
        </p:nvSpPr>
        <p:spPr/>
        <p:txBody>
          <a:bodyPr>
            <a:normAutofit fontScale="62500" lnSpcReduction="20000"/>
          </a:bodyPr>
          <a:lstStyle/>
          <a:p>
            <a:r>
              <a:rPr lang="en-US"/>
              <a:t>Oversee the acquisition of services and equipment (required for M&amp;V projects)</a:t>
            </a:r>
          </a:p>
          <a:p>
            <a:pPr marL="457200" indent="-457200">
              <a:buFont typeface="Arial" panose="020B0604020202020204" pitchFamily="34" charset="0"/>
              <a:buChar char="•"/>
            </a:pPr>
            <a:r>
              <a:rPr lang="en-US"/>
              <a:t>Select and engage with vendors and service providers.</a:t>
            </a:r>
          </a:p>
          <a:p>
            <a:pPr marL="457200" indent="-457200">
              <a:buFont typeface="Arial" panose="020B0604020202020204" pitchFamily="34" charset="0"/>
              <a:buChar char="•"/>
            </a:pPr>
            <a:r>
              <a:rPr lang="en-US"/>
              <a:t>Ensure cost-effective and timely procurement while maintaining quality standards.</a:t>
            </a:r>
          </a:p>
          <a:p>
            <a:pPr marL="457200" indent="-457200">
              <a:buFont typeface="Arial" panose="020B0604020202020204" pitchFamily="34" charset="0"/>
              <a:buChar char="•"/>
            </a:pPr>
            <a:r>
              <a:rPr lang="en-US"/>
              <a:t>Liaise with technical teams to understand specific requirements.</a:t>
            </a:r>
          </a:p>
          <a:p>
            <a:pPr marL="457200" indent="-457200">
              <a:buFont typeface="Arial" panose="020B0604020202020204" pitchFamily="34" charset="0"/>
              <a:buChar char="•"/>
            </a:pPr>
            <a:r>
              <a:rPr lang="en-US"/>
              <a:t>Ensure compliance with regulatory and commercial frameworks.</a:t>
            </a:r>
          </a:p>
        </p:txBody>
      </p:sp>
      <p:sp>
        <p:nvSpPr>
          <p:cNvPr id="5" name="Text Placeholder 4">
            <a:extLst>
              <a:ext uri="{FF2B5EF4-FFF2-40B4-BE49-F238E27FC236}">
                <a16:creationId xmlns:a16="http://schemas.microsoft.com/office/drawing/2014/main" id="{6E256B1F-3138-3254-707D-586CC4779515}"/>
              </a:ext>
            </a:extLst>
          </p:cNvPr>
          <p:cNvSpPr>
            <a:spLocks noGrp="1"/>
          </p:cNvSpPr>
          <p:nvPr>
            <p:ph type="body" sz="quarter" idx="3"/>
          </p:nvPr>
        </p:nvSpPr>
        <p:spPr/>
        <p:txBody>
          <a:bodyPr/>
          <a:lstStyle/>
          <a:p>
            <a:r>
              <a:rPr lang="en-US"/>
              <a:t>Contract Administrators</a:t>
            </a:r>
          </a:p>
        </p:txBody>
      </p:sp>
      <p:sp>
        <p:nvSpPr>
          <p:cNvPr id="6" name="Content Placeholder 5">
            <a:extLst>
              <a:ext uri="{FF2B5EF4-FFF2-40B4-BE49-F238E27FC236}">
                <a16:creationId xmlns:a16="http://schemas.microsoft.com/office/drawing/2014/main" id="{1E80CC61-E3B9-63B4-4EA0-329DE84785AE}"/>
              </a:ext>
            </a:extLst>
          </p:cNvPr>
          <p:cNvSpPr>
            <a:spLocks noGrp="1"/>
          </p:cNvSpPr>
          <p:nvPr>
            <p:ph sz="quarter" idx="4"/>
          </p:nvPr>
        </p:nvSpPr>
        <p:spPr/>
        <p:txBody>
          <a:bodyPr>
            <a:normAutofit fontScale="62500" lnSpcReduction="20000"/>
          </a:bodyPr>
          <a:lstStyle/>
          <a:p>
            <a:r>
              <a:rPr lang="en-US"/>
              <a:t>Manage contracts (related to M&amp;V projects).</a:t>
            </a:r>
          </a:p>
          <a:p>
            <a:pPr marL="457200" indent="-457200">
              <a:buFont typeface="Arial" panose="020B0604020202020204" pitchFamily="34" charset="0"/>
              <a:buChar char="•"/>
            </a:pPr>
            <a:r>
              <a:rPr lang="en-US"/>
              <a:t>Draft, review, and negotiate contract terms.</a:t>
            </a:r>
          </a:p>
          <a:p>
            <a:pPr marL="457200" indent="-457200">
              <a:buFont typeface="Arial" panose="020B0604020202020204" pitchFamily="34" charset="0"/>
              <a:buChar char="•"/>
            </a:pPr>
            <a:r>
              <a:rPr lang="en-US"/>
              <a:t>Ensure contracts align with project objectives and regulatory standards.</a:t>
            </a:r>
          </a:p>
          <a:p>
            <a:pPr marL="457200" indent="-457200">
              <a:buFont typeface="Arial" panose="020B0604020202020204" pitchFamily="34" charset="0"/>
              <a:buChar char="•"/>
            </a:pPr>
            <a:r>
              <a:rPr lang="en-US"/>
              <a:t>Handle any contract modifications or extensions.</a:t>
            </a:r>
          </a:p>
          <a:p>
            <a:pPr marL="457200" indent="-457200">
              <a:buFont typeface="Arial" panose="020B0604020202020204" pitchFamily="34" charset="0"/>
              <a:buChar char="•"/>
            </a:pPr>
            <a:r>
              <a:rPr lang="en-US"/>
              <a:t>Mitigate potential disputes and liaise with legal teams when necessary.</a:t>
            </a:r>
          </a:p>
        </p:txBody>
      </p:sp>
      <p:pic>
        <p:nvPicPr>
          <p:cNvPr id="8" name="Graphic 7">
            <a:extLst>
              <a:ext uri="{FF2B5EF4-FFF2-40B4-BE49-F238E27FC236}">
                <a16:creationId xmlns:a16="http://schemas.microsoft.com/office/drawing/2014/main" id="{B490D29A-FB93-20D9-4284-8F0BC6354A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85934" y="89019"/>
            <a:ext cx="914400" cy="914400"/>
          </a:xfrm>
          <a:prstGeom prst="rect">
            <a:avLst/>
          </a:prstGeom>
        </p:spPr>
      </p:pic>
      <p:pic>
        <p:nvPicPr>
          <p:cNvPr id="9" name="Graphic 8">
            <a:extLst>
              <a:ext uri="{FF2B5EF4-FFF2-40B4-BE49-F238E27FC236}">
                <a16:creationId xmlns:a16="http://schemas.microsoft.com/office/drawing/2014/main" id="{6358EB3D-783C-A5A1-EE6D-9BFC55D299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71534" y="89019"/>
            <a:ext cx="914400" cy="914400"/>
          </a:xfrm>
          <a:prstGeom prst="rect">
            <a:avLst/>
          </a:prstGeom>
        </p:spPr>
      </p:pic>
      <p:pic>
        <p:nvPicPr>
          <p:cNvPr id="10" name="Graphic 9">
            <a:extLst>
              <a:ext uri="{FF2B5EF4-FFF2-40B4-BE49-F238E27FC236}">
                <a16:creationId xmlns:a16="http://schemas.microsoft.com/office/drawing/2014/main" id="{71C6EF92-B2FC-B3B5-7644-4A230A28B9F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57134" y="89019"/>
            <a:ext cx="914400" cy="914400"/>
          </a:xfrm>
          <a:prstGeom prst="rect">
            <a:avLst/>
          </a:prstGeom>
        </p:spPr>
      </p:pic>
    </p:spTree>
    <p:extLst>
      <p:ext uri="{BB962C8B-B14F-4D97-AF65-F5344CB8AC3E}">
        <p14:creationId xmlns:p14="http://schemas.microsoft.com/office/powerpoint/2010/main" val="3209472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624B2004-EA9B-1E6E-DAA3-6CFC6F441100}"/>
              </a:ext>
            </a:extLst>
          </p:cNvPr>
          <p:cNvSpPr>
            <a:spLocks noGrp="1"/>
          </p:cNvSpPr>
          <p:nvPr>
            <p:ph type="title"/>
          </p:nvPr>
        </p:nvSpPr>
        <p:spPr>
          <a:xfrm>
            <a:off x="838200" y="365125"/>
            <a:ext cx="7968916" cy="1325563"/>
          </a:xfrm>
        </p:spPr>
        <p:txBody>
          <a:bodyPr/>
          <a:lstStyle/>
          <a:p>
            <a:r>
              <a:rPr lang="en-US"/>
              <a:t>Energy Efficiency Projects</a:t>
            </a:r>
          </a:p>
        </p:txBody>
      </p:sp>
      <p:graphicFrame>
        <p:nvGraphicFramePr>
          <p:cNvPr id="6" name="Content Placeholder 5">
            <a:extLst>
              <a:ext uri="{FF2B5EF4-FFF2-40B4-BE49-F238E27FC236}">
                <a16:creationId xmlns:a16="http://schemas.microsoft.com/office/drawing/2014/main" id="{5B9D4599-6BF2-D502-8E30-B8444DE639FF}"/>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9" name="Graphic 18">
            <a:extLst>
              <a:ext uri="{FF2B5EF4-FFF2-40B4-BE49-F238E27FC236}">
                <a16:creationId xmlns:a16="http://schemas.microsoft.com/office/drawing/2014/main" id="{6CEB5E92-E712-C7E7-1E74-BC7704342A6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314114" y="89019"/>
            <a:ext cx="914400" cy="914400"/>
          </a:xfrm>
          <a:prstGeom prst="rect">
            <a:avLst/>
          </a:prstGeom>
        </p:spPr>
      </p:pic>
      <p:pic>
        <p:nvPicPr>
          <p:cNvPr id="20" name="Graphic 19">
            <a:extLst>
              <a:ext uri="{FF2B5EF4-FFF2-40B4-BE49-F238E27FC236}">
                <a16:creationId xmlns:a16="http://schemas.microsoft.com/office/drawing/2014/main" id="{29DAD9BA-669A-B42E-8181-CC354CBB8EB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99714" y="89019"/>
            <a:ext cx="914400" cy="914400"/>
          </a:xfrm>
          <a:prstGeom prst="rect">
            <a:avLst/>
          </a:prstGeom>
        </p:spPr>
      </p:pic>
      <p:pic>
        <p:nvPicPr>
          <p:cNvPr id="21" name="Graphic 20">
            <a:extLst>
              <a:ext uri="{FF2B5EF4-FFF2-40B4-BE49-F238E27FC236}">
                <a16:creationId xmlns:a16="http://schemas.microsoft.com/office/drawing/2014/main" id="{6D1F5730-B8A1-9323-62F6-24DE8FEBF22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228514" y="89019"/>
            <a:ext cx="914400" cy="914400"/>
          </a:xfrm>
          <a:prstGeom prst="rect">
            <a:avLst/>
          </a:prstGeom>
        </p:spPr>
      </p:pic>
      <p:pic>
        <p:nvPicPr>
          <p:cNvPr id="9" name="Graphic 8">
            <a:extLst>
              <a:ext uri="{FF2B5EF4-FFF2-40B4-BE49-F238E27FC236}">
                <a16:creationId xmlns:a16="http://schemas.microsoft.com/office/drawing/2014/main" id="{7F48AB84-4983-1EB0-BCAF-24C514AD6B1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485314" y="89019"/>
            <a:ext cx="914400" cy="914400"/>
          </a:xfrm>
          <a:prstGeom prst="rect">
            <a:avLst/>
          </a:prstGeom>
        </p:spPr>
      </p:pic>
    </p:spTree>
    <p:extLst>
      <p:ext uri="{BB962C8B-B14F-4D97-AF65-F5344CB8AC3E}">
        <p14:creationId xmlns:p14="http://schemas.microsoft.com/office/powerpoint/2010/main" val="932587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0442-9510-FF9F-1A64-5A158F6EB632}"/>
              </a:ext>
            </a:extLst>
          </p:cNvPr>
          <p:cNvSpPr>
            <a:spLocks noGrp="1"/>
          </p:cNvSpPr>
          <p:nvPr>
            <p:ph type="title"/>
          </p:nvPr>
        </p:nvSpPr>
        <p:spPr>
          <a:xfrm>
            <a:off x="838200" y="365125"/>
            <a:ext cx="7647114" cy="1325563"/>
          </a:xfrm>
        </p:spPr>
        <p:txBody>
          <a:bodyPr/>
          <a:lstStyle/>
          <a:p>
            <a:r>
              <a:rPr lang="en-US"/>
              <a:t>What Is a Utility Program?</a:t>
            </a:r>
          </a:p>
        </p:txBody>
      </p:sp>
      <p:sp>
        <p:nvSpPr>
          <p:cNvPr id="3" name="Content Placeholder 2">
            <a:extLst>
              <a:ext uri="{FF2B5EF4-FFF2-40B4-BE49-F238E27FC236}">
                <a16:creationId xmlns:a16="http://schemas.microsoft.com/office/drawing/2014/main" id="{03682813-8DFD-3C12-00EB-AA4A72BD0D42}"/>
              </a:ext>
            </a:extLst>
          </p:cNvPr>
          <p:cNvSpPr>
            <a:spLocks noGrp="1"/>
          </p:cNvSpPr>
          <p:nvPr>
            <p:ph idx="1"/>
          </p:nvPr>
        </p:nvSpPr>
        <p:spPr>
          <a:xfrm>
            <a:off x="838200" y="1825626"/>
            <a:ext cx="10515600" cy="3541716"/>
          </a:xfrm>
        </p:spPr>
        <p:txBody>
          <a:bodyPr>
            <a:normAutofit/>
          </a:bodyPr>
          <a:lstStyle/>
          <a:p>
            <a:pPr marL="0" indent="0">
              <a:spcBef>
                <a:spcPts val="1600"/>
              </a:spcBef>
              <a:buNone/>
            </a:pPr>
            <a:r>
              <a:rPr lang="en-US" sz="2000" b="1"/>
              <a:t>An energy efficiency program sponsored by a utility</a:t>
            </a:r>
            <a:r>
              <a:rPr lang="en-US" sz="2000"/>
              <a:t>. Utilities sponsor many energy efficiency programs, for several reasons.</a:t>
            </a:r>
          </a:p>
          <a:p>
            <a:pPr lvl="1">
              <a:spcBef>
                <a:spcPts val="1600"/>
              </a:spcBef>
            </a:pPr>
            <a:r>
              <a:rPr lang="en-US" sz="2000"/>
              <a:t>It is typically less expensive to source energy through efficiency measures than through the generation of new energy.</a:t>
            </a:r>
            <a:endParaRPr lang="en-US" sz="1600"/>
          </a:p>
          <a:p>
            <a:pPr lvl="1">
              <a:spcBef>
                <a:spcPts val="1600"/>
              </a:spcBef>
            </a:pPr>
            <a:r>
              <a:rPr lang="en-US" sz="2000"/>
              <a:t>Efficiency measures allow utilities to continue to meet customers’ needs during periods of high demand.</a:t>
            </a:r>
          </a:p>
          <a:p>
            <a:pPr lvl="1">
              <a:spcBef>
                <a:spcPts val="1600"/>
              </a:spcBef>
            </a:pPr>
            <a:r>
              <a:rPr lang="en-US" sz="2000"/>
              <a:t>Some national and subnational (e.g., state or municipal) governments require utilities to sponsor energy efficiency programs.</a:t>
            </a:r>
          </a:p>
        </p:txBody>
      </p:sp>
      <p:pic>
        <p:nvPicPr>
          <p:cNvPr id="6" name="Graphic 5">
            <a:extLst>
              <a:ext uri="{FF2B5EF4-FFF2-40B4-BE49-F238E27FC236}">
                <a16:creationId xmlns:a16="http://schemas.microsoft.com/office/drawing/2014/main" id="{70F038BF-06EA-2B0F-286D-330C95F1F6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382353A2-9D96-097D-BBC4-70B0888CF12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B3995E3F-1828-4561-DB12-0DBCCE2984B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85314" y="89019"/>
            <a:ext cx="914400" cy="914400"/>
          </a:xfrm>
          <a:prstGeom prst="rect">
            <a:avLst/>
          </a:prstGeom>
        </p:spPr>
      </p:pic>
      <p:pic>
        <p:nvPicPr>
          <p:cNvPr id="9" name="Graphic 8">
            <a:extLst>
              <a:ext uri="{FF2B5EF4-FFF2-40B4-BE49-F238E27FC236}">
                <a16:creationId xmlns:a16="http://schemas.microsoft.com/office/drawing/2014/main" id="{9437D72D-3224-C02F-0925-708D55CB073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28514" y="89019"/>
            <a:ext cx="914400" cy="914400"/>
          </a:xfrm>
          <a:prstGeom prst="rect">
            <a:avLst/>
          </a:prstGeom>
        </p:spPr>
      </p:pic>
      <p:sp>
        <p:nvSpPr>
          <p:cNvPr id="10" name="TextBox 9">
            <a:extLst>
              <a:ext uri="{FF2B5EF4-FFF2-40B4-BE49-F238E27FC236}">
                <a16:creationId xmlns:a16="http://schemas.microsoft.com/office/drawing/2014/main" id="{829EED95-9459-AC63-88F6-0EFE71427394}"/>
              </a:ext>
            </a:extLst>
          </p:cNvPr>
          <p:cNvSpPr txBox="1"/>
          <p:nvPr/>
        </p:nvSpPr>
        <p:spPr>
          <a:xfrm>
            <a:off x="2209800" y="5367341"/>
            <a:ext cx="9144000" cy="1000274"/>
          </a:xfrm>
          <a:prstGeom prst="rect">
            <a:avLst/>
          </a:prstGeom>
          <a:noFill/>
        </p:spPr>
        <p:txBody>
          <a:bodyPr wrap="square" rtlCol="0">
            <a:spAutoFit/>
          </a:bodyPr>
          <a:lstStyle/>
          <a:p>
            <a:pPr algn="r"/>
            <a:r>
              <a:rPr lang="en-US" sz="2000">
                <a:solidFill>
                  <a:srgbClr val="609ED0"/>
                </a:solidFill>
                <a:latin typeface="Verdana" panose="020B0604030504040204" pitchFamily="34" charset="0"/>
              </a:rPr>
              <a:t>Utility-sector energy efficiency programs save electricity and </a:t>
            </a:r>
            <a:br>
              <a:rPr lang="en-US" sz="2000">
                <a:solidFill>
                  <a:srgbClr val="609ED0"/>
                </a:solidFill>
                <a:latin typeface="Verdana" panose="020B0604030504040204" pitchFamily="34" charset="0"/>
              </a:rPr>
            </a:br>
            <a:r>
              <a:rPr lang="en-US" sz="2000">
                <a:solidFill>
                  <a:srgbClr val="609ED0"/>
                </a:solidFill>
                <a:latin typeface="Verdana" panose="020B0604030504040204" pitchFamily="34" charset="0"/>
              </a:rPr>
              <a:t>natural gas at less than half the cost of new energy supplies. </a:t>
            </a:r>
          </a:p>
          <a:p>
            <a:pPr algn="r">
              <a:spcBef>
                <a:spcPts val="600"/>
              </a:spcBef>
            </a:pPr>
            <a:r>
              <a:rPr lang="en-US" sz="1400">
                <a:solidFill>
                  <a:srgbClr val="609ED0"/>
                </a:solidFill>
                <a:latin typeface="Verdana" panose="020B0604030504040204" pitchFamily="34" charset="0"/>
              </a:rPr>
              <a:t>—American Council for an Energy-Efficient Economy</a:t>
            </a:r>
          </a:p>
        </p:txBody>
      </p:sp>
    </p:spTree>
    <p:extLst>
      <p:ext uri="{BB962C8B-B14F-4D97-AF65-F5344CB8AC3E}">
        <p14:creationId xmlns:p14="http://schemas.microsoft.com/office/powerpoint/2010/main" val="628193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624B2004-EA9B-1E6E-DAA3-6CFC6F441100}"/>
              </a:ext>
            </a:extLst>
          </p:cNvPr>
          <p:cNvSpPr>
            <a:spLocks noGrp="1"/>
          </p:cNvSpPr>
          <p:nvPr>
            <p:ph type="title"/>
          </p:nvPr>
        </p:nvSpPr>
        <p:spPr>
          <a:xfrm>
            <a:off x="838200" y="365125"/>
            <a:ext cx="7647114" cy="1325563"/>
          </a:xfrm>
        </p:spPr>
        <p:txBody>
          <a:bodyPr/>
          <a:lstStyle/>
          <a:p>
            <a:r>
              <a:rPr lang="en-US"/>
              <a:t>Energy Efficiency Programs</a:t>
            </a:r>
          </a:p>
        </p:txBody>
      </p:sp>
      <p:graphicFrame>
        <p:nvGraphicFramePr>
          <p:cNvPr id="6" name="Content Placeholder 5">
            <a:extLst>
              <a:ext uri="{FF2B5EF4-FFF2-40B4-BE49-F238E27FC236}">
                <a16:creationId xmlns:a16="http://schemas.microsoft.com/office/drawing/2014/main" id="{5B9D4599-6BF2-D502-8E30-B8444DE639FF}"/>
              </a:ext>
            </a:extLst>
          </p:cNvPr>
          <p:cNvGraphicFramePr>
            <a:graphicFrameLocks noGrp="1"/>
          </p:cNvGraphicFramePr>
          <p:nvPr>
            <p:ph idx="1"/>
            <p:extLst>
              <p:ext uri="{D42A27DB-BD31-4B8C-83A1-F6EECF244321}">
                <p14:modId xmlns:p14="http://schemas.microsoft.com/office/powerpoint/2010/main" val="248704113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9" name="Graphic 18">
            <a:extLst>
              <a:ext uri="{FF2B5EF4-FFF2-40B4-BE49-F238E27FC236}">
                <a16:creationId xmlns:a16="http://schemas.microsoft.com/office/drawing/2014/main" id="{6CEB5E92-E712-C7E7-1E74-BC7704342A6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314114" y="89019"/>
            <a:ext cx="914400" cy="914400"/>
          </a:xfrm>
          <a:prstGeom prst="rect">
            <a:avLst/>
          </a:prstGeom>
        </p:spPr>
      </p:pic>
      <p:pic>
        <p:nvPicPr>
          <p:cNvPr id="20" name="Graphic 19">
            <a:extLst>
              <a:ext uri="{FF2B5EF4-FFF2-40B4-BE49-F238E27FC236}">
                <a16:creationId xmlns:a16="http://schemas.microsoft.com/office/drawing/2014/main" id="{29DAD9BA-669A-B42E-8181-CC354CBB8EB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399714" y="89019"/>
            <a:ext cx="914400" cy="914400"/>
          </a:xfrm>
          <a:prstGeom prst="rect">
            <a:avLst/>
          </a:prstGeom>
        </p:spPr>
      </p:pic>
      <p:pic>
        <p:nvPicPr>
          <p:cNvPr id="21" name="Graphic 20">
            <a:extLst>
              <a:ext uri="{FF2B5EF4-FFF2-40B4-BE49-F238E27FC236}">
                <a16:creationId xmlns:a16="http://schemas.microsoft.com/office/drawing/2014/main" id="{6D1F5730-B8A1-9323-62F6-24DE8FEBF22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228514" y="89019"/>
            <a:ext cx="914400" cy="914400"/>
          </a:xfrm>
          <a:prstGeom prst="rect">
            <a:avLst/>
          </a:prstGeom>
        </p:spPr>
      </p:pic>
      <p:pic>
        <p:nvPicPr>
          <p:cNvPr id="9" name="Graphic 8">
            <a:extLst>
              <a:ext uri="{FF2B5EF4-FFF2-40B4-BE49-F238E27FC236}">
                <a16:creationId xmlns:a16="http://schemas.microsoft.com/office/drawing/2014/main" id="{17691502-BD99-1851-A87B-60070239D4B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485314" y="89019"/>
            <a:ext cx="914400" cy="914400"/>
          </a:xfrm>
          <a:prstGeom prst="rect">
            <a:avLst/>
          </a:prstGeom>
        </p:spPr>
      </p:pic>
    </p:spTree>
    <p:extLst>
      <p:ext uri="{BB962C8B-B14F-4D97-AF65-F5344CB8AC3E}">
        <p14:creationId xmlns:p14="http://schemas.microsoft.com/office/powerpoint/2010/main" val="373329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16781-A48A-6F18-2258-A33D995BFEC9}"/>
              </a:ext>
            </a:extLst>
          </p:cNvPr>
          <p:cNvSpPr>
            <a:spLocks noGrp="1"/>
          </p:cNvSpPr>
          <p:nvPr>
            <p:ph type="title"/>
          </p:nvPr>
        </p:nvSpPr>
        <p:spPr/>
        <p:txBody>
          <a:bodyPr/>
          <a:lstStyle/>
          <a:p>
            <a:r>
              <a:rPr lang="en-US"/>
              <a:t>An Example</a:t>
            </a:r>
          </a:p>
        </p:txBody>
      </p:sp>
      <p:sp>
        <p:nvSpPr>
          <p:cNvPr id="3" name="Content Placeholder 2">
            <a:extLst>
              <a:ext uri="{FF2B5EF4-FFF2-40B4-BE49-F238E27FC236}">
                <a16:creationId xmlns:a16="http://schemas.microsoft.com/office/drawing/2014/main" id="{4426656B-F3D0-D719-900D-D859172CFA38}"/>
              </a:ext>
            </a:extLst>
          </p:cNvPr>
          <p:cNvSpPr>
            <a:spLocks noGrp="1"/>
          </p:cNvSpPr>
          <p:nvPr>
            <p:ph idx="1"/>
          </p:nvPr>
        </p:nvSpPr>
        <p:spPr>
          <a:xfrm>
            <a:off x="838200" y="1690688"/>
            <a:ext cx="10515600" cy="4351338"/>
          </a:xfrm>
        </p:spPr>
        <p:txBody>
          <a:bodyPr>
            <a:normAutofit/>
          </a:bodyPr>
          <a:lstStyle/>
          <a:p>
            <a:pPr>
              <a:lnSpc>
                <a:spcPct val="135000"/>
              </a:lnSpc>
            </a:pPr>
            <a:r>
              <a:rPr lang="en-US" sz="2400"/>
              <a:t>A utility in California is bound by </a:t>
            </a:r>
            <a:r>
              <a:rPr lang="en-US" sz="2400">
                <a:highlight>
                  <a:srgbClr val="DC965A"/>
                </a:highlight>
              </a:rPr>
              <a:t>local regulations</a:t>
            </a:r>
            <a:r>
              <a:rPr lang="en-US" sz="2400"/>
              <a:t> to reduce grid demand by 2025 following the prescribed </a:t>
            </a:r>
            <a:r>
              <a:rPr lang="en-US" sz="2400">
                <a:highlight>
                  <a:srgbClr val="59A2AE"/>
                </a:highlight>
              </a:rPr>
              <a:t>M&amp;V plan</a:t>
            </a:r>
            <a:r>
              <a:rPr lang="en-US" sz="2400"/>
              <a:t>. The utility </a:t>
            </a:r>
            <a:r>
              <a:rPr lang="en-US" sz="2400">
                <a:highlight>
                  <a:srgbClr val="F05D5E"/>
                </a:highlight>
              </a:rPr>
              <a:t>hires</a:t>
            </a:r>
            <a:r>
              <a:rPr lang="en-US" sz="2400"/>
              <a:t> an </a:t>
            </a:r>
            <a:r>
              <a:rPr lang="en-US" sz="2400">
                <a:highlight>
                  <a:srgbClr val="609ED0"/>
                </a:highlight>
              </a:rPr>
              <a:t>implementor</a:t>
            </a:r>
            <a:r>
              <a:rPr lang="en-US" sz="2400"/>
              <a:t> to deliver the savings, and the </a:t>
            </a:r>
            <a:r>
              <a:rPr lang="en-US" sz="2400">
                <a:highlight>
                  <a:srgbClr val="DC965A"/>
                </a:highlight>
              </a:rPr>
              <a:t>regulator</a:t>
            </a:r>
            <a:r>
              <a:rPr lang="en-US" sz="2400"/>
              <a:t> </a:t>
            </a:r>
            <a:r>
              <a:rPr lang="en-US" sz="2400">
                <a:highlight>
                  <a:srgbClr val="F05D5E"/>
                </a:highlight>
              </a:rPr>
              <a:t>hires</a:t>
            </a:r>
            <a:r>
              <a:rPr lang="en-US" sz="2400"/>
              <a:t> an </a:t>
            </a:r>
            <a:r>
              <a:rPr lang="en-US" sz="2400">
                <a:highlight>
                  <a:srgbClr val="609ED0"/>
                </a:highlight>
              </a:rPr>
              <a:t>evaluator</a:t>
            </a:r>
            <a:r>
              <a:rPr lang="en-US" sz="2400"/>
              <a:t> to review the submitted savings following the prescribed </a:t>
            </a:r>
            <a:r>
              <a:rPr lang="en-US" sz="2400">
                <a:highlight>
                  <a:srgbClr val="59A2AE"/>
                </a:highlight>
              </a:rPr>
              <a:t>EM&amp;V plan</a:t>
            </a:r>
            <a:r>
              <a:rPr lang="en-US" sz="2400"/>
              <a:t>. The utility will evaluate the program’s success based on total </a:t>
            </a:r>
            <a:r>
              <a:rPr lang="en-US" sz="2400">
                <a:highlight>
                  <a:srgbClr val="59A2AE"/>
                </a:highlight>
              </a:rPr>
              <a:t>resource costs</a:t>
            </a:r>
            <a:r>
              <a:rPr lang="en-US" sz="2400"/>
              <a:t>, </a:t>
            </a:r>
            <a:r>
              <a:rPr lang="en-US" sz="2400">
                <a:highlight>
                  <a:srgbClr val="59A2AE"/>
                </a:highlight>
              </a:rPr>
              <a:t>incentive payments</a:t>
            </a:r>
            <a:r>
              <a:rPr lang="en-US" sz="2400"/>
              <a:t>, and total savings submitted.​</a:t>
            </a:r>
          </a:p>
        </p:txBody>
      </p:sp>
      <p:pic>
        <p:nvPicPr>
          <p:cNvPr id="6" name="Graphic 5">
            <a:extLst>
              <a:ext uri="{FF2B5EF4-FFF2-40B4-BE49-F238E27FC236}">
                <a16:creationId xmlns:a16="http://schemas.microsoft.com/office/drawing/2014/main" id="{D9B800AD-46B0-5ADD-FD18-C07F5BE9849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1DE0853C-411A-6DA7-58F8-D141529E7C4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B583991A-EE5D-D14A-4242-5E9FFEAB02B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85314" y="89019"/>
            <a:ext cx="914400" cy="914400"/>
          </a:xfrm>
          <a:prstGeom prst="rect">
            <a:avLst/>
          </a:prstGeom>
        </p:spPr>
      </p:pic>
      <p:pic>
        <p:nvPicPr>
          <p:cNvPr id="9" name="Graphic 8">
            <a:extLst>
              <a:ext uri="{FF2B5EF4-FFF2-40B4-BE49-F238E27FC236}">
                <a16:creationId xmlns:a16="http://schemas.microsoft.com/office/drawing/2014/main" id="{326374C2-3E7D-D1E1-E148-FFDE241360B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472817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Content Placeholder 16">
            <a:extLst>
              <a:ext uri="{FF2B5EF4-FFF2-40B4-BE49-F238E27FC236}">
                <a16:creationId xmlns:a16="http://schemas.microsoft.com/office/drawing/2014/main" id="{50238058-69EE-9135-4708-C56E5C9DBCB4}"/>
              </a:ext>
            </a:extLst>
          </p:cNvPr>
          <p:cNvPicPr>
            <a:picLocks noGrp="1" noChangeAspect="1"/>
          </p:cNvPicPr>
          <p:nvPr>
            <p:ph idx="1"/>
          </p:nvPr>
        </p:nvPicPr>
        <p:blipFill>
          <a:blip r:embed="rId3"/>
          <a:stretch>
            <a:fillRect/>
          </a:stretch>
        </p:blipFill>
        <p:spPr>
          <a:xfrm>
            <a:off x="0" y="-15498"/>
            <a:ext cx="12218551" cy="6075336"/>
          </a:xfrm>
        </p:spPr>
      </p:pic>
      <p:pic>
        <p:nvPicPr>
          <p:cNvPr id="10" name="Picture 9" descr="Qr code&#10;&#10;Description automatically generated">
            <a:extLst>
              <a:ext uri="{FF2B5EF4-FFF2-40B4-BE49-F238E27FC236}">
                <a16:creationId xmlns:a16="http://schemas.microsoft.com/office/drawing/2014/main" id="{EBFD5CF0-5C0A-CC73-F63B-B6B2D65558EE}"/>
              </a:ext>
            </a:extLst>
          </p:cNvPr>
          <p:cNvPicPr>
            <a:picLocks noChangeAspect="1"/>
          </p:cNvPicPr>
          <p:nvPr/>
        </p:nvPicPr>
        <p:blipFill>
          <a:blip r:embed="rId4"/>
          <a:stretch>
            <a:fillRect/>
          </a:stretch>
        </p:blipFill>
        <p:spPr>
          <a:xfrm>
            <a:off x="11277600" y="5145438"/>
            <a:ext cx="914400" cy="914400"/>
          </a:xfrm>
          <a:prstGeom prst="rect">
            <a:avLst/>
          </a:prstGeom>
        </p:spPr>
      </p:pic>
    </p:spTree>
    <p:extLst>
      <p:ext uri="{BB962C8B-B14F-4D97-AF65-F5344CB8AC3E}">
        <p14:creationId xmlns:p14="http://schemas.microsoft.com/office/powerpoint/2010/main" val="2915396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9233E-365E-E320-2F12-A9117EFF0ACD}"/>
              </a:ext>
            </a:extLst>
          </p:cNvPr>
          <p:cNvSpPr>
            <a:spLocks noGrp="1"/>
          </p:cNvSpPr>
          <p:nvPr>
            <p:ph type="title"/>
          </p:nvPr>
        </p:nvSpPr>
        <p:spPr>
          <a:xfrm>
            <a:off x="838200" y="365125"/>
            <a:ext cx="9498495" cy="1325563"/>
          </a:xfrm>
        </p:spPr>
        <p:txBody>
          <a:bodyPr>
            <a:normAutofit/>
          </a:bodyPr>
          <a:lstStyle/>
          <a:p>
            <a:r>
              <a:rPr lang="en-US" sz="4000"/>
              <a:t>Concept: Savings By Design Programs </a:t>
            </a:r>
          </a:p>
        </p:txBody>
      </p:sp>
      <p:sp>
        <p:nvSpPr>
          <p:cNvPr id="3" name="Content Placeholder 2">
            <a:extLst>
              <a:ext uri="{FF2B5EF4-FFF2-40B4-BE49-F238E27FC236}">
                <a16:creationId xmlns:a16="http://schemas.microsoft.com/office/drawing/2014/main" id="{DAA8D3C6-C58F-3CD9-4139-BB9AC6766005}"/>
              </a:ext>
            </a:extLst>
          </p:cNvPr>
          <p:cNvSpPr>
            <a:spLocks noGrp="1"/>
          </p:cNvSpPr>
          <p:nvPr>
            <p:ph sz="half" idx="1"/>
          </p:nvPr>
        </p:nvSpPr>
        <p:spPr>
          <a:xfrm>
            <a:off x="838200" y="1690688"/>
            <a:ext cx="5181600" cy="4351338"/>
          </a:xfrm>
        </p:spPr>
        <p:txBody>
          <a:bodyPr>
            <a:normAutofit/>
          </a:bodyPr>
          <a:lstStyle/>
          <a:p>
            <a:r>
              <a:rPr lang="en-US" sz="2400" dirty="0"/>
              <a:t>These programs provide incentives to designers to build facilities that are better than the required energy code. </a:t>
            </a:r>
          </a:p>
          <a:p>
            <a:r>
              <a:rPr lang="en-US" sz="2400" dirty="0"/>
              <a:t>Many have evaluations that require M&amp;V to determine if the newly built buildings are actually operating per the improved design.</a:t>
            </a:r>
          </a:p>
        </p:txBody>
      </p:sp>
      <p:pic>
        <p:nvPicPr>
          <p:cNvPr id="8" name="Content Placeholder 7">
            <a:extLst>
              <a:ext uri="{FF2B5EF4-FFF2-40B4-BE49-F238E27FC236}">
                <a16:creationId xmlns:a16="http://schemas.microsoft.com/office/drawing/2014/main" id="{158E6E73-4D23-2096-0AFE-E9DAF08F5024}"/>
              </a:ext>
            </a:extLst>
          </p:cNvPr>
          <p:cNvPicPr>
            <a:picLocks noGrp="1" noChangeAspect="1"/>
          </p:cNvPicPr>
          <p:nvPr>
            <p:ph sz="half" idx="2"/>
          </p:nvPr>
        </p:nvPicPr>
        <p:blipFill>
          <a:blip r:embed="rId2">
            <a:extLst>
              <a:ext uri="{96DAC541-7B7A-43D3-8B79-37D633B846F1}">
                <asvg:svgBlip xmlns:asvg="http://schemas.microsoft.com/office/drawing/2016/SVG/main" r:embed="rId3"/>
              </a:ext>
            </a:extLst>
          </a:blip>
          <a:stretch>
            <a:fillRect/>
          </a:stretch>
        </p:blipFill>
        <p:spPr>
          <a:xfrm>
            <a:off x="6539874" y="1520207"/>
            <a:ext cx="4293851" cy="4293851"/>
          </a:xfrm>
        </p:spPr>
      </p:pic>
      <p:pic>
        <p:nvPicPr>
          <p:cNvPr id="7" name="Graphic 6">
            <a:extLst>
              <a:ext uri="{FF2B5EF4-FFF2-40B4-BE49-F238E27FC236}">
                <a16:creationId xmlns:a16="http://schemas.microsoft.com/office/drawing/2014/main" id="{E9F2168A-09AC-F60F-F14D-5D5EB0ED0F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336695" y="89019"/>
            <a:ext cx="914400" cy="914400"/>
          </a:xfrm>
          <a:prstGeom prst="rect">
            <a:avLst/>
          </a:prstGeom>
        </p:spPr>
      </p:pic>
      <p:pic>
        <p:nvPicPr>
          <p:cNvPr id="9" name="Graphic 8">
            <a:extLst>
              <a:ext uri="{FF2B5EF4-FFF2-40B4-BE49-F238E27FC236}">
                <a16:creationId xmlns:a16="http://schemas.microsoft.com/office/drawing/2014/main" id="{D4A15AC7-0104-8F55-461B-AFFA14100A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414372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38414-7615-211F-564F-E82CC15C9B79}"/>
              </a:ext>
            </a:extLst>
          </p:cNvPr>
          <p:cNvSpPr>
            <a:spLocks noGrp="1"/>
          </p:cNvSpPr>
          <p:nvPr>
            <p:ph type="title"/>
          </p:nvPr>
        </p:nvSpPr>
        <p:spPr>
          <a:xfrm>
            <a:off x="838200" y="365125"/>
            <a:ext cx="9498495" cy="1325563"/>
          </a:xfrm>
        </p:spPr>
        <p:txBody>
          <a:bodyPr>
            <a:normAutofit fontScale="90000"/>
          </a:bodyPr>
          <a:lstStyle/>
          <a:p>
            <a:pPr>
              <a:lnSpc>
                <a:spcPct val="100000"/>
              </a:lnSpc>
            </a:pPr>
            <a:r>
              <a:rPr lang="en-US"/>
              <a:t>Utility Program Considerations</a:t>
            </a:r>
            <a:endParaRPr lang="en-US" sz="3600" b="0" i="1"/>
          </a:p>
        </p:txBody>
      </p:sp>
      <p:sp>
        <p:nvSpPr>
          <p:cNvPr id="3" name="Content Placeholder 2">
            <a:extLst>
              <a:ext uri="{FF2B5EF4-FFF2-40B4-BE49-F238E27FC236}">
                <a16:creationId xmlns:a16="http://schemas.microsoft.com/office/drawing/2014/main" id="{EB47ADD1-91B3-2E83-656E-A4A59AFDFD5E}"/>
              </a:ext>
            </a:extLst>
          </p:cNvPr>
          <p:cNvSpPr>
            <a:spLocks noGrp="1"/>
          </p:cNvSpPr>
          <p:nvPr>
            <p:ph idx="1"/>
          </p:nvPr>
        </p:nvSpPr>
        <p:spPr>
          <a:xfrm>
            <a:off x="838200" y="1690688"/>
            <a:ext cx="10515600" cy="4351338"/>
          </a:xfrm>
        </p:spPr>
        <p:txBody>
          <a:bodyPr>
            <a:normAutofit/>
          </a:bodyPr>
          <a:lstStyle/>
          <a:p>
            <a:pPr>
              <a:spcBef>
                <a:spcPts val="1200"/>
              </a:spcBef>
            </a:pPr>
            <a:r>
              <a:rPr lang="en-US" sz="2400"/>
              <a:t>In utility program contexts, M&amp;V and EM&amp;V play complementary roles. An M&amp;V plan guides how a project or program will be implemented, whereas an EM&amp;V plan guides how a program or portfolio will be evaluated.</a:t>
            </a:r>
          </a:p>
          <a:p>
            <a:pPr>
              <a:spcBef>
                <a:spcPts val="1200"/>
              </a:spcBef>
            </a:pPr>
            <a:r>
              <a:rPr lang="en-US" sz="2400"/>
              <a:t>Similarly, an implementor will be hired to design and/or carry out an M&amp;V plan, whereas an evaluator will be hired to design and/or carry out the EM&amp;V plan.</a:t>
            </a:r>
          </a:p>
          <a:p>
            <a:pPr>
              <a:spcBef>
                <a:spcPts val="1200"/>
              </a:spcBef>
            </a:pPr>
            <a:r>
              <a:rPr lang="en-US" sz="2400"/>
              <a:t>In most cases, utilities, regulators, implementors, and evaluators are all involved in M&amp;V and EM&amp;V planning processes.</a:t>
            </a:r>
          </a:p>
        </p:txBody>
      </p:sp>
      <p:pic>
        <p:nvPicPr>
          <p:cNvPr id="6" name="Graphic 5">
            <a:extLst>
              <a:ext uri="{FF2B5EF4-FFF2-40B4-BE49-F238E27FC236}">
                <a16:creationId xmlns:a16="http://schemas.microsoft.com/office/drawing/2014/main" id="{85B822DD-19EA-6C91-C96C-CB2AF9E16E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36695" y="89019"/>
            <a:ext cx="914400" cy="914400"/>
          </a:xfrm>
          <a:prstGeom prst="rect">
            <a:avLst/>
          </a:prstGeom>
        </p:spPr>
      </p:pic>
      <p:pic>
        <p:nvPicPr>
          <p:cNvPr id="7" name="Graphic 6">
            <a:extLst>
              <a:ext uri="{FF2B5EF4-FFF2-40B4-BE49-F238E27FC236}">
                <a16:creationId xmlns:a16="http://schemas.microsoft.com/office/drawing/2014/main" id="{26EAA957-A224-C27E-D024-811B7576CE4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9969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81AEC-B9BF-31E5-8B15-22C7D9F4A2DF}"/>
              </a:ext>
            </a:extLst>
          </p:cNvPr>
          <p:cNvSpPr>
            <a:spLocks noGrp="1"/>
          </p:cNvSpPr>
          <p:nvPr>
            <p:ph type="title"/>
          </p:nvPr>
        </p:nvSpPr>
        <p:spPr/>
        <p:txBody>
          <a:bodyPr/>
          <a:lstStyle/>
          <a:p>
            <a:r>
              <a:rPr lang="en-US"/>
              <a:t>Timing</a:t>
            </a:r>
          </a:p>
        </p:txBody>
      </p:sp>
      <p:sp>
        <p:nvSpPr>
          <p:cNvPr id="3" name="Content Placeholder 2">
            <a:extLst>
              <a:ext uri="{FF2B5EF4-FFF2-40B4-BE49-F238E27FC236}">
                <a16:creationId xmlns:a16="http://schemas.microsoft.com/office/drawing/2014/main" id="{F32193A7-CD48-AEA3-E574-385D4AB4EFED}"/>
              </a:ext>
            </a:extLst>
          </p:cNvPr>
          <p:cNvSpPr>
            <a:spLocks noGrp="1"/>
          </p:cNvSpPr>
          <p:nvPr>
            <p:ph idx="1"/>
          </p:nvPr>
        </p:nvSpPr>
        <p:spPr/>
        <p:txBody>
          <a:bodyPr>
            <a:normAutofit/>
          </a:bodyPr>
          <a:lstStyle/>
          <a:p>
            <a:r>
              <a:rPr lang="en-US" sz="2400"/>
              <a:t>M&amp;V planning usually occurs either at the start of a new utility program or the start of a new program cycle. If modifications to M&amp;V plans are required, they tend to be made at the start of a new program cycle. </a:t>
            </a:r>
          </a:p>
          <a:p>
            <a:r>
              <a:rPr lang="en-US" sz="2400"/>
              <a:t>Program cycle durations can vary across utilities and regulators. It is important to understand the timing of these cycles to adequately plan for proposed changes to M&amp;V and EM&amp;V plans.</a:t>
            </a:r>
          </a:p>
        </p:txBody>
      </p:sp>
      <p:pic>
        <p:nvPicPr>
          <p:cNvPr id="6" name="Graphic 5">
            <a:extLst>
              <a:ext uri="{FF2B5EF4-FFF2-40B4-BE49-F238E27FC236}">
                <a16:creationId xmlns:a16="http://schemas.microsoft.com/office/drawing/2014/main" id="{CE5BDBA7-0869-8135-A4E1-28DCB137A7E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36695" y="89019"/>
            <a:ext cx="914400" cy="914400"/>
          </a:xfrm>
          <a:prstGeom prst="rect">
            <a:avLst/>
          </a:prstGeom>
        </p:spPr>
      </p:pic>
      <p:pic>
        <p:nvPicPr>
          <p:cNvPr id="7" name="Graphic 6">
            <a:extLst>
              <a:ext uri="{FF2B5EF4-FFF2-40B4-BE49-F238E27FC236}">
                <a16:creationId xmlns:a16="http://schemas.microsoft.com/office/drawing/2014/main" id="{71596988-E97B-CB4A-B53A-5A46C32E3D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612658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857E5-C992-3D40-8DA4-6E4A2F96831C}"/>
              </a:ext>
            </a:extLst>
          </p:cNvPr>
          <p:cNvSpPr>
            <a:spLocks noGrp="1"/>
          </p:cNvSpPr>
          <p:nvPr>
            <p:ph type="title"/>
          </p:nvPr>
        </p:nvSpPr>
        <p:spPr>
          <a:xfrm>
            <a:off x="838200" y="365125"/>
            <a:ext cx="7647114" cy="1325563"/>
          </a:xfrm>
        </p:spPr>
        <p:txBody>
          <a:bodyPr/>
          <a:lstStyle/>
          <a:p>
            <a:r>
              <a:rPr lang="en-US"/>
              <a:t>Other Possible Contexts</a:t>
            </a:r>
          </a:p>
        </p:txBody>
      </p:sp>
      <p:sp>
        <p:nvSpPr>
          <p:cNvPr id="3" name="Content Placeholder 2">
            <a:extLst>
              <a:ext uri="{FF2B5EF4-FFF2-40B4-BE49-F238E27FC236}">
                <a16:creationId xmlns:a16="http://schemas.microsoft.com/office/drawing/2014/main" id="{09A5DD7C-59FB-2E05-9BFE-04AB1CD8BAB8}"/>
              </a:ext>
            </a:extLst>
          </p:cNvPr>
          <p:cNvSpPr>
            <a:spLocks noGrp="1"/>
          </p:cNvSpPr>
          <p:nvPr>
            <p:ph idx="1"/>
          </p:nvPr>
        </p:nvSpPr>
        <p:spPr>
          <a:xfrm>
            <a:off x="838200" y="1690688"/>
            <a:ext cx="10515600" cy="4486275"/>
          </a:xfrm>
        </p:spPr>
        <p:txBody>
          <a:bodyPr vert="horz" lIns="91440" tIns="45720" rIns="91440" bIns="45720" rtlCol="0" anchor="t">
            <a:normAutofit fontScale="92500" lnSpcReduction="10000"/>
          </a:bodyPr>
          <a:lstStyle/>
          <a:p>
            <a:pPr marL="457200" indent="-457200">
              <a:buChar char="•"/>
            </a:pPr>
            <a:r>
              <a:rPr lang="en-US" sz="2400" dirty="0">
                <a:cs typeface="Semplicita Pro"/>
              </a:rPr>
              <a:t>A Super ESCO program on behalf of the US federal government</a:t>
            </a:r>
          </a:p>
          <a:p>
            <a:pPr marL="457200" indent="-457200">
              <a:buChar char="•"/>
            </a:pPr>
            <a:r>
              <a:rPr lang="en-US" sz="2400" dirty="0">
                <a:cs typeface="Semplicita Pro"/>
              </a:rPr>
              <a:t>A government incentive program in New South Wales, Australia</a:t>
            </a:r>
          </a:p>
          <a:p>
            <a:pPr marL="457200" indent="-457200">
              <a:buChar char="•"/>
            </a:pPr>
            <a:r>
              <a:rPr lang="en-US" sz="2400" dirty="0">
                <a:cs typeface="Semplicita Pro"/>
              </a:rPr>
              <a:t>A strategic energy management (SEM) program in California</a:t>
            </a:r>
          </a:p>
          <a:p>
            <a:pPr marL="1143000" lvl="1" indent="-457200"/>
            <a:r>
              <a:rPr lang="en-US" sz="2000" dirty="0">
                <a:cs typeface="Semplicita Pro"/>
              </a:rPr>
              <a:t>ISO 50001 </a:t>
            </a:r>
          </a:p>
          <a:p>
            <a:pPr marL="457200" indent="-457200">
              <a:buChar char="•"/>
            </a:pPr>
            <a:r>
              <a:rPr lang="en-US" sz="2400" dirty="0"/>
              <a:t>A tax incentive program in South Africa </a:t>
            </a:r>
          </a:p>
          <a:p>
            <a:pPr marL="457200" indent="-457200">
              <a:buChar char="•"/>
            </a:pPr>
            <a:r>
              <a:rPr lang="en-US" sz="2400" dirty="0">
                <a:cs typeface="Semplicita Pro" panose="02000000000000000000" pitchFamily="2" charset="77"/>
              </a:rPr>
              <a:t>IRA Tax Incentives – 179D</a:t>
            </a:r>
          </a:p>
          <a:p>
            <a:pPr marL="457200" indent="-457200">
              <a:buChar char="•"/>
            </a:pPr>
            <a:r>
              <a:rPr lang="en-US" sz="2400" dirty="0"/>
              <a:t>Carbon trading</a:t>
            </a:r>
            <a:endParaRPr lang="en-US" sz="2400" dirty="0">
              <a:cs typeface="Semplicita Pro" panose="02000000000000000000" pitchFamily="2" charset="77"/>
            </a:endParaRPr>
          </a:p>
          <a:p>
            <a:pPr marL="457200" indent="-457200">
              <a:buChar char="•"/>
            </a:pPr>
            <a:r>
              <a:rPr lang="en-US" sz="2400" dirty="0" err="1">
                <a:cs typeface="Semplicita Pro"/>
              </a:rPr>
              <a:t>FLEXmarket</a:t>
            </a:r>
            <a:r>
              <a:rPr lang="en-US" sz="2400" dirty="0">
                <a:cs typeface="Semplicita Pro"/>
              </a:rPr>
              <a:t>—the future of M&amp;V?</a:t>
            </a:r>
          </a:p>
          <a:p>
            <a:pPr marL="457200" indent="-457200">
              <a:buChar char="•"/>
            </a:pPr>
            <a:r>
              <a:rPr lang="en-US" sz="2400" dirty="0">
                <a:cs typeface="Semplicita Pro" panose="02000000000000000000" pitchFamily="2" charset="77"/>
              </a:rPr>
              <a:t>Utility Energy Service Contracts (UESC)</a:t>
            </a:r>
          </a:p>
        </p:txBody>
      </p:sp>
      <p:pic>
        <p:nvPicPr>
          <p:cNvPr id="6" name="Graphic 5">
            <a:extLst>
              <a:ext uri="{FF2B5EF4-FFF2-40B4-BE49-F238E27FC236}">
                <a16:creationId xmlns:a16="http://schemas.microsoft.com/office/drawing/2014/main" id="{95D3F9C5-3206-E6DF-C712-AA43AA3D25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6ACE173F-568A-8CAA-A2B5-1C253E72F9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34BA5E49-66C0-807A-974B-438320B8213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85314" y="89019"/>
            <a:ext cx="914400" cy="914400"/>
          </a:xfrm>
          <a:prstGeom prst="rect">
            <a:avLst/>
          </a:prstGeom>
        </p:spPr>
      </p:pic>
      <p:pic>
        <p:nvPicPr>
          <p:cNvPr id="9" name="Graphic 8">
            <a:extLst>
              <a:ext uri="{FF2B5EF4-FFF2-40B4-BE49-F238E27FC236}">
                <a16:creationId xmlns:a16="http://schemas.microsoft.com/office/drawing/2014/main" id="{96E921AC-8E77-65DD-0C1B-2F54B21835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59143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C3529-180E-881F-C8C2-793286BCA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AF714F-DAE1-F75F-6095-15209B77F522}"/>
              </a:ext>
            </a:extLst>
          </p:cNvPr>
          <p:cNvSpPr>
            <a:spLocks noGrp="1"/>
          </p:cNvSpPr>
          <p:nvPr>
            <p:ph type="title"/>
          </p:nvPr>
        </p:nvSpPr>
        <p:spPr>
          <a:xfrm>
            <a:off x="838200" y="365125"/>
            <a:ext cx="7647114" cy="1325563"/>
          </a:xfrm>
        </p:spPr>
        <p:txBody>
          <a:bodyPr/>
          <a:lstStyle/>
          <a:p>
            <a:r>
              <a:rPr lang="en-US" dirty="0"/>
              <a:t>Other Possible Contexts (</a:t>
            </a:r>
            <a:r>
              <a:rPr lang="en-US" dirty="0" err="1"/>
              <a:t>cont</a:t>
            </a:r>
            <a:r>
              <a:rPr lang="en-US" dirty="0"/>
              <a:t>)</a:t>
            </a:r>
          </a:p>
        </p:txBody>
      </p:sp>
      <p:sp>
        <p:nvSpPr>
          <p:cNvPr id="3" name="Content Placeholder 2">
            <a:extLst>
              <a:ext uri="{FF2B5EF4-FFF2-40B4-BE49-F238E27FC236}">
                <a16:creationId xmlns:a16="http://schemas.microsoft.com/office/drawing/2014/main" id="{EDC65223-979C-D7AE-238A-00F46009EAB8}"/>
              </a:ext>
            </a:extLst>
          </p:cNvPr>
          <p:cNvSpPr>
            <a:spLocks noGrp="1"/>
          </p:cNvSpPr>
          <p:nvPr>
            <p:ph idx="1"/>
          </p:nvPr>
        </p:nvSpPr>
        <p:spPr>
          <a:xfrm>
            <a:off x="838200" y="1690688"/>
            <a:ext cx="10515600" cy="4486275"/>
          </a:xfrm>
        </p:spPr>
        <p:txBody>
          <a:bodyPr vert="horz" lIns="91440" tIns="45720" rIns="91440" bIns="45720" rtlCol="0" anchor="t">
            <a:normAutofit/>
          </a:bodyPr>
          <a:lstStyle/>
          <a:p>
            <a:r>
              <a:rPr lang="en-US" b="1" dirty="0"/>
              <a:t>ESG Reporting Frameworks</a:t>
            </a:r>
            <a:endParaRPr lang="en-US" dirty="0"/>
          </a:p>
          <a:p>
            <a:pPr marL="457200" lvl="0" indent="-457200">
              <a:buFont typeface="Arial" panose="020B0604020202020204" pitchFamily="34" charset="0"/>
              <a:buChar char="•"/>
            </a:pPr>
            <a:r>
              <a:rPr lang="en-US" dirty="0"/>
              <a:t>GHG Protocol - corporate carbon accounting</a:t>
            </a:r>
          </a:p>
          <a:p>
            <a:pPr marL="457200" lvl="0" indent="-457200">
              <a:buFont typeface="Arial" panose="020B0604020202020204" pitchFamily="34" charset="0"/>
              <a:buChar char="•"/>
            </a:pPr>
            <a:r>
              <a:rPr lang="en-US" dirty="0"/>
              <a:t>GRESB - real estate sustainability benchmarking</a:t>
            </a:r>
          </a:p>
          <a:p>
            <a:pPr marL="457200" lvl="0" indent="-457200">
              <a:buFont typeface="Arial" panose="020B0604020202020204" pitchFamily="34" charset="0"/>
              <a:buChar char="•"/>
            </a:pPr>
            <a:r>
              <a:rPr lang="en-US" dirty="0"/>
              <a:t>ISO 14064 - greenhouse gas inventory verification</a:t>
            </a:r>
          </a:p>
          <a:p>
            <a:pPr marL="457200" indent="-457200">
              <a:buChar char="•"/>
            </a:pPr>
            <a:endParaRPr lang="en-US" sz="2400" dirty="0">
              <a:cs typeface="Semplicita Pro"/>
            </a:endParaRPr>
          </a:p>
        </p:txBody>
      </p:sp>
      <p:pic>
        <p:nvPicPr>
          <p:cNvPr id="6" name="Graphic 5">
            <a:extLst>
              <a:ext uri="{FF2B5EF4-FFF2-40B4-BE49-F238E27FC236}">
                <a16:creationId xmlns:a16="http://schemas.microsoft.com/office/drawing/2014/main" id="{6DC608ED-9CEB-5A50-5B7E-5F714E041A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91422082-293D-2802-E6AC-4770C6C460C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48ABCB6D-E8B0-6784-9820-02FFAD306AB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85314" y="89019"/>
            <a:ext cx="914400" cy="914400"/>
          </a:xfrm>
          <a:prstGeom prst="rect">
            <a:avLst/>
          </a:prstGeom>
        </p:spPr>
      </p:pic>
      <p:pic>
        <p:nvPicPr>
          <p:cNvPr id="9" name="Graphic 8">
            <a:extLst>
              <a:ext uri="{FF2B5EF4-FFF2-40B4-BE49-F238E27FC236}">
                <a16:creationId xmlns:a16="http://schemas.microsoft.com/office/drawing/2014/main" id="{641041FA-2C0C-C78A-CA00-B07EEFC7037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457594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B50AF-27C3-09B3-1641-4C59DFA5EC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81D8AB-8ED4-7069-0A04-1D0F9FC01CED}"/>
              </a:ext>
            </a:extLst>
          </p:cNvPr>
          <p:cNvSpPr>
            <a:spLocks noGrp="1"/>
          </p:cNvSpPr>
          <p:nvPr>
            <p:ph type="title"/>
          </p:nvPr>
        </p:nvSpPr>
        <p:spPr>
          <a:xfrm>
            <a:off x="838200" y="365125"/>
            <a:ext cx="7647114" cy="1325563"/>
          </a:xfrm>
        </p:spPr>
        <p:txBody>
          <a:bodyPr/>
          <a:lstStyle/>
          <a:p>
            <a:r>
              <a:rPr lang="en-US" dirty="0"/>
              <a:t>Other Possible Contexts (</a:t>
            </a:r>
            <a:r>
              <a:rPr lang="en-US" dirty="0" err="1"/>
              <a:t>cont</a:t>
            </a:r>
            <a:r>
              <a:rPr lang="en-US" dirty="0"/>
              <a:t>)</a:t>
            </a:r>
          </a:p>
        </p:txBody>
      </p:sp>
      <p:sp>
        <p:nvSpPr>
          <p:cNvPr id="3" name="Content Placeholder 2">
            <a:extLst>
              <a:ext uri="{FF2B5EF4-FFF2-40B4-BE49-F238E27FC236}">
                <a16:creationId xmlns:a16="http://schemas.microsoft.com/office/drawing/2014/main" id="{8F9B5585-7B2A-1D53-AA03-AB36C9478498}"/>
              </a:ext>
            </a:extLst>
          </p:cNvPr>
          <p:cNvSpPr>
            <a:spLocks noGrp="1"/>
          </p:cNvSpPr>
          <p:nvPr>
            <p:ph idx="1"/>
          </p:nvPr>
        </p:nvSpPr>
        <p:spPr>
          <a:xfrm>
            <a:off x="838200" y="1690688"/>
            <a:ext cx="10515600" cy="4486275"/>
          </a:xfrm>
        </p:spPr>
        <p:txBody>
          <a:bodyPr vert="horz" lIns="91440" tIns="45720" rIns="91440" bIns="45720" rtlCol="0" anchor="t">
            <a:normAutofit/>
          </a:bodyPr>
          <a:lstStyle/>
          <a:p>
            <a:r>
              <a:rPr lang="en-US" b="1" dirty="0"/>
              <a:t>"Carbon Accounting and M&amp;V"</a:t>
            </a:r>
            <a:endParaRPr lang="en-US" dirty="0"/>
          </a:p>
          <a:p>
            <a:pPr marL="457200" lvl="0" indent="-457200">
              <a:buFont typeface="Arial" panose="020B0604020202020204" pitchFamily="34" charset="0"/>
              <a:buChar char="•"/>
            </a:pPr>
            <a:r>
              <a:rPr lang="en-US" dirty="0"/>
              <a:t>Operational carbon vs. embodied carbon</a:t>
            </a:r>
          </a:p>
          <a:p>
            <a:pPr marL="457200" lvl="0" indent="-457200">
              <a:buFont typeface="Arial" panose="020B0604020202020204" pitchFamily="34" charset="0"/>
              <a:buChar char="•"/>
            </a:pPr>
            <a:r>
              <a:rPr lang="en-US" dirty="0"/>
              <a:t>Scope 1, 2, 3 emissions</a:t>
            </a:r>
          </a:p>
          <a:p>
            <a:pPr marL="457200" lvl="0" indent="-457200">
              <a:buFont typeface="Arial" panose="020B0604020202020204" pitchFamily="34" charset="0"/>
              <a:buChar char="•"/>
            </a:pPr>
            <a:r>
              <a:rPr lang="en-US" dirty="0"/>
              <a:t>M&amp;V role in carbon credit verification</a:t>
            </a:r>
          </a:p>
          <a:p>
            <a:pPr marL="457200" lvl="0" indent="-457200">
              <a:buFont typeface="Arial" panose="020B0604020202020204" pitchFamily="34" charset="0"/>
              <a:buChar char="•"/>
            </a:pPr>
            <a:r>
              <a:rPr lang="en-US" dirty="0"/>
              <a:t>Real-time carbon attribution (emerging)</a:t>
            </a:r>
          </a:p>
        </p:txBody>
      </p:sp>
      <p:pic>
        <p:nvPicPr>
          <p:cNvPr id="6" name="Graphic 5">
            <a:extLst>
              <a:ext uri="{FF2B5EF4-FFF2-40B4-BE49-F238E27FC236}">
                <a16:creationId xmlns:a16="http://schemas.microsoft.com/office/drawing/2014/main" id="{11D416CA-0152-4044-98D8-EA17AE2E2C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B24709EE-0E91-8591-5FBA-0D0E6F630EE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BC9333F3-E179-64C0-EF91-08962DD3FAF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85314" y="89019"/>
            <a:ext cx="914400" cy="914400"/>
          </a:xfrm>
          <a:prstGeom prst="rect">
            <a:avLst/>
          </a:prstGeom>
        </p:spPr>
      </p:pic>
      <p:pic>
        <p:nvPicPr>
          <p:cNvPr id="9" name="Graphic 8">
            <a:extLst>
              <a:ext uri="{FF2B5EF4-FFF2-40B4-BE49-F238E27FC236}">
                <a16:creationId xmlns:a16="http://schemas.microsoft.com/office/drawing/2014/main" id="{07CD54FA-C5CD-CD8C-6020-7F0667F2DAC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66058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F5B82-DFA1-655B-A50C-9B56A621B640}"/>
              </a:ext>
            </a:extLst>
          </p:cNvPr>
          <p:cNvSpPr>
            <a:spLocks noGrp="1"/>
          </p:cNvSpPr>
          <p:nvPr>
            <p:ph type="title"/>
          </p:nvPr>
        </p:nvSpPr>
        <p:spPr/>
        <p:txBody>
          <a:bodyPr/>
          <a:lstStyle/>
          <a:p>
            <a:r>
              <a:rPr lang="en-US" dirty="0"/>
              <a:t>M&amp;V 2.0 </a:t>
            </a:r>
          </a:p>
        </p:txBody>
      </p:sp>
      <p:sp>
        <p:nvSpPr>
          <p:cNvPr id="3" name="Content Placeholder 2">
            <a:extLst>
              <a:ext uri="{FF2B5EF4-FFF2-40B4-BE49-F238E27FC236}">
                <a16:creationId xmlns:a16="http://schemas.microsoft.com/office/drawing/2014/main" id="{E1D1B32B-CDE5-ABDA-63A0-E80C58F7E850}"/>
              </a:ext>
            </a:extLst>
          </p:cNvPr>
          <p:cNvSpPr>
            <a:spLocks noGrp="1"/>
          </p:cNvSpPr>
          <p:nvPr>
            <p:ph idx="1"/>
          </p:nvPr>
        </p:nvSpPr>
        <p:spPr>
          <a:xfrm>
            <a:off x="838200" y="1690688"/>
            <a:ext cx="10515600" cy="4351338"/>
          </a:xfrm>
        </p:spPr>
        <p:txBody>
          <a:bodyPr>
            <a:normAutofit/>
          </a:bodyPr>
          <a:lstStyle/>
          <a:p>
            <a:r>
              <a:rPr lang="en-US" sz="2400" dirty="0"/>
              <a:t>In recent years, advanced metering infrastructure and sophisticated data analytics tools have proliferated. Together, these developments have ushered in “M&amp;V 2.0,” characterized by the following:</a:t>
            </a:r>
          </a:p>
          <a:p>
            <a:pPr marL="457200" indent="-457200">
              <a:buFont typeface="Arial" panose="020B0604020202020204" pitchFamily="34" charset="0"/>
              <a:buChar char="•"/>
            </a:pPr>
            <a:r>
              <a:rPr lang="en-US" sz="2400" b="1" dirty="0"/>
              <a:t>Granularity</a:t>
            </a:r>
            <a:r>
              <a:rPr lang="en-US" sz="2400" dirty="0"/>
              <a:t>: Advanced metering infrastructure automatically measures energy use data at a granular level (hourly or sub-hourly).</a:t>
            </a:r>
          </a:p>
          <a:p>
            <a:pPr marL="457200" indent="-457200">
              <a:buFont typeface="Arial" panose="020B0604020202020204" pitchFamily="34" charset="0"/>
              <a:buChar char="•"/>
            </a:pPr>
            <a:r>
              <a:rPr lang="en-US" sz="2400" b="1" dirty="0"/>
              <a:t>Automated Analysis</a:t>
            </a:r>
            <a:r>
              <a:rPr lang="en-US" sz="2400" dirty="0"/>
              <a:t>: Automated analysis of granular data allows for precise and near-real-time performance measurement.</a:t>
            </a:r>
          </a:p>
          <a:p>
            <a:endParaRPr lang="en-US" sz="2400" dirty="0"/>
          </a:p>
        </p:txBody>
      </p:sp>
      <p:pic>
        <p:nvPicPr>
          <p:cNvPr id="6" name="Graphic 5">
            <a:extLst>
              <a:ext uri="{FF2B5EF4-FFF2-40B4-BE49-F238E27FC236}">
                <a16:creationId xmlns:a16="http://schemas.microsoft.com/office/drawing/2014/main" id="{04D0F589-33FA-1EB4-C112-C397E4DAAE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258613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7E8EC-9EA8-9341-66E0-E160B821E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EE55F-4D53-1B94-D43B-2705BF0416C2}"/>
              </a:ext>
            </a:extLst>
          </p:cNvPr>
          <p:cNvSpPr>
            <a:spLocks noGrp="1"/>
          </p:cNvSpPr>
          <p:nvPr>
            <p:ph type="title"/>
          </p:nvPr>
        </p:nvSpPr>
        <p:spPr/>
        <p:txBody>
          <a:bodyPr/>
          <a:lstStyle/>
          <a:p>
            <a:r>
              <a:rPr lang="en-US" dirty="0"/>
              <a:t>M&amp;V 2.0 &gt; AMI 2.0? </a:t>
            </a:r>
          </a:p>
        </p:txBody>
      </p:sp>
      <p:sp>
        <p:nvSpPr>
          <p:cNvPr id="3" name="Content Placeholder 2">
            <a:extLst>
              <a:ext uri="{FF2B5EF4-FFF2-40B4-BE49-F238E27FC236}">
                <a16:creationId xmlns:a16="http://schemas.microsoft.com/office/drawing/2014/main" id="{8508F6D2-C07F-3CA8-6F25-7D6285F8F336}"/>
              </a:ext>
            </a:extLst>
          </p:cNvPr>
          <p:cNvSpPr>
            <a:spLocks noGrp="1"/>
          </p:cNvSpPr>
          <p:nvPr>
            <p:ph idx="1"/>
          </p:nvPr>
        </p:nvSpPr>
        <p:spPr>
          <a:xfrm>
            <a:off x="838200" y="1690688"/>
            <a:ext cx="10515600" cy="4351338"/>
          </a:xfrm>
        </p:spPr>
        <p:txBody>
          <a:bodyPr>
            <a:normAutofit/>
          </a:bodyPr>
          <a:lstStyle/>
          <a:p>
            <a:r>
              <a:rPr lang="en-US" sz="2400" dirty="0"/>
              <a:t>And now, sub-second meters – more later on this</a:t>
            </a:r>
          </a:p>
          <a:p>
            <a:pPr marL="342900" indent="-342900">
              <a:buFont typeface="Arial" panose="020B0604020202020204" pitchFamily="34" charset="0"/>
              <a:buChar char="•"/>
            </a:pPr>
            <a:r>
              <a:rPr lang="en-US" sz="2400" b="1" dirty="0"/>
              <a:t>Granularity</a:t>
            </a:r>
            <a:r>
              <a:rPr lang="en-US" sz="2400" dirty="0"/>
              <a:t>: Identify loads </a:t>
            </a:r>
          </a:p>
          <a:p>
            <a:endParaRPr lang="en-US" sz="2400" b="1" dirty="0"/>
          </a:p>
          <a:p>
            <a:pPr marL="342900" indent="-342900">
              <a:buFont typeface="Arial" panose="020B0604020202020204" pitchFamily="34" charset="0"/>
              <a:buChar char="•"/>
            </a:pPr>
            <a:r>
              <a:rPr lang="en-US" sz="2400" b="1" dirty="0"/>
              <a:t>Automated Analysis</a:t>
            </a:r>
            <a:r>
              <a:rPr lang="en-US" sz="2400" dirty="0"/>
              <a:t>: Detailed analysis</a:t>
            </a:r>
          </a:p>
          <a:p>
            <a:endParaRPr lang="en-US" sz="2400" dirty="0"/>
          </a:p>
        </p:txBody>
      </p:sp>
      <p:pic>
        <p:nvPicPr>
          <p:cNvPr id="6" name="Graphic 5">
            <a:extLst>
              <a:ext uri="{FF2B5EF4-FFF2-40B4-BE49-F238E27FC236}">
                <a16:creationId xmlns:a16="http://schemas.microsoft.com/office/drawing/2014/main" id="{B10C4FD9-F816-6822-DBFE-954EA289C7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679828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Graphic 21">
            <a:extLst>
              <a:ext uri="{FF2B5EF4-FFF2-40B4-BE49-F238E27FC236}">
                <a16:creationId xmlns:a16="http://schemas.microsoft.com/office/drawing/2014/main" id="{420B0822-2A1B-5AD6-8A6A-881B9A02A9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
        <p:nvSpPr>
          <p:cNvPr id="8" name="Title 7">
            <a:extLst>
              <a:ext uri="{FF2B5EF4-FFF2-40B4-BE49-F238E27FC236}">
                <a16:creationId xmlns:a16="http://schemas.microsoft.com/office/drawing/2014/main" id="{49F3696C-7BB5-0413-962B-53DD2D42B47C}"/>
              </a:ext>
            </a:extLst>
          </p:cNvPr>
          <p:cNvSpPr>
            <a:spLocks noGrp="1"/>
          </p:cNvSpPr>
          <p:nvPr>
            <p:ph type="title"/>
          </p:nvPr>
        </p:nvSpPr>
        <p:spPr/>
        <p:txBody>
          <a:bodyPr/>
          <a:lstStyle/>
          <a:p>
            <a:r>
              <a:rPr lang="en-US"/>
              <a:t>FLEXmarket</a:t>
            </a:r>
          </a:p>
        </p:txBody>
      </p:sp>
      <p:sp>
        <p:nvSpPr>
          <p:cNvPr id="9" name="Content Placeholder 8">
            <a:extLst>
              <a:ext uri="{FF2B5EF4-FFF2-40B4-BE49-F238E27FC236}">
                <a16:creationId xmlns:a16="http://schemas.microsoft.com/office/drawing/2014/main" id="{F735408E-FA99-0FCC-5E4E-319D75E4D506}"/>
              </a:ext>
            </a:extLst>
          </p:cNvPr>
          <p:cNvSpPr>
            <a:spLocks noGrp="1"/>
          </p:cNvSpPr>
          <p:nvPr>
            <p:ph sz="half" idx="1"/>
          </p:nvPr>
        </p:nvSpPr>
        <p:spPr>
          <a:xfrm>
            <a:off x="838200" y="1825625"/>
            <a:ext cx="3971018" cy="4351338"/>
          </a:xfrm>
        </p:spPr>
        <p:txBody>
          <a:bodyPr>
            <a:normAutofit/>
          </a:bodyPr>
          <a:lstStyle/>
          <a:p>
            <a:r>
              <a:rPr lang="en-US" sz="2400"/>
              <a:t>FLEXmarket is a platform for the sharing of energy use data. </a:t>
            </a:r>
          </a:p>
          <a:p>
            <a:r>
              <a:rPr lang="en-US" sz="2400"/>
              <a:t>It was originally implemented in northern California.</a:t>
            </a:r>
          </a:p>
        </p:txBody>
      </p:sp>
      <p:graphicFrame>
        <p:nvGraphicFramePr>
          <p:cNvPr id="10" name="Content Placeholder 9">
            <a:extLst>
              <a:ext uri="{FF2B5EF4-FFF2-40B4-BE49-F238E27FC236}">
                <a16:creationId xmlns:a16="http://schemas.microsoft.com/office/drawing/2014/main" id="{3503FED7-9A3C-DDD6-E5E9-A58D7718486D}"/>
              </a:ext>
            </a:extLst>
          </p:cNvPr>
          <p:cNvGraphicFramePr>
            <a:graphicFrameLocks noGrp="1"/>
          </p:cNvGraphicFramePr>
          <p:nvPr>
            <p:ph sz="half" idx="2"/>
          </p:nvPr>
        </p:nvGraphicFramePr>
        <p:xfrm>
          <a:off x="4809218" y="681037"/>
          <a:ext cx="6544582" cy="549592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489354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A231A65-DDBF-C56D-8394-7BC96B4EBF15}"/>
              </a:ext>
            </a:extLst>
          </p:cNvPr>
          <p:cNvSpPr>
            <a:spLocks noGrp="1"/>
          </p:cNvSpPr>
          <p:nvPr>
            <p:ph idx="1"/>
          </p:nvPr>
        </p:nvSpPr>
        <p:spPr>
          <a:xfrm>
            <a:off x="838200" y="1253331"/>
            <a:ext cx="10515600" cy="4351338"/>
          </a:xfrm>
        </p:spPr>
        <p:txBody>
          <a:bodyPr anchor="ctr">
            <a:normAutofit/>
          </a:bodyPr>
          <a:lstStyle/>
          <a:p>
            <a:pPr marL="0" indent="0">
              <a:lnSpc>
                <a:spcPct val="100000"/>
              </a:lnSpc>
              <a:spcBef>
                <a:spcPts val="1600"/>
              </a:spcBef>
              <a:buNone/>
            </a:pPr>
            <a:r>
              <a:rPr lang="en-US" sz="4400" b="1" i="1">
                <a:latin typeface="Verdana" panose="020B0604030504040204" pitchFamily="34" charset="0"/>
              </a:rPr>
              <a:t>Consider the project’s context</a:t>
            </a:r>
            <a:r>
              <a:rPr lang="en-US" sz="4400" i="1"/>
              <a:t> when applying M&amp;V concepts.</a:t>
            </a:r>
          </a:p>
        </p:txBody>
      </p:sp>
    </p:spTree>
    <p:extLst>
      <p:ext uri="{BB962C8B-B14F-4D97-AF65-F5344CB8AC3E}">
        <p14:creationId xmlns:p14="http://schemas.microsoft.com/office/powerpoint/2010/main" val="4243094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F08E9-D27D-1853-1588-281ADEFBA51F}"/>
              </a:ext>
            </a:extLst>
          </p:cNvPr>
          <p:cNvSpPr>
            <a:spLocks noGrp="1"/>
          </p:cNvSpPr>
          <p:nvPr>
            <p:ph type="title"/>
          </p:nvPr>
        </p:nvSpPr>
        <p:spPr/>
        <p:txBody>
          <a:bodyPr/>
          <a:lstStyle/>
          <a:p>
            <a:r>
              <a:rPr lang="en-US"/>
              <a:t>Guidelines, Standards, and Protocols</a:t>
            </a:r>
          </a:p>
        </p:txBody>
      </p:sp>
      <p:sp>
        <p:nvSpPr>
          <p:cNvPr id="3" name="Content Placeholder 2">
            <a:extLst>
              <a:ext uri="{FF2B5EF4-FFF2-40B4-BE49-F238E27FC236}">
                <a16:creationId xmlns:a16="http://schemas.microsoft.com/office/drawing/2014/main" id="{BF102198-D1B4-9263-E734-0468E22E67FB}"/>
              </a:ext>
            </a:extLst>
          </p:cNvPr>
          <p:cNvSpPr>
            <a:spLocks noGrp="1"/>
          </p:cNvSpPr>
          <p:nvPr>
            <p:ph sz="half" idx="1"/>
          </p:nvPr>
        </p:nvSpPr>
        <p:spPr>
          <a:xfrm>
            <a:off x="838199" y="1825625"/>
            <a:ext cx="6752573" cy="4351338"/>
          </a:xfrm>
        </p:spPr>
        <p:txBody>
          <a:bodyPr vert="horz" lIns="91440" tIns="45720" rIns="91440" bIns="45720" rtlCol="0" anchor="t">
            <a:normAutofit fontScale="70000" lnSpcReduction="20000"/>
          </a:bodyPr>
          <a:lstStyle/>
          <a:p>
            <a:pPr marL="0" indent="0">
              <a:lnSpc>
                <a:spcPct val="120000"/>
              </a:lnSpc>
              <a:spcBef>
                <a:spcPts val="1600"/>
              </a:spcBef>
              <a:buNone/>
            </a:pPr>
            <a:r>
              <a:rPr lang="en-US" dirty="0">
                <a:cs typeface="Semplicita Pro"/>
              </a:rPr>
              <a:t>There are numerous guidelines, standards, and protocols issued by governmental and professional organizations that define M&amp;V and describe it as a process and set of concepts. For example:</a:t>
            </a:r>
          </a:p>
          <a:p>
            <a:pPr lvl="1">
              <a:lnSpc>
                <a:spcPct val="120000"/>
              </a:lnSpc>
              <a:spcBef>
                <a:spcPts val="1600"/>
              </a:spcBef>
            </a:pPr>
            <a:r>
              <a:rPr lang="en-US" dirty="0">
                <a:cs typeface="Semplicita Pro"/>
              </a:rPr>
              <a:t>ISO 50015:2014</a:t>
            </a:r>
          </a:p>
          <a:p>
            <a:pPr lvl="1">
              <a:lnSpc>
                <a:spcPct val="120000"/>
              </a:lnSpc>
              <a:spcBef>
                <a:spcPts val="1600"/>
              </a:spcBef>
            </a:pPr>
            <a:r>
              <a:rPr lang="en-US" dirty="0">
                <a:cs typeface="Semplicita Pro"/>
              </a:rPr>
              <a:t>ASHRAE Guideline 14</a:t>
            </a:r>
          </a:p>
          <a:p>
            <a:pPr lvl="1">
              <a:lnSpc>
                <a:spcPct val="120000"/>
              </a:lnSpc>
              <a:spcBef>
                <a:spcPts val="1600"/>
              </a:spcBef>
            </a:pPr>
            <a:r>
              <a:rPr lang="en-US" dirty="0">
                <a:cs typeface="Semplicita Pro"/>
                <a:hlinkClick r:id="rId2"/>
              </a:rPr>
              <a:t>FEMP’s M&amp;V Guidelines</a:t>
            </a:r>
            <a:endParaRPr lang="en-US" dirty="0">
              <a:cs typeface="Semplicita Pro"/>
            </a:endParaRPr>
          </a:p>
          <a:p>
            <a:pPr lvl="1">
              <a:lnSpc>
                <a:spcPct val="120000"/>
              </a:lnSpc>
              <a:spcBef>
                <a:spcPts val="1600"/>
              </a:spcBef>
            </a:pPr>
            <a:r>
              <a:rPr lang="en-US" dirty="0"/>
              <a:t>Abu Dhabi M&amp;V Protocol Guidance Document</a:t>
            </a:r>
          </a:p>
          <a:p>
            <a:pPr lvl="1">
              <a:lnSpc>
                <a:spcPct val="120000"/>
              </a:lnSpc>
              <a:spcBef>
                <a:spcPts val="1600"/>
              </a:spcBef>
            </a:pPr>
            <a:r>
              <a:rPr lang="en-US" dirty="0">
                <a:cs typeface="Semplicita Pro"/>
              </a:rPr>
              <a:t>IPMVP</a:t>
            </a:r>
          </a:p>
          <a:p>
            <a:pPr lvl="1">
              <a:lnSpc>
                <a:spcPct val="120000"/>
              </a:lnSpc>
              <a:spcBef>
                <a:spcPts val="1600"/>
              </a:spcBef>
            </a:pPr>
            <a:r>
              <a:rPr lang="en-US" dirty="0">
                <a:cs typeface="Semplicita Pro"/>
              </a:rPr>
              <a:t>SANS 50010:2018</a:t>
            </a:r>
          </a:p>
        </p:txBody>
      </p:sp>
      <p:sp>
        <p:nvSpPr>
          <p:cNvPr id="8" name="Content Placeholder 7">
            <a:extLst>
              <a:ext uri="{FF2B5EF4-FFF2-40B4-BE49-F238E27FC236}">
                <a16:creationId xmlns:a16="http://schemas.microsoft.com/office/drawing/2014/main" id="{99067639-2ADB-F456-74C8-6A206EE3F60A}"/>
              </a:ext>
            </a:extLst>
          </p:cNvPr>
          <p:cNvSpPr>
            <a:spLocks noGrp="1"/>
          </p:cNvSpPr>
          <p:nvPr>
            <p:ph sz="half" idx="2"/>
          </p:nvPr>
        </p:nvSpPr>
        <p:spPr>
          <a:xfrm>
            <a:off x="7778662" y="1825625"/>
            <a:ext cx="3575137" cy="4351338"/>
          </a:xfrm>
        </p:spPr>
        <p:txBody>
          <a:bodyPr>
            <a:normAutofit fontScale="70000" lnSpcReduction="20000"/>
          </a:bodyPr>
          <a:lstStyle/>
          <a:p>
            <a:pPr marL="0" indent="0">
              <a:lnSpc>
                <a:spcPct val="120000"/>
              </a:lnSpc>
              <a:buNone/>
            </a:pPr>
            <a:r>
              <a:rPr lang="en-US"/>
              <a:t>These documents all center on the same core concept: the counterfactual method. However, they may vary in other respects because they serve different needs and contexts.</a:t>
            </a:r>
          </a:p>
        </p:txBody>
      </p:sp>
      <p:pic>
        <p:nvPicPr>
          <p:cNvPr id="6" name="Graphic 5">
            <a:extLst>
              <a:ext uri="{FF2B5EF4-FFF2-40B4-BE49-F238E27FC236}">
                <a16:creationId xmlns:a16="http://schemas.microsoft.com/office/drawing/2014/main" id="{3BCEE167-6860-EA90-245B-7249F40C5D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45060"/>
            <a:ext cx="914400" cy="914400"/>
          </a:xfrm>
          <a:prstGeom prst="rect">
            <a:avLst/>
          </a:prstGeom>
        </p:spPr>
      </p:pic>
      <p:sp>
        <p:nvSpPr>
          <p:cNvPr id="4" name="TextBox 3">
            <a:extLst>
              <a:ext uri="{FF2B5EF4-FFF2-40B4-BE49-F238E27FC236}">
                <a16:creationId xmlns:a16="http://schemas.microsoft.com/office/drawing/2014/main" id="{7C3EDBF4-B2C4-5974-CD5C-51C667A46E34}"/>
              </a:ext>
            </a:extLst>
          </p:cNvPr>
          <p:cNvSpPr txBox="1"/>
          <p:nvPr/>
        </p:nvSpPr>
        <p:spPr>
          <a:xfrm>
            <a:off x="2293621" y="6492875"/>
            <a:ext cx="9159239"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000">
                <a:effectLst/>
                <a:latin typeface="Verdana" panose="020B0604030504040204" pitchFamily="34" charset="0"/>
                <a:ea typeface="Verdana" panose="020B0604030504040204" pitchFamily="34" charset="0"/>
              </a:rPr>
              <a:t>IPMVP is a registered trademark of EVO. AEE is using the term “IPMVP” only to refer to the protocol.</a:t>
            </a:r>
            <a:endParaRPr lang="en-US" sz="1000">
              <a:latin typeface="Verdana" panose="020B0604030504040204" pitchFamily="34" charset="0"/>
            </a:endParaRPr>
          </a:p>
        </p:txBody>
      </p:sp>
    </p:spTree>
    <p:extLst>
      <p:ext uri="{BB962C8B-B14F-4D97-AF65-F5344CB8AC3E}">
        <p14:creationId xmlns:p14="http://schemas.microsoft.com/office/powerpoint/2010/main" val="333850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8">
            <a:extLst>
              <a:ext uri="{FF2B5EF4-FFF2-40B4-BE49-F238E27FC236}">
                <a16:creationId xmlns:a16="http://schemas.microsoft.com/office/drawing/2014/main" id="{B374FAF1-996E-89D8-DF4F-3E394ED67888}"/>
              </a:ext>
            </a:extLst>
          </p:cNvPr>
          <p:cNvGraphicFramePr>
            <a:graphicFrameLocks noGrp="1"/>
          </p:cNvGraphicFramePr>
          <p:nvPr>
            <p:extLst>
              <p:ext uri="{D42A27DB-BD31-4B8C-83A1-F6EECF244321}">
                <p14:modId xmlns:p14="http://schemas.microsoft.com/office/powerpoint/2010/main" val="376905734"/>
              </p:ext>
            </p:extLst>
          </p:nvPr>
        </p:nvGraphicFramePr>
        <p:xfrm>
          <a:off x="838200" y="1825625"/>
          <a:ext cx="10515600" cy="2286000"/>
        </p:xfrm>
        <a:graphic>
          <a:graphicData uri="http://schemas.openxmlformats.org/drawingml/2006/table">
            <a:tbl>
              <a:tblPr firstRow="1" bandRow="1">
                <a:tableStyleId>{BC89EF96-8CEA-46FF-86C4-4CE0E7609802}</a:tableStyleId>
              </a:tblPr>
              <a:tblGrid>
                <a:gridCol w="2206637">
                  <a:extLst>
                    <a:ext uri="{9D8B030D-6E8A-4147-A177-3AD203B41FA5}">
                      <a16:colId xmlns:a16="http://schemas.microsoft.com/office/drawing/2014/main" val="2397581046"/>
                    </a:ext>
                  </a:extLst>
                </a:gridCol>
                <a:gridCol w="8308963">
                  <a:extLst>
                    <a:ext uri="{9D8B030D-6E8A-4147-A177-3AD203B41FA5}">
                      <a16:colId xmlns:a16="http://schemas.microsoft.com/office/drawing/2014/main" val="1427639463"/>
                    </a:ext>
                  </a:extLst>
                </a:gridCol>
              </a:tblGrid>
              <a:tr h="0">
                <a:tc>
                  <a:txBody>
                    <a:bodyPr/>
                    <a:lstStyle/>
                    <a:p>
                      <a:r>
                        <a:rPr lang="en-US" sz="2400" b="1" i="0">
                          <a:latin typeface="Verdana" panose="020B0604030504040204" pitchFamily="34" charset="0"/>
                        </a:rPr>
                        <a:t>Acronym</a:t>
                      </a:r>
                    </a:p>
                  </a:txBody>
                  <a:tcPr/>
                </a:tc>
                <a:tc>
                  <a:txBody>
                    <a:bodyPr/>
                    <a:lstStyle/>
                    <a:p>
                      <a:r>
                        <a:rPr lang="en-US" sz="2400" b="1" i="0">
                          <a:latin typeface="Verdana" panose="020B0604030504040204" pitchFamily="34" charset="0"/>
                        </a:rPr>
                        <a:t>Name</a:t>
                      </a:r>
                    </a:p>
                  </a:txBody>
                  <a:tcPr/>
                </a:tc>
                <a:extLst>
                  <a:ext uri="{0D108BD9-81ED-4DB2-BD59-A6C34878D82A}">
                    <a16:rowId xmlns:a16="http://schemas.microsoft.com/office/drawing/2014/main" val="3823191639"/>
                  </a:ext>
                </a:extLst>
              </a:tr>
              <a:tr h="370840">
                <a:tc>
                  <a:txBody>
                    <a:bodyPr/>
                    <a:lstStyle/>
                    <a:p>
                      <a:r>
                        <a:rPr lang="en-US" sz="2400" b="0" i="0">
                          <a:latin typeface="Verdana" panose="020B0604030504040204" pitchFamily="34" charset="0"/>
                        </a:rPr>
                        <a:t>BMVP</a:t>
                      </a:r>
                    </a:p>
                  </a:txBody>
                  <a:tcPr/>
                </a:tc>
                <a:tc>
                  <a:txBody>
                    <a:bodyPr/>
                    <a:lstStyle/>
                    <a:p>
                      <a:r>
                        <a:rPr lang="en-US" sz="2400" b="0" i="0">
                          <a:latin typeface="Verdana" panose="020B0604030504040204" pitchFamily="34" charset="0"/>
                        </a:rPr>
                        <a:t>Building M&amp;V Protocol</a:t>
                      </a:r>
                    </a:p>
                  </a:txBody>
                  <a:tcPr/>
                </a:tc>
                <a:extLst>
                  <a:ext uri="{0D108BD9-81ED-4DB2-BD59-A6C34878D82A}">
                    <a16:rowId xmlns:a16="http://schemas.microsoft.com/office/drawing/2014/main" val="176906631"/>
                  </a:ext>
                </a:extLst>
              </a:tr>
              <a:tr h="370840">
                <a:tc>
                  <a:txBody>
                    <a:bodyPr/>
                    <a:lstStyle/>
                    <a:p>
                      <a:r>
                        <a:rPr lang="en-US" sz="2400" b="0" i="0">
                          <a:latin typeface="Verdana" panose="020B0604030504040204" pitchFamily="34" charset="0"/>
                        </a:rPr>
                        <a:t>NEPAL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0" i="0">
                          <a:latin typeface="Verdana" panose="020B0604030504040204" pitchFamily="34" charset="0"/>
                        </a:rPr>
                        <a:t>National Energy Project Agreement Language​</a:t>
                      </a:r>
                    </a:p>
                  </a:txBody>
                  <a:tcPr/>
                </a:tc>
                <a:extLst>
                  <a:ext uri="{0D108BD9-81ED-4DB2-BD59-A6C34878D82A}">
                    <a16:rowId xmlns:a16="http://schemas.microsoft.com/office/drawing/2014/main" val="3841589788"/>
                  </a:ext>
                </a:extLst>
              </a:tr>
              <a:tr h="370840">
                <a:tc>
                  <a:txBody>
                    <a:bodyPr/>
                    <a:lstStyle/>
                    <a:p>
                      <a:r>
                        <a:rPr lang="en-US" sz="2400" b="0" i="0">
                          <a:latin typeface="Verdana" panose="020B0604030504040204" pitchFamily="34" charset="0"/>
                        </a:rPr>
                        <a:t>NEMVP</a:t>
                      </a:r>
                    </a:p>
                  </a:txBody>
                  <a:tcPr/>
                </a:tc>
                <a:tc>
                  <a:txBody>
                    <a:bodyPr/>
                    <a:lstStyle/>
                    <a:p>
                      <a:r>
                        <a:rPr lang="en-US" sz="2400" b="0" i="0">
                          <a:latin typeface="Verdana" panose="020B0604030504040204" pitchFamily="34" charset="0"/>
                        </a:rPr>
                        <a:t>North American Energy M&amp;V Protocol</a:t>
                      </a:r>
                    </a:p>
                  </a:txBody>
                  <a:tcPr/>
                </a:tc>
                <a:extLst>
                  <a:ext uri="{0D108BD9-81ED-4DB2-BD59-A6C34878D82A}">
                    <a16:rowId xmlns:a16="http://schemas.microsoft.com/office/drawing/2014/main" val="1177572237"/>
                  </a:ext>
                </a:extLst>
              </a:tr>
              <a:tr h="370840">
                <a:tc>
                  <a:txBody>
                    <a:bodyPr/>
                    <a:lstStyle/>
                    <a:p>
                      <a:r>
                        <a:rPr lang="en-US" sz="2400" b="0" i="0">
                          <a:latin typeface="Verdana" panose="020B0604030504040204" pitchFamily="34" charset="0"/>
                        </a:rPr>
                        <a:t>IPMVP</a:t>
                      </a:r>
                    </a:p>
                  </a:txBody>
                  <a:tcPr/>
                </a:tc>
                <a:tc>
                  <a:txBody>
                    <a:bodyPr/>
                    <a:lstStyle/>
                    <a:p>
                      <a:r>
                        <a:rPr lang="en-US" sz="2400" b="0" i="0">
                          <a:latin typeface="Verdana" panose="020B0604030504040204" pitchFamily="34" charset="0"/>
                        </a:rPr>
                        <a:t>International Performance M&amp;V Protocol</a:t>
                      </a:r>
                    </a:p>
                  </a:txBody>
                  <a:tcPr/>
                </a:tc>
                <a:extLst>
                  <a:ext uri="{0D108BD9-81ED-4DB2-BD59-A6C34878D82A}">
                    <a16:rowId xmlns:a16="http://schemas.microsoft.com/office/drawing/2014/main" val="2314645696"/>
                  </a:ext>
                </a:extLst>
              </a:tr>
            </a:tbl>
          </a:graphicData>
        </a:graphic>
      </p:graphicFrame>
      <p:sp>
        <p:nvSpPr>
          <p:cNvPr id="2" name="Title 1">
            <a:extLst>
              <a:ext uri="{FF2B5EF4-FFF2-40B4-BE49-F238E27FC236}">
                <a16:creationId xmlns:a16="http://schemas.microsoft.com/office/drawing/2014/main" id="{F359F659-F584-4781-6D50-E04E901C1780}"/>
              </a:ext>
            </a:extLst>
          </p:cNvPr>
          <p:cNvSpPr>
            <a:spLocks noGrp="1"/>
          </p:cNvSpPr>
          <p:nvPr>
            <p:ph type="title"/>
          </p:nvPr>
        </p:nvSpPr>
        <p:spPr/>
        <p:txBody>
          <a:bodyPr>
            <a:normAutofit fontScale="90000"/>
          </a:bodyPr>
          <a:lstStyle/>
          <a:p>
            <a:r>
              <a:rPr lang="en-US" sz="4000"/>
              <a:t>Guidelines, Standards, and Protocols</a:t>
            </a:r>
            <a:br>
              <a:rPr lang="en-US" sz="4000"/>
            </a:br>
            <a:r>
              <a:rPr lang="en-US" sz="3200" b="0" i="1"/>
              <a:t>Names Change. Concepts Evolve and Adapt.</a:t>
            </a:r>
            <a:endParaRPr lang="en-US" b="0" i="1"/>
          </a:p>
        </p:txBody>
      </p:sp>
      <p:pic>
        <p:nvPicPr>
          <p:cNvPr id="10" name="Graphic 9">
            <a:extLst>
              <a:ext uri="{FF2B5EF4-FFF2-40B4-BE49-F238E27FC236}">
                <a16:creationId xmlns:a16="http://schemas.microsoft.com/office/drawing/2014/main" id="{8AB122A9-ED2F-E69E-4B93-C73D0865C1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45060"/>
            <a:ext cx="914400" cy="914400"/>
          </a:xfrm>
          <a:prstGeom prst="rect">
            <a:avLst/>
          </a:prstGeom>
        </p:spPr>
      </p:pic>
      <p:sp>
        <p:nvSpPr>
          <p:cNvPr id="9" name="TextBox 8">
            <a:extLst>
              <a:ext uri="{FF2B5EF4-FFF2-40B4-BE49-F238E27FC236}">
                <a16:creationId xmlns:a16="http://schemas.microsoft.com/office/drawing/2014/main" id="{681B0491-4537-4117-A3BA-BCC40BB8B527}"/>
              </a:ext>
            </a:extLst>
          </p:cNvPr>
          <p:cNvSpPr txBox="1"/>
          <p:nvPr/>
        </p:nvSpPr>
        <p:spPr>
          <a:xfrm>
            <a:off x="2293621" y="6492875"/>
            <a:ext cx="9159239"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000">
                <a:effectLst/>
                <a:latin typeface="Verdana" panose="020B0604030504040204" pitchFamily="34" charset="0"/>
                <a:ea typeface="Verdana" panose="020B0604030504040204" pitchFamily="34" charset="0"/>
              </a:rPr>
              <a:t>IPMVP is a registered trademark of EVO. AEE is using the term “IPMVP” only to refer to the protocol.</a:t>
            </a:r>
            <a:endParaRPr lang="en-US" sz="1000">
              <a:latin typeface="Verdana" panose="020B0604030504040204" pitchFamily="34" charset="0"/>
            </a:endParaRPr>
          </a:p>
        </p:txBody>
      </p:sp>
    </p:spTree>
    <p:extLst>
      <p:ext uri="{BB962C8B-B14F-4D97-AF65-F5344CB8AC3E}">
        <p14:creationId xmlns:p14="http://schemas.microsoft.com/office/powerpoint/2010/main" val="205063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9F659-F584-4781-6D50-E04E901C1780}"/>
              </a:ext>
            </a:extLst>
          </p:cNvPr>
          <p:cNvSpPr>
            <a:spLocks noGrp="1"/>
          </p:cNvSpPr>
          <p:nvPr>
            <p:ph type="title"/>
          </p:nvPr>
        </p:nvSpPr>
        <p:spPr/>
        <p:txBody>
          <a:bodyPr>
            <a:normAutofit fontScale="90000"/>
          </a:bodyPr>
          <a:lstStyle/>
          <a:p>
            <a:r>
              <a:rPr lang="en-US" sz="4000"/>
              <a:t>Guidelines, Standards, and Protocols</a:t>
            </a:r>
            <a:br>
              <a:rPr lang="en-US"/>
            </a:br>
            <a:r>
              <a:rPr lang="en-US" sz="3200" b="0" i="1"/>
              <a:t>Names Change. Concepts Evolve and Adapt.</a:t>
            </a:r>
            <a:endParaRPr lang="en-US" b="0" i="1"/>
          </a:p>
        </p:txBody>
      </p:sp>
      <p:sp>
        <p:nvSpPr>
          <p:cNvPr id="7" name="Text Placeholder 6">
            <a:extLst>
              <a:ext uri="{FF2B5EF4-FFF2-40B4-BE49-F238E27FC236}">
                <a16:creationId xmlns:a16="http://schemas.microsoft.com/office/drawing/2014/main" id="{C4364E32-7D0B-D94D-DF80-C13AD1AC01EE}"/>
              </a:ext>
            </a:extLst>
          </p:cNvPr>
          <p:cNvSpPr>
            <a:spLocks noGrp="1"/>
          </p:cNvSpPr>
          <p:nvPr>
            <p:ph type="body" idx="1"/>
          </p:nvPr>
        </p:nvSpPr>
        <p:spPr/>
        <p:txBody>
          <a:bodyPr/>
          <a:lstStyle/>
          <a:p>
            <a:r>
              <a:rPr lang="en-US" b="1">
                <a:latin typeface="Verdana" panose="020B0604030504040204" pitchFamily="34" charset="0"/>
              </a:rPr>
              <a:t>FEMP Guidelines Version 1</a:t>
            </a:r>
          </a:p>
        </p:txBody>
      </p:sp>
      <p:sp>
        <p:nvSpPr>
          <p:cNvPr id="11" name="Text Placeholder 10">
            <a:extLst>
              <a:ext uri="{FF2B5EF4-FFF2-40B4-BE49-F238E27FC236}">
                <a16:creationId xmlns:a16="http://schemas.microsoft.com/office/drawing/2014/main" id="{2749DD06-E4CF-24E3-D979-94C9AC3EA329}"/>
              </a:ext>
            </a:extLst>
          </p:cNvPr>
          <p:cNvSpPr>
            <a:spLocks noGrp="1"/>
          </p:cNvSpPr>
          <p:nvPr>
            <p:ph type="body" sz="quarter" idx="3"/>
          </p:nvPr>
        </p:nvSpPr>
        <p:spPr/>
        <p:txBody>
          <a:bodyPr/>
          <a:lstStyle/>
          <a:p>
            <a:r>
              <a:rPr lang="en-US" b="1" dirty="0">
                <a:latin typeface="Verdana" panose="020B0604030504040204" pitchFamily="34" charset="0"/>
              </a:rPr>
              <a:t>FEMP Guidelines Version 5</a:t>
            </a:r>
          </a:p>
        </p:txBody>
      </p:sp>
      <p:pic>
        <p:nvPicPr>
          <p:cNvPr id="10" name="Graphic 9">
            <a:extLst>
              <a:ext uri="{FF2B5EF4-FFF2-40B4-BE49-F238E27FC236}">
                <a16:creationId xmlns:a16="http://schemas.microsoft.com/office/drawing/2014/main" id="{8AB122A9-ED2F-E69E-4B93-C73D0865C1D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45060"/>
            <a:ext cx="914400" cy="914400"/>
          </a:xfrm>
          <a:prstGeom prst="rect">
            <a:avLst/>
          </a:prstGeom>
        </p:spPr>
      </p:pic>
      <p:pic>
        <p:nvPicPr>
          <p:cNvPr id="14" name="Picture 2">
            <a:extLst>
              <a:ext uri="{FF2B5EF4-FFF2-40B4-BE49-F238E27FC236}">
                <a16:creationId xmlns:a16="http://schemas.microsoft.com/office/drawing/2014/main" id="{B75D327D-A3A3-81D2-F079-E7B69E649D06}"/>
              </a:ext>
            </a:extLst>
          </p:cNvPr>
          <p:cNvPicPr>
            <a:picLocks noGrp="1"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bwMode="auto">
          <a:xfrm>
            <a:off x="839788" y="2505296"/>
            <a:ext cx="4097734" cy="368458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0F4CADA7-224F-7F18-11B3-40C1DA31A6D2}"/>
              </a:ext>
            </a:extLst>
          </p:cNvPr>
          <p:cNvPicPr>
            <a:picLocks noChangeAspect="1" noChangeArrowheads="1"/>
          </p:cNvPicPr>
          <p:nvPr/>
        </p:nvPicPr>
        <p:blipFill>
          <a:blip r:embed="rId6"/>
          <a:srcRect/>
          <a:stretch/>
        </p:blipFill>
        <p:spPr bwMode="auto">
          <a:xfrm>
            <a:off x="3508575" y="4818063"/>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83EEFC42-9762-C2F3-5868-8A2C11A42851}"/>
              </a:ext>
            </a:extLst>
          </p:cNvPr>
          <p:cNvPicPr>
            <a:picLocks noChangeAspect="1" noChangeArrowheads="1"/>
          </p:cNvPicPr>
          <p:nvPr/>
        </p:nvPicPr>
        <p:blipFill>
          <a:blip r:embed="rId7"/>
          <a:srcRect/>
          <a:stretch/>
        </p:blipFill>
        <p:spPr bwMode="auto">
          <a:xfrm>
            <a:off x="9090991" y="4818063"/>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3">
            <a:extLst>
              <a:ext uri="{FF2B5EF4-FFF2-40B4-BE49-F238E27FC236}">
                <a16:creationId xmlns:a16="http://schemas.microsoft.com/office/drawing/2014/main" id="{F8454BB8-3620-1FF8-86E5-278D38365362}"/>
              </a:ext>
            </a:extLst>
          </p:cNvPr>
          <p:cNvPicPr>
            <a:picLocks noGrp="1" noChangeAspect="1"/>
          </p:cNvPicPr>
          <p:nvPr>
            <p:ph sz="quarter" idx="4"/>
          </p:nvPr>
        </p:nvPicPr>
        <p:blipFill>
          <a:blip r:embed="rId8"/>
          <a:stretch>
            <a:fillRect/>
          </a:stretch>
        </p:blipFill>
        <p:spPr>
          <a:xfrm>
            <a:off x="6539060" y="2505075"/>
            <a:ext cx="4449468" cy="3684588"/>
          </a:xfrm>
          <a:prstGeom prst="rect">
            <a:avLst/>
          </a:prstGeom>
        </p:spPr>
      </p:pic>
    </p:spTree>
    <p:extLst>
      <p:ext uri="{BB962C8B-B14F-4D97-AF65-F5344CB8AC3E}">
        <p14:creationId xmlns:p14="http://schemas.microsoft.com/office/powerpoint/2010/main" val="3460784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FB016-1E0F-BBF9-91CD-DF42D05D38A5}"/>
              </a:ext>
            </a:extLst>
          </p:cNvPr>
          <p:cNvSpPr>
            <a:spLocks noGrp="1"/>
          </p:cNvSpPr>
          <p:nvPr>
            <p:ph type="title"/>
          </p:nvPr>
        </p:nvSpPr>
        <p:spPr/>
        <p:txBody>
          <a:bodyPr/>
          <a:lstStyle/>
          <a:p>
            <a:r>
              <a:rPr lang="en-US"/>
              <a:t>FEMP 4.0 </a:t>
            </a:r>
          </a:p>
        </p:txBody>
      </p:sp>
      <p:sp>
        <p:nvSpPr>
          <p:cNvPr id="7" name="Content Placeholder 6">
            <a:extLst>
              <a:ext uri="{FF2B5EF4-FFF2-40B4-BE49-F238E27FC236}">
                <a16:creationId xmlns:a16="http://schemas.microsoft.com/office/drawing/2014/main" id="{41B0D410-1977-8F16-6D07-26983B24BCD3}"/>
              </a:ext>
            </a:extLst>
          </p:cNvPr>
          <p:cNvSpPr>
            <a:spLocks noGrp="1"/>
          </p:cNvSpPr>
          <p:nvPr>
            <p:ph idx="1"/>
          </p:nvPr>
        </p:nvSpPr>
        <p:spPr/>
        <p:txBody>
          <a:bodyPr>
            <a:noAutofit/>
          </a:bodyPr>
          <a:lstStyle/>
          <a:p>
            <a:pPr marL="342900" indent="-342900">
              <a:spcBef>
                <a:spcPts val="800"/>
              </a:spcBef>
              <a:buFont typeface="Arial" panose="020B0604020202020204" pitchFamily="34" charset="0"/>
              <a:buChar char="•"/>
            </a:pPr>
            <a:r>
              <a:rPr lang="en-US" sz="2000" dirty="0"/>
              <a:t>No longer specific to federal projects </a:t>
            </a:r>
          </a:p>
          <a:p>
            <a:pPr marL="342900" indent="-342900">
              <a:spcBef>
                <a:spcPts val="800"/>
              </a:spcBef>
              <a:buFont typeface="Arial" panose="020B0604020202020204" pitchFamily="34" charset="0"/>
              <a:buChar char="•"/>
            </a:pPr>
            <a:r>
              <a:rPr lang="en-US" sz="2000" dirty="0"/>
              <a:t>Strengthens Option A by defaulting to annual measurement of key parameters </a:t>
            </a:r>
          </a:p>
          <a:p>
            <a:pPr marL="342900" indent="-342900">
              <a:spcBef>
                <a:spcPts val="800"/>
              </a:spcBef>
              <a:buFont typeface="Arial" panose="020B0604020202020204" pitchFamily="34" charset="0"/>
              <a:buChar char="•"/>
            </a:pPr>
            <a:r>
              <a:rPr lang="en-US" sz="2000" dirty="0"/>
              <a:t>Refocuses Option C to stress short-term applicability</a:t>
            </a:r>
          </a:p>
          <a:p>
            <a:pPr marL="342900" indent="-342900">
              <a:spcBef>
                <a:spcPts val="800"/>
              </a:spcBef>
              <a:buFont typeface="Arial" panose="020B0604020202020204" pitchFamily="34" charset="0"/>
              <a:buChar char="•"/>
            </a:pPr>
            <a:r>
              <a:rPr lang="en-US" sz="2000" dirty="0"/>
              <a:t>Clarifies Option D approach in performance period </a:t>
            </a:r>
          </a:p>
          <a:p>
            <a:pPr marL="342900" indent="-342900">
              <a:spcBef>
                <a:spcPts val="800"/>
              </a:spcBef>
              <a:buFont typeface="Arial" panose="020B0604020202020204" pitchFamily="34" charset="0"/>
              <a:buChar char="•"/>
            </a:pPr>
            <a:r>
              <a:rPr lang="en-US" sz="2000" dirty="0"/>
              <a:t>Provides recommended M&amp;V approaches for most ECMs</a:t>
            </a:r>
          </a:p>
          <a:p>
            <a:pPr marL="342900" indent="-342900">
              <a:spcBef>
                <a:spcPts val="800"/>
              </a:spcBef>
              <a:buFont typeface="Arial" panose="020B0604020202020204" pitchFamily="34" charset="0"/>
              <a:buChar char="•"/>
            </a:pPr>
            <a:r>
              <a:rPr lang="en-US" sz="2000" dirty="0"/>
              <a:t>Modifies M&amp;V annual report template for added clarity in documenting agency impacts to savings</a:t>
            </a:r>
          </a:p>
          <a:p>
            <a:pPr marL="342900" indent="-342900">
              <a:spcBef>
                <a:spcPts val="800"/>
              </a:spcBef>
              <a:buFont typeface="Arial" panose="020B0604020202020204" pitchFamily="34" charset="0"/>
              <a:buChar char="•"/>
            </a:pPr>
            <a:r>
              <a:rPr lang="en-US" sz="2000" dirty="0"/>
              <a:t>Adds requirement to enter annual report findings in Project Builder Revises and condenses the document, moving many auxiliary sections to stand-alone documents available on the FEMP website</a:t>
            </a:r>
          </a:p>
        </p:txBody>
      </p:sp>
      <p:sp>
        <p:nvSpPr>
          <p:cNvPr id="9" name="TextBox 8">
            <a:extLst>
              <a:ext uri="{FF2B5EF4-FFF2-40B4-BE49-F238E27FC236}">
                <a16:creationId xmlns:a16="http://schemas.microsoft.com/office/drawing/2014/main" id="{629BFE65-746B-D2CF-6CF5-9B3D808F4336}"/>
              </a:ext>
            </a:extLst>
          </p:cNvPr>
          <p:cNvSpPr txBox="1"/>
          <p:nvPr/>
        </p:nvSpPr>
        <p:spPr>
          <a:xfrm>
            <a:off x="5433391" y="6123543"/>
            <a:ext cx="5920409" cy="338554"/>
          </a:xfrm>
          <a:prstGeom prst="rect">
            <a:avLst/>
          </a:prstGeom>
          <a:noFill/>
        </p:spPr>
        <p:txBody>
          <a:bodyPr wrap="square">
            <a:spAutoFit/>
          </a:bodyPr>
          <a:lstStyle/>
          <a:p>
            <a:pPr algn="r"/>
            <a:r>
              <a:rPr lang="en-US" sz="1600" b="1">
                <a:latin typeface="Verdana" panose="020B0604030504040204" pitchFamily="34" charset="0"/>
                <a:ea typeface="Verdana" panose="020B0604030504040204" pitchFamily="34" charset="0"/>
                <a:cs typeface="Verdana" panose="020B0604030504040204" pitchFamily="34" charset="0"/>
              </a:rPr>
              <a:t>Source</a:t>
            </a:r>
            <a:r>
              <a:rPr lang="en-US" sz="1600">
                <a:latin typeface="Verdana" panose="020B0604030504040204" pitchFamily="34" charset="0"/>
                <a:ea typeface="Verdana" panose="020B0604030504040204" pitchFamily="34" charset="0"/>
                <a:cs typeface="Verdana" panose="020B0604030504040204" pitchFamily="34" charset="0"/>
              </a:rPr>
              <a:t>: U.S. Department of Energy</a:t>
            </a:r>
          </a:p>
        </p:txBody>
      </p:sp>
      <p:pic>
        <p:nvPicPr>
          <p:cNvPr id="10" name="Graphic 9">
            <a:extLst>
              <a:ext uri="{FF2B5EF4-FFF2-40B4-BE49-F238E27FC236}">
                <a16:creationId xmlns:a16="http://schemas.microsoft.com/office/drawing/2014/main" id="{EA254E7B-85A5-6354-E1F5-C494E2960E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28514" y="45060"/>
            <a:ext cx="914400" cy="914400"/>
          </a:xfrm>
          <a:prstGeom prst="rect">
            <a:avLst/>
          </a:prstGeom>
        </p:spPr>
      </p:pic>
    </p:spTree>
    <p:extLst>
      <p:ext uri="{BB962C8B-B14F-4D97-AF65-F5344CB8AC3E}">
        <p14:creationId xmlns:p14="http://schemas.microsoft.com/office/powerpoint/2010/main" val="2942628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B8B26-C88C-6EDB-01E6-152E7426B680}"/>
              </a:ext>
            </a:extLst>
          </p:cNvPr>
          <p:cNvSpPr>
            <a:spLocks noGrp="1"/>
          </p:cNvSpPr>
          <p:nvPr>
            <p:ph type="title"/>
          </p:nvPr>
        </p:nvSpPr>
        <p:spPr/>
        <p:txBody>
          <a:bodyPr/>
          <a:lstStyle/>
          <a:p>
            <a:r>
              <a:rPr lang="en-US"/>
              <a:t>Professional Judgment</a:t>
            </a:r>
          </a:p>
        </p:txBody>
      </p:sp>
      <p:sp>
        <p:nvSpPr>
          <p:cNvPr id="3" name="Content Placeholder 2">
            <a:extLst>
              <a:ext uri="{FF2B5EF4-FFF2-40B4-BE49-F238E27FC236}">
                <a16:creationId xmlns:a16="http://schemas.microsoft.com/office/drawing/2014/main" id="{A2EF9097-E395-2B1E-A188-FEDA05928BEC}"/>
              </a:ext>
            </a:extLst>
          </p:cNvPr>
          <p:cNvSpPr>
            <a:spLocks noGrp="1"/>
          </p:cNvSpPr>
          <p:nvPr>
            <p:ph idx="1"/>
          </p:nvPr>
        </p:nvSpPr>
        <p:spPr/>
        <p:txBody>
          <a:bodyPr>
            <a:normAutofit/>
          </a:bodyPr>
          <a:lstStyle/>
          <a:p>
            <a:pPr marL="0" indent="0">
              <a:lnSpc>
                <a:spcPct val="100000"/>
              </a:lnSpc>
              <a:spcBef>
                <a:spcPts val="1600"/>
              </a:spcBef>
              <a:buNone/>
            </a:pPr>
            <a:r>
              <a:rPr lang="en-US" sz="2400"/>
              <a:t>As noted in Module 1, the CMVP must rely on professional judgment to some extent when developing an M&amp;V plan. </a:t>
            </a:r>
          </a:p>
          <a:p>
            <a:pPr marL="0" indent="0">
              <a:lnSpc>
                <a:spcPct val="100000"/>
              </a:lnSpc>
              <a:spcBef>
                <a:spcPts val="1600"/>
              </a:spcBef>
              <a:buNone/>
            </a:pPr>
            <a:r>
              <a:rPr lang="en-US" sz="2400"/>
              <a:t>This reality—that there is no single “right answer” for any particular M&amp;V project and that some degree of professional judgment always comes into play—has led to the formulation of </a:t>
            </a:r>
            <a:r>
              <a:rPr lang="en-US" sz="2400" i="1"/>
              <a:t>guiding principles</a:t>
            </a:r>
            <a:r>
              <a:rPr lang="en-US" sz="2400"/>
              <a:t> rather than </a:t>
            </a:r>
            <a:r>
              <a:rPr lang="en-US" sz="2400" i="1"/>
              <a:t>technical rules</a:t>
            </a:r>
            <a:r>
              <a:rPr lang="en-US" sz="2400"/>
              <a:t>.</a:t>
            </a:r>
          </a:p>
        </p:txBody>
      </p:sp>
      <p:pic>
        <p:nvPicPr>
          <p:cNvPr id="6" name="Graphic 5">
            <a:extLst>
              <a:ext uri="{FF2B5EF4-FFF2-40B4-BE49-F238E27FC236}">
                <a16:creationId xmlns:a16="http://schemas.microsoft.com/office/drawing/2014/main" id="{8778BFAF-DF0D-2D8B-D73E-FB00DEBCC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FCDEF0E5-55C6-2EBF-A4AB-9C150D490DC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06FF1473-0163-4406-7EA9-C4F5DE2EEB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85314" y="89019"/>
            <a:ext cx="914400" cy="914400"/>
          </a:xfrm>
          <a:prstGeom prst="rect">
            <a:avLst/>
          </a:prstGeom>
        </p:spPr>
      </p:pic>
      <p:pic>
        <p:nvPicPr>
          <p:cNvPr id="9" name="Graphic 8">
            <a:extLst>
              <a:ext uri="{FF2B5EF4-FFF2-40B4-BE49-F238E27FC236}">
                <a16:creationId xmlns:a16="http://schemas.microsoft.com/office/drawing/2014/main" id="{6C147148-2E58-7100-98B1-AA383F0ECE0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141728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E6E7-6F80-6E81-B247-41C6975812E0}"/>
              </a:ext>
            </a:extLst>
          </p:cNvPr>
          <p:cNvSpPr>
            <a:spLocks noGrp="1"/>
          </p:cNvSpPr>
          <p:nvPr>
            <p:ph type="title"/>
          </p:nvPr>
        </p:nvSpPr>
        <p:spPr/>
        <p:txBody>
          <a:bodyPr/>
          <a:lstStyle/>
          <a:p>
            <a:r>
              <a:rPr lang="en-US"/>
              <a:t>Guiding Principles</a:t>
            </a:r>
          </a:p>
        </p:txBody>
      </p:sp>
      <p:sp>
        <p:nvSpPr>
          <p:cNvPr id="3" name="Content Placeholder 2">
            <a:extLst>
              <a:ext uri="{FF2B5EF4-FFF2-40B4-BE49-F238E27FC236}">
                <a16:creationId xmlns:a16="http://schemas.microsoft.com/office/drawing/2014/main" id="{390A749A-6B26-A8EA-12C8-949DB13E6BBB}"/>
              </a:ext>
            </a:extLst>
          </p:cNvPr>
          <p:cNvSpPr>
            <a:spLocks noGrp="1"/>
          </p:cNvSpPr>
          <p:nvPr>
            <p:ph idx="1"/>
          </p:nvPr>
        </p:nvSpPr>
        <p:spPr/>
        <p:txBody>
          <a:bodyPr>
            <a:normAutofit/>
          </a:bodyPr>
          <a:lstStyle/>
          <a:p>
            <a:pPr marL="0" indent="0">
              <a:lnSpc>
                <a:spcPct val="100000"/>
              </a:lnSpc>
              <a:spcBef>
                <a:spcPts val="1600"/>
              </a:spcBef>
              <a:buNone/>
            </a:pPr>
            <a:r>
              <a:rPr lang="en-US" sz="2400"/>
              <a:t>IPMVP recommends that all M&amp;V activities should be …</a:t>
            </a:r>
          </a:p>
          <a:p>
            <a:pPr lvl="1">
              <a:lnSpc>
                <a:spcPct val="100000"/>
              </a:lnSpc>
              <a:spcBef>
                <a:spcPts val="1600"/>
              </a:spcBef>
            </a:pPr>
            <a:r>
              <a:rPr lang="en-US"/>
              <a:t>Accurate</a:t>
            </a:r>
          </a:p>
          <a:p>
            <a:pPr lvl="1">
              <a:lnSpc>
                <a:spcPct val="100000"/>
              </a:lnSpc>
              <a:spcBef>
                <a:spcPts val="1600"/>
              </a:spcBef>
            </a:pPr>
            <a:r>
              <a:rPr lang="en-US"/>
              <a:t>Complete </a:t>
            </a:r>
          </a:p>
          <a:p>
            <a:pPr lvl="1">
              <a:lnSpc>
                <a:spcPct val="100000"/>
              </a:lnSpc>
              <a:spcBef>
                <a:spcPts val="1600"/>
              </a:spcBef>
            </a:pPr>
            <a:r>
              <a:rPr lang="en-US"/>
              <a:t>Conservative</a:t>
            </a:r>
          </a:p>
          <a:p>
            <a:pPr lvl="1">
              <a:lnSpc>
                <a:spcPct val="100000"/>
              </a:lnSpc>
              <a:spcBef>
                <a:spcPts val="1600"/>
              </a:spcBef>
            </a:pPr>
            <a:r>
              <a:rPr lang="en-US"/>
              <a:t>Consistent</a:t>
            </a:r>
          </a:p>
          <a:p>
            <a:pPr lvl="1">
              <a:lnSpc>
                <a:spcPct val="100000"/>
              </a:lnSpc>
              <a:spcBef>
                <a:spcPts val="1600"/>
              </a:spcBef>
            </a:pPr>
            <a:r>
              <a:rPr lang="en-US"/>
              <a:t>Relevant</a:t>
            </a:r>
          </a:p>
          <a:p>
            <a:pPr lvl="1">
              <a:lnSpc>
                <a:spcPct val="100000"/>
              </a:lnSpc>
              <a:spcBef>
                <a:spcPts val="1600"/>
              </a:spcBef>
            </a:pPr>
            <a:r>
              <a:rPr lang="en-US"/>
              <a:t>Transparent</a:t>
            </a:r>
          </a:p>
        </p:txBody>
      </p:sp>
      <p:pic>
        <p:nvPicPr>
          <p:cNvPr id="8" name="Graphic 7">
            <a:extLst>
              <a:ext uri="{FF2B5EF4-FFF2-40B4-BE49-F238E27FC236}">
                <a16:creationId xmlns:a16="http://schemas.microsoft.com/office/drawing/2014/main" id="{D31CB4D0-9477-27F1-7B21-E776E04515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4C3C73FA-31CF-DC68-8B1B-99F51303DED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99714" y="89019"/>
            <a:ext cx="914400" cy="914400"/>
          </a:xfrm>
          <a:prstGeom prst="rect">
            <a:avLst/>
          </a:prstGeom>
        </p:spPr>
      </p:pic>
      <p:pic>
        <p:nvPicPr>
          <p:cNvPr id="10" name="Graphic 9">
            <a:extLst>
              <a:ext uri="{FF2B5EF4-FFF2-40B4-BE49-F238E27FC236}">
                <a16:creationId xmlns:a16="http://schemas.microsoft.com/office/drawing/2014/main" id="{71FE468E-0C8C-94A3-EBFF-A506F935041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85314" y="89019"/>
            <a:ext cx="914400" cy="914400"/>
          </a:xfrm>
          <a:prstGeom prst="rect">
            <a:avLst/>
          </a:prstGeom>
        </p:spPr>
      </p:pic>
      <p:pic>
        <p:nvPicPr>
          <p:cNvPr id="11" name="Graphic 10">
            <a:extLst>
              <a:ext uri="{FF2B5EF4-FFF2-40B4-BE49-F238E27FC236}">
                <a16:creationId xmlns:a16="http://schemas.microsoft.com/office/drawing/2014/main" id="{AF85B66C-4315-A81E-A947-0F3B3B7CA76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228514" y="89019"/>
            <a:ext cx="914400" cy="914400"/>
          </a:xfrm>
          <a:prstGeom prst="rect">
            <a:avLst/>
          </a:prstGeom>
        </p:spPr>
      </p:pic>
      <p:sp>
        <p:nvSpPr>
          <p:cNvPr id="5" name="TextBox 4">
            <a:extLst>
              <a:ext uri="{FF2B5EF4-FFF2-40B4-BE49-F238E27FC236}">
                <a16:creationId xmlns:a16="http://schemas.microsoft.com/office/drawing/2014/main" id="{1488934A-773F-D211-8579-287F889E45DD}"/>
              </a:ext>
            </a:extLst>
          </p:cNvPr>
          <p:cNvSpPr txBox="1"/>
          <p:nvPr/>
        </p:nvSpPr>
        <p:spPr>
          <a:xfrm>
            <a:off x="2293621" y="6492875"/>
            <a:ext cx="9159239"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000">
                <a:effectLst/>
                <a:latin typeface="Verdana" panose="020B0604030504040204" pitchFamily="34" charset="0"/>
                <a:ea typeface="Verdana" panose="020B0604030504040204" pitchFamily="34" charset="0"/>
              </a:rPr>
              <a:t>IPMVP is a registered trademark of EVO. AEE is using the term “IPMVP” only to refer to the protocol.</a:t>
            </a:r>
            <a:endParaRPr lang="en-US" sz="1000">
              <a:latin typeface="Verdana" panose="020B0604030504040204" pitchFamily="34" charset="0"/>
            </a:endParaRPr>
          </a:p>
        </p:txBody>
      </p:sp>
    </p:spTree>
    <p:extLst>
      <p:ext uri="{BB962C8B-B14F-4D97-AF65-F5344CB8AC3E}">
        <p14:creationId xmlns:p14="http://schemas.microsoft.com/office/powerpoint/2010/main" val="3014345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B0321-479F-C4B6-DB60-630C7D9F2A4C}"/>
              </a:ext>
            </a:extLst>
          </p:cNvPr>
          <p:cNvSpPr>
            <a:spLocks noGrp="1"/>
          </p:cNvSpPr>
          <p:nvPr>
            <p:ph type="title"/>
          </p:nvPr>
        </p:nvSpPr>
        <p:spPr/>
        <p:txBody>
          <a:bodyPr/>
          <a:lstStyle/>
          <a:p>
            <a:r>
              <a:rPr lang="en-US"/>
              <a:t>Guiding Principles</a:t>
            </a:r>
          </a:p>
        </p:txBody>
      </p:sp>
      <p:sp>
        <p:nvSpPr>
          <p:cNvPr id="3" name="Content Placeholder 2">
            <a:extLst>
              <a:ext uri="{FF2B5EF4-FFF2-40B4-BE49-F238E27FC236}">
                <a16:creationId xmlns:a16="http://schemas.microsoft.com/office/drawing/2014/main" id="{D31663C9-421A-101B-9326-296116582C3C}"/>
              </a:ext>
            </a:extLst>
          </p:cNvPr>
          <p:cNvSpPr>
            <a:spLocks noGrp="1"/>
          </p:cNvSpPr>
          <p:nvPr>
            <p:ph idx="1"/>
          </p:nvPr>
        </p:nvSpPr>
        <p:spPr/>
        <p:txBody>
          <a:bodyPr>
            <a:normAutofit/>
          </a:bodyPr>
          <a:lstStyle/>
          <a:p>
            <a:pPr marL="0" indent="0">
              <a:lnSpc>
                <a:spcPct val="100000"/>
              </a:lnSpc>
              <a:spcBef>
                <a:spcPts val="1600"/>
              </a:spcBef>
              <a:buNone/>
            </a:pPr>
            <a:r>
              <a:rPr lang="en-US" sz="2400"/>
              <a:t>... but perhaps the most important principle in M&amp;V is </a:t>
            </a:r>
            <a:r>
              <a:rPr lang="en-US" sz="2400" b="1"/>
              <a:t>clear communication with all parties</a:t>
            </a:r>
            <a:r>
              <a:rPr lang="en-US" sz="2400"/>
              <a:t>.</a:t>
            </a:r>
          </a:p>
        </p:txBody>
      </p:sp>
      <p:pic>
        <p:nvPicPr>
          <p:cNvPr id="6" name="Graphic 5">
            <a:extLst>
              <a:ext uri="{FF2B5EF4-FFF2-40B4-BE49-F238E27FC236}">
                <a16:creationId xmlns:a16="http://schemas.microsoft.com/office/drawing/2014/main" id="{CD19A50F-F2BA-1E15-0BC2-37E0EE19D8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B8ED2457-4872-CAAF-A31C-26667EA686C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BB312B06-69D1-308E-B77A-8F37994CFCB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85314" y="89019"/>
            <a:ext cx="914400" cy="914400"/>
          </a:xfrm>
          <a:prstGeom prst="rect">
            <a:avLst/>
          </a:prstGeom>
        </p:spPr>
      </p:pic>
      <p:pic>
        <p:nvPicPr>
          <p:cNvPr id="9" name="Graphic 8">
            <a:extLst>
              <a:ext uri="{FF2B5EF4-FFF2-40B4-BE49-F238E27FC236}">
                <a16:creationId xmlns:a16="http://schemas.microsoft.com/office/drawing/2014/main" id="{5BCA9A18-90C2-6DD5-1736-0DB7FE2BA68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28514" y="89019"/>
            <a:ext cx="914400" cy="914400"/>
          </a:xfrm>
          <a:prstGeom prst="rect">
            <a:avLst/>
          </a:prstGeom>
        </p:spPr>
      </p:pic>
      <p:pic>
        <p:nvPicPr>
          <p:cNvPr id="15" name="Graphic 14">
            <a:extLst>
              <a:ext uri="{FF2B5EF4-FFF2-40B4-BE49-F238E27FC236}">
                <a16:creationId xmlns:a16="http://schemas.microsoft.com/office/drawing/2014/main" id="{EB238C28-7525-4482-B641-87A1DFCCFD6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22962" y="2830887"/>
            <a:ext cx="3346076" cy="3346076"/>
          </a:xfrm>
          <a:prstGeom prst="rect">
            <a:avLst/>
          </a:prstGeom>
        </p:spPr>
      </p:pic>
    </p:spTree>
    <p:extLst>
      <p:ext uri="{BB962C8B-B14F-4D97-AF65-F5344CB8AC3E}">
        <p14:creationId xmlns:p14="http://schemas.microsoft.com/office/powerpoint/2010/main" val="238786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42481-1364-5DD5-0436-4112086063E0}"/>
              </a:ext>
            </a:extLst>
          </p:cNvPr>
          <p:cNvSpPr>
            <a:spLocks noGrp="1"/>
          </p:cNvSpPr>
          <p:nvPr>
            <p:ph type="title"/>
          </p:nvPr>
        </p:nvSpPr>
        <p:spPr/>
        <p:txBody>
          <a:bodyPr/>
          <a:lstStyle/>
          <a:p>
            <a:r>
              <a:rPr lang="en-US"/>
              <a:t>Avoiding Disputes</a:t>
            </a:r>
          </a:p>
        </p:txBody>
      </p:sp>
      <p:sp>
        <p:nvSpPr>
          <p:cNvPr id="4" name="Content Placeholder 3">
            <a:extLst>
              <a:ext uri="{FF2B5EF4-FFF2-40B4-BE49-F238E27FC236}">
                <a16:creationId xmlns:a16="http://schemas.microsoft.com/office/drawing/2014/main" id="{0567116B-76DF-35D8-735B-EA12F118C8D4}"/>
              </a:ext>
            </a:extLst>
          </p:cNvPr>
          <p:cNvSpPr>
            <a:spLocks noGrp="1"/>
          </p:cNvSpPr>
          <p:nvPr>
            <p:ph sz="half" idx="1"/>
          </p:nvPr>
        </p:nvSpPr>
        <p:spPr/>
        <p:txBody>
          <a:bodyPr>
            <a:normAutofit fontScale="92500" lnSpcReduction="10000"/>
          </a:bodyPr>
          <a:lstStyle/>
          <a:p>
            <a:r>
              <a:rPr lang="en-US" b="1"/>
              <a:t>Watch for Warning Signs</a:t>
            </a:r>
          </a:p>
          <a:p>
            <a:pPr marL="457200" indent="-457200">
              <a:buFont typeface="Arial" panose="020B0604020202020204" pitchFamily="34" charset="0"/>
              <a:buChar char="•"/>
            </a:pPr>
            <a:r>
              <a:rPr lang="en-US"/>
              <a:t>Sudden changes in communication.</a:t>
            </a:r>
          </a:p>
          <a:p>
            <a:pPr marL="457200" indent="-457200">
              <a:buFont typeface="Arial" panose="020B0604020202020204" pitchFamily="34" charset="0"/>
              <a:buChar char="•"/>
            </a:pPr>
            <a:r>
              <a:rPr lang="en-US"/>
              <a:t>Unexpected site conditions.</a:t>
            </a:r>
          </a:p>
          <a:p>
            <a:pPr marL="457200" indent="-457200">
              <a:buFont typeface="Arial" panose="020B0604020202020204" pitchFamily="34" charset="0"/>
              <a:buChar char="•"/>
            </a:pPr>
            <a:r>
              <a:rPr lang="en-US"/>
              <a:t>Excessive change requests.</a:t>
            </a:r>
          </a:p>
          <a:p>
            <a:pPr marL="457200" indent="-457200">
              <a:buFont typeface="Arial" panose="020B0604020202020204" pitchFamily="34" charset="0"/>
              <a:buChar char="•"/>
            </a:pPr>
            <a:r>
              <a:rPr lang="en-US"/>
              <a:t>Payment delays.</a:t>
            </a:r>
          </a:p>
          <a:p>
            <a:pPr marL="457200" indent="-457200">
              <a:buFont typeface="Arial" panose="020B0604020202020204" pitchFamily="34" charset="0"/>
              <a:buChar char="•"/>
            </a:pPr>
            <a:r>
              <a:rPr lang="en-US"/>
              <a:t>Unaddressed errors.</a:t>
            </a:r>
          </a:p>
          <a:p>
            <a:endParaRPr lang="en-US"/>
          </a:p>
        </p:txBody>
      </p:sp>
      <p:sp>
        <p:nvSpPr>
          <p:cNvPr id="5" name="Content Placeholder 4">
            <a:extLst>
              <a:ext uri="{FF2B5EF4-FFF2-40B4-BE49-F238E27FC236}">
                <a16:creationId xmlns:a16="http://schemas.microsoft.com/office/drawing/2014/main" id="{EA1AFB30-6D5A-A57B-25F7-86D8C5BF331A}"/>
              </a:ext>
            </a:extLst>
          </p:cNvPr>
          <p:cNvSpPr>
            <a:spLocks noGrp="1"/>
          </p:cNvSpPr>
          <p:nvPr>
            <p:ph sz="half" idx="2"/>
          </p:nvPr>
        </p:nvSpPr>
        <p:spPr/>
        <p:txBody>
          <a:bodyPr>
            <a:normAutofit fontScale="92500" lnSpcReduction="10000"/>
          </a:bodyPr>
          <a:lstStyle/>
          <a:p>
            <a:r>
              <a:rPr lang="en-US" b="1"/>
              <a:t>Optimize Communication</a:t>
            </a:r>
          </a:p>
          <a:p>
            <a:pPr marL="457200" indent="-457200">
              <a:buFont typeface="Arial" panose="020B0604020202020204" pitchFamily="34" charset="0"/>
              <a:buChar char="•"/>
            </a:pPr>
            <a:r>
              <a:rPr lang="en-US"/>
              <a:t>Define roles and responsibilities.</a:t>
            </a:r>
          </a:p>
          <a:p>
            <a:pPr marL="457200" indent="-457200">
              <a:buFont typeface="Arial" panose="020B0604020202020204" pitchFamily="34" charset="0"/>
              <a:buChar char="•"/>
            </a:pPr>
            <a:r>
              <a:rPr lang="en-US"/>
              <a:t>Schedule regular meetings and progress reports.</a:t>
            </a:r>
          </a:p>
          <a:p>
            <a:pPr marL="457200" indent="-457200">
              <a:buFont typeface="Arial" panose="020B0604020202020204" pitchFamily="34" charset="0"/>
              <a:buChar char="•"/>
            </a:pPr>
            <a:r>
              <a:rPr lang="en-US"/>
              <a:t>Establish systems for communication and documentation.</a:t>
            </a:r>
          </a:p>
        </p:txBody>
      </p:sp>
    </p:spTree>
    <p:extLst>
      <p:ext uri="{BB962C8B-B14F-4D97-AF65-F5344CB8AC3E}">
        <p14:creationId xmlns:p14="http://schemas.microsoft.com/office/powerpoint/2010/main" val="1517962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42481-1364-5DD5-0436-4112086063E0}"/>
              </a:ext>
            </a:extLst>
          </p:cNvPr>
          <p:cNvSpPr>
            <a:spLocks noGrp="1"/>
          </p:cNvSpPr>
          <p:nvPr>
            <p:ph type="title"/>
          </p:nvPr>
        </p:nvSpPr>
        <p:spPr/>
        <p:txBody>
          <a:bodyPr/>
          <a:lstStyle/>
          <a:p>
            <a:r>
              <a:rPr lang="en-US"/>
              <a:t>Avoiding Disputes</a:t>
            </a:r>
          </a:p>
        </p:txBody>
      </p:sp>
      <p:sp>
        <p:nvSpPr>
          <p:cNvPr id="4" name="Content Placeholder 3">
            <a:extLst>
              <a:ext uri="{FF2B5EF4-FFF2-40B4-BE49-F238E27FC236}">
                <a16:creationId xmlns:a16="http://schemas.microsoft.com/office/drawing/2014/main" id="{0567116B-76DF-35D8-735B-EA12F118C8D4}"/>
              </a:ext>
            </a:extLst>
          </p:cNvPr>
          <p:cNvSpPr>
            <a:spLocks noGrp="1"/>
          </p:cNvSpPr>
          <p:nvPr>
            <p:ph sz="half" idx="1"/>
          </p:nvPr>
        </p:nvSpPr>
        <p:spPr/>
        <p:txBody>
          <a:bodyPr>
            <a:normAutofit fontScale="92500" lnSpcReduction="20000"/>
          </a:bodyPr>
          <a:lstStyle/>
          <a:p>
            <a:r>
              <a:rPr lang="en-US" b="1"/>
              <a:t>Have a Solid M&amp;V Plan</a:t>
            </a:r>
          </a:p>
          <a:p>
            <a:pPr marL="457200" indent="-457200">
              <a:buFont typeface="Arial" panose="020B0604020202020204" pitchFamily="34" charset="0"/>
              <a:buChar char="•"/>
            </a:pPr>
            <a:r>
              <a:rPr lang="en-US"/>
              <a:t>Outline roles and procedures.</a:t>
            </a:r>
          </a:p>
          <a:p>
            <a:pPr marL="457200" indent="-457200">
              <a:buFont typeface="Arial" panose="020B0604020202020204" pitchFamily="34" charset="0"/>
              <a:buChar char="•"/>
            </a:pPr>
            <a:r>
              <a:rPr lang="en-US"/>
              <a:t>Define baseline/performance metrics.</a:t>
            </a:r>
          </a:p>
          <a:p>
            <a:pPr marL="457200" indent="-457200">
              <a:buFont typeface="Arial" panose="020B0604020202020204" pitchFamily="34" charset="0"/>
              <a:buChar char="•"/>
            </a:pPr>
            <a:r>
              <a:rPr lang="en-US"/>
              <a:t>Specify data collection methods.</a:t>
            </a:r>
          </a:p>
          <a:p>
            <a:pPr marL="457200" indent="-457200">
              <a:buFont typeface="Arial" panose="020B0604020202020204" pitchFamily="34" charset="0"/>
              <a:buChar char="•"/>
            </a:pPr>
            <a:r>
              <a:rPr lang="en-US"/>
              <a:t>Detail reporting requirements.</a:t>
            </a:r>
          </a:p>
        </p:txBody>
      </p:sp>
      <p:sp>
        <p:nvSpPr>
          <p:cNvPr id="5" name="Content Placeholder 4">
            <a:extLst>
              <a:ext uri="{FF2B5EF4-FFF2-40B4-BE49-F238E27FC236}">
                <a16:creationId xmlns:a16="http://schemas.microsoft.com/office/drawing/2014/main" id="{EA1AFB30-6D5A-A57B-25F7-86D8C5BF331A}"/>
              </a:ext>
            </a:extLst>
          </p:cNvPr>
          <p:cNvSpPr>
            <a:spLocks noGrp="1"/>
          </p:cNvSpPr>
          <p:nvPr>
            <p:ph sz="half" idx="2"/>
          </p:nvPr>
        </p:nvSpPr>
        <p:spPr/>
        <p:txBody>
          <a:bodyPr>
            <a:normAutofit fontScale="92500" lnSpcReduction="20000"/>
          </a:bodyPr>
          <a:lstStyle/>
          <a:p>
            <a:r>
              <a:rPr lang="en-US" b="1" dirty="0"/>
              <a:t>Other Tips</a:t>
            </a:r>
          </a:p>
          <a:p>
            <a:pPr marL="457200" indent="-457200">
              <a:buFont typeface="Arial" panose="020B0604020202020204" pitchFamily="34" charset="0"/>
              <a:buChar char="•"/>
            </a:pPr>
            <a:r>
              <a:rPr lang="en-US" dirty="0"/>
              <a:t>Have clear and unambiguous contract stipulations.</a:t>
            </a:r>
          </a:p>
          <a:p>
            <a:pPr marL="457200" indent="-457200">
              <a:buFont typeface="Arial" panose="020B0604020202020204" pitchFamily="34" charset="0"/>
              <a:buChar char="•"/>
            </a:pPr>
            <a:r>
              <a:rPr lang="en-US" dirty="0"/>
              <a:t>Maintain high ethical standards.</a:t>
            </a:r>
          </a:p>
          <a:p>
            <a:pPr marL="457200" indent="-457200">
              <a:buFont typeface="Arial" panose="020B0604020202020204" pitchFamily="34" charset="0"/>
              <a:buChar char="•"/>
            </a:pPr>
            <a:r>
              <a:rPr lang="en-US" dirty="0"/>
              <a:t>Promptly address mistakes.</a:t>
            </a:r>
          </a:p>
          <a:p>
            <a:pPr marL="457200" indent="-457200">
              <a:buFont typeface="Arial" panose="020B0604020202020204" pitchFamily="34" charset="0"/>
              <a:buChar char="•"/>
            </a:pPr>
            <a:r>
              <a:rPr lang="en-US" dirty="0"/>
              <a:t>Ensure data transparency and verification.</a:t>
            </a:r>
          </a:p>
        </p:txBody>
      </p:sp>
    </p:spTree>
    <p:extLst>
      <p:ext uri="{BB962C8B-B14F-4D97-AF65-F5344CB8AC3E}">
        <p14:creationId xmlns:p14="http://schemas.microsoft.com/office/powerpoint/2010/main" val="656825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9FB13-46B4-A1DB-C69A-F878932E793C}"/>
              </a:ext>
            </a:extLst>
          </p:cNvPr>
          <p:cNvSpPr>
            <a:spLocks noGrp="1"/>
          </p:cNvSpPr>
          <p:nvPr>
            <p:ph type="title"/>
          </p:nvPr>
        </p:nvSpPr>
        <p:spPr/>
        <p:txBody>
          <a:bodyPr/>
          <a:lstStyle/>
          <a:p>
            <a:r>
              <a:rPr lang="en-US"/>
              <a:t>Cost and Risk</a:t>
            </a:r>
          </a:p>
        </p:txBody>
      </p:sp>
      <p:sp>
        <p:nvSpPr>
          <p:cNvPr id="3" name="Content Placeholder 2">
            <a:extLst>
              <a:ext uri="{FF2B5EF4-FFF2-40B4-BE49-F238E27FC236}">
                <a16:creationId xmlns:a16="http://schemas.microsoft.com/office/drawing/2014/main" id="{9E9BDC83-4BAA-2D44-8229-D439412DC184}"/>
              </a:ext>
            </a:extLst>
          </p:cNvPr>
          <p:cNvSpPr>
            <a:spLocks noGrp="1"/>
          </p:cNvSpPr>
          <p:nvPr>
            <p:ph idx="1"/>
          </p:nvPr>
        </p:nvSpPr>
        <p:spPr/>
        <p:txBody>
          <a:bodyPr>
            <a:normAutofit/>
          </a:bodyPr>
          <a:lstStyle/>
          <a:p>
            <a:pPr marL="0" indent="0">
              <a:lnSpc>
                <a:spcPct val="100000"/>
              </a:lnSpc>
              <a:spcBef>
                <a:spcPts val="1600"/>
              </a:spcBef>
              <a:buNone/>
            </a:pPr>
            <a:r>
              <a:rPr lang="en-US" sz="2400" b="1"/>
              <a:t>Cost</a:t>
            </a:r>
            <a:r>
              <a:rPr lang="en-US" sz="2400"/>
              <a:t>: The budget set aside for M&amp;V can vary significantly depending on a project’s needs, the resources available, and the value of the M&amp;V work.</a:t>
            </a:r>
          </a:p>
          <a:p>
            <a:pPr lvl="1">
              <a:lnSpc>
                <a:spcPct val="100000"/>
              </a:lnSpc>
              <a:spcBef>
                <a:spcPts val="1600"/>
              </a:spcBef>
            </a:pPr>
            <a:r>
              <a:rPr lang="en-US" sz="2000"/>
              <a:t>Should be a central consideration in virtually any M&amp;V project.</a:t>
            </a:r>
          </a:p>
          <a:p>
            <a:pPr marL="0" indent="0">
              <a:lnSpc>
                <a:spcPct val="100000"/>
              </a:lnSpc>
              <a:spcBef>
                <a:spcPts val="1600"/>
              </a:spcBef>
              <a:buNone/>
            </a:pPr>
            <a:r>
              <a:rPr lang="en-US" sz="2400" b="1"/>
              <a:t>Risk</a:t>
            </a:r>
            <a:r>
              <a:rPr lang="en-US" sz="2400"/>
              <a:t>: Risk is another important element of a project’s context. Any situation where the results of M&amp;V impact the payment of benefits (settlement) entails risk for the parties paying and receiving those funds. </a:t>
            </a:r>
          </a:p>
          <a:p>
            <a:pPr lvl="1">
              <a:lnSpc>
                <a:spcPct val="100000"/>
              </a:lnSpc>
              <a:spcBef>
                <a:spcPts val="1600"/>
              </a:spcBef>
            </a:pPr>
            <a:r>
              <a:rPr lang="en-US" sz="2000"/>
              <a:t>Addressed primarily in contracts</a:t>
            </a:r>
          </a:p>
        </p:txBody>
      </p:sp>
      <p:pic>
        <p:nvPicPr>
          <p:cNvPr id="6" name="Graphic 5">
            <a:extLst>
              <a:ext uri="{FF2B5EF4-FFF2-40B4-BE49-F238E27FC236}">
                <a16:creationId xmlns:a16="http://schemas.microsoft.com/office/drawing/2014/main" id="{24E76C6F-D64A-2F45-FCCE-7B14ED59FE4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07481" y="84093"/>
            <a:ext cx="914400" cy="914400"/>
          </a:xfrm>
          <a:prstGeom prst="rect">
            <a:avLst/>
          </a:prstGeom>
        </p:spPr>
      </p:pic>
      <p:pic>
        <p:nvPicPr>
          <p:cNvPr id="7" name="Graphic 6">
            <a:extLst>
              <a:ext uri="{FF2B5EF4-FFF2-40B4-BE49-F238E27FC236}">
                <a16:creationId xmlns:a16="http://schemas.microsoft.com/office/drawing/2014/main" id="{52E39F01-C75C-B909-5A31-AFB7C993B1F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93081" y="84093"/>
            <a:ext cx="914400" cy="914400"/>
          </a:xfrm>
          <a:prstGeom prst="rect">
            <a:avLst/>
          </a:prstGeom>
        </p:spPr>
      </p:pic>
    </p:spTree>
    <p:extLst>
      <p:ext uri="{BB962C8B-B14F-4D97-AF65-F5344CB8AC3E}">
        <p14:creationId xmlns:p14="http://schemas.microsoft.com/office/powerpoint/2010/main" val="338330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D2997-B249-2E6E-864E-E59A345F70EB}"/>
              </a:ext>
            </a:extLst>
          </p:cNvPr>
          <p:cNvSpPr>
            <a:spLocks noGrp="1"/>
          </p:cNvSpPr>
          <p:nvPr>
            <p:ph type="title"/>
          </p:nvPr>
        </p:nvSpPr>
        <p:spPr/>
        <p:txBody>
          <a:bodyPr/>
          <a:lstStyle/>
          <a:p>
            <a:r>
              <a:rPr lang="en-US"/>
              <a:t>Cost and Risk</a:t>
            </a:r>
          </a:p>
        </p:txBody>
      </p:sp>
      <p:sp>
        <p:nvSpPr>
          <p:cNvPr id="3" name="Content Placeholder 2">
            <a:extLst>
              <a:ext uri="{FF2B5EF4-FFF2-40B4-BE49-F238E27FC236}">
                <a16:creationId xmlns:a16="http://schemas.microsoft.com/office/drawing/2014/main" id="{FC8EC839-8B28-3675-4524-96B2605FFD8C}"/>
              </a:ext>
            </a:extLst>
          </p:cNvPr>
          <p:cNvSpPr>
            <a:spLocks noGrp="1"/>
          </p:cNvSpPr>
          <p:nvPr>
            <p:ph idx="1"/>
          </p:nvPr>
        </p:nvSpPr>
        <p:spPr/>
        <p:txBody>
          <a:bodyPr>
            <a:normAutofit/>
          </a:bodyPr>
          <a:lstStyle/>
          <a:p>
            <a:r>
              <a:rPr lang="en-US" sz="2400"/>
              <a:t>Each context has a particular </a:t>
            </a:r>
            <a:r>
              <a:rPr lang="en-US" sz="2400" b="1"/>
              <a:t>risk structure</a:t>
            </a:r>
            <a:r>
              <a:rPr lang="en-US" sz="2400"/>
              <a:t>. The cost of performing M&amp;V is directly related to the distribution of risk among stakeholders.</a:t>
            </a:r>
          </a:p>
          <a:p>
            <a:pPr marL="342900" indent="-342900">
              <a:buFont typeface="Arial" panose="020B0604020202020204" pitchFamily="34" charset="0"/>
              <a:buChar char="•"/>
            </a:pPr>
            <a:r>
              <a:rPr lang="en-US" sz="2400"/>
              <a:t>The risks in a utility program are borne by the ratepayer, the implementor, and the customer.</a:t>
            </a:r>
          </a:p>
          <a:p>
            <a:pPr marL="342900" indent="-342900">
              <a:buFont typeface="Arial" panose="020B0604020202020204" pitchFamily="34" charset="0"/>
              <a:buChar char="•"/>
            </a:pPr>
            <a:r>
              <a:rPr lang="en-US" sz="2400"/>
              <a:t>In a performance contract, the facility owner and ESCO share risk.</a:t>
            </a:r>
          </a:p>
          <a:p>
            <a:r>
              <a:rPr lang="en-US" sz="2400"/>
              <a:t>The CMVP should be aware of a project’s risk structure.</a:t>
            </a:r>
          </a:p>
        </p:txBody>
      </p:sp>
      <p:pic>
        <p:nvPicPr>
          <p:cNvPr id="6" name="Graphic 5">
            <a:extLst>
              <a:ext uri="{FF2B5EF4-FFF2-40B4-BE49-F238E27FC236}">
                <a16:creationId xmlns:a16="http://schemas.microsoft.com/office/drawing/2014/main" id="{42F879A6-C018-340F-65AB-1BACA26F03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BBD3A739-17FD-E4FA-BC3B-ACD973B9645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282932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8B18BDD-F8D2-508D-0BFF-A59D5427967F}"/>
              </a:ext>
            </a:extLst>
          </p:cNvPr>
          <p:cNvSpPr/>
          <p:nvPr/>
        </p:nvSpPr>
        <p:spPr>
          <a:xfrm>
            <a:off x="0" y="3657600"/>
            <a:ext cx="12188952" cy="3200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913924B-AB1E-15B3-8D9F-6C3FF7ABD1E6}"/>
              </a:ext>
            </a:extLst>
          </p:cNvPr>
          <p:cNvPicPr>
            <a:picLocks noChangeAspect="1"/>
          </p:cNvPicPr>
          <p:nvPr/>
        </p:nvPicPr>
        <p:blipFill rotWithShape="1">
          <a:blip r:embed="rId3"/>
          <a:srcRect b="12276"/>
          <a:stretch/>
        </p:blipFill>
        <p:spPr>
          <a:xfrm>
            <a:off x="0" y="1"/>
            <a:ext cx="12192000" cy="6858000"/>
          </a:xfrm>
          <a:prstGeom prst="rect">
            <a:avLst/>
          </a:prstGeom>
        </p:spPr>
      </p:pic>
    </p:spTree>
    <p:extLst>
      <p:ext uri="{BB962C8B-B14F-4D97-AF65-F5344CB8AC3E}">
        <p14:creationId xmlns:p14="http://schemas.microsoft.com/office/powerpoint/2010/main" val="2571294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557D3-67F5-568C-4BB8-E098766323CF}"/>
              </a:ext>
            </a:extLst>
          </p:cNvPr>
          <p:cNvSpPr>
            <a:spLocks noGrp="1"/>
          </p:cNvSpPr>
          <p:nvPr>
            <p:ph type="title"/>
          </p:nvPr>
        </p:nvSpPr>
        <p:spPr/>
        <p:txBody>
          <a:bodyPr/>
          <a:lstStyle/>
          <a:p>
            <a:r>
              <a:rPr lang="en-US"/>
              <a:t>Scope of Analysis</a:t>
            </a:r>
          </a:p>
        </p:txBody>
      </p:sp>
      <p:sp>
        <p:nvSpPr>
          <p:cNvPr id="3" name="Content Placeholder 2">
            <a:extLst>
              <a:ext uri="{FF2B5EF4-FFF2-40B4-BE49-F238E27FC236}">
                <a16:creationId xmlns:a16="http://schemas.microsoft.com/office/drawing/2014/main" id="{26B76F03-8C18-3614-1D19-06107989AB99}"/>
              </a:ext>
            </a:extLst>
          </p:cNvPr>
          <p:cNvSpPr>
            <a:spLocks noGrp="1"/>
          </p:cNvSpPr>
          <p:nvPr>
            <p:ph idx="1"/>
          </p:nvPr>
        </p:nvSpPr>
        <p:spPr>
          <a:xfrm>
            <a:off x="838200" y="1690688"/>
            <a:ext cx="10515600" cy="4351338"/>
          </a:xfrm>
        </p:spPr>
        <p:txBody>
          <a:bodyPr>
            <a:normAutofit/>
          </a:bodyPr>
          <a:lstStyle/>
          <a:p>
            <a:pPr marL="0" indent="0">
              <a:lnSpc>
                <a:spcPct val="100000"/>
              </a:lnSpc>
              <a:spcBef>
                <a:spcPts val="1600"/>
              </a:spcBef>
              <a:buNone/>
            </a:pPr>
            <a:r>
              <a:rPr lang="en-US" sz="2400"/>
              <a:t>Depending on the context, M&amp;V activities can range from minimal assessment of project performance to detailed scientific research.</a:t>
            </a:r>
          </a:p>
          <a:p>
            <a:pPr marL="0" indent="0">
              <a:lnSpc>
                <a:spcPct val="100000"/>
              </a:lnSpc>
              <a:spcBef>
                <a:spcPts val="1600"/>
              </a:spcBef>
              <a:buNone/>
            </a:pPr>
            <a:r>
              <a:rPr lang="en-US" sz="2400"/>
              <a:t>Generally, an increase in analytical complexity means an increase in cost. </a:t>
            </a:r>
          </a:p>
          <a:p>
            <a:pPr marL="0" indent="0">
              <a:lnSpc>
                <a:spcPct val="100000"/>
              </a:lnSpc>
              <a:spcBef>
                <a:spcPts val="1600"/>
              </a:spcBef>
              <a:buNone/>
            </a:pPr>
            <a:r>
              <a:rPr lang="en-US" sz="2400"/>
              <a:t>Some relatively simple M&amp;V can be performed by technicians, while complicated pre- and post-implementation research is often conducted by PhD holders. A CMVP will fall somewhere in the middle, a “practical” researcher.</a:t>
            </a:r>
          </a:p>
        </p:txBody>
      </p:sp>
      <p:pic>
        <p:nvPicPr>
          <p:cNvPr id="6" name="Graphic 5">
            <a:extLst>
              <a:ext uri="{FF2B5EF4-FFF2-40B4-BE49-F238E27FC236}">
                <a16:creationId xmlns:a16="http://schemas.microsoft.com/office/drawing/2014/main" id="{D1E39186-D6AB-7F8F-E68B-CEDF515196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9CAF234A-0B43-3871-115C-55AE00B3813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825647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4DE5-3D22-1F3A-975B-E71151133F3F}"/>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1B5E4337-ECC2-7EF4-9444-FF9FDFB85E37}"/>
              </a:ext>
            </a:extLst>
          </p:cNvPr>
          <p:cNvSpPr>
            <a:spLocks noGrp="1"/>
          </p:cNvSpPr>
          <p:nvPr>
            <p:ph idx="1"/>
          </p:nvPr>
        </p:nvSpPr>
        <p:spPr/>
        <p:txBody>
          <a:bodyPr vert="horz" lIns="91440" tIns="45720" rIns="91440" bIns="45720" rtlCol="0" anchor="t">
            <a:normAutofit/>
          </a:bodyPr>
          <a:lstStyle/>
          <a:p>
            <a:pPr marL="457200" indent="-457200">
              <a:buFont typeface="Arial" panose="020B0604020202020204" pitchFamily="34" charset="0"/>
              <a:buChar char="•"/>
            </a:pPr>
            <a:r>
              <a:rPr lang="en-US" sz="2400">
                <a:cs typeface="Semplicita Pro"/>
              </a:rPr>
              <a:t>The primary contextual considerations for M&amp;V projects are technical, commercial, legal, and regulatory.</a:t>
            </a:r>
          </a:p>
          <a:p>
            <a:pPr marL="457200" indent="-457200">
              <a:buFont typeface="Arial" panose="020B0604020202020204" pitchFamily="34" charset="0"/>
              <a:buChar char="•"/>
            </a:pPr>
            <a:r>
              <a:rPr lang="en-US" sz="2400">
                <a:cs typeface="Semplicita Pro"/>
              </a:rPr>
              <a:t>A CMVP should develop an M&amp;V plan appropriate for a project’s context.</a:t>
            </a:r>
          </a:p>
          <a:p>
            <a:pPr marL="457200" indent="-457200">
              <a:buFont typeface="Arial" panose="020B0604020202020204" pitchFamily="34" charset="0"/>
              <a:buChar char="•"/>
            </a:pPr>
            <a:r>
              <a:rPr lang="en-US" sz="2400">
                <a:cs typeface="Semplicita Pro"/>
              </a:rPr>
              <a:t>A CMVP should be able to identify and communicate with all stakeholders.</a:t>
            </a:r>
          </a:p>
          <a:p>
            <a:pPr marL="457200" indent="-457200">
              <a:buFont typeface="Arial" panose="020B0604020202020204" pitchFamily="34" charset="0"/>
              <a:buChar char="•"/>
            </a:pPr>
            <a:r>
              <a:rPr lang="en-US" sz="2400">
                <a:cs typeface="Semplicita Pro"/>
              </a:rPr>
              <a:t>A CMVP should aim to harmonize expectations to assure mutual agreement on the outcome. </a:t>
            </a:r>
          </a:p>
        </p:txBody>
      </p:sp>
    </p:spTree>
    <p:extLst>
      <p:ext uri="{BB962C8B-B14F-4D97-AF65-F5344CB8AC3E}">
        <p14:creationId xmlns:p14="http://schemas.microsoft.com/office/powerpoint/2010/main" val="1443402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F86A9-41E7-F5A5-B691-334D2A02B7FA}"/>
              </a:ext>
            </a:extLst>
          </p:cNvPr>
          <p:cNvSpPr>
            <a:spLocks noGrp="1"/>
          </p:cNvSpPr>
          <p:nvPr>
            <p:ph type="title"/>
          </p:nvPr>
        </p:nvSpPr>
        <p:spPr/>
        <p:txBody>
          <a:bodyPr>
            <a:normAutofit/>
          </a:bodyPr>
          <a:lstStyle/>
          <a:p>
            <a:r>
              <a:rPr lang="en-US" sz="4000" b="0" dirty="0"/>
              <a:t>Module 2: Contextual Considerations</a:t>
            </a:r>
            <a:endParaRPr lang="en-US" sz="4000" dirty="0"/>
          </a:p>
        </p:txBody>
      </p:sp>
      <p:sp>
        <p:nvSpPr>
          <p:cNvPr id="3" name="Content Placeholder 2">
            <a:extLst>
              <a:ext uri="{FF2B5EF4-FFF2-40B4-BE49-F238E27FC236}">
                <a16:creationId xmlns:a16="http://schemas.microsoft.com/office/drawing/2014/main" id="{27CD434D-E248-E302-005D-756D117F893C}"/>
              </a:ext>
            </a:extLst>
          </p:cNvPr>
          <p:cNvSpPr>
            <a:spLocks noGrp="1"/>
          </p:cNvSpPr>
          <p:nvPr>
            <p:ph idx="1"/>
          </p:nvPr>
        </p:nvSpPr>
        <p:spPr/>
        <p:txBody>
          <a:bodyPr>
            <a:normAutofit/>
          </a:bodyPr>
          <a:lstStyle/>
          <a:p>
            <a:pPr marL="514350" indent="-514350">
              <a:buFont typeface="+mj-lt"/>
              <a:buAutoNum type="arabicPeriod"/>
            </a:pPr>
            <a:r>
              <a:rPr lang="en-US" sz="2400" dirty="0"/>
              <a:t>How could regulatory, commercial, technical, or legal factors change your approach to developing an M&amp;V plan for a project in a different country or sector?</a:t>
            </a:r>
          </a:p>
          <a:p>
            <a:pPr marL="514350" indent="-514350">
              <a:buFont typeface="+mj-lt"/>
              <a:buAutoNum type="arabicPeriod"/>
            </a:pPr>
            <a:r>
              <a:rPr lang="en-US" sz="2400" dirty="0"/>
              <a:t>Why is it important for a CMVP to identify and communicate with all project stakeholders </a:t>
            </a:r>
            <a:r>
              <a:rPr lang="en-US" sz="2400" b="1" dirty="0"/>
              <a:t>before</a:t>
            </a:r>
            <a:r>
              <a:rPr lang="en-US" sz="2400" dirty="0"/>
              <a:t> implementing an M&amp;V plan?</a:t>
            </a:r>
          </a:p>
          <a:p>
            <a:pPr marL="514350" indent="-514350">
              <a:buFont typeface="+mj-lt"/>
              <a:buAutoNum type="arabicPeriod"/>
            </a:pPr>
            <a:r>
              <a:rPr lang="en-US" sz="2400" dirty="0"/>
              <a:t>What is the value of aligning M&amp;V activities with established guidelines, standards, and protocols (like IPMVP or FEMP), and how might misalignment impact a project's success?</a:t>
            </a:r>
          </a:p>
          <a:p>
            <a:pPr marL="514350" indent="-514350">
              <a:buFont typeface="+mj-lt"/>
              <a:buAutoNum type="arabicPeriod"/>
            </a:pPr>
            <a:endParaRPr lang="en-US" dirty="0"/>
          </a:p>
        </p:txBody>
      </p:sp>
    </p:spTree>
    <p:extLst>
      <p:ext uri="{BB962C8B-B14F-4D97-AF65-F5344CB8AC3E}">
        <p14:creationId xmlns:p14="http://schemas.microsoft.com/office/powerpoint/2010/main" val="3331961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5.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a3e92f2-5613-46e7-b45d-3aef96e77e3b" xsi:nil="true"/>
    <lcf76f155ced4ddcb4097134ff3c332f xmlns="eede6f60-fd02-4aa8-96b3-c6d8596d5a0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8908EB78113947A2551702793187F6" ma:contentTypeVersion="20" ma:contentTypeDescription="Create a new document." ma:contentTypeScope="" ma:versionID="8fa1d89827d6287d4aa55d021510eae1">
  <xsd:schema xmlns:xsd="http://www.w3.org/2001/XMLSchema" xmlns:xs="http://www.w3.org/2001/XMLSchema" xmlns:p="http://schemas.microsoft.com/office/2006/metadata/properties" xmlns:ns2="eede6f60-fd02-4aa8-96b3-c6d8596d5a0b" xmlns:ns3="0a3e92f2-5613-46e7-b45d-3aef96e77e3b" targetNamespace="http://schemas.microsoft.com/office/2006/metadata/properties" ma:root="true" ma:fieldsID="f205a015fb39f47bd8f6727bb7547130" ns2:_="" ns3:_="">
    <xsd:import namespace="eede6f60-fd02-4aa8-96b3-c6d8596d5a0b"/>
    <xsd:import namespace="0a3e92f2-5613-46e7-b45d-3aef96e77e3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ServiceObjectDetectorVersions" minOccurs="0"/>
                <xsd:element ref="ns2:MediaServiceSearchProperties" minOccurs="0"/>
                <xsd:element ref="ns2:MediaServiceBillingMetadata"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de6f60-fd02-4aa8-96b3-c6d8596d5a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1cda971e-2c5b-4836-b7b3-048297a31dd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a3e92f2-5613-46e7-b45d-3aef96e77e3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1b9f90b-3c36-435b-ab9f-2f962144757d}" ma:internalName="TaxCatchAll" ma:showField="CatchAllData" ma:web="0a3e92f2-5613-46e7-b45d-3aef96e77e3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F8726B-B980-4ED5-9F11-E65DB1718071}">
  <ds:schemaRefs>
    <ds:schemaRef ds:uri="http://purl.org/dc/elements/1.1/"/>
    <ds:schemaRef ds:uri="http://www.w3.org/XML/1998/namespace"/>
    <ds:schemaRef ds:uri="http://schemas.microsoft.com/office/2006/documentManagement/types"/>
    <ds:schemaRef ds:uri="http://purl.org/dc/terms/"/>
    <ds:schemaRef ds:uri="267a8a91-dfd1-490b-b5c1-63772aa9a30a"/>
    <ds:schemaRef ds:uri="http://purl.org/dc/dcmitype/"/>
    <ds:schemaRef ds:uri="http://schemas.microsoft.com/office/2006/metadata/properties"/>
    <ds:schemaRef ds:uri="http://schemas.microsoft.com/office/infopath/2007/PartnerControls"/>
    <ds:schemaRef ds:uri="http://schemas.openxmlformats.org/package/2006/metadata/core-properties"/>
    <ds:schemaRef ds:uri="a6218c6d-ee78-4afe-8639-984cf5de87af"/>
  </ds:schemaRefs>
</ds:datastoreItem>
</file>

<file path=customXml/itemProps2.xml><?xml version="1.0" encoding="utf-8"?>
<ds:datastoreItem xmlns:ds="http://schemas.openxmlformats.org/officeDocument/2006/customXml" ds:itemID="{88CFA9D0-4161-4269-B8B6-71F19AF175C6}"/>
</file>

<file path=customXml/itemProps3.xml><?xml version="1.0" encoding="utf-8"?>
<ds:datastoreItem xmlns:ds="http://schemas.openxmlformats.org/officeDocument/2006/customXml" ds:itemID="{D8BF64DB-D942-4A20-80F1-FB121BB9C9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28724</TotalTime>
  <Words>3541</Words>
  <Application>Microsoft Office PowerPoint</Application>
  <PresentationFormat>Widescreen</PresentationFormat>
  <Paragraphs>304</Paragraphs>
  <Slides>44</Slides>
  <Notes>26</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44</vt:i4>
      </vt:variant>
    </vt:vector>
  </HeadingPairs>
  <TitlesOfParts>
    <vt:vector size="56" baseType="lpstr">
      <vt:lpstr>Verdana</vt:lpstr>
      <vt:lpstr>Aptos Display</vt:lpstr>
      <vt:lpstr>Segoe UI Light</vt:lpstr>
      <vt:lpstr>Semplicita Pro</vt:lpstr>
      <vt:lpstr>Aptos</vt:lpstr>
      <vt:lpstr>Arial</vt:lpstr>
      <vt:lpstr>Segoe UI Semibold</vt:lpstr>
      <vt:lpstr>Calibri Light</vt:lpstr>
      <vt:lpstr>Office Theme</vt:lpstr>
      <vt:lpstr>Workbooks</vt:lpstr>
      <vt:lpstr>Custom Design</vt:lpstr>
      <vt:lpstr>1_Workbooks</vt:lpstr>
      <vt:lpstr>MODULE 2 Contextual Considerations (Who cares?)</vt:lpstr>
      <vt:lpstr>Learning Objectives</vt:lpstr>
      <vt:lpstr>The Importance of Context</vt:lpstr>
      <vt:lpstr>Domain Evolution - </vt:lpstr>
      <vt:lpstr>M&amp;V Risks – Overview</vt:lpstr>
      <vt:lpstr>Government / Regulatory Risks</vt:lpstr>
      <vt:lpstr>Financial / Commercial Risks</vt:lpstr>
      <vt:lpstr>Legal / Contractual Risks</vt:lpstr>
      <vt:lpstr>Technical / Physical Risks</vt:lpstr>
      <vt:lpstr>Risk Quantification &amp; Management</vt:lpstr>
      <vt:lpstr>Energy Savings Performance Contracting (ESPC)</vt:lpstr>
      <vt:lpstr>An Example</vt:lpstr>
      <vt:lpstr>ESPC – shared or guaranteed?</vt:lpstr>
      <vt:lpstr>It’s Not Just Engineers</vt:lpstr>
      <vt:lpstr>Energy Efficiency Projects</vt:lpstr>
      <vt:lpstr>What Is a Utility Program?</vt:lpstr>
      <vt:lpstr>Energy Efficiency Programs</vt:lpstr>
      <vt:lpstr>An Example</vt:lpstr>
      <vt:lpstr>PowerPoint Presentation</vt:lpstr>
      <vt:lpstr>Concept: Savings By Design Programs </vt:lpstr>
      <vt:lpstr>Utility Program Considerations</vt:lpstr>
      <vt:lpstr>Timing</vt:lpstr>
      <vt:lpstr>Other Possible Contexts</vt:lpstr>
      <vt:lpstr>Other Possible Contexts (cont)</vt:lpstr>
      <vt:lpstr>Other Possible Contexts (cont)</vt:lpstr>
      <vt:lpstr>M&amp;V 2.0 </vt:lpstr>
      <vt:lpstr>M&amp;V 2.0 &gt; AMI 2.0? </vt:lpstr>
      <vt:lpstr>FLEXmarket</vt:lpstr>
      <vt:lpstr>PowerPoint Presentation</vt:lpstr>
      <vt:lpstr>Guidelines, Standards, and Protocols</vt:lpstr>
      <vt:lpstr>Guidelines, Standards, and Protocols Names Change. Concepts Evolve and Adapt.</vt:lpstr>
      <vt:lpstr>Guidelines, Standards, and Protocols Names Change. Concepts Evolve and Adapt.</vt:lpstr>
      <vt:lpstr>FEMP 4.0 </vt:lpstr>
      <vt:lpstr>Professional Judgment</vt:lpstr>
      <vt:lpstr>Guiding Principles</vt:lpstr>
      <vt:lpstr>Guiding Principles</vt:lpstr>
      <vt:lpstr>Avoiding Disputes</vt:lpstr>
      <vt:lpstr>Avoiding Disputes</vt:lpstr>
      <vt:lpstr>Cost and Risk</vt:lpstr>
      <vt:lpstr>Cost and Risk</vt:lpstr>
      <vt:lpstr>PowerPoint Presentation</vt:lpstr>
      <vt:lpstr>Scope of Analysis</vt:lpstr>
      <vt:lpstr>Key Takeaways</vt:lpstr>
      <vt:lpstr>Module 2: Contextual Considerations</vt:lpstr>
    </vt:vector>
  </TitlesOfParts>
  <Manager/>
  <Company>Association of Energy Engineers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AEE Certified Training Template</dc:title>
  <dc:subject>Version 1.0 January 1, 2019</dc:subject>
  <dc:creator>Michael Hewson</dc:creator>
  <cp:keywords/>
  <dc:description/>
  <cp:lastModifiedBy>Martijn Prak</cp:lastModifiedBy>
  <cp:revision>69</cp:revision>
  <cp:lastPrinted>2023-09-28T19:47:32Z</cp:lastPrinted>
  <dcterms:created xsi:type="dcterms:W3CDTF">2018-12-23T18:03:31Z</dcterms:created>
  <dcterms:modified xsi:type="dcterms:W3CDTF">2025-11-21T15:17:18Z</dcterms:modified>
  <cp:category>Certified Training Material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0x010100F68908EB78113947A2551702793187F6</vt:lpwstr>
  </property>
  <property fmtid="{D5CDD505-2E9C-101B-9397-08002B2CF9AE}" pid="3" name="MediaServiceImageTags">
    <vt:lpwstr/>
  </property>
  <property fmtid="{D5CDD505-2E9C-101B-9397-08002B2CF9AE}" pid="4" name="Order">
    <vt:r8>622800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