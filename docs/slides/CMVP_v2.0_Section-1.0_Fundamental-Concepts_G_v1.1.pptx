
<file path=[Content_Types].xml><?xml version="1.0" encoding="utf-8"?>
<Types xmlns="http://schemas.openxmlformats.org/package/2006/content-types">
  <Default Extension="emf" ContentType="image/x-emf"/>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3.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0.xml" ContentType="application/vnd.openxmlformats-officedocument.presentationml.notesSlide+xml"/>
  <Override PartName="/ppt/ink/ink6.xml" ContentType="application/inkml+xml"/>
  <Override PartName="/ppt/ink/ink7.xml" ContentType="application/inkml+xml"/>
  <Override PartName="/ppt/charts/chart1.xml" ContentType="application/vnd.openxmlformats-officedocument.drawingml.chart+xml"/>
  <Override PartName="/ppt/drawings/drawing1.xml" ContentType="application/vnd.openxmlformats-officedocument.drawingml.chartshape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2" r:id="rId4"/>
    <p:sldMasterId id="2147483759" r:id="rId5"/>
    <p:sldMasterId id="2147483791" r:id="rId6"/>
    <p:sldMasterId id="2147483772" r:id="rId7"/>
  </p:sldMasterIdLst>
  <p:notesMasterIdLst>
    <p:notesMasterId r:id="rId83"/>
  </p:notesMasterIdLst>
  <p:handoutMasterIdLst>
    <p:handoutMasterId r:id="rId84"/>
  </p:handoutMasterIdLst>
  <p:sldIdLst>
    <p:sldId id="548" r:id="rId8"/>
    <p:sldId id="274" r:id="rId9"/>
    <p:sldId id="277" r:id="rId10"/>
    <p:sldId id="2838" r:id="rId11"/>
    <p:sldId id="2772" r:id="rId12"/>
    <p:sldId id="540" r:id="rId13"/>
    <p:sldId id="2767" r:id="rId14"/>
    <p:sldId id="2800" r:id="rId15"/>
    <p:sldId id="278" r:id="rId16"/>
    <p:sldId id="2751" r:id="rId17"/>
    <p:sldId id="2754" r:id="rId18"/>
    <p:sldId id="2750" r:id="rId19"/>
    <p:sldId id="2770" r:id="rId20"/>
    <p:sldId id="2743" r:id="rId21"/>
    <p:sldId id="426" r:id="rId22"/>
    <p:sldId id="2794" r:id="rId23"/>
    <p:sldId id="640" r:id="rId24"/>
    <p:sldId id="2802" r:id="rId25"/>
    <p:sldId id="615" r:id="rId26"/>
    <p:sldId id="641" r:id="rId27"/>
    <p:sldId id="256" r:id="rId28"/>
    <p:sldId id="642" r:id="rId29"/>
    <p:sldId id="2796" r:id="rId30"/>
    <p:sldId id="2797" r:id="rId31"/>
    <p:sldId id="2799" r:id="rId32"/>
    <p:sldId id="377" r:id="rId33"/>
    <p:sldId id="394" r:id="rId34"/>
    <p:sldId id="2792" r:id="rId35"/>
    <p:sldId id="2793" r:id="rId36"/>
    <p:sldId id="279" r:id="rId37"/>
    <p:sldId id="612" r:id="rId38"/>
    <p:sldId id="281" r:id="rId39"/>
    <p:sldId id="2766" r:id="rId40"/>
    <p:sldId id="2803" r:id="rId41"/>
    <p:sldId id="646" r:id="rId42"/>
    <p:sldId id="2782" r:id="rId43"/>
    <p:sldId id="362" r:id="rId44"/>
    <p:sldId id="645" r:id="rId45"/>
    <p:sldId id="287" r:id="rId46"/>
    <p:sldId id="2804" r:id="rId47"/>
    <p:sldId id="496" r:id="rId48"/>
    <p:sldId id="643" r:id="rId49"/>
    <p:sldId id="2779" r:id="rId50"/>
    <p:sldId id="644" r:id="rId51"/>
    <p:sldId id="473" r:id="rId52"/>
    <p:sldId id="395" r:id="rId53"/>
    <p:sldId id="396" r:id="rId54"/>
    <p:sldId id="397" r:id="rId55"/>
    <p:sldId id="544" r:id="rId56"/>
    <p:sldId id="282" r:id="rId57"/>
    <p:sldId id="489" r:id="rId58"/>
    <p:sldId id="472" r:id="rId59"/>
    <p:sldId id="283" r:id="rId60"/>
    <p:sldId id="424" r:id="rId61"/>
    <p:sldId id="2833" r:id="rId62"/>
    <p:sldId id="2840" r:id="rId63"/>
    <p:sldId id="257" r:id="rId64"/>
    <p:sldId id="2805" r:id="rId65"/>
    <p:sldId id="647" r:id="rId66"/>
    <p:sldId id="2834" r:id="rId67"/>
    <p:sldId id="2835" r:id="rId68"/>
    <p:sldId id="262" r:id="rId69"/>
    <p:sldId id="259" r:id="rId70"/>
    <p:sldId id="260" r:id="rId71"/>
    <p:sldId id="261" r:id="rId72"/>
    <p:sldId id="2067" r:id="rId73"/>
    <p:sldId id="2068" r:id="rId74"/>
    <p:sldId id="400" r:id="rId75"/>
    <p:sldId id="422" r:id="rId76"/>
    <p:sldId id="398" r:id="rId77"/>
    <p:sldId id="425" r:id="rId78"/>
    <p:sldId id="2737" r:id="rId79"/>
    <p:sldId id="291" r:id="rId80"/>
    <p:sldId id="622" r:id="rId81"/>
    <p:sldId id="2756" r:id="rId82"/>
  </p:sldIdLst>
  <p:sldSz cx="12192000" cy="6858000"/>
  <p:notesSz cx="7315200" cy="9601200"/>
  <p:embeddedFontLst>
    <p:embeddedFont>
      <p:font typeface="Segoe UI Light" panose="020B0502040204020203" pitchFamily="34" charset="0"/>
      <p:regular r:id="rId85"/>
      <p:italic r:id="rId86"/>
    </p:embeddedFont>
    <p:embeddedFont>
      <p:font typeface="Segoe UI Semibold" panose="020B0702040204020203" pitchFamily="34" charset="0"/>
      <p:regular r:id="rId87"/>
      <p:bold r:id="rId88"/>
      <p:italic r:id="rId89"/>
      <p:boldItalic r:id="rId90"/>
    </p:embeddedFont>
    <p:embeddedFont>
      <p:font typeface="Semplicita Pro" panose="020F0502020204030204"/>
      <p:regular r:id="rId91"/>
      <p:bold r:id="rId92"/>
      <p:italic r:id="rId93"/>
      <p:boldItalic r:id="rId94"/>
    </p:embeddedFont>
    <p:embeddedFont>
      <p:font typeface="Verdana" panose="020B0604030504040204" pitchFamily="34" charset="0"/>
      <p:regular r:id="rId95"/>
      <p:bold r:id="rId96"/>
      <p:italic r:id="rId97"/>
      <p:boldItalic r:id="rId9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dule 1" id="{2C8451EF-48CB-44EC-A7FD-B21A9CF56133}">
          <p14:sldIdLst>
            <p14:sldId id="548"/>
            <p14:sldId id="274"/>
            <p14:sldId id="277"/>
            <p14:sldId id="2838"/>
            <p14:sldId id="2772"/>
            <p14:sldId id="540"/>
            <p14:sldId id="2767"/>
            <p14:sldId id="2800"/>
            <p14:sldId id="278"/>
            <p14:sldId id="2751"/>
            <p14:sldId id="2754"/>
            <p14:sldId id="2750"/>
            <p14:sldId id="2770"/>
            <p14:sldId id="2743"/>
            <p14:sldId id="426"/>
            <p14:sldId id="2794"/>
            <p14:sldId id="640"/>
            <p14:sldId id="2802"/>
            <p14:sldId id="615"/>
            <p14:sldId id="641"/>
            <p14:sldId id="256"/>
            <p14:sldId id="642"/>
            <p14:sldId id="2796"/>
            <p14:sldId id="2797"/>
            <p14:sldId id="2799"/>
            <p14:sldId id="377"/>
            <p14:sldId id="394"/>
            <p14:sldId id="2792"/>
            <p14:sldId id="2793"/>
            <p14:sldId id="279"/>
            <p14:sldId id="612"/>
            <p14:sldId id="281"/>
            <p14:sldId id="2766"/>
            <p14:sldId id="2803"/>
            <p14:sldId id="646"/>
            <p14:sldId id="2782"/>
            <p14:sldId id="362"/>
            <p14:sldId id="645"/>
            <p14:sldId id="287"/>
            <p14:sldId id="2804"/>
            <p14:sldId id="496"/>
            <p14:sldId id="643"/>
            <p14:sldId id="2779"/>
            <p14:sldId id="644"/>
            <p14:sldId id="473"/>
            <p14:sldId id="395"/>
            <p14:sldId id="396"/>
            <p14:sldId id="397"/>
            <p14:sldId id="544"/>
            <p14:sldId id="282"/>
            <p14:sldId id="489"/>
            <p14:sldId id="472"/>
            <p14:sldId id="283"/>
            <p14:sldId id="424"/>
            <p14:sldId id="2833"/>
            <p14:sldId id="2840"/>
            <p14:sldId id="257"/>
            <p14:sldId id="2805"/>
            <p14:sldId id="647"/>
            <p14:sldId id="2834"/>
            <p14:sldId id="2835"/>
            <p14:sldId id="262"/>
            <p14:sldId id="259"/>
            <p14:sldId id="260"/>
            <p14:sldId id="261"/>
            <p14:sldId id="2067"/>
            <p14:sldId id="2068"/>
            <p14:sldId id="400"/>
            <p14:sldId id="422"/>
            <p14:sldId id="398"/>
            <p14:sldId id="425"/>
            <p14:sldId id="2737"/>
            <p14:sldId id="291"/>
            <p14:sldId id="622"/>
            <p14:sldId id="2756"/>
          </p14:sldIdLst>
        </p14:section>
      </p14:sectionLst>
    </p:ext>
    <p:ext uri="{EFAFB233-063F-42B5-8137-9DF3F51BA10A}">
      <p15:sldGuideLst xmlns:p15="http://schemas.microsoft.com/office/powerpoint/2012/main">
        <p15:guide id="1" pos="3840" userDrawn="1">
          <p15:clr>
            <a:srgbClr val="A4A3A4"/>
          </p15:clr>
        </p15:guide>
        <p15:guide id="2" orient="horz" pos="216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0E661A-16D0-5403-552F-030E5600146C}" name="Steve Kromer" initials="SK" userId="S::steve@counterfactual-designs.com::3422a2b1-b5f1-46bb-a09f-17841b28c920" providerId="AD"/>
  <p188:author id="{F929B92B-5FBA-2421-6909-2730212124E6}" name="Chris Balbach" initials="CB" userId="Chris Balbach" providerId="None"/>
  <p188:author id="{42565433-F785-EC19-A8EF-41BF281547A8}" name="Erick Piller" initials="EP" userId="S::erick@counterfactual-designs.com::69ba48c4-f2f4-4312-a5bd-1ff860b9d88b" providerId="AD"/>
  <p188:author id="{817C43A2-646B-8A36-C16B-0D72086A9FB8}" name="Hassan Ali Younes" initials="HAY" userId="S::hassan@grfn.global::6ea118d4-3ea0-471c-921f-4ae10ac6ccc8" providerId="AD"/>
  <p188:author id="{CE599FF2-E437-F2DC-FA8A-1EA3C907C036}" name="Erick Piller" initials="EP" userId="Erick Piller" providerId="None"/>
  <p188:author id="{456971F8-98E7-7C77-B56E-D29A03818428}" name="Sam Day" initials="SD" userId="S::sam.day@clearesult.com::6df82dd2-643e-45b8-8786-7555ffc5823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FB3"/>
    <a:srgbClr val="F05D5E"/>
    <a:srgbClr val="4A66AC"/>
    <a:srgbClr val="DC965A"/>
    <a:srgbClr val="609ED0"/>
    <a:srgbClr val="59A2AE"/>
    <a:srgbClr val="2C2A4A"/>
    <a:srgbClr val="DB2955"/>
    <a:srgbClr val="444554"/>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45F83D-8F80-0B4A-B0F9-307F1F4C73CC}" v="2" dt="2026-03-23T15:30:24.131"/>
  </p1510:revLst>
</p1510:revInfo>
</file>

<file path=ppt/tableStyles.xml><?xml version="1.0" encoding="utf-8"?>
<a:tblStyleLst xmlns:a="http://schemas.openxmlformats.org/drawingml/2006/main" def="{BC89EF96-8CEA-46FF-86C4-4CE0E760980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465"/>
    <p:restoredTop sz="96301"/>
  </p:normalViewPr>
  <p:slideViewPr>
    <p:cSldViewPr snapToGrid="0">
      <p:cViewPr>
        <p:scale>
          <a:sx n="100" d="100"/>
          <a:sy n="100" d="100"/>
        </p:scale>
        <p:origin x="816" y="760"/>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2898" y="4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handoutMaster" Target="handoutMasters/handoutMaster1.xml"/><Relationship Id="rId89" Type="http://schemas.openxmlformats.org/officeDocument/2006/relationships/font" Target="fonts/font5.fntdata"/><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tableStyles" Target="tableStyles.xml"/><Relationship Id="rId5" Type="http://schemas.openxmlformats.org/officeDocument/2006/relationships/slideMaster" Target="slideMasters/slideMaster2.xml"/><Relationship Id="rId90" Type="http://schemas.openxmlformats.org/officeDocument/2006/relationships/font" Target="fonts/font6.fntdata"/><Relationship Id="rId95" Type="http://schemas.openxmlformats.org/officeDocument/2006/relationships/font" Target="fonts/font11.fntdata"/><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80" Type="http://schemas.openxmlformats.org/officeDocument/2006/relationships/slide" Target="slides/slide73.xml"/><Relationship Id="rId85" Type="http://schemas.openxmlformats.org/officeDocument/2006/relationships/font" Target="fonts/font1.fntdata"/><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microsoft.com/office/2016/11/relationships/changesInfo" Target="changesInfos/changesInfo1.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notesMaster" Target="notesMasters/notesMaster1.xml"/><Relationship Id="rId88" Type="http://schemas.openxmlformats.org/officeDocument/2006/relationships/font" Target="fonts/font4.fntdata"/><Relationship Id="rId91" Type="http://schemas.openxmlformats.org/officeDocument/2006/relationships/font" Target="fonts/font7.fntdata"/><Relationship Id="rId96" Type="http://schemas.openxmlformats.org/officeDocument/2006/relationships/font" Target="fonts/font12.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font" Target="fonts/font2.fntdata"/><Relationship Id="rId94" Type="http://schemas.openxmlformats.org/officeDocument/2006/relationships/font" Target="fonts/font10.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font" Target="fonts/font13.fntdata"/><Relationship Id="rId104" Type="http://schemas.microsoft.com/office/2015/10/relationships/revisionInfo" Target="revisionInfo.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font" Target="fonts/font8.fntdata"/><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font" Target="fonts/font3.fntdata"/><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viewProps" Target="viewProps.xml"/><Relationship Id="rId105" Type="http://schemas.microsoft.com/office/2018/10/relationships/authors" Target="authors.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font" Target="fonts/font9.fntdata"/><Relationship Id="rId98" Type="http://schemas.openxmlformats.org/officeDocument/2006/relationships/font" Target="fonts/font14.fntdata"/><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Kromer" userId="3422a2b1-b5f1-46bb-a09f-17841b28c920" providerId="ADAL" clId="{9560F0CE-FF35-5726-95CF-95A3A0A42013}"/>
    <pc:docChg chg="undo custSel modSld">
      <pc:chgData name="Steve Kromer" userId="3422a2b1-b5f1-46bb-a09f-17841b28c920" providerId="ADAL" clId="{9560F0CE-FF35-5726-95CF-95A3A0A42013}" dt="2026-03-23T19:19:39.851" v="24" actId="207"/>
      <pc:docMkLst>
        <pc:docMk/>
      </pc:docMkLst>
      <pc:sldChg chg="addSp delSp modSp mod">
        <pc:chgData name="Steve Kromer" userId="3422a2b1-b5f1-46bb-a09f-17841b28c920" providerId="ADAL" clId="{9560F0CE-FF35-5726-95CF-95A3A0A42013}" dt="2026-03-23T15:30:42.855" v="23" actId="9405"/>
        <pc:sldMkLst>
          <pc:docMk/>
          <pc:sldMk cId="1365680362" sldId="426"/>
        </pc:sldMkLst>
        <pc:spChg chg="mod">
          <ac:chgData name="Steve Kromer" userId="3422a2b1-b5f1-46bb-a09f-17841b28c920" providerId="ADAL" clId="{9560F0CE-FF35-5726-95CF-95A3A0A42013}" dt="2026-03-23T15:29:38.531" v="14" actId="1076"/>
          <ac:spMkLst>
            <pc:docMk/>
            <pc:sldMk cId="1365680362" sldId="426"/>
            <ac:spMk id="2" creationId="{3139C73D-C8AB-FF3E-61DB-7EB67FB326CE}"/>
          </ac:spMkLst>
        </pc:spChg>
        <pc:grpChg chg="del mod">
          <ac:chgData name="Steve Kromer" userId="3422a2b1-b5f1-46bb-a09f-17841b28c920" providerId="ADAL" clId="{9560F0CE-FF35-5726-95CF-95A3A0A42013}" dt="2026-03-23T15:30:20.662" v="18"/>
          <ac:grpSpMkLst>
            <pc:docMk/>
            <pc:sldMk cId="1365680362" sldId="426"/>
            <ac:grpSpMk id="7" creationId="{943E55F7-DAB7-AF92-7B4C-3E40B832B0A3}"/>
          </ac:grpSpMkLst>
        </pc:grpChg>
        <pc:grpChg chg="del mod">
          <ac:chgData name="Steve Kromer" userId="3422a2b1-b5f1-46bb-a09f-17841b28c920" providerId="ADAL" clId="{9560F0CE-FF35-5726-95CF-95A3A0A42013}" dt="2026-03-23T15:30:24.131" v="21"/>
          <ac:grpSpMkLst>
            <pc:docMk/>
            <pc:sldMk cId="1365680362" sldId="426"/>
            <ac:grpSpMk id="12" creationId="{EDD7F043-F19A-1F06-DC26-E43478C9EC58}"/>
          </ac:grpSpMkLst>
        </pc:grpChg>
        <pc:grpChg chg="del mod">
          <ac:chgData name="Steve Kromer" userId="3422a2b1-b5f1-46bb-a09f-17841b28c920" providerId="ADAL" clId="{9560F0CE-FF35-5726-95CF-95A3A0A42013}" dt="2026-03-23T15:30:24.131" v="21"/>
          <ac:grpSpMkLst>
            <pc:docMk/>
            <pc:sldMk cId="1365680362" sldId="426"/>
            <ac:grpSpMk id="15" creationId="{51564049-43B1-3BF0-5D58-2FA800346926}"/>
          </ac:grpSpMkLst>
        </pc:grpChg>
        <pc:grpChg chg="mod">
          <ac:chgData name="Steve Kromer" userId="3422a2b1-b5f1-46bb-a09f-17841b28c920" providerId="ADAL" clId="{9560F0CE-FF35-5726-95CF-95A3A0A42013}" dt="2026-03-23T15:30:24.131" v="21"/>
          <ac:grpSpMkLst>
            <pc:docMk/>
            <pc:sldMk cId="1365680362" sldId="426"/>
            <ac:grpSpMk id="16" creationId="{0A46D8E3-27E8-01F1-6ABC-49A72CBB4406}"/>
          </ac:grpSpMkLst>
        </pc:grpChg>
        <pc:inkChg chg="add">
          <ac:chgData name="Steve Kromer" userId="3422a2b1-b5f1-46bb-a09f-17841b28c920" providerId="ADAL" clId="{9560F0CE-FF35-5726-95CF-95A3A0A42013}" dt="2026-03-23T15:30:01.011" v="15" actId="9405"/>
          <ac:inkMkLst>
            <pc:docMk/>
            <pc:sldMk cId="1365680362" sldId="426"/>
            <ac:inkMk id="3" creationId="{0023D776-3E7A-D3C8-F0D2-10AA57FEF744}"/>
          </ac:inkMkLst>
        </pc:inkChg>
        <pc:inkChg chg="add mod">
          <ac:chgData name="Steve Kromer" userId="3422a2b1-b5f1-46bb-a09f-17841b28c920" providerId="ADAL" clId="{9560F0CE-FF35-5726-95CF-95A3A0A42013}" dt="2026-03-23T15:30:24.131" v="21"/>
          <ac:inkMkLst>
            <pc:docMk/>
            <pc:sldMk cId="1365680362" sldId="426"/>
            <ac:inkMk id="4" creationId="{4B20DBF2-6356-F79F-30F3-D81C2A0B48A1}"/>
          </ac:inkMkLst>
        </pc:inkChg>
        <pc:inkChg chg="add mod">
          <ac:chgData name="Steve Kromer" userId="3422a2b1-b5f1-46bb-a09f-17841b28c920" providerId="ADAL" clId="{9560F0CE-FF35-5726-95CF-95A3A0A42013}" dt="2026-03-23T15:30:24.131" v="21"/>
          <ac:inkMkLst>
            <pc:docMk/>
            <pc:sldMk cId="1365680362" sldId="426"/>
            <ac:inkMk id="5" creationId="{870B2C3D-6921-DA97-475C-B8E5265F4B79}"/>
          </ac:inkMkLst>
        </pc:inkChg>
        <pc:inkChg chg="add mod">
          <ac:chgData name="Steve Kromer" userId="3422a2b1-b5f1-46bb-a09f-17841b28c920" providerId="ADAL" clId="{9560F0CE-FF35-5726-95CF-95A3A0A42013}" dt="2026-03-23T15:30:24.131" v="21"/>
          <ac:inkMkLst>
            <pc:docMk/>
            <pc:sldMk cId="1365680362" sldId="426"/>
            <ac:inkMk id="13" creationId="{82A28F92-A78A-EC1B-3E24-FD74E4E74A1F}"/>
          </ac:inkMkLst>
        </pc:inkChg>
        <pc:inkChg chg="add mod">
          <ac:chgData name="Steve Kromer" userId="3422a2b1-b5f1-46bb-a09f-17841b28c920" providerId="ADAL" clId="{9560F0CE-FF35-5726-95CF-95A3A0A42013}" dt="2026-03-23T15:30:24.131" v="21"/>
          <ac:inkMkLst>
            <pc:docMk/>
            <pc:sldMk cId="1365680362" sldId="426"/>
            <ac:inkMk id="14" creationId="{8B42519E-0D33-F9AA-7C84-72329663D94E}"/>
          </ac:inkMkLst>
        </pc:inkChg>
        <pc:inkChg chg="add del">
          <ac:chgData name="Steve Kromer" userId="3422a2b1-b5f1-46bb-a09f-17841b28c920" providerId="ADAL" clId="{9560F0CE-FF35-5726-95CF-95A3A0A42013}" dt="2026-03-23T15:30:42.855" v="23" actId="9405"/>
          <ac:inkMkLst>
            <pc:docMk/>
            <pc:sldMk cId="1365680362" sldId="426"/>
            <ac:inkMk id="17" creationId="{DD81962D-81AF-CDB3-BC0D-6FF98928688E}"/>
          </ac:inkMkLst>
        </pc:inkChg>
      </pc:sldChg>
      <pc:sldChg chg="modSp mod">
        <pc:chgData name="Steve Kromer" userId="3422a2b1-b5f1-46bb-a09f-17841b28c920" providerId="ADAL" clId="{9560F0CE-FF35-5726-95CF-95A3A0A42013}" dt="2026-03-23T14:27:46.687" v="4" actId="1038"/>
        <pc:sldMkLst>
          <pc:docMk/>
          <pc:sldMk cId="2396967061" sldId="540"/>
        </pc:sldMkLst>
        <pc:picChg chg="mod">
          <ac:chgData name="Steve Kromer" userId="3422a2b1-b5f1-46bb-a09f-17841b28c920" providerId="ADAL" clId="{9560F0CE-FF35-5726-95CF-95A3A0A42013}" dt="2026-03-23T14:27:46.687" v="4" actId="1038"/>
          <ac:picMkLst>
            <pc:docMk/>
            <pc:sldMk cId="2396967061" sldId="540"/>
            <ac:picMk id="3" creationId="{322617F9-B928-B45F-3E38-EEE4897EBC35}"/>
          </ac:picMkLst>
        </pc:picChg>
      </pc:sldChg>
      <pc:sldChg chg="modSp mod">
        <pc:chgData name="Steve Kromer" userId="3422a2b1-b5f1-46bb-a09f-17841b28c920" providerId="ADAL" clId="{9560F0CE-FF35-5726-95CF-95A3A0A42013}" dt="2026-03-23T19:19:39.851" v="24" actId="207"/>
        <pc:sldMkLst>
          <pc:docMk/>
          <pc:sldMk cId="3064380652" sldId="644"/>
        </pc:sldMkLst>
        <pc:spChg chg="mod">
          <ac:chgData name="Steve Kromer" userId="3422a2b1-b5f1-46bb-a09f-17841b28c920" providerId="ADAL" clId="{9560F0CE-FF35-5726-95CF-95A3A0A42013}" dt="2026-03-23T19:19:39.851" v="24" actId="207"/>
          <ac:spMkLst>
            <pc:docMk/>
            <pc:sldMk cId="3064380652" sldId="644"/>
            <ac:spMk id="3" creationId="{5FAC6DA0-C8F5-1DEB-AC41-E0537E7BEDC6}"/>
          </ac:spMkLst>
        </pc:spChg>
      </pc:sldChg>
      <pc:sldChg chg="modSp mod">
        <pc:chgData name="Steve Kromer" userId="3422a2b1-b5f1-46bb-a09f-17841b28c920" providerId="ADAL" clId="{9560F0CE-FF35-5726-95CF-95A3A0A42013}" dt="2026-03-23T15:06:02.133" v="13" actId="20577"/>
        <pc:sldMkLst>
          <pc:docMk/>
          <pc:sldMk cId="1761781801" sldId="2743"/>
        </pc:sldMkLst>
        <pc:spChg chg="mod">
          <ac:chgData name="Steve Kromer" userId="3422a2b1-b5f1-46bb-a09f-17841b28c920" providerId="ADAL" clId="{9560F0CE-FF35-5726-95CF-95A3A0A42013}" dt="2026-03-23T15:06:02.133" v="13" actId="20577"/>
          <ac:spMkLst>
            <pc:docMk/>
            <pc:sldMk cId="1761781801" sldId="2743"/>
            <ac:spMk id="3" creationId="{10EA4839-DF6B-22A5-105F-D0D04AA157A2}"/>
          </ac:spMkLst>
        </pc:spChg>
      </pc:sldChg>
    </pc:docChg>
  </pc:docChgLst>
</pc:chgInfo>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file:////Users\johnstephenkromer\Library\CloudStorage\Dropbox\SKEE_Business\Active%20work\CMVP%20Trainings\Nov%202025%20Update\MV_Education_Tool_v4.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a:pPr>
            <a:r>
              <a:rPr lang="en-US"/>
              <a:t>Baseline vs Adjusted Baseline vs Actual</a:t>
            </a:r>
          </a:p>
        </c:rich>
      </c:tx>
      <c:overlay val="0"/>
    </c:title>
    <c:autoTitleDeleted val="0"/>
    <c:plotArea>
      <c:layout>
        <c:manualLayout>
          <c:layoutTarget val="inner"/>
          <c:xMode val="edge"/>
          <c:yMode val="edge"/>
          <c:x val="7.466982271387855E-2"/>
          <c:y val="0.16440087457307401"/>
          <c:w val="0.69535558668663344"/>
          <c:h val="0.71170222596948518"/>
        </c:manualLayout>
      </c:layout>
      <c:scatterChart>
        <c:scatterStyle val="lineMarker"/>
        <c:varyColors val="0"/>
        <c:ser>
          <c:idx val="0"/>
          <c:order val="0"/>
          <c:tx>
            <c:strRef>
              <c:f>Demo_Time_Series!$B$3</c:f>
              <c:strCache>
                <c:ptCount val="1"/>
                <c:pt idx="0">
                  <c:v>Baseline (kWh)</c:v>
                </c:pt>
              </c:strCache>
            </c:strRef>
          </c:tx>
          <c:marker>
            <c:symbol val="none"/>
          </c:marker>
          <c:xVal>
            <c:numRef>
              <c:f>Demo_Time_Series!$A$4:$A$33</c:f>
              <c:numCache>
                <c:formatCode>yyyy\-mm\-dd</c:formatCode>
                <c:ptCount val="30"/>
                <c:pt idx="0">
                  <c:v>45323</c:v>
                </c:pt>
                <c:pt idx="1">
                  <c:v>45324</c:v>
                </c:pt>
                <c:pt idx="2">
                  <c:v>45325</c:v>
                </c:pt>
                <c:pt idx="3">
                  <c:v>45326</c:v>
                </c:pt>
                <c:pt idx="4">
                  <c:v>45327</c:v>
                </c:pt>
                <c:pt idx="5">
                  <c:v>45328</c:v>
                </c:pt>
                <c:pt idx="6">
                  <c:v>45329</c:v>
                </c:pt>
                <c:pt idx="7">
                  <c:v>45330</c:v>
                </c:pt>
                <c:pt idx="8">
                  <c:v>45331</c:v>
                </c:pt>
                <c:pt idx="9">
                  <c:v>45332</c:v>
                </c:pt>
                <c:pt idx="10">
                  <c:v>45333</c:v>
                </c:pt>
                <c:pt idx="11">
                  <c:v>45334</c:v>
                </c:pt>
                <c:pt idx="12">
                  <c:v>45335</c:v>
                </c:pt>
                <c:pt idx="13">
                  <c:v>45336</c:v>
                </c:pt>
                <c:pt idx="14">
                  <c:v>45337</c:v>
                </c:pt>
                <c:pt idx="15">
                  <c:v>45338</c:v>
                </c:pt>
                <c:pt idx="16">
                  <c:v>45339</c:v>
                </c:pt>
                <c:pt idx="17">
                  <c:v>45340</c:v>
                </c:pt>
                <c:pt idx="18">
                  <c:v>45341</c:v>
                </c:pt>
                <c:pt idx="19">
                  <c:v>45342</c:v>
                </c:pt>
                <c:pt idx="20">
                  <c:v>45343</c:v>
                </c:pt>
                <c:pt idx="21">
                  <c:v>45344</c:v>
                </c:pt>
                <c:pt idx="22">
                  <c:v>45345</c:v>
                </c:pt>
                <c:pt idx="23">
                  <c:v>45346</c:v>
                </c:pt>
                <c:pt idx="24">
                  <c:v>45347</c:v>
                </c:pt>
                <c:pt idx="25">
                  <c:v>45348</c:v>
                </c:pt>
                <c:pt idx="26">
                  <c:v>45349</c:v>
                </c:pt>
                <c:pt idx="27">
                  <c:v>45350</c:v>
                </c:pt>
                <c:pt idx="28">
                  <c:v>45351</c:v>
                </c:pt>
                <c:pt idx="29">
                  <c:v>45352</c:v>
                </c:pt>
              </c:numCache>
            </c:numRef>
          </c:xVal>
          <c:yVal>
            <c:numRef>
              <c:f>Demo_Time_Series!$B$4:$B$33</c:f>
              <c:numCache>
                <c:formatCode>0.0</c:formatCode>
                <c:ptCount val="30"/>
                <c:pt idx="0">
                  <c:v>1113.5</c:v>
                </c:pt>
                <c:pt idx="1">
                  <c:v>1120.5999999999999</c:v>
                </c:pt>
                <c:pt idx="2">
                  <c:v>1131.3</c:v>
                </c:pt>
                <c:pt idx="3">
                  <c:v>1143.8</c:v>
                </c:pt>
                <c:pt idx="4">
                  <c:v>1143</c:v>
                </c:pt>
                <c:pt idx="5">
                  <c:v>1119.5999999999999</c:v>
                </c:pt>
                <c:pt idx="6">
                  <c:v>1119.5999999999999</c:v>
                </c:pt>
                <c:pt idx="7">
                  <c:v>1101.2</c:v>
                </c:pt>
                <c:pt idx="8">
                  <c:v>1082.3</c:v>
                </c:pt>
                <c:pt idx="9">
                  <c:v>1050.4000000000001</c:v>
                </c:pt>
                <c:pt idx="10">
                  <c:v>1055.0999999999999</c:v>
                </c:pt>
                <c:pt idx="11">
                  <c:v>1065.3</c:v>
                </c:pt>
                <c:pt idx="12">
                  <c:v>1059.0999999999999</c:v>
                </c:pt>
                <c:pt idx="13">
                  <c:v>1080</c:v>
                </c:pt>
                <c:pt idx="14">
                  <c:v>1104.5</c:v>
                </c:pt>
                <c:pt idx="15">
                  <c:v>1102.9000000000001</c:v>
                </c:pt>
                <c:pt idx="16">
                  <c:v>1133.4000000000001</c:v>
                </c:pt>
                <c:pt idx="17">
                  <c:v>1140.9000000000001</c:v>
                </c:pt>
                <c:pt idx="18">
                  <c:v>1137.9000000000001</c:v>
                </c:pt>
                <c:pt idx="19">
                  <c:v>1135.3</c:v>
                </c:pt>
                <c:pt idx="20">
                  <c:v>1114.4000000000001</c:v>
                </c:pt>
                <c:pt idx="21">
                  <c:v>1113.5999999999999</c:v>
                </c:pt>
                <c:pt idx="22">
                  <c:v>1073.0999999999999</c:v>
                </c:pt>
                <c:pt idx="23">
                  <c:v>1059.3</c:v>
                </c:pt>
                <c:pt idx="24">
                  <c:v>1061.9000000000001</c:v>
                </c:pt>
                <c:pt idx="25">
                  <c:v>1059.3</c:v>
                </c:pt>
                <c:pt idx="26">
                  <c:v>1067.2</c:v>
                </c:pt>
                <c:pt idx="27">
                  <c:v>1089.8</c:v>
                </c:pt>
                <c:pt idx="28">
                  <c:v>1098.4000000000001</c:v>
                </c:pt>
                <c:pt idx="29">
                  <c:v>1127.7</c:v>
                </c:pt>
              </c:numCache>
            </c:numRef>
          </c:yVal>
          <c:smooth val="0"/>
          <c:extLst>
            <c:ext xmlns:c16="http://schemas.microsoft.com/office/drawing/2014/chart" uri="{C3380CC4-5D6E-409C-BE32-E72D297353CC}">
              <c16:uniqueId val="{00000000-C445-BA4F-8DA6-4F38C7174ECC}"/>
            </c:ext>
          </c:extLst>
        </c:ser>
        <c:ser>
          <c:idx val="3"/>
          <c:order val="1"/>
          <c:tx>
            <c:strRef>
              <c:f>Demo_Time_Series!$C$3</c:f>
              <c:strCache>
                <c:ptCount val="1"/>
                <c:pt idx="0">
                  <c:v>Adjusted Baseline (kWh)</c:v>
                </c:pt>
              </c:strCache>
            </c:strRef>
          </c:tx>
          <c:marker>
            <c:symbol val="none"/>
          </c:marker>
          <c:xVal>
            <c:numRef>
              <c:f>Demo_Time_Series!$A$34:$A$63</c:f>
              <c:numCache>
                <c:formatCode>yyyy\-mm\-dd</c:formatCode>
                <c:ptCount val="30"/>
                <c:pt idx="0">
                  <c:v>45353</c:v>
                </c:pt>
                <c:pt idx="1">
                  <c:v>45354</c:v>
                </c:pt>
                <c:pt idx="2">
                  <c:v>45355</c:v>
                </c:pt>
                <c:pt idx="3">
                  <c:v>45356</c:v>
                </c:pt>
                <c:pt idx="4">
                  <c:v>45357</c:v>
                </c:pt>
                <c:pt idx="5">
                  <c:v>45358</c:v>
                </c:pt>
                <c:pt idx="6">
                  <c:v>45359</c:v>
                </c:pt>
                <c:pt idx="7">
                  <c:v>45360</c:v>
                </c:pt>
                <c:pt idx="8">
                  <c:v>45361</c:v>
                </c:pt>
                <c:pt idx="9">
                  <c:v>45362</c:v>
                </c:pt>
                <c:pt idx="10">
                  <c:v>45363</c:v>
                </c:pt>
                <c:pt idx="11">
                  <c:v>45364</c:v>
                </c:pt>
                <c:pt idx="12">
                  <c:v>45365</c:v>
                </c:pt>
                <c:pt idx="13">
                  <c:v>45366</c:v>
                </c:pt>
                <c:pt idx="14">
                  <c:v>45367</c:v>
                </c:pt>
                <c:pt idx="15">
                  <c:v>45368</c:v>
                </c:pt>
                <c:pt idx="16">
                  <c:v>45369</c:v>
                </c:pt>
                <c:pt idx="17">
                  <c:v>45370</c:v>
                </c:pt>
                <c:pt idx="18">
                  <c:v>45371</c:v>
                </c:pt>
                <c:pt idx="19">
                  <c:v>45372</c:v>
                </c:pt>
                <c:pt idx="20">
                  <c:v>45373</c:v>
                </c:pt>
                <c:pt idx="21">
                  <c:v>45374</c:v>
                </c:pt>
                <c:pt idx="22">
                  <c:v>45375</c:v>
                </c:pt>
                <c:pt idx="23">
                  <c:v>45376</c:v>
                </c:pt>
                <c:pt idx="24">
                  <c:v>45377</c:v>
                </c:pt>
                <c:pt idx="25">
                  <c:v>45378</c:v>
                </c:pt>
                <c:pt idx="26">
                  <c:v>45379</c:v>
                </c:pt>
                <c:pt idx="27">
                  <c:v>45380</c:v>
                </c:pt>
                <c:pt idx="28">
                  <c:v>45381</c:v>
                </c:pt>
                <c:pt idx="29">
                  <c:v>45382</c:v>
                </c:pt>
              </c:numCache>
            </c:numRef>
          </c:xVal>
          <c:yVal>
            <c:numRef>
              <c:f>Demo_Time_Series!$C$34:$C$63</c:f>
              <c:numCache>
                <c:formatCode>0.0</c:formatCode>
                <c:ptCount val="30"/>
                <c:pt idx="0">
                  <c:v>1113.8224126443529</c:v>
                </c:pt>
                <c:pt idx="1">
                  <c:v>1120.6470553337233</c:v>
                </c:pt>
                <c:pt idx="2">
                  <c:v>1131.008558915295</c:v>
                </c:pt>
                <c:pt idx="3">
                  <c:v>1143.7947752655712</c:v>
                </c:pt>
                <c:pt idx="4">
                  <c:v>1142.660164727404</c:v>
                </c:pt>
                <c:pt idx="5">
                  <c:v>1119.5063154509096</c:v>
                </c:pt>
                <c:pt idx="6">
                  <c:v>1120.5915892353096</c:v>
                </c:pt>
                <c:pt idx="7">
                  <c:v>1100.4391697377264</c:v>
                </c:pt>
                <c:pt idx="8">
                  <c:v>1083.2491170879514</c:v>
                </c:pt>
                <c:pt idx="9">
                  <c:v>1050.4831059061607</c:v>
                </c:pt>
                <c:pt idx="10">
                  <c:v>1054.9910175438636</c:v>
                </c:pt>
                <c:pt idx="11">
                  <c:v>1065.2618193447727</c:v>
                </c:pt>
                <c:pt idx="12">
                  <c:v>1058.811761002291</c:v>
                </c:pt>
                <c:pt idx="13">
                  <c:v>1079.2550480249536</c:v>
                </c:pt>
                <c:pt idx="14">
                  <c:v>1103.5358339026623</c:v>
                </c:pt>
                <c:pt idx="15">
                  <c:v>1103.246657692006</c:v>
                </c:pt>
                <c:pt idx="16">
                  <c:v>1132.6170512999604</c:v>
                </c:pt>
                <c:pt idx="17">
                  <c:v>1141.6091563283403</c:v>
                </c:pt>
                <c:pt idx="18">
                  <c:v>1138.2558997258297</c:v>
                </c:pt>
                <c:pt idx="19">
                  <c:v>1134.9112845311872</c:v>
                </c:pt>
                <c:pt idx="20">
                  <c:v>1113.555561837587</c:v>
                </c:pt>
                <c:pt idx="21">
                  <c:v>1112.821114804771</c:v>
                </c:pt>
                <c:pt idx="22">
                  <c:v>1072.8523143877387</c:v>
                </c:pt>
                <c:pt idx="23">
                  <c:v>1059.9014618330609</c:v>
                </c:pt>
                <c:pt idx="24">
                  <c:v>1060.9252652062762</c:v>
                </c:pt>
                <c:pt idx="25">
                  <c:v>1058.385727498774</c:v>
                </c:pt>
                <c:pt idx="26">
                  <c:v>1067.4202123548539</c:v>
                </c:pt>
                <c:pt idx="27">
                  <c:v>1089.1193793345751</c:v>
                </c:pt>
                <c:pt idx="28">
                  <c:v>1098.1388607222254</c:v>
                </c:pt>
                <c:pt idx="29">
                  <c:v>1127.8663318517422</c:v>
                </c:pt>
              </c:numCache>
            </c:numRef>
          </c:yVal>
          <c:smooth val="0"/>
          <c:extLst>
            <c:ext xmlns:c16="http://schemas.microsoft.com/office/drawing/2014/chart" uri="{C3380CC4-5D6E-409C-BE32-E72D297353CC}">
              <c16:uniqueId val="{00000001-C445-BA4F-8DA6-4F38C7174ECC}"/>
            </c:ext>
          </c:extLst>
        </c:ser>
        <c:ser>
          <c:idx val="1"/>
          <c:order val="2"/>
          <c:tx>
            <c:strRef>
              <c:f>Demo_Time_Series!$D$3</c:f>
              <c:strCache>
                <c:ptCount val="1"/>
                <c:pt idx="0">
                  <c:v>Actual (kWh)</c:v>
                </c:pt>
              </c:strCache>
            </c:strRef>
          </c:tx>
          <c:spPr>
            <a:ln>
              <a:solidFill>
                <a:srgbClr val="00B050"/>
              </a:solidFill>
            </a:ln>
          </c:spPr>
          <c:marker>
            <c:symbol val="none"/>
          </c:marker>
          <c:xVal>
            <c:numRef>
              <c:f>Demo_Time_Series!$A$34:$A$63</c:f>
              <c:numCache>
                <c:formatCode>yyyy\-mm\-dd</c:formatCode>
                <c:ptCount val="30"/>
                <c:pt idx="0">
                  <c:v>45353</c:v>
                </c:pt>
                <c:pt idx="1">
                  <c:v>45354</c:v>
                </c:pt>
                <c:pt idx="2">
                  <c:v>45355</c:v>
                </c:pt>
                <c:pt idx="3">
                  <c:v>45356</c:v>
                </c:pt>
                <c:pt idx="4">
                  <c:v>45357</c:v>
                </c:pt>
                <c:pt idx="5">
                  <c:v>45358</c:v>
                </c:pt>
                <c:pt idx="6">
                  <c:v>45359</c:v>
                </c:pt>
                <c:pt idx="7">
                  <c:v>45360</c:v>
                </c:pt>
                <c:pt idx="8">
                  <c:v>45361</c:v>
                </c:pt>
                <c:pt idx="9">
                  <c:v>45362</c:v>
                </c:pt>
                <c:pt idx="10">
                  <c:v>45363</c:v>
                </c:pt>
                <c:pt idx="11">
                  <c:v>45364</c:v>
                </c:pt>
                <c:pt idx="12">
                  <c:v>45365</c:v>
                </c:pt>
                <c:pt idx="13">
                  <c:v>45366</c:v>
                </c:pt>
                <c:pt idx="14">
                  <c:v>45367</c:v>
                </c:pt>
                <c:pt idx="15">
                  <c:v>45368</c:v>
                </c:pt>
                <c:pt idx="16">
                  <c:v>45369</c:v>
                </c:pt>
                <c:pt idx="17">
                  <c:v>45370</c:v>
                </c:pt>
                <c:pt idx="18">
                  <c:v>45371</c:v>
                </c:pt>
                <c:pt idx="19">
                  <c:v>45372</c:v>
                </c:pt>
                <c:pt idx="20">
                  <c:v>45373</c:v>
                </c:pt>
                <c:pt idx="21">
                  <c:v>45374</c:v>
                </c:pt>
                <c:pt idx="22">
                  <c:v>45375</c:v>
                </c:pt>
                <c:pt idx="23">
                  <c:v>45376</c:v>
                </c:pt>
                <c:pt idx="24">
                  <c:v>45377</c:v>
                </c:pt>
                <c:pt idx="25">
                  <c:v>45378</c:v>
                </c:pt>
                <c:pt idx="26">
                  <c:v>45379</c:v>
                </c:pt>
                <c:pt idx="27">
                  <c:v>45380</c:v>
                </c:pt>
                <c:pt idx="28">
                  <c:v>45381</c:v>
                </c:pt>
                <c:pt idx="29">
                  <c:v>45382</c:v>
                </c:pt>
              </c:numCache>
            </c:numRef>
          </c:xVal>
          <c:yVal>
            <c:numRef>
              <c:f>Demo_Time_Series!$D$34:$D$63</c:f>
              <c:numCache>
                <c:formatCode>0.0</c:formatCode>
                <c:ptCount val="30"/>
                <c:pt idx="0">
                  <c:v>1000.8</c:v>
                </c:pt>
                <c:pt idx="1">
                  <c:v>1005.4</c:v>
                </c:pt>
                <c:pt idx="2">
                  <c:v>1026.4000000000001</c:v>
                </c:pt>
                <c:pt idx="3">
                  <c:v>1024.3</c:v>
                </c:pt>
                <c:pt idx="4">
                  <c:v>1024</c:v>
                </c:pt>
                <c:pt idx="5">
                  <c:v>1011.8</c:v>
                </c:pt>
                <c:pt idx="6">
                  <c:v>1026.3</c:v>
                </c:pt>
                <c:pt idx="7">
                  <c:v>1020</c:v>
                </c:pt>
                <c:pt idx="8">
                  <c:v>962.2</c:v>
                </c:pt>
                <c:pt idx="9">
                  <c:v>943.3</c:v>
                </c:pt>
                <c:pt idx="10">
                  <c:v>929.1</c:v>
                </c:pt>
                <c:pt idx="11">
                  <c:v>940.6</c:v>
                </c:pt>
                <c:pt idx="12">
                  <c:v>985.5</c:v>
                </c:pt>
                <c:pt idx="13">
                  <c:v>972.7</c:v>
                </c:pt>
                <c:pt idx="14">
                  <c:v>965.5</c:v>
                </c:pt>
                <c:pt idx="15">
                  <c:v>1027.9000000000001</c:v>
                </c:pt>
                <c:pt idx="16">
                  <c:v>1046.7</c:v>
                </c:pt>
                <c:pt idx="17">
                  <c:v>1031</c:v>
                </c:pt>
                <c:pt idx="18">
                  <c:v>1001.4</c:v>
                </c:pt>
                <c:pt idx="19">
                  <c:v>1039.3</c:v>
                </c:pt>
                <c:pt idx="20">
                  <c:v>993.8</c:v>
                </c:pt>
                <c:pt idx="21">
                  <c:v>987.4</c:v>
                </c:pt>
                <c:pt idx="22">
                  <c:v>957.1</c:v>
                </c:pt>
                <c:pt idx="23">
                  <c:v>955.1</c:v>
                </c:pt>
                <c:pt idx="24">
                  <c:v>984</c:v>
                </c:pt>
                <c:pt idx="25">
                  <c:v>965.7</c:v>
                </c:pt>
                <c:pt idx="26">
                  <c:v>963.2</c:v>
                </c:pt>
                <c:pt idx="27">
                  <c:v>968.6</c:v>
                </c:pt>
                <c:pt idx="28">
                  <c:v>981.7</c:v>
                </c:pt>
                <c:pt idx="29">
                  <c:v>1031.0999999999999</c:v>
                </c:pt>
              </c:numCache>
            </c:numRef>
          </c:yVal>
          <c:smooth val="0"/>
          <c:extLst>
            <c:ext xmlns:c16="http://schemas.microsoft.com/office/drawing/2014/chart" uri="{C3380CC4-5D6E-409C-BE32-E72D297353CC}">
              <c16:uniqueId val="{00000002-C445-BA4F-8DA6-4F38C7174ECC}"/>
            </c:ext>
          </c:extLst>
        </c:ser>
        <c:dLbls>
          <c:showLegendKey val="0"/>
          <c:showVal val="0"/>
          <c:showCatName val="0"/>
          <c:showSerName val="0"/>
          <c:showPercent val="0"/>
          <c:showBubbleSize val="0"/>
        </c:dLbls>
        <c:axId val="10"/>
        <c:axId val="100"/>
      </c:scatterChart>
      <c:scatterChart>
        <c:scatterStyle val="lineMarker"/>
        <c:varyColors val="0"/>
        <c:ser>
          <c:idx val="2"/>
          <c:order val="3"/>
          <c:tx>
            <c:strRef>
              <c:f>Demo_Time_Series!$E$3</c:f>
              <c:strCache>
                <c:ptCount val="1"/>
                <c:pt idx="0">
                  <c:v>TEMP</c:v>
                </c:pt>
              </c:strCache>
            </c:strRef>
          </c:tx>
          <c:marker>
            <c:symbol val="none"/>
          </c:marker>
          <c:xVal>
            <c:numRef>
              <c:f>Demo_Time_Series!$A$4:$A$63</c:f>
              <c:numCache>
                <c:formatCode>yyyy\-mm\-dd</c:formatCode>
                <c:ptCount val="60"/>
                <c:pt idx="0">
                  <c:v>45323</c:v>
                </c:pt>
                <c:pt idx="1">
                  <c:v>45324</c:v>
                </c:pt>
                <c:pt idx="2">
                  <c:v>45325</c:v>
                </c:pt>
                <c:pt idx="3">
                  <c:v>45326</c:v>
                </c:pt>
                <c:pt idx="4">
                  <c:v>45327</c:v>
                </c:pt>
                <c:pt idx="5">
                  <c:v>45328</c:v>
                </c:pt>
                <c:pt idx="6">
                  <c:v>45329</c:v>
                </c:pt>
                <c:pt idx="7">
                  <c:v>45330</c:v>
                </c:pt>
                <c:pt idx="8">
                  <c:v>45331</c:v>
                </c:pt>
                <c:pt idx="9">
                  <c:v>45332</c:v>
                </c:pt>
                <c:pt idx="10">
                  <c:v>45333</c:v>
                </c:pt>
                <c:pt idx="11">
                  <c:v>45334</c:v>
                </c:pt>
                <c:pt idx="12">
                  <c:v>45335</c:v>
                </c:pt>
                <c:pt idx="13">
                  <c:v>45336</c:v>
                </c:pt>
                <c:pt idx="14">
                  <c:v>45337</c:v>
                </c:pt>
                <c:pt idx="15">
                  <c:v>45338</c:v>
                </c:pt>
                <c:pt idx="16">
                  <c:v>45339</c:v>
                </c:pt>
                <c:pt idx="17">
                  <c:v>45340</c:v>
                </c:pt>
                <c:pt idx="18">
                  <c:v>45341</c:v>
                </c:pt>
                <c:pt idx="19">
                  <c:v>45342</c:v>
                </c:pt>
                <c:pt idx="20">
                  <c:v>45343</c:v>
                </c:pt>
                <c:pt idx="21">
                  <c:v>45344</c:v>
                </c:pt>
                <c:pt idx="22">
                  <c:v>45345</c:v>
                </c:pt>
                <c:pt idx="23">
                  <c:v>45346</c:v>
                </c:pt>
                <c:pt idx="24">
                  <c:v>45347</c:v>
                </c:pt>
                <c:pt idx="25">
                  <c:v>45348</c:v>
                </c:pt>
                <c:pt idx="26">
                  <c:v>45349</c:v>
                </c:pt>
                <c:pt idx="27">
                  <c:v>45350</c:v>
                </c:pt>
                <c:pt idx="28">
                  <c:v>45351</c:v>
                </c:pt>
                <c:pt idx="29">
                  <c:v>45352</c:v>
                </c:pt>
                <c:pt idx="30">
                  <c:v>45353</c:v>
                </c:pt>
                <c:pt idx="31">
                  <c:v>45354</c:v>
                </c:pt>
                <c:pt idx="32">
                  <c:v>45355</c:v>
                </c:pt>
                <c:pt idx="33">
                  <c:v>45356</c:v>
                </c:pt>
                <c:pt idx="34">
                  <c:v>45357</c:v>
                </c:pt>
                <c:pt idx="35">
                  <c:v>45358</c:v>
                </c:pt>
                <c:pt idx="36">
                  <c:v>45359</c:v>
                </c:pt>
                <c:pt idx="37">
                  <c:v>45360</c:v>
                </c:pt>
                <c:pt idx="38">
                  <c:v>45361</c:v>
                </c:pt>
                <c:pt idx="39">
                  <c:v>45362</c:v>
                </c:pt>
                <c:pt idx="40">
                  <c:v>45363</c:v>
                </c:pt>
                <c:pt idx="41">
                  <c:v>45364</c:v>
                </c:pt>
                <c:pt idx="42">
                  <c:v>45365</c:v>
                </c:pt>
                <c:pt idx="43">
                  <c:v>45366</c:v>
                </c:pt>
                <c:pt idx="44">
                  <c:v>45367</c:v>
                </c:pt>
                <c:pt idx="45">
                  <c:v>45368</c:v>
                </c:pt>
                <c:pt idx="46">
                  <c:v>45369</c:v>
                </c:pt>
                <c:pt idx="47">
                  <c:v>45370</c:v>
                </c:pt>
                <c:pt idx="48">
                  <c:v>45371</c:v>
                </c:pt>
                <c:pt idx="49">
                  <c:v>45372</c:v>
                </c:pt>
                <c:pt idx="50">
                  <c:v>45373</c:v>
                </c:pt>
                <c:pt idx="51">
                  <c:v>45374</c:v>
                </c:pt>
                <c:pt idx="52">
                  <c:v>45375</c:v>
                </c:pt>
                <c:pt idx="53">
                  <c:v>45376</c:v>
                </c:pt>
                <c:pt idx="54">
                  <c:v>45377</c:v>
                </c:pt>
                <c:pt idx="55">
                  <c:v>45378</c:v>
                </c:pt>
                <c:pt idx="56">
                  <c:v>45379</c:v>
                </c:pt>
                <c:pt idx="57">
                  <c:v>45380</c:v>
                </c:pt>
                <c:pt idx="58">
                  <c:v>45381</c:v>
                </c:pt>
                <c:pt idx="59">
                  <c:v>45382</c:v>
                </c:pt>
              </c:numCache>
            </c:numRef>
          </c:xVal>
          <c:yVal>
            <c:numRef>
              <c:f>Demo_Time_Series!$E$4:$E$63</c:f>
              <c:numCache>
                <c:formatCode>0.0</c:formatCode>
                <c:ptCount val="60"/>
                <c:pt idx="0">
                  <c:v>51</c:v>
                </c:pt>
                <c:pt idx="1">
                  <c:v>56</c:v>
                </c:pt>
                <c:pt idx="2">
                  <c:v>59</c:v>
                </c:pt>
                <c:pt idx="3">
                  <c:v>62</c:v>
                </c:pt>
                <c:pt idx="4">
                  <c:v>70</c:v>
                </c:pt>
                <c:pt idx="5">
                  <c:v>65</c:v>
                </c:pt>
                <c:pt idx="6">
                  <c:v>57.8</c:v>
                </c:pt>
                <c:pt idx="7">
                  <c:v>57</c:v>
                </c:pt>
                <c:pt idx="8">
                  <c:v>55.2</c:v>
                </c:pt>
                <c:pt idx="9">
                  <c:v>57.9</c:v>
                </c:pt>
                <c:pt idx="10">
                  <c:v>56.6</c:v>
                </c:pt>
                <c:pt idx="11">
                  <c:v>65</c:v>
                </c:pt>
                <c:pt idx="12">
                  <c:v>59.4</c:v>
                </c:pt>
                <c:pt idx="13">
                  <c:v>66</c:v>
                </c:pt>
                <c:pt idx="14">
                  <c:v>67</c:v>
                </c:pt>
                <c:pt idx="15">
                  <c:v>68</c:v>
                </c:pt>
                <c:pt idx="16">
                  <c:v>69</c:v>
                </c:pt>
                <c:pt idx="17">
                  <c:v>73</c:v>
                </c:pt>
                <c:pt idx="18">
                  <c:v>76</c:v>
                </c:pt>
                <c:pt idx="19">
                  <c:v>77</c:v>
                </c:pt>
                <c:pt idx="20">
                  <c:v>76</c:v>
                </c:pt>
                <c:pt idx="21">
                  <c:v>73</c:v>
                </c:pt>
                <c:pt idx="22">
                  <c:v>68</c:v>
                </c:pt>
                <c:pt idx="23">
                  <c:v>61.2</c:v>
                </c:pt>
                <c:pt idx="24">
                  <c:v>63.2</c:v>
                </c:pt>
                <c:pt idx="25">
                  <c:v>69</c:v>
                </c:pt>
                <c:pt idx="26">
                  <c:v>72</c:v>
                </c:pt>
                <c:pt idx="27">
                  <c:v>74</c:v>
                </c:pt>
                <c:pt idx="28">
                  <c:v>78</c:v>
                </c:pt>
                <c:pt idx="29">
                  <c:v>80</c:v>
                </c:pt>
                <c:pt idx="30">
                  <c:v>63.8</c:v>
                </c:pt>
                <c:pt idx="31">
                  <c:v>68.7</c:v>
                </c:pt>
                <c:pt idx="32">
                  <c:v>75</c:v>
                </c:pt>
                <c:pt idx="33">
                  <c:v>78</c:v>
                </c:pt>
                <c:pt idx="34">
                  <c:v>84</c:v>
                </c:pt>
                <c:pt idx="35">
                  <c:v>85</c:v>
                </c:pt>
                <c:pt idx="36">
                  <c:v>80</c:v>
                </c:pt>
                <c:pt idx="37">
                  <c:v>78</c:v>
                </c:pt>
                <c:pt idx="38">
                  <c:v>76</c:v>
                </c:pt>
                <c:pt idx="39">
                  <c:v>63.6</c:v>
                </c:pt>
                <c:pt idx="40">
                  <c:v>64.3</c:v>
                </c:pt>
                <c:pt idx="41">
                  <c:v>62.8</c:v>
                </c:pt>
                <c:pt idx="42">
                  <c:v>61.7</c:v>
                </c:pt>
                <c:pt idx="43">
                  <c:v>67</c:v>
                </c:pt>
                <c:pt idx="44">
                  <c:v>74</c:v>
                </c:pt>
                <c:pt idx="45">
                  <c:v>78</c:v>
                </c:pt>
                <c:pt idx="46">
                  <c:v>84</c:v>
                </c:pt>
                <c:pt idx="47">
                  <c:v>84</c:v>
                </c:pt>
                <c:pt idx="48">
                  <c:v>85</c:v>
                </c:pt>
                <c:pt idx="49">
                  <c:v>80</c:v>
                </c:pt>
                <c:pt idx="50">
                  <c:v>75</c:v>
                </c:pt>
                <c:pt idx="51">
                  <c:v>74</c:v>
                </c:pt>
                <c:pt idx="52">
                  <c:v>71</c:v>
                </c:pt>
                <c:pt idx="53">
                  <c:v>56.3</c:v>
                </c:pt>
                <c:pt idx="54">
                  <c:v>56.4</c:v>
                </c:pt>
                <c:pt idx="55">
                  <c:v>55.4</c:v>
                </c:pt>
                <c:pt idx="56">
                  <c:v>51.1</c:v>
                </c:pt>
                <c:pt idx="57">
                  <c:v>51.4</c:v>
                </c:pt>
                <c:pt idx="58">
                  <c:v>51.8</c:v>
                </c:pt>
                <c:pt idx="59">
                  <c:v>52.3</c:v>
                </c:pt>
              </c:numCache>
            </c:numRef>
          </c:yVal>
          <c:smooth val="0"/>
          <c:extLst>
            <c:ext xmlns:c16="http://schemas.microsoft.com/office/drawing/2014/chart" uri="{C3380CC4-5D6E-409C-BE32-E72D297353CC}">
              <c16:uniqueId val="{00000003-C445-BA4F-8DA6-4F38C7174ECC}"/>
            </c:ext>
          </c:extLst>
        </c:ser>
        <c:dLbls>
          <c:showLegendKey val="0"/>
          <c:showVal val="0"/>
          <c:showCatName val="0"/>
          <c:showSerName val="0"/>
          <c:showPercent val="0"/>
          <c:showBubbleSize val="0"/>
        </c:dLbls>
        <c:axId val="596195088"/>
        <c:axId val="596191152"/>
      </c:scatterChart>
      <c:catAx>
        <c:axId val="10"/>
        <c:scaling>
          <c:orientation val="minMax"/>
        </c:scaling>
        <c:delete val="0"/>
        <c:axPos val="b"/>
        <c:title>
          <c:tx>
            <c:rich>
              <a:bodyPr/>
              <a:lstStyle/>
              <a:p>
                <a:pPr>
                  <a:defRPr/>
                </a:pPr>
                <a:r>
                  <a:rPr lang="en-US"/>
                  <a:t>Date</a:t>
                </a:r>
              </a:p>
            </c:rich>
          </c:tx>
          <c:overlay val="0"/>
        </c:title>
        <c:numFmt formatCode="yyyy\-mm\-dd" sourceLinked="1"/>
        <c:majorTickMark val="none"/>
        <c:minorTickMark val="none"/>
        <c:tickLblPos val="nextTo"/>
        <c:crossAx val="100"/>
        <c:crosses val="autoZero"/>
        <c:auto val="0"/>
        <c:lblAlgn val="ctr"/>
        <c:lblOffset val="100"/>
        <c:tickLblSkip val="5"/>
        <c:noMultiLvlLbl val="0"/>
      </c:catAx>
      <c:valAx>
        <c:axId val="100"/>
        <c:scaling>
          <c:orientation val="minMax"/>
        </c:scaling>
        <c:delete val="0"/>
        <c:axPos val="l"/>
        <c:majorGridlines/>
        <c:title>
          <c:tx>
            <c:rich>
              <a:bodyPr/>
              <a:lstStyle/>
              <a:p>
                <a:pPr>
                  <a:defRPr/>
                </a:pPr>
                <a:r>
                  <a:rPr lang="en-US"/>
                  <a:t>Energy (kWh)</a:t>
                </a:r>
              </a:p>
            </c:rich>
          </c:tx>
          <c:overlay val="0"/>
        </c:title>
        <c:numFmt formatCode="0.0" sourceLinked="1"/>
        <c:majorTickMark val="none"/>
        <c:minorTickMark val="none"/>
        <c:tickLblPos val="nextTo"/>
        <c:crossAx val="10"/>
        <c:crosses val="autoZero"/>
        <c:crossBetween val="between"/>
      </c:valAx>
      <c:valAx>
        <c:axId val="596191152"/>
        <c:scaling>
          <c:orientation val="minMax"/>
          <c:max val="499"/>
        </c:scaling>
        <c:delete val="0"/>
        <c:axPos val="r"/>
        <c:numFmt formatCode="0.0" sourceLinked="1"/>
        <c:majorTickMark val="out"/>
        <c:minorTickMark val="none"/>
        <c:tickLblPos val="nextTo"/>
        <c:crossAx val="596195088"/>
        <c:crosses val="max"/>
        <c:crossBetween val="midCat"/>
      </c:valAx>
      <c:valAx>
        <c:axId val="596195088"/>
        <c:scaling>
          <c:orientation val="minMax"/>
        </c:scaling>
        <c:delete val="1"/>
        <c:axPos val="b"/>
        <c:numFmt formatCode="yyyy\-mm\-dd" sourceLinked="1"/>
        <c:majorTickMark val="out"/>
        <c:minorTickMark val="none"/>
        <c:tickLblPos val="nextTo"/>
        <c:crossAx val="596191152"/>
        <c:crosses val="autoZero"/>
        <c:crossBetween val="midCat"/>
      </c:valAx>
      <c:spPr>
        <a:ln>
          <a:noFill/>
        </a:ln>
      </c:spPr>
    </c:plotArea>
    <c:legend>
      <c:legendPos val="r"/>
      <c:overlay val="0"/>
    </c:legend>
    <c:plotVisOnly val="1"/>
    <c:dispBlanksAs val="gap"/>
    <c:showDLblsOverMax val="0"/>
  </c:chart>
  <c:externalData r:id="rId1">
    <c:autoUpdate val="0"/>
  </c:externalData>
  <c:userShapes r:id="rId2"/>
</c:chartSpace>
</file>

<file path=ppt/diagrams/_rels/data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F0A110-6A2D-472C-8ED8-874B1F853AB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9830958-A7E4-4D2D-8275-56CB82307946}">
      <dgm:prSet/>
      <dgm:spPr/>
      <dgm:t>
        <a:bodyPr/>
        <a:lstStyle/>
        <a:p>
          <a:r>
            <a:rPr lang="en-US" b="0" i="0"/>
            <a:t>The Baseline is evidence.</a:t>
          </a:r>
          <a:endParaRPr lang="en-US"/>
        </a:p>
      </dgm:t>
    </dgm:pt>
    <dgm:pt modelId="{0A7A3BEB-FB2E-4B77-B1BA-04E7122C8A39}" type="parTrans" cxnId="{FCD603E1-E057-4572-88E4-22779B526825}">
      <dgm:prSet/>
      <dgm:spPr/>
      <dgm:t>
        <a:bodyPr/>
        <a:lstStyle/>
        <a:p>
          <a:endParaRPr lang="en-US"/>
        </a:p>
      </dgm:t>
    </dgm:pt>
    <dgm:pt modelId="{583550FB-DF81-48C0-AF84-7DFAC2BE5F26}" type="sibTrans" cxnId="{FCD603E1-E057-4572-88E4-22779B526825}">
      <dgm:prSet/>
      <dgm:spPr/>
      <dgm:t>
        <a:bodyPr/>
        <a:lstStyle/>
        <a:p>
          <a:endParaRPr lang="en-US"/>
        </a:p>
      </dgm:t>
    </dgm:pt>
    <dgm:pt modelId="{B09774B7-0F6C-4BD0-98EF-FD706B7AC828}">
      <dgm:prSet/>
      <dgm:spPr/>
      <dgm:t>
        <a:bodyPr/>
        <a:lstStyle/>
        <a:p>
          <a:r>
            <a:rPr lang="en-US" b="0" i="0"/>
            <a:t>The Counterfactual is inference.</a:t>
          </a:r>
          <a:endParaRPr lang="en-US"/>
        </a:p>
      </dgm:t>
    </dgm:pt>
    <dgm:pt modelId="{C5290840-441A-4356-861E-806E4FD9E27B}" type="parTrans" cxnId="{631F0432-B07E-4387-AEAD-05775475CAFF}">
      <dgm:prSet/>
      <dgm:spPr/>
      <dgm:t>
        <a:bodyPr/>
        <a:lstStyle/>
        <a:p>
          <a:endParaRPr lang="en-US"/>
        </a:p>
      </dgm:t>
    </dgm:pt>
    <dgm:pt modelId="{54087237-2263-43A9-B0AC-3F7E6BA4F982}" type="sibTrans" cxnId="{631F0432-B07E-4387-AEAD-05775475CAFF}">
      <dgm:prSet/>
      <dgm:spPr/>
      <dgm:t>
        <a:bodyPr/>
        <a:lstStyle/>
        <a:p>
          <a:endParaRPr lang="en-US"/>
        </a:p>
      </dgm:t>
    </dgm:pt>
    <dgm:pt modelId="{C87A4C98-57B4-4AD8-90BD-64FFAB0703D7}">
      <dgm:prSet/>
      <dgm:spPr/>
      <dgm:t>
        <a:bodyPr/>
        <a:lstStyle/>
        <a:p>
          <a:r>
            <a:rPr lang="en-US" b="0" i="0"/>
            <a:t>Don’t confuse the two. </a:t>
          </a:r>
          <a:endParaRPr lang="en-US"/>
        </a:p>
      </dgm:t>
    </dgm:pt>
    <dgm:pt modelId="{CAD747F0-0265-4669-BD55-795B6A0C026E}" type="parTrans" cxnId="{133B0B9A-B0C4-415E-9F50-21B808F35F29}">
      <dgm:prSet/>
      <dgm:spPr/>
      <dgm:t>
        <a:bodyPr/>
        <a:lstStyle/>
        <a:p>
          <a:endParaRPr lang="en-US"/>
        </a:p>
      </dgm:t>
    </dgm:pt>
    <dgm:pt modelId="{B25498DA-9E48-412E-BFDA-0A604927773E}" type="sibTrans" cxnId="{133B0B9A-B0C4-415E-9F50-21B808F35F29}">
      <dgm:prSet/>
      <dgm:spPr/>
      <dgm:t>
        <a:bodyPr/>
        <a:lstStyle/>
        <a:p>
          <a:endParaRPr lang="en-US"/>
        </a:p>
      </dgm:t>
    </dgm:pt>
    <dgm:pt modelId="{C52B2B0E-28C3-4895-8264-A47E4BBC1EE6}" type="pres">
      <dgm:prSet presAssocID="{4DF0A110-6A2D-472C-8ED8-874B1F853ABB}" presName="root" presStyleCnt="0">
        <dgm:presLayoutVars>
          <dgm:dir/>
          <dgm:resizeHandles val="exact"/>
        </dgm:presLayoutVars>
      </dgm:prSet>
      <dgm:spPr/>
    </dgm:pt>
    <dgm:pt modelId="{D7BA354A-6652-4B07-9DEA-D8C60602C644}" type="pres">
      <dgm:prSet presAssocID="{09830958-A7E4-4D2D-8275-56CB82307946}" presName="compNode" presStyleCnt="0"/>
      <dgm:spPr/>
    </dgm:pt>
    <dgm:pt modelId="{113A1329-5416-4D66-A9B4-206D668C4BD0}" type="pres">
      <dgm:prSet presAssocID="{09830958-A7E4-4D2D-8275-56CB82307946}" presName="bgRect" presStyleLbl="bgShp" presStyleIdx="0" presStyleCnt="3"/>
      <dgm:spPr/>
    </dgm:pt>
    <dgm:pt modelId="{5607F3BE-3690-4C52-BD3F-29ED140D84C4}" type="pres">
      <dgm:prSet presAssocID="{09830958-A7E4-4D2D-8275-56CB82307946}"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gnifying glass"/>
        </a:ext>
      </dgm:extLst>
    </dgm:pt>
    <dgm:pt modelId="{94DF0E68-4AFA-433F-91FF-94FED7F9FF03}" type="pres">
      <dgm:prSet presAssocID="{09830958-A7E4-4D2D-8275-56CB82307946}" presName="spaceRect" presStyleCnt="0"/>
      <dgm:spPr/>
    </dgm:pt>
    <dgm:pt modelId="{65601DFA-93C3-4BC0-83F9-FB3C7079639D}" type="pres">
      <dgm:prSet presAssocID="{09830958-A7E4-4D2D-8275-56CB82307946}" presName="parTx" presStyleLbl="revTx" presStyleIdx="0" presStyleCnt="3">
        <dgm:presLayoutVars>
          <dgm:chMax val="0"/>
          <dgm:chPref val="0"/>
        </dgm:presLayoutVars>
      </dgm:prSet>
      <dgm:spPr/>
    </dgm:pt>
    <dgm:pt modelId="{1C2EA8DD-8E93-43E4-9DCF-46945C71DF25}" type="pres">
      <dgm:prSet presAssocID="{583550FB-DF81-48C0-AF84-7DFAC2BE5F26}" presName="sibTrans" presStyleCnt="0"/>
      <dgm:spPr/>
    </dgm:pt>
    <dgm:pt modelId="{0C449FFD-8649-47CB-8A7A-961EED2CC1E8}" type="pres">
      <dgm:prSet presAssocID="{B09774B7-0F6C-4BD0-98EF-FD706B7AC828}" presName="compNode" presStyleCnt="0"/>
      <dgm:spPr/>
    </dgm:pt>
    <dgm:pt modelId="{DDCEDBFC-526C-4A82-B633-5A11B16F1286}" type="pres">
      <dgm:prSet presAssocID="{B09774B7-0F6C-4BD0-98EF-FD706B7AC828}" presName="bgRect" presStyleLbl="bgShp" presStyleIdx="1" presStyleCnt="3"/>
      <dgm:spPr/>
    </dgm:pt>
    <dgm:pt modelId="{6A8EE093-1161-4E90-8835-F436D035D5B9}" type="pres">
      <dgm:prSet presAssocID="{B09774B7-0F6C-4BD0-98EF-FD706B7AC828}"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fused Person"/>
        </a:ext>
      </dgm:extLst>
    </dgm:pt>
    <dgm:pt modelId="{363B7317-CF54-4839-9C01-C779CB2C60D9}" type="pres">
      <dgm:prSet presAssocID="{B09774B7-0F6C-4BD0-98EF-FD706B7AC828}" presName="spaceRect" presStyleCnt="0"/>
      <dgm:spPr/>
    </dgm:pt>
    <dgm:pt modelId="{BCD319FF-56BA-434D-941C-F37439FB02CF}" type="pres">
      <dgm:prSet presAssocID="{B09774B7-0F6C-4BD0-98EF-FD706B7AC828}" presName="parTx" presStyleLbl="revTx" presStyleIdx="1" presStyleCnt="3">
        <dgm:presLayoutVars>
          <dgm:chMax val="0"/>
          <dgm:chPref val="0"/>
        </dgm:presLayoutVars>
      </dgm:prSet>
      <dgm:spPr/>
    </dgm:pt>
    <dgm:pt modelId="{E7037B28-1D83-47B8-81B9-E888C628774E}" type="pres">
      <dgm:prSet presAssocID="{54087237-2263-43A9-B0AC-3F7E6BA4F982}" presName="sibTrans" presStyleCnt="0"/>
      <dgm:spPr/>
    </dgm:pt>
    <dgm:pt modelId="{E7AC9F4A-122A-4FA3-A000-2D6481D1D1FB}" type="pres">
      <dgm:prSet presAssocID="{C87A4C98-57B4-4AD8-90BD-64FFAB0703D7}" presName="compNode" presStyleCnt="0"/>
      <dgm:spPr/>
    </dgm:pt>
    <dgm:pt modelId="{4359D8D6-E817-4D60-BDBB-8A31EA653AB7}" type="pres">
      <dgm:prSet presAssocID="{C87A4C98-57B4-4AD8-90BD-64FFAB0703D7}" presName="bgRect" presStyleLbl="bgShp" presStyleIdx="2" presStyleCnt="3"/>
      <dgm:spPr/>
    </dgm:pt>
    <dgm:pt modelId="{552C56B6-8A0C-4F5F-8762-1FF3063EE393}" type="pres">
      <dgm:prSet presAssocID="{C87A4C98-57B4-4AD8-90BD-64FFAB0703D7}"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Venn Diagram"/>
        </a:ext>
      </dgm:extLst>
    </dgm:pt>
    <dgm:pt modelId="{D409A919-6C6C-4962-BE9A-F9175CC861C0}" type="pres">
      <dgm:prSet presAssocID="{C87A4C98-57B4-4AD8-90BD-64FFAB0703D7}" presName="spaceRect" presStyleCnt="0"/>
      <dgm:spPr/>
    </dgm:pt>
    <dgm:pt modelId="{9640AA6B-5BDD-48BB-AA95-022FB7091870}" type="pres">
      <dgm:prSet presAssocID="{C87A4C98-57B4-4AD8-90BD-64FFAB0703D7}" presName="parTx" presStyleLbl="revTx" presStyleIdx="2" presStyleCnt="3">
        <dgm:presLayoutVars>
          <dgm:chMax val="0"/>
          <dgm:chPref val="0"/>
        </dgm:presLayoutVars>
      </dgm:prSet>
      <dgm:spPr/>
    </dgm:pt>
  </dgm:ptLst>
  <dgm:cxnLst>
    <dgm:cxn modelId="{631F0432-B07E-4387-AEAD-05775475CAFF}" srcId="{4DF0A110-6A2D-472C-8ED8-874B1F853ABB}" destId="{B09774B7-0F6C-4BD0-98EF-FD706B7AC828}" srcOrd="1" destOrd="0" parTransId="{C5290840-441A-4356-861E-806E4FD9E27B}" sibTransId="{54087237-2263-43A9-B0AC-3F7E6BA4F982}"/>
    <dgm:cxn modelId="{4549F185-6619-4EBD-BC0F-D18EF78BAD2B}" type="presOf" srcId="{4DF0A110-6A2D-472C-8ED8-874B1F853ABB}" destId="{C52B2B0E-28C3-4895-8264-A47E4BBC1EE6}" srcOrd="0" destOrd="0" presId="urn:microsoft.com/office/officeart/2018/2/layout/IconVerticalSolidList"/>
    <dgm:cxn modelId="{133B0B9A-B0C4-415E-9F50-21B808F35F29}" srcId="{4DF0A110-6A2D-472C-8ED8-874B1F853ABB}" destId="{C87A4C98-57B4-4AD8-90BD-64FFAB0703D7}" srcOrd="2" destOrd="0" parTransId="{CAD747F0-0265-4669-BD55-795B6A0C026E}" sibTransId="{B25498DA-9E48-412E-BFDA-0A604927773E}"/>
    <dgm:cxn modelId="{0BE03B9B-2BE5-47F6-8F8C-3C4FD996DC63}" type="presOf" srcId="{C87A4C98-57B4-4AD8-90BD-64FFAB0703D7}" destId="{9640AA6B-5BDD-48BB-AA95-022FB7091870}" srcOrd="0" destOrd="0" presId="urn:microsoft.com/office/officeart/2018/2/layout/IconVerticalSolidList"/>
    <dgm:cxn modelId="{FCD603E1-E057-4572-88E4-22779B526825}" srcId="{4DF0A110-6A2D-472C-8ED8-874B1F853ABB}" destId="{09830958-A7E4-4D2D-8275-56CB82307946}" srcOrd="0" destOrd="0" parTransId="{0A7A3BEB-FB2E-4B77-B1BA-04E7122C8A39}" sibTransId="{583550FB-DF81-48C0-AF84-7DFAC2BE5F26}"/>
    <dgm:cxn modelId="{B17D5CE4-6B58-41F2-A1E1-CBA2BD0D4C46}" type="presOf" srcId="{B09774B7-0F6C-4BD0-98EF-FD706B7AC828}" destId="{BCD319FF-56BA-434D-941C-F37439FB02CF}" srcOrd="0" destOrd="0" presId="urn:microsoft.com/office/officeart/2018/2/layout/IconVerticalSolidList"/>
    <dgm:cxn modelId="{6A5DB0EE-8715-4CF3-A33E-98DAFF7C00DB}" type="presOf" srcId="{09830958-A7E4-4D2D-8275-56CB82307946}" destId="{65601DFA-93C3-4BC0-83F9-FB3C7079639D}" srcOrd="0" destOrd="0" presId="urn:microsoft.com/office/officeart/2018/2/layout/IconVerticalSolidList"/>
    <dgm:cxn modelId="{055336A7-C6BD-4BD7-A1C5-512E3402F906}" type="presParOf" srcId="{C52B2B0E-28C3-4895-8264-A47E4BBC1EE6}" destId="{D7BA354A-6652-4B07-9DEA-D8C60602C644}" srcOrd="0" destOrd="0" presId="urn:microsoft.com/office/officeart/2018/2/layout/IconVerticalSolidList"/>
    <dgm:cxn modelId="{E48D9331-6D8C-4A94-936E-8FD780EE0F11}" type="presParOf" srcId="{D7BA354A-6652-4B07-9DEA-D8C60602C644}" destId="{113A1329-5416-4D66-A9B4-206D668C4BD0}" srcOrd="0" destOrd="0" presId="urn:microsoft.com/office/officeart/2018/2/layout/IconVerticalSolidList"/>
    <dgm:cxn modelId="{343B4B41-B34A-4366-8C2F-BB93C6FD59E5}" type="presParOf" srcId="{D7BA354A-6652-4B07-9DEA-D8C60602C644}" destId="{5607F3BE-3690-4C52-BD3F-29ED140D84C4}" srcOrd="1" destOrd="0" presId="urn:microsoft.com/office/officeart/2018/2/layout/IconVerticalSolidList"/>
    <dgm:cxn modelId="{5E6ACC6E-0FAC-414B-9682-6D8D8EB4BEAD}" type="presParOf" srcId="{D7BA354A-6652-4B07-9DEA-D8C60602C644}" destId="{94DF0E68-4AFA-433F-91FF-94FED7F9FF03}" srcOrd="2" destOrd="0" presId="urn:microsoft.com/office/officeart/2018/2/layout/IconVerticalSolidList"/>
    <dgm:cxn modelId="{45247E60-ED4A-423D-BADF-30D4336096AA}" type="presParOf" srcId="{D7BA354A-6652-4B07-9DEA-D8C60602C644}" destId="{65601DFA-93C3-4BC0-83F9-FB3C7079639D}" srcOrd="3" destOrd="0" presId="urn:microsoft.com/office/officeart/2018/2/layout/IconVerticalSolidList"/>
    <dgm:cxn modelId="{CC77DE02-EA9D-4EBE-BD70-2B7EACA215AF}" type="presParOf" srcId="{C52B2B0E-28C3-4895-8264-A47E4BBC1EE6}" destId="{1C2EA8DD-8E93-43E4-9DCF-46945C71DF25}" srcOrd="1" destOrd="0" presId="urn:microsoft.com/office/officeart/2018/2/layout/IconVerticalSolidList"/>
    <dgm:cxn modelId="{5C15C70D-F0B2-49EE-913F-40F0C8A09228}" type="presParOf" srcId="{C52B2B0E-28C3-4895-8264-A47E4BBC1EE6}" destId="{0C449FFD-8649-47CB-8A7A-961EED2CC1E8}" srcOrd="2" destOrd="0" presId="urn:microsoft.com/office/officeart/2018/2/layout/IconVerticalSolidList"/>
    <dgm:cxn modelId="{5F7DF09B-DE34-49DC-854B-CBCFFD281E31}" type="presParOf" srcId="{0C449FFD-8649-47CB-8A7A-961EED2CC1E8}" destId="{DDCEDBFC-526C-4A82-B633-5A11B16F1286}" srcOrd="0" destOrd="0" presId="urn:microsoft.com/office/officeart/2018/2/layout/IconVerticalSolidList"/>
    <dgm:cxn modelId="{A1068F1C-4308-4BF4-B8E6-602FC140B5E4}" type="presParOf" srcId="{0C449FFD-8649-47CB-8A7A-961EED2CC1E8}" destId="{6A8EE093-1161-4E90-8835-F436D035D5B9}" srcOrd="1" destOrd="0" presId="urn:microsoft.com/office/officeart/2018/2/layout/IconVerticalSolidList"/>
    <dgm:cxn modelId="{D86E2C39-7FCD-4F70-8AC9-5C6896BA4682}" type="presParOf" srcId="{0C449FFD-8649-47CB-8A7A-961EED2CC1E8}" destId="{363B7317-CF54-4839-9C01-C779CB2C60D9}" srcOrd="2" destOrd="0" presId="urn:microsoft.com/office/officeart/2018/2/layout/IconVerticalSolidList"/>
    <dgm:cxn modelId="{60A8CA54-97D9-4B4C-9883-4DFE146C8972}" type="presParOf" srcId="{0C449FFD-8649-47CB-8A7A-961EED2CC1E8}" destId="{BCD319FF-56BA-434D-941C-F37439FB02CF}" srcOrd="3" destOrd="0" presId="urn:microsoft.com/office/officeart/2018/2/layout/IconVerticalSolidList"/>
    <dgm:cxn modelId="{A04E5156-4101-4096-9A32-B08985F2C52B}" type="presParOf" srcId="{C52B2B0E-28C3-4895-8264-A47E4BBC1EE6}" destId="{E7037B28-1D83-47B8-81B9-E888C628774E}" srcOrd="3" destOrd="0" presId="urn:microsoft.com/office/officeart/2018/2/layout/IconVerticalSolidList"/>
    <dgm:cxn modelId="{9C45AF75-8243-44BC-BE55-2CD2A137EF82}" type="presParOf" srcId="{C52B2B0E-28C3-4895-8264-A47E4BBC1EE6}" destId="{E7AC9F4A-122A-4FA3-A000-2D6481D1D1FB}" srcOrd="4" destOrd="0" presId="urn:microsoft.com/office/officeart/2018/2/layout/IconVerticalSolidList"/>
    <dgm:cxn modelId="{AD2C152C-FAA8-45C8-886E-A61B8715F366}" type="presParOf" srcId="{E7AC9F4A-122A-4FA3-A000-2D6481D1D1FB}" destId="{4359D8D6-E817-4D60-BDBB-8A31EA653AB7}" srcOrd="0" destOrd="0" presId="urn:microsoft.com/office/officeart/2018/2/layout/IconVerticalSolidList"/>
    <dgm:cxn modelId="{3332900A-B556-486A-A5EF-622E77227068}" type="presParOf" srcId="{E7AC9F4A-122A-4FA3-A000-2D6481D1D1FB}" destId="{552C56B6-8A0C-4F5F-8762-1FF3063EE393}" srcOrd="1" destOrd="0" presId="urn:microsoft.com/office/officeart/2018/2/layout/IconVerticalSolidList"/>
    <dgm:cxn modelId="{0375864A-CE72-429B-AFB0-3D7B68AB3F58}" type="presParOf" srcId="{E7AC9F4A-122A-4FA3-A000-2D6481D1D1FB}" destId="{D409A919-6C6C-4962-BE9A-F9175CC861C0}" srcOrd="2" destOrd="0" presId="urn:microsoft.com/office/officeart/2018/2/layout/IconVerticalSolidList"/>
    <dgm:cxn modelId="{0852751A-02A4-4821-B2C8-73882D9FFC1F}" type="presParOf" srcId="{E7AC9F4A-122A-4FA3-A000-2D6481D1D1FB}" destId="{9640AA6B-5BDD-48BB-AA95-022FB709187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6D42F0-1C68-644A-9F9D-AAC8CDEA7C3C}" type="doc">
      <dgm:prSet loTypeId="urn:microsoft.com/office/officeart/2005/8/layout/hProcess11" loCatId="" qsTypeId="urn:microsoft.com/office/officeart/2005/8/quickstyle/simple1" qsCatId="simple" csTypeId="urn:microsoft.com/office/officeart/2005/8/colors/accent1_2" csCatId="accent1" phldr="1"/>
      <dgm:spPr/>
      <dgm:t>
        <a:bodyPr/>
        <a:lstStyle/>
        <a:p>
          <a:endParaRPr lang="en-US"/>
        </a:p>
      </dgm:t>
    </dgm:pt>
    <dgm:pt modelId="{E2745D70-426B-FA4B-B6C7-0E64DA3D399A}">
      <dgm:prSet custT="1"/>
      <dgm:spPr/>
      <dgm:t>
        <a:bodyPr/>
        <a:lstStyle/>
        <a:p>
          <a:r>
            <a:rPr lang="en-US" sz="1500" b="0" i="0">
              <a:latin typeface="Verdana" panose="020B0604030504040204" pitchFamily="34" charset="0"/>
            </a:rPr>
            <a:t>Plan</a:t>
          </a:r>
        </a:p>
      </dgm:t>
    </dgm:pt>
    <dgm:pt modelId="{2437E627-3560-A542-AD3D-E79D88F9BEAA}" type="parTrans" cxnId="{60EA15D4-0687-A741-8727-DA5C094468A1}">
      <dgm:prSet/>
      <dgm:spPr/>
      <dgm:t>
        <a:bodyPr/>
        <a:lstStyle/>
        <a:p>
          <a:endParaRPr lang="en-US">
            <a:latin typeface="Semplicita Pro" panose="02000000000000000000" pitchFamily="2" charset="77"/>
          </a:endParaRPr>
        </a:p>
      </dgm:t>
    </dgm:pt>
    <dgm:pt modelId="{6D58AEAD-2732-BA48-B08C-F1FC26DBE76D}" type="sibTrans" cxnId="{60EA15D4-0687-A741-8727-DA5C094468A1}">
      <dgm:prSet/>
      <dgm:spPr/>
      <dgm:t>
        <a:bodyPr/>
        <a:lstStyle/>
        <a:p>
          <a:endParaRPr lang="en-US">
            <a:latin typeface="Semplicita Pro" panose="02000000000000000000" pitchFamily="2" charset="77"/>
          </a:endParaRPr>
        </a:p>
      </dgm:t>
    </dgm:pt>
    <dgm:pt modelId="{AA662399-51CF-AD42-9556-C1DCDE9C9C62}">
      <dgm:prSet custT="1"/>
      <dgm:spPr/>
      <dgm:t>
        <a:bodyPr/>
        <a:lstStyle/>
        <a:p>
          <a:r>
            <a:rPr lang="en-US" sz="1500" b="0" i="0">
              <a:latin typeface="Verdana" panose="020B0604030504040204" pitchFamily="34" charset="0"/>
            </a:rPr>
            <a:t>Measure and collect data</a:t>
          </a:r>
        </a:p>
      </dgm:t>
    </dgm:pt>
    <dgm:pt modelId="{D5877486-D275-AC47-8C32-7080E0875FFF}" type="parTrans" cxnId="{336C4A7B-8F12-6540-AC71-44072245EFC4}">
      <dgm:prSet/>
      <dgm:spPr/>
      <dgm:t>
        <a:bodyPr/>
        <a:lstStyle/>
        <a:p>
          <a:endParaRPr lang="en-US">
            <a:latin typeface="Semplicita Pro" panose="02000000000000000000" pitchFamily="2" charset="77"/>
          </a:endParaRPr>
        </a:p>
      </dgm:t>
    </dgm:pt>
    <dgm:pt modelId="{C33289C0-1568-714D-B6F8-9D46E115EA00}" type="sibTrans" cxnId="{336C4A7B-8F12-6540-AC71-44072245EFC4}">
      <dgm:prSet/>
      <dgm:spPr/>
      <dgm:t>
        <a:bodyPr/>
        <a:lstStyle/>
        <a:p>
          <a:endParaRPr lang="en-US">
            <a:latin typeface="Semplicita Pro" panose="02000000000000000000" pitchFamily="2" charset="77"/>
          </a:endParaRPr>
        </a:p>
      </dgm:t>
    </dgm:pt>
    <dgm:pt modelId="{2BA9969F-9D4E-CB44-8F47-7D7420B186EB}">
      <dgm:prSet custT="1"/>
      <dgm:spPr/>
      <dgm:t>
        <a:bodyPr/>
        <a:lstStyle/>
        <a:p>
          <a:r>
            <a:rPr lang="en-US" sz="1500" b="0" i="0">
              <a:latin typeface="Verdana" panose="020B0604030504040204" pitchFamily="34" charset="0"/>
            </a:rPr>
            <a:t>Develop baseline model</a:t>
          </a:r>
        </a:p>
      </dgm:t>
    </dgm:pt>
    <dgm:pt modelId="{FA1EE3FB-F579-8849-BEAE-72AD4BC818BE}" type="parTrans" cxnId="{DEAE0FE7-0969-A94C-B711-C997A467E811}">
      <dgm:prSet/>
      <dgm:spPr/>
      <dgm:t>
        <a:bodyPr/>
        <a:lstStyle/>
        <a:p>
          <a:endParaRPr lang="en-US">
            <a:latin typeface="Semplicita Pro" panose="02000000000000000000" pitchFamily="2" charset="77"/>
          </a:endParaRPr>
        </a:p>
      </dgm:t>
    </dgm:pt>
    <dgm:pt modelId="{A67C3E2E-177C-B942-AC87-52A4B64EBFD5}" type="sibTrans" cxnId="{DEAE0FE7-0969-A94C-B711-C997A467E811}">
      <dgm:prSet/>
      <dgm:spPr/>
      <dgm:t>
        <a:bodyPr/>
        <a:lstStyle/>
        <a:p>
          <a:endParaRPr lang="en-US">
            <a:latin typeface="Semplicita Pro" panose="02000000000000000000" pitchFamily="2" charset="77"/>
          </a:endParaRPr>
        </a:p>
      </dgm:t>
    </dgm:pt>
    <dgm:pt modelId="{95BBFADB-2275-AC40-8B91-3CC09C9CC180}">
      <dgm:prSet custT="1"/>
      <dgm:spPr/>
      <dgm:t>
        <a:bodyPr/>
        <a:lstStyle/>
        <a:p>
          <a:r>
            <a:rPr lang="en-US" sz="1500" b="0" i="0">
              <a:latin typeface="Verdana" panose="020B0604030504040204" pitchFamily="34" charset="0"/>
            </a:rPr>
            <a:t>Measure and collect data</a:t>
          </a:r>
        </a:p>
      </dgm:t>
    </dgm:pt>
    <dgm:pt modelId="{966772C4-17F3-0B43-8A0F-4AC4C41F3959}" type="parTrans" cxnId="{22087668-84DD-6A42-8DEC-77DF9118625B}">
      <dgm:prSet/>
      <dgm:spPr/>
      <dgm:t>
        <a:bodyPr/>
        <a:lstStyle/>
        <a:p>
          <a:endParaRPr lang="en-US">
            <a:latin typeface="Semplicita Pro" panose="02000000000000000000" pitchFamily="2" charset="77"/>
          </a:endParaRPr>
        </a:p>
      </dgm:t>
    </dgm:pt>
    <dgm:pt modelId="{60DA2BBE-38E7-484C-8031-E4B70B799C0C}" type="sibTrans" cxnId="{22087668-84DD-6A42-8DEC-77DF9118625B}">
      <dgm:prSet/>
      <dgm:spPr/>
      <dgm:t>
        <a:bodyPr/>
        <a:lstStyle/>
        <a:p>
          <a:endParaRPr lang="en-US">
            <a:latin typeface="Semplicita Pro" panose="02000000000000000000" pitchFamily="2" charset="77"/>
          </a:endParaRPr>
        </a:p>
      </dgm:t>
    </dgm:pt>
    <dgm:pt modelId="{8FD49B5C-06C5-3C4A-AA23-418CB6F7FCF0}">
      <dgm:prSet custT="1"/>
      <dgm:spPr/>
      <dgm:t>
        <a:bodyPr/>
        <a:lstStyle/>
        <a:p>
          <a:r>
            <a:rPr lang="en-US" sz="1500" b="0" i="0">
              <a:latin typeface="Verdana" panose="020B0604030504040204" pitchFamily="34" charset="0"/>
            </a:rPr>
            <a:t>Report</a:t>
          </a:r>
        </a:p>
      </dgm:t>
    </dgm:pt>
    <dgm:pt modelId="{9283967F-8529-454A-8713-D38C61C258A3}" type="parTrans" cxnId="{038FACCB-0856-0F43-B61C-3DB8A6495A46}">
      <dgm:prSet/>
      <dgm:spPr/>
      <dgm:t>
        <a:bodyPr/>
        <a:lstStyle/>
        <a:p>
          <a:endParaRPr lang="en-US">
            <a:latin typeface="Semplicita Pro" panose="02000000000000000000" pitchFamily="2" charset="77"/>
          </a:endParaRPr>
        </a:p>
      </dgm:t>
    </dgm:pt>
    <dgm:pt modelId="{29A7714B-0DB3-314E-837A-30EE013D2BB4}" type="sibTrans" cxnId="{038FACCB-0856-0F43-B61C-3DB8A6495A46}">
      <dgm:prSet/>
      <dgm:spPr/>
      <dgm:t>
        <a:bodyPr/>
        <a:lstStyle/>
        <a:p>
          <a:endParaRPr lang="en-US">
            <a:latin typeface="Semplicita Pro" panose="02000000000000000000" pitchFamily="2" charset="77"/>
          </a:endParaRPr>
        </a:p>
      </dgm:t>
    </dgm:pt>
    <dgm:pt modelId="{359C6299-C5E6-4941-B0D8-3B7FC2F1DC9B}">
      <dgm:prSet custT="1"/>
      <dgm:spPr/>
      <dgm:t>
        <a:bodyPr/>
        <a:lstStyle/>
        <a:p>
          <a:r>
            <a:rPr lang="en-US" sz="1500" b="0" i="0">
              <a:latin typeface="Verdana" panose="020B0604030504040204" pitchFamily="34" charset="0"/>
            </a:rPr>
            <a:t>Adjust baseline model</a:t>
          </a:r>
        </a:p>
      </dgm:t>
    </dgm:pt>
    <dgm:pt modelId="{B35B887A-13AB-1343-B10A-7C9BC299DFCF}" type="parTrans" cxnId="{23916ABB-51EE-5940-AFC2-0D17BBB65672}">
      <dgm:prSet/>
      <dgm:spPr/>
      <dgm:t>
        <a:bodyPr/>
        <a:lstStyle/>
        <a:p>
          <a:endParaRPr lang="en-US"/>
        </a:p>
      </dgm:t>
    </dgm:pt>
    <dgm:pt modelId="{D2D586C4-B904-7B46-9FAF-D683C47F8D6C}" type="sibTrans" cxnId="{23916ABB-51EE-5940-AFC2-0D17BBB65672}">
      <dgm:prSet/>
      <dgm:spPr/>
      <dgm:t>
        <a:bodyPr/>
        <a:lstStyle/>
        <a:p>
          <a:endParaRPr lang="en-US"/>
        </a:p>
      </dgm:t>
    </dgm:pt>
    <dgm:pt modelId="{88BC120A-2807-A24D-B345-B2BD3B376A37}">
      <dgm:prSet custT="1"/>
      <dgm:spPr/>
      <dgm:t>
        <a:bodyPr/>
        <a:lstStyle/>
        <a:p>
          <a:r>
            <a:rPr lang="en-US" sz="1500" b="0" i="0">
              <a:latin typeface="Verdana" panose="020B0604030504040204" pitchFamily="34" charset="0"/>
            </a:rPr>
            <a:t>Installation of ECM</a:t>
          </a:r>
        </a:p>
      </dgm:t>
    </dgm:pt>
    <dgm:pt modelId="{534FB500-710C-6543-87C4-E03751AE162F}" type="sibTrans" cxnId="{39D8D5A4-2621-9B47-8071-CD97C9F50259}">
      <dgm:prSet/>
      <dgm:spPr/>
      <dgm:t>
        <a:bodyPr/>
        <a:lstStyle/>
        <a:p>
          <a:endParaRPr lang="en-US">
            <a:latin typeface="Semplicita Pro" panose="02000000000000000000" pitchFamily="2" charset="77"/>
          </a:endParaRPr>
        </a:p>
      </dgm:t>
    </dgm:pt>
    <dgm:pt modelId="{FA1151D5-41FA-2845-8DD1-20793DB0BBE8}" type="parTrans" cxnId="{39D8D5A4-2621-9B47-8071-CD97C9F50259}">
      <dgm:prSet/>
      <dgm:spPr/>
      <dgm:t>
        <a:bodyPr/>
        <a:lstStyle/>
        <a:p>
          <a:endParaRPr lang="en-US">
            <a:latin typeface="Semplicita Pro" panose="02000000000000000000" pitchFamily="2" charset="77"/>
          </a:endParaRPr>
        </a:p>
      </dgm:t>
    </dgm:pt>
    <dgm:pt modelId="{D06FD5FD-A93E-5C44-B1F9-443860DC44FB}" type="pres">
      <dgm:prSet presAssocID="{EE6D42F0-1C68-644A-9F9D-AAC8CDEA7C3C}" presName="Name0" presStyleCnt="0">
        <dgm:presLayoutVars>
          <dgm:dir/>
          <dgm:resizeHandles val="exact"/>
        </dgm:presLayoutVars>
      </dgm:prSet>
      <dgm:spPr/>
    </dgm:pt>
    <dgm:pt modelId="{69F2A90E-6373-DF42-A6CD-049758145B1B}" type="pres">
      <dgm:prSet presAssocID="{EE6D42F0-1C68-644A-9F9D-AAC8CDEA7C3C}" presName="arrow" presStyleLbl="bgShp" presStyleIdx="0" presStyleCnt="1"/>
      <dgm:spPr/>
    </dgm:pt>
    <dgm:pt modelId="{C35CAFBC-1FD5-AA40-8C23-02E504690762}" type="pres">
      <dgm:prSet presAssocID="{EE6D42F0-1C68-644A-9F9D-AAC8CDEA7C3C}" presName="points" presStyleCnt="0"/>
      <dgm:spPr/>
    </dgm:pt>
    <dgm:pt modelId="{CC4585A4-96D8-5B48-9D1F-B6EC1D008D37}" type="pres">
      <dgm:prSet presAssocID="{E2745D70-426B-FA4B-B6C7-0E64DA3D399A}" presName="compositeA" presStyleCnt="0"/>
      <dgm:spPr/>
    </dgm:pt>
    <dgm:pt modelId="{60D5F69F-8CA6-474F-892E-BB3B3A1F6DAE}" type="pres">
      <dgm:prSet presAssocID="{E2745D70-426B-FA4B-B6C7-0E64DA3D399A}" presName="textA" presStyleLbl="revTx" presStyleIdx="0" presStyleCnt="7">
        <dgm:presLayoutVars>
          <dgm:bulletEnabled val="1"/>
        </dgm:presLayoutVars>
      </dgm:prSet>
      <dgm:spPr/>
    </dgm:pt>
    <dgm:pt modelId="{614091D0-FF01-2A41-8FEC-3CA9BD3D8F71}" type="pres">
      <dgm:prSet presAssocID="{E2745D70-426B-FA4B-B6C7-0E64DA3D399A}" presName="circleA" presStyleLbl="node1" presStyleIdx="0" presStyleCnt="7"/>
      <dgm:spPr/>
    </dgm:pt>
    <dgm:pt modelId="{054F1A60-E084-504C-9B81-7864E6595D0F}" type="pres">
      <dgm:prSet presAssocID="{E2745D70-426B-FA4B-B6C7-0E64DA3D399A}" presName="spaceA" presStyleCnt="0"/>
      <dgm:spPr/>
    </dgm:pt>
    <dgm:pt modelId="{37D0B44D-BBAD-A64E-9197-01A30D831DF2}" type="pres">
      <dgm:prSet presAssocID="{6D58AEAD-2732-BA48-B08C-F1FC26DBE76D}" presName="space" presStyleCnt="0"/>
      <dgm:spPr/>
    </dgm:pt>
    <dgm:pt modelId="{BDE98568-3D84-934F-BAB9-7A0978B5ADB4}" type="pres">
      <dgm:prSet presAssocID="{AA662399-51CF-AD42-9556-C1DCDE9C9C62}" presName="compositeB" presStyleCnt="0"/>
      <dgm:spPr/>
    </dgm:pt>
    <dgm:pt modelId="{7D3991B5-B402-E045-A922-12ECE6931B21}" type="pres">
      <dgm:prSet presAssocID="{AA662399-51CF-AD42-9556-C1DCDE9C9C62}" presName="textB" presStyleLbl="revTx" presStyleIdx="1" presStyleCnt="7">
        <dgm:presLayoutVars>
          <dgm:bulletEnabled val="1"/>
        </dgm:presLayoutVars>
      </dgm:prSet>
      <dgm:spPr/>
    </dgm:pt>
    <dgm:pt modelId="{8697F6B8-AD2D-8C48-9ABD-336C1BBEBBD7}" type="pres">
      <dgm:prSet presAssocID="{AA662399-51CF-AD42-9556-C1DCDE9C9C62}" presName="circleB" presStyleLbl="node1" presStyleIdx="1" presStyleCnt="7"/>
      <dgm:spPr>
        <a:solidFill>
          <a:schemeClr val="accent1"/>
        </a:solidFill>
      </dgm:spPr>
    </dgm:pt>
    <dgm:pt modelId="{8C44613E-D9E7-AF48-9E5B-6BE5B7C6EA40}" type="pres">
      <dgm:prSet presAssocID="{AA662399-51CF-AD42-9556-C1DCDE9C9C62}" presName="spaceB" presStyleCnt="0"/>
      <dgm:spPr/>
    </dgm:pt>
    <dgm:pt modelId="{3DF2F14A-4221-C245-B9DD-DD1EFF146F1C}" type="pres">
      <dgm:prSet presAssocID="{C33289C0-1568-714D-B6F8-9D46E115EA00}" presName="space" presStyleCnt="0"/>
      <dgm:spPr/>
    </dgm:pt>
    <dgm:pt modelId="{0F90A73D-1656-8F47-A04D-69D3A3018053}" type="pres">
      <dgm:prSet presAssocID="{2BA9969F-9D4E-CB44-8F47-7D7420B186EB}" presName="compositeA" presStyleCnt="0"/>
      <dgm:spPr/>
    </dgm:pt>
    <dgm:pt modelId="{3BF9B44D-426A-BD44-B22C-D096155871BB}" type="pres">
      <dgm:prSet presAssocID="{2BA9969F-9D4E-CB44-8F47-7D7420B186EB}" presName="textA" presStyleLbl="revTx" presStyleIdx="2" presStyleCnt="7">
        <dgm:presLayoutVars>
          <dgm:bulletEnabled val="1"/>
        </dgm:presLayoutVars>
      </dgm:prSet>
      <dgm:spPr/>
    </dgm:pt>
    <dgm:pt modelId="{E8E86469-CAA0-6C48-AF04-F8E9680AC545}" type="pres">
      <dgm:prSet presAssocID="{2BA9969F-9D4E-CB44-8F47-7D7420B186EB}" presName="circleA" presStyleLbl="node1" presStyleIdx="2" presStyleCnt="7"/>
      <dgm:spPr>
        <a:solidFill>
          <a:schemeClr val="accent1"/>
        </a:solidFill>
      </dgm:spPr>
    </dgm:pt>
    <dgm:pt modelId="{E497D9B2-FF1D-6345-8B7A-C4BC074BEC52}" type="pres">
      <dgm:prSet presAssocID="{2BA9969F-9D4E-CB44-8F47-7D7420B186EB}" presName="spaceA" presStyleCnt="0"/>
      <dgm:spPr/>
    </dgm:pt>
    <dgm:pt modelId="{7AF4B02F-847D-2A46-9384-B82F86E98A59}" type="pres">
      <dgm:prSet presAssocID="{A67C3E2E-177C-B942-AC87-52A4B64EBFD5}" presName="space" presStyleCnt="0"/>
      <dgm:spPr/>
    </dgm:pt>
    <dgm:pt modelId="{3676BC99-4927-684C-853F-36C3CD8490AD}" type="pres">
      <dgm:prSet presAssocID="{88BC120A-2807-A24D-B345-B2BD3B376A37}" presName="compositeB" presStyleCnt="0"/>
      <dgm:spPr/>
    </dgm:pt>
    <dgm:pt modelId="{30E55ED1-452E-8E4E-8E1B-0704E1F6B3C5}" type="pres">
      <dgm:prSet presAssocID="{88BC120A-2807-A24D-B345-B2BD3B376A37}" presName="textB" presStyleLbl="revTx" presStyleIdx="3" presStyleCnt="7">
        <dgm:presLayoutVars>
          <dgm:bulletEnabled val="1"/>
        </dgm:presLayoutVars>
      </dgm:prSet>
      <dgm:spPr/>
    </dgm:pt>
    <dgm:pt modelId="{9AF72B61-47BD-0C41-93DF-1D3EFB97D40E}" type="pres">
      <dgm:prSet presAssocID="{88BC120A-2807-A24D-B345-B2BD3B376A37}" presName="circleB" presStyleLbl="node1" presStyleIdx="3" presStyleCnt="7"/>
      <dgm:spPr>
        <a:solidFill>
          <a:schemeClr val="bg1"/>
        </a:solidFill>
      </dgm:spPr>
    </dgm:pt>
    <dgm:pt modelId="{532E94B6-A895-E242-BFDA-13826CBFF567}" type="pres">
      <dgm:prSet presAssocID="{88BC120A-2807-A24D-B345-B2BD3B376A37}" presName="spaceB" presStyleCnt="0"/>
      <dgm:spPr/>
    </dgm:pt>
    <dgm:pt modelId="{BAEC0EC1-12A7-8441-AA08-B9DBAAECEA13}" type="pres">
      <dgm:prSet presAssocID="{534FB500-710C-6543-87C4-E03751AE162F}" presName="space" presStyleCnt="0"/>
      <dgm:spPr/>
    </dgm:pt>
    <dgm:pt modelId="{2F2E9EDC-0DE6-274A-9D27-20A47DED08B8}" type="pres">
      <dgm:prSet presAssocID="{95BBFADB-2275-AC40-8B91-3CC09C9CC180}" presName="compositeA" presStyleCnt="0"/>
      <dgm:spPr/>
    </dgm:pt>
    <dgm:pt modelId="{5A6A5F06-52E7-BB4C-B757-930F8572F5BA}" type="pres">
      <dgm:prSet presAssocID="{95BBFADB-2275-AC40-8B91-3CC09C9CC180}" presName="textA" presStyleLbl="revTx" presStyleIdx="4" presStyleCnt="7">
        <dgm:presLayoutVars>
          <dgm:bulletEnabled val="1"/>
        </dgm:presLayoutVars>
      </dgm:prSet>
      <dgm:spPr/>
    </dgm:pt>
    <dgm:pt modelId="{D42E69B9-3A96-B64F-A243-EF914D98A5D9}" type="pres">
      <dgm:prSet presAssocID="{95BBFADB-2275-AC40-8B91-3CC09C9CC180}" presName="circleA" presStyleLbl="node1" presStyleIdx="4" presStyleCnt="7"/>
      <dgm:spPr>
        <a:solidFill>
          <a:schemeClr val="accent1"/>
        </a:solidFill>
      </dgm:spPr>
    </dgm:pt>
    <dgm:pt modelId="{9B004BB5-BDA2-124F-86EF-42BB60176E78}" type="pres">
      <dgm:prSet presAssocID="{95BBFADB-2275-AC40-8B91-3CC09C9CC180}" presName="spaceA" presStyleCnt="0"/>
      <dgm:spPr/>
    </dgm:pt>
    <dgm:pt modelId="{3E10F75E-0B66-7E4B-B938-A2DD47D24581}" type="pres">
      <dgm:prSet presAssocID="{60DA2BBE-38E7-484C-8031-E4B70B799C0C}" presName="space" presStyleCnt="0"/>
      <dgm:spPr/>
    </dgm:pt>
    <dgm:pt modelId="{F81988D2-CF31-0748-B9DF-EFC3CD922F00}" type="pres">
      <dgm:prSet presAssocID="{359C6299-C5E6-4941-B0D8-3B7FC2F1DC9B}" presName="compositeB" presStyleCnt="0"/>
      <dgm:spPr/>
    </dgm:pt>
    <dgm:pt modelId="{B183C049-EFBE-7242-973D-6D857830733B}" type="pres">
      <dgm:prSet presAssocID="{359C6299-C5E6-4941-B0D8-3B7FC2F1DC9B}" presName="textB" presStyleLbl="revTx" presStyleIdx="5" presStyleCnt="7">
        <dgm:presLayoutVars>
          <dgm:bulletEnabled val="1"/>
        </dgm:presLayoutVars>
      </dgm:prSet>
      <dgm:spPr/>
    </dgm:pt>
    <dgm:pt modelId="{647E0C18-FD54-0649-A6F9-1C49098F32E2}" type="pres">
      <dgm:prSet presAssocID="{359C6299-C5E6-4941-B0D8-3B7FC2F1DC9B}" presName="circleB" presStyleLbl="node1" presStyleIdx="5" presStyleCnt="7"/>
      <dgm:spPr>
        <a:solidFill>
          <a:schemeClr val="accent1"/>
        </a:solidFill>
      </dgm:spPr>
    </dgm:pt>
    <dgm:pt modelId="{651A20BE-D03E-D448-98EB-668B9A6CA7F0}" type="pres">
      <dgm:prSet presAssocID="{359C6299-C5E6-4941-B0D8-3B7FC2F1DC9B}" presName="spaceB" presStyleCnt="0"/>
      <dgm:spPr/>
    </dgm:pt>
    <dgm:pt modelId="{CD7A8938-8B26-E945-AD75-32638EE4E906}" type="pres">
      <dgm:prSet presAssocID="{D2D586C4-B904-7B46-9FAF-D683C47F8D6C}" presName="space" presStyleCnt="0"/>
      <dgm:spPr/>
    </dgm:pt>
    <dgm:pt modelId="{B9A58F17-0FB5-7B40-A2D9-3937BA4A4AFC}" type="pres">
      <dgm:prSet presAssocID="{8FD49B5C-06C5-3C4A-AA23-418CB6F7FCF0}" presName="compositeA" presStyleCnt="0"/>
      <dgm:spPr/>
    </dgm:pt>
    <dgm:pt modelId="{25E66557-3491-1C49-999C-B9E27F1145DD}" type="pres">
      <dgm:prSet presAssocID="{8FD49B5C-06C5-3C4A-AA23-418CB6F7FCF0}" presName="textA" presStyleLbl="revTx" presStyleIdx="6" presStyleCnt="7">
        <dgm:presLayoutVars>
          <dgm:bulletEnabled val="1"/>
        </dgm:presLayoutVars>
      </dgm:prSet>
      <dgm:spPr/>
    </dgm:pt>
    <dgm:pt modelId="{9E03863F-C95F-7E48-9F4E-6C417F127C30}" type="pres">
      <dgm:prSet presAssocID="{8FD49B5C-06C5-3C4A-AA23-418CB6F7FCF0}" presName="circleA" presStyleLbl="node1" presStyleIdx="6" presStyleCnt="7"/>
      <dgm:spPr/>
    </dgm:pt>
    <dgm:pt modelId="{3D2684BA-DBD8-AA40-9475-4287E894D942}" type="pres">
      <dgm:prSet presAssocID="{8FD49B5C-06C5-3C4A-AA23-418CB6F7FCF0}" presName="spaceA" presStyleCnt="0"/>
      <dgm:spPr/>
    </dgm:pt>
  </dgm:ptLst>
  <dgm:cxnLst>
    <dgm:cxn modelId="{358C8F26-E9BB-9A43-8565-796F1C8319E6}" type="presOf" srcId="{359C6299-C5E6-4941-B0D8-3B7FC2F1DC9B}" destId="{B183C049-EFBE-7242-973D-6D857830733B}" srcOrd="0" destOrd="0" presId="urn:microsoft.com/office/officeart/2005/8/layout/hProcess11"/>
    <dgm:cxn modelId="{A9E2352C-CFC2-BC43-9E0A-C8439B1F7419}" type="presOf" srcId="{EE6D42F0-1C68-644A-9F9D-AAC8CDEA7C3C}" destId="{D06FD5FD-A93E-5C44-B1F9-443860DC44FB}" srcOrd="0" destOrd="0" presId="urn:microsoft.com/office/officeart/2005/8/layout/hProcess11"/>
    <dgm:cxn modelId="{904D2738-0D03-0141-8908-9AD961AA2275}" type="presOf" srcId="{8FD49B5C-06C5-3C4A-AA23-418CB6F7FCF0}" destId="{25E66557-3491-1C49-999C-B9E27F1145DD}" srcOrd="0" destOrd="0" presId="urn:microsoft.com/office/officeart/2005/8/layout/hProcess11"/>
    <dgm:cxn modelId="{607D7244-37A1-2B40-BF43-A0417A71AC31}" type="presOf" srcId="{2BA9969F-9D4E-CB44-8F47-7D7420B186EB}" destId="{3BF9B44D-426A-BD44-B22C-D096155871BB}" srcOrd="0" destOrd="0" presId="urn:microsoft.com/office/officeart/2005/8/layout/hProcess11"/>
    <dgm:cxn modelId="{22087668-84DD-6A42-8DEC-77DF9118625B}" srcId="{EE6D42F0-1C68-644A-9F9D-AAC8CDEA7C3C}" destId="{95BBFADB-2275-AC40-8B91-3CC09C9CC180}" srcOrd="4" destOrd="0" parTransId="{966772C4-17F3-0B43-8A0F-4AC4C41F3959}" sibTransId="{60DA2BBE-38E7-484C-8031-E4B70B799C0C}"/>
    <dgm:cxn modelId="{336C4A7B-8F12-6540-AC71-44072245EFC4}" srcId="{EE6D42F0-1C68-644A-9F9D-AAC8CDEA7C3C}" destId="{AA662399-51CF-AD42-9556-C1DCDE9C9C62}" srcOrd="1" destOrd="0" parTransId="{D5877486-D275-AC47-8C32-7080E0875FFF}" sibTransId="{C33289C0-1568-714D-B6F8-9D46E115EA00}"/>
    <dgm:cxn modelId="{DA081B7E-7B19-424F-81F6-AA7D51F15098}" type="presOf" srcId="{95BBFADB-2275-AC40-8B91-3CC09C9CC180}" destId="{5A6A5F06-52E7-BB4C-B757-930F8572F5BA}" srcOrd="0" destOrd="0" presId="urn:microsoft.com/office/officeart/2005/8/layout/hProcess11"/>
    <dgm:cxn modelId="{D536A684-E000-8D4F-BA27-7978EF771510}" type="presOf" srcId="{E2745D70-426B-FA4B-B6C7-0E64DA3D399A}" destId="{60D5F69F-8CA6-474F-892E-BB3B3A1F6DAE}" srcOrd="0" destOrd="0" presId="urn:microsoft.com/office/officeart/2005/8/layout/hProcess11"/>
    <dgm:cxn modelId="{C947B29B-97FE-0844-8705-FD5CABEA87AD}" type="presOf" srcId="{AA662399-51CF-AD42-9556-C1DCDE9C9C62}" destId="{7D3991B5-B402-E045-A922-12ECE6931B21}" srcOrd="0" destOrd="0" presId="urn:microsoft.com/office/officeart/2005/8/layout/hProcess11"/>
    <dgm:cxn modelId="{39D8D5A4-2621-9B47-8071-CD97C9F50259}" srcId="{EE6D42F0-1C68-644A-9F9D-AAC8CDEA7C3C}" destId="{88BC120A-2807-A24D-B345-B2BD3B376A37}" srcOrd="3" destOrd="0" parTransId="{FA1151D5-41FA-2845-8DD1-20793DB0BBE8}" sibTransId="{534FB500-710C-6543-87C4-E03751AE162F}"/>
    <dgm:cxn modelId="{23916ABB-51EE-5940-AFC2-0D17BBB65672}" srcId="{EE6D42F0-1C68-644A-9F9D-AAC8CDEA7C3C}" destId="{359C6299-C5E6-4941-B0D8-3B7FC2F1DC9B}" srcOrd="5" destOrd="0" parTransId="{B35B887A-13AB-1343-B10A-7C9BC299DFCF}" sibTransId="{D2D586C4-B904-7B46-9FAF-D683C47F8D6C}"/>
    <dgm:cxn modelId="{038FACCB-0856-0F43-B61C-3DB8A6495A46}" srcId="{EE6D42F0-1C68-644A-9F9D-AAC8CDEA7C3C}" destId="{8FD49B5C-06C5-3C4A-AA23-418CB6F7FCF0}" srcOrd="6" destOrd="0" parTransId="{9283967F-8529-454A-8713-D38C61C258A3}" sibTransId="{29A7714B-0DB3-314E-837A-30EE013D2BB4}"/>
    <dgm:cxn modelId="{60EA15D4-0687-A741-8727-DA5C094468A1}" srcId="{EE6D42F0-1C68-644A-9F9D-AAC8CDEA7C3C}" destId="{E2745D70-426B-FA4B-B6C7-0E64DA3D399A}" srcOrd="0" destOrd="0" parTransId="{2437E627-3560-A542-AD3D-E79D88F9BEAA}" sibTransId="{6D58AEAD-2732-BA48-B08C-F1FC26DBE76D}"/>
    <dgm:cxn modelId="{ED8F30E6-F388-0A49-808F-D9FA47B12324}" type="presOf" srcId="{88BC120A-2807-A24D-B345-B2BD3B376A37}" destId="{30E55ED1-452E-8E4E-8E1B-0704E1F6B3C5}" srcOrd="0" destOrd="0" presId="urn:microsoft.com/office/officeart/2005/8/layout/hProcess11"/>
    <dgm:cxn modelId="{DEAE0FE7-0969-A94C-B711-C997A467E811}" srcId="{EE6D42F0-1C68-644A-9F9D-AAC8CDEA7C3C}" destId="{2BA9969F-9D4E-CB44-8F47-7D7420B186EB}" srcOrd="2" destOrd="0" parTransId="{FA1EE3FB-F579-8849-BEAE-72AD4BC818BE}" sibTransId="{A67C3E2E-177C-B942-AC87-52A4B64EBFD5}"/>
    <dgm:cxn modelId="{894AED3C-5AF4-504E-9974-755261D871BF}" type="presParOf" srcId="{D06FD5FD-A93E-5C44-B1F9-443860DC44FB}" destId="{69F2A90E-6373-DF42-A6CD-049758145B1B}" srcOrd="0" destOrd="0" presId="urn:microsoft.com/office/officeart/2005/8/layout/hProcess11"/>
    <dgm:cxn modelId="{18C13995-09DC-FE47-A094-E23DB145F231}" type="presParOf" srcId="{D06FD5FD-A93E-5C44-B1F9-443860DC44FB}" destId="{C35CAFBC-1FD5-AA40-8C23-02E504690762}" srcOrd="1" destOrd="0" presId="urn:microsoft.com/office/officeart/2005/8/layout/hProcess11"/>
    <dgm:cxn modelId="{2FA5E395-3172-474E-A2CB-FC77D82D81FB}" type="presParOf" srcId="{C35CAFBC-1FD5-AA40-8C23-02E504690762}" destId="{CC4585A4-96D8-5B48-9D1F-B6EC1D008D37}" srcOrd="0" destOrd="0" presId="urn:microsoft.com/office/officeart/2005/8/layout/hProcess11"/>
    <dgm:cxn modelId="{93E58E97-539E-3542-A1A1-1EBCE38AFAA9}" type="presParOf" srcId="{CC4585A4-96D8-5B48-9D1F-B6EC1D008D37}" destId="{60D5F69F-8CA6-474F-892E-BB3B3A1F6DAE}" srcOrd="0" destOrd="0" presId="urn:microsoft.com/office/officeart/2005/8/layout/hProcess11"/>
    <dgm:cxn modelId="{AEF9BF5B-D1AF-C047-AD53-DB929A0A5613}" type="presParOf" srcId="{CC4585A4-96D8-5B48-9D1F-B6EC1D008D37}" destId="{614091D0-FF01-2A41-8FEC-3CA9BD3D8F71}" srcOrd="1" destOrd="0" presId="urn:microsoft.com/office/officeart/2005/8/layout/hProcess11"/>
    <dgm:cxn modelId="{1A07BB43-6653-7641-87B9-8D950F161EAB}" type="presParOf" srcId="{CC4585A4-96D8-5B48-9D1F-B6EC1D008D37}" destId="{054F1A60-E084-504C-9B81-7864E6595D0F}" srcOrd="2" destOrd="0" presId="urn:microsoft.com/office/officeart/2005/8/layout/hProcess11"/>
    <dgm:cxn modelId="{D89FAE18-9CB2-5F4A-9063-CF6398AFA76F}" type="presParOf" srcId="{C35CAFBC-1FD5-AA40-8C23-02E504690762}" destId="{37D0B44D-BBAD-A64E-9197-01A30D831DF2}" srcOrd="1" destOrd="0" presId="urn:microsoft.com/office/officeart/2005/8/layout/hProcess11"/>
    <dgm:cxn modelId="{81DAFA7B-331A-0441-B6BC-7AADD0A96C7E}" type="presParOf" srcId="{C35CAFBC-1FD5-AA40-8C23-02E504690762}" destId="{BDE98568-3D84-934F-BAB9-7A0978B5ADB4}" srcOrd="2" destOrd="0" presId="urn:microsoft.com/office/officeart/2005/8/layout/hProcess11"/>
    <dgm:cxn modelId="{D3F6369C-5F6A-AE45-9724-C9094AF20D84}" type="presParOf" srcId="{BDE98568-3D84-934F-BAB9-7A0978B5ADB4}" destId="{7D3991B5-B402-E045-A922-12ECE6931B21}" srcOrd="0" destOrd="0" presId="urn:microsoft.com/office/officeart/2005/8/layout/hProcess11"/>
    <dgm:cxn modelId="{91D26C41-B630-B941-9D0E-4AB1B32A4AFF}" type="presParOf" srcId="{BDE98568-3D84-934F-BAB9-7A0978B5ADB4}" destId="{8697F6B8-AD2D-8C48-9ABD-336C1BBEBBD7}" srcOrd="1" destOrd="0" presId="urn:microsoft.com/office/officeart/2005/8/layout/hProcess11"/>
    <dgm:cxn modelId="{ECE1E109-EDA0-5E45-8B96-C581A0DCE125}" type="presParOf" srcId="{BDE98568-3D84-934F-BAB9-7A0978B5ADB4}" destId="{8C44613E-D9E7-AF48-9E5B-6BE5B7C6EA40}" srcOrd="2" destOrd="0" presId="urn:microsoft.com/office/officeart/2005/8/layout/hProcess11"/>
    <dgm:cxn modelId="{7548256F-9397-094C-A571-5F64724997ED}" type="presParOf" srcId="{C35CAFBC-1FD5-AA40-8C23-02E504690762}" destId="{3DF2F14A-4221-C245-B9DD-DD1EFF146F1C}" srcOrd="3" destOrd="0" presId="urn:microsoft.com/office/officeart/2005/8/layout/hProcess11"/>
    <dgm:cxn modelId="{2B7B5649-6686-9946-AC17-8F320DBAD661}" type="presParOf" srcId="{C35CAFBC-1FD5-AA40-8C23-02E504690762}" destId="{0F90A73D-1656-8F47-A04D-69D3A3018053}" srcOrd="4" destOrd="0" presId="urn:microsoft.com/office/officeart/2005/8/layout/hProcess11"/>
    <dgm:cxn modelId="{542082DD-C53D-3841-B7D2-3ABAB1AD528B}" type="presParOf" srcId="{0F90A73D-1656-8F47-A04D-69D3A3018053}" destId="{3BF9B44D-426A-BD44-B22C-D096155871BB}" srcOrd="0" destOrd="0" presId="urn:microsoft.com/office/officeart/2005/8/layout/hProcess11"/>
    <dgm:cxn modelId="{D650B354-FF5B-A24B-8754-3CA3868D9E08}" type="presParOf" srcId="{0F90A73D-1656-8F47-A04D-69D3A3018053}" destId="{E8E86469-CAA0-6C48-AF04-F8E9680AC545}" srcOrd="1" destOrd="0" presId="urn:microsoft.com/office/officeart/2005/8/layout/hProcess11"/>
    <dgm:cxn modelId="{00F1288C-A4E8-F047-A586-1A2E4513B869}" type="presParOf" srcId="{0F90A73D-1656-8F47-A04D-69D3A3018053}" destId="{E497D9B2-FF1D-6345-8B7A-C4BC074BEC52}" srcOrd="2" destOrd="0" presId="urn:microsoft.com/office/officeart/2005/8/layout/hProcess11"/>
    <dgm:cxn modelId="{D8D0B340-C207-3B4D-9162-38F455AE9DFB}" type="presParOf" srcId="{C35CAFBC-1FD5-AA40-8C23-02E504690762}" destId="{7AF4B02F-847D-2A46-9384-B82F86E98A59}" srcOrd="5" destOrd="0" presId="urn:microsoft.com/office/officeart/2005/8/layout/hProcess11"/>
    <dgm:cxn modelId="{DF6307A2-AF5A-CD44-920D-33F1795A0E48}" type="presParOf" srcId="{C35CAFBC-1FD5-AA40-8C23-02E504690762}" destId="{3676BC99-4927-684C-853F-36C3CD8490AD}" srcOrd="6" destOrd="0" presId="urn:microsoft.com/office/officeart/2005/8/layout/hProcess11"/>
    <dgm:cxn modelId="{66DCB9F9-1D5D-814F-91C2-18DE2B462D22}" type="presParOf" srcId="{3676BC99-4927-684C-853F-36C3CD8490AD}" destId="{30E55ED1-452E-8E4E-8E1B-0704E1F6B3C5}" srcOrd="0" destOrd="0" presId="urn:microsoft.com/office/officeart/2005/8/layout/hProcess11"/>
    <dgm:cxn modelId="{1D99A6E4-F4D3-0746-9EFB-6844809EA963}" type="presParOf" srcId="{3676BC99-4927-684C-853F-36C3CD8490AD}" destId="{9AF72B61-47BD-0C41-93DF-1D3EFB97D40E}" srcOrd="1" destOrd="0" presId="urn:microsoft.com/office/officeart/2005/8/layout/hProcess11"/>
    <dgm:cxn modelId="{F6F2B072-E253-A14C-B2A6-38659B7F3FCD}" type="presParOf" srcId="{3676BC99-4927-684C-853F-36C3CD8490AD}" destId="{532E94B6-A895-E242-BFDA-13826CBFF567}" srcOrd="2" destOrd="0" presId="urn:microsoft.com/office/officeart/2005/8/layout/hProcess11"/>
    <dgm:cxn modelId="{48FACE55-B994-9B4E-AB64-F5FE54D41EC5}" type="presParOf" srcId="{C35CAFBC-1FD5-AA40-8C23-02E504690762}" destId="{BAEC0EC1-12A7-8441-AA08-B9DBAAECEA13}" srcOrd="7" destOrd="0" presId="urn:microsoft.com/office/officeart/2005/8/layout/hProcess11"/>
    <dgm:cxn modelId="{DFE96C61-F818-9041-90B7-9079478C023D}" type="presParOf" srcId="{C35CAFBC-1FD5-AA40-8C23-02E504690762}" destId="{2F2E9EDC-0DE6-274A-9D27-20A47DED08B8}" srcOrd="8" destOrd="0" presId="urn:microsoft.com/office/officeart/2005/8/layout/hProcess11"/>
    <dgm:cxn modelId="{BC7D216D-1F69-8246-9FC1-76CB7DC83CE0}" type="presParOf" srcId="{2F2E9EDC-0DE6-274A-9D27-20A47DED08B8}" destId="{5A6A5F06-52E7-BB4C-B757-930F8572F5BA}" srcOrd="0" destOrd="0" presId="urn:microsoft.com/office/officeart/2005/8/layout/hProcess11"/>
    <dgm:cxn modelId="{AF670325-CC4D-084C-BD20-04740C5E9D8C}" type="presParOf" srcId="{2F2E9EDC-0DE6-274A-9D27-20A47DED08B8}" destId="{D42E69B9-3A96-B64F-A243-EF914D98A5D9}" srcOrd="1" destOrd="0" presId="urn:microsoft.com/office/officeart/2005/8/layout/hProcess11"/>
    <dgm:cxn modelId="{E8EF9539-1660-8440-A7A7-110C69F6CE5D}" type="presParOf" srcId="{2F2E9EDC-0DE6-274A-9D27-20A47DED08B8}" destId="{9B004BB5-BDA2-124F-86EF-42BB60176E78}" srcOrd="2" destOrd="0" presId="urn:microsoft.com/office/officeart/2005/8/layout/hProcess11"/>
    <dgm:cxn modelId="{15E538D1-B318-9345-8507-2AC2137D0EA4}" type="presParOf" srcId="{C35CAFBC-1FD5-AA40-8C23-02E504690762}" destId="{3E10F75E-0B66-7E4B-B938-A2DD47D24581}" srcOrd="9" destOrd="0" presId="urn:microsoft.com/office/officeart/2005/8/layout/hProcess11"/>
    <dgm:cxn modelId="{DE7ED6DD-B521-B542-833A-044D166B1234}" type="presParOf" srcId="{C35CAFBC-1FD5-AA40-8C23-02E504690762}" destId="{F81988D2-CF31-0748-B9DF-EFC3CD922F00}" srcOrd="10" destOrd="0" presId="urn:microsoft.com/office/officeart/2005/8/layout/hProcess11"/>
    <dgm:cxn modelId="{6E2D18D1-2294-134D-9CBA-460208D4F21E}" type="presParOf" srcId="{F81988D2-CF31-0748-B9DF-EFC3CD922F00}" destId="{B183C049-EFBE-7242-973D-6D857830733B}" srcOrd="0" destOrd="0" presId="urn:microsoft.com/office/officeart/2005/8/layout/hProcess11"/>
    <dgm:cxn modelId="{0017D639-067A-FF4C-B23F-EA49AC3FE4C4}" type="presParOf" srcId="{F81988D2-CF31-0748-B9DF-EFC3CD922F00}" destId="{647E0C18-FD54-0649-A6F9-1C49098F32E2}" srcOrd="1" destOrd="0" presId="urn:microsoft.com/office/officeart/2005/8/layout/hProcess11"/>
    <dgm:cxn modelId="{C7F7C361-7275-C24E-AE8B-CD9BE7E81C19}" type="presParOf" srcId="{F81988D2-CF31-0748-B9DF-EFC3CD922F00}" destId="{651A20BE-D03E-D448-98EB-668B9A6CA7F0}" srcOrd="2" destOrd="0" presId="urn:microsoft.com/office/officeart/2005/8/layout/hProcess11"/>
    <dgm:cxn modelId="{43F0BA66-6C3F-AE44-9A37-DBE127A52BD7}" type="presParOf" srcId="{C35CAFBC-1FD5-AA40-8C23-02E504690762}" destId="{CD7A8938-8B26-E945-AD75-32638EE4E906}" srcOrd="11" destOrd="0" presId="urn:microsoft.com/office/officeart/2005/8/layout/hProcess11"/>
    <dgm:cxn modelId="{C44627E2-CC89-CC48-902F-D97CD3358621}" type="presParOf" srcId="{C35CAFBC-1FD5-AA40-8C23-02E504690762}" destId="{B9A58F17-0FB5-7B40-A2D9-3937BA4A4AFC}" srcOrd="12" destOrd="0" presId="urn:microsoft.com/office/officeart/2005/8/layout/hProcess11"/>
    <dgm:cxn modelId="{1A780BC9-4A86-0547-B11A-CDED332BB0A6}" type="presParOf" srcId="{B9A58F17-0FB5-7B40-A2D9-3937BA4A4AFC}" destId="{25E66557-3491-1C49-999C-B9E27F1145DD}" srcOrd="0" destOrd="0" presId="urn:microsoft.com/office/officeart/2005/8/layout/hProcess11"/>
    <dgm:cxn modelId="{84700321-0DD5-3B44-B086-F7C1311C3BC5}" type="presParOf" srcId="{B9A58F17-0FB5-7B40-A2D9-3937BA4A4AFC}" destId="{9E03863F-C95F-7E48-9F4E-6C417F127C30}" srcOrd="1" destOrd="0" presId="urn:microsoft.com/office/officeart/2005/8/layout/hProcess11"/>
    <dgm:cxn modelId="{A945A103-4994-F84F-908B-598711B03D6A}" type="presParOf" srcId="{B9A58F17-0FB5-7B40-A2D9-3937BA4A4AFC}" destId="{3D2684BA-DBD8-AA40-9475-4287E894D942}"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427FC2-20C1-4DC1-A9EF-14F06F47ECAA}" type="doc">
      <dgm:prSet loTypeId="urn:microsoft.com/office/officeart/2005/8/layout/vList2" loCatId="list" qsTypeId="urn:microsoft.com/office/officeart/2005/8/quickstyle/simple2" qsCatId="simple" csTypeId="urn:microsoft.com/office/officeart/2005/8/colors/accent1_2" csCatId="accent1"/>
      <dgm:spPr/>
      <dgm:t>
        <a:bodyPr/>
        <a:lstStyle/>
        <a:p>
          <a:endParaRPr lang="en-US"/>
        </a:p>
      </dgm:t>
    </dgm:pt>
    <dgm:pt modelId="{9B4EC896-0C8E-4292-8774-72B9F7378C5E}">
      <dgm:prSet/>
      <dgm:spPr/>
      <dgm:t>
        <a:bodyPr/>
        <a:lstStyle/>
        <a:p>
          <a:r>
            <a:rPr lang="en-US" b="0" i="0"/>
            <a:t>Approach</a:t>
          </a:r>
          <a:endParaRPr lang="en-US"/>
        </a:p>
      </dgm:t>
    </dgm:pt>
    <dgm:pt modelId="{B5DD25FD-E6BE-4FD6-883D-59C823CE77CD}" type="parTrans" cxnId="{BA3BAFAE-43CB-4295-894D-12B83CED90DF}">
      <dgm:prSet/>
      <dgm:spPr/>
      <dgm:t>
        <a:bodyPr/>
        <a:lstStyle/>
        <a:p>
          <a:endParaRPr lang="en-US"/>
        </a:p>
      </dgm:t>
    </dgm:pt>
    <dgm:pt modelId="{FE249F45-58FD-45E6-A752-5C5F17F5D816}" type="sibTrans" cxnId="{BA3BAFAE-43CB-4295-894D-12B83CED90DF}">
      <dgm:prSet/>
      <dgm:spPr/>
      <dgm:t>
        <a:bodyPr/>
        <a:lstStyle/>
        <a:p>
          <a:endParaRPr lang="en-US"/>
        </a:p>
      </dgm:t>
    </dgm:pt>
    <dgm:pt modelId="{C5253964-4442-4553-AD50-7BFDEB36B316}">
      <dgm:prSet/>
      <dgm:spPr/>
      <dgm:t>
        <a:bodyPr/>
        <a:lstStyle/>
        <a:p>
          <a:r>
            <a:rPr lang="en-US" b="0" i="0"/>
            <a:t>Method</a:t>
          </a:r>
          <a:endParaRPr lang="en-US"/>
        </a:p>
      </dgm:t>
    </dgm:pt>
    <dgm:pt modelId="{B45D8EF8-85CB-4E07-8BBE-831C4D543070}" type="parTrans" cxnId="{8062DBAA-AE29-48B3-B816-1995AA18C98E}">
      <dgm:prSet/>
      <dgm:spPr/>
      <dgm:t>
        <a:bodyPr/>
        <a:lstStyle/>
        <a:p>
          <a:endParaRPr lang="en-US"/>
        </a:p>
      </dgm:t>
    </dgm:pt>
    <dgm:pt modelId="{6CE87462-43BC-4799-86BF-9E944F6F8831}" type="sibTrans" cxnId="{8062DBAA-AE29-48B3-B816-1995AA18C98E}">
      <dgm:prSet/>
      <dgm:spPr/>
      <dgm:t>
        <a:bodyPr/>
        <a:lstStyle/>
        <a:p>
          <a:endParaRPr lang="en-US"/>
        </a:p>
      </dgm:t>
    </dgm:pt>
    <dgm:pt modelId="{5DDBA66B-3C0B-4479-84FB-2FD33E90B703}">
      <dgm:prSet/>
      <dgm:spPr/>
      <dgm:t>
        <a:bodyPr/>
        <a:lstStyle/>
        <a:p>
          <a:r>
            <a:rPr lang="en-US" b="0" i="0"/>
            <a:t>Technique</a:t>
          </a:r>
          <a:endParaRPr lang="en-US"/>
        </a:p>
      </dgm:t>
    </dgm:pt>
    <dgm:pt modelId="{36E24412-4CEC-4204-955B-1ABF58A7917C}" type="parTrans" cxnId="{5F60BC3A-8F5A-4254-BFE2-B0C20A461A2C}">
      <dgm:prSet/>
      <dgm:spPr/>
      <dgm:t>
        <a:bodyPr/>
        <a:lstStyle/>
        <a:p>
          <a:endParaRPr lang="en-US"/>
        </a:p>
      </dgm:t>
    </dgm:pt>
    <dgm:pt modelId="{DC241A3C-D088-40BA-BEDC-82332958DCAC}" type="sibTrans" cxnId="{5F60BC3A-8F5A-4254-BFE2-B0C20A461A2C}">
      <dgm:prSet/>
      <dgm:spPr/>
      <dgm:t>
        <a:bodyPr/>
        <a:lstStyle/>
        <a:p>
          <a:endParaRPr lang="en-US"/>
        </a:p>
      </dgm:t>
    </dgm:pt>
    <dgm:pt modelId="{6D430FD1-84F0-44C2-A000-36A8A49D2E94}">
      <dgm:prSet/>
      <dgm:spPr/>
      <dgm:t>
        <a:bodyPr/>
        <a:lstStyle/>
        <a:p>
          <a:r>
            <a:rPr lang="en-US" b="0" i="0"/>
            <a:t>“Way”</a:t>
          </a:r>
          <a:endParaRPr lang="en-US"/>
        </a:p>
      </dgm:t>
    </dgm:pt>
    <dgm:pt modelId="{5D1B4AFF-7F1B-4B93-8279-00F110B08109}" type="parTrans" cxnId="{3DCAFC10-450D-471F-87F2-5FF50EC717EC}">
      <dgm:prSet/>
      <dgm:spPr/>
      <dgm:t>
        <a:bodyPr/>
        <a:lstStyle/>
        <a:p>
          <a:endParaRPr lang="en-US"/>
        </a:p>
      </dgm:t>
    </dgm:pt>
    <dgm:pt modelId="{718233C8-AD0E-48DF-9C44-5F1D87907B79}" type="sibTrans" cxnId="{3DCAFC10-450D-471F-87F2-5FF50EC717EC}">
      <dgm:prSet/>
      <dgm:spPr/>
      <dgm:t>
        <a:bodyPr/>
        <a:lstStyle/>
        <a:p>
          <a:endParaRPr lang="en-US"/>
        </a:p>
      </dgm:t>
    </dgm:pt>
    <dgm:pt modelId="{33A50DD6-90BB-4E5B-B40B-A938BBDA4147}">
      <dgm:prSet/>
      <dgm:spPr/>
      <dgm:t>
        <a:bodyPr/>
        <a:lstStyle/>
        <a:p>
          <a:r>
            <a:rPr lang="en-US" b="0" i="0"/>
            <a:t>Process</a:t>
          </a:r>
          <a:endParaRPr lang="en-US"/>
        </a:p>
      </dgm:t>
    </dgm:pt>
    <dgm:pt modelId="{7A22F275-A58C-4D2C-B391-DFADBED53749}" type="parTrans" cxnId="{14CDB5EB-2E05-41E5-93CD-1B7CBFF41024}">
      <dgm:prSet/>
      <dgm:spPr/>
      <dgm:t>
        <a:bodyPr/>
        <a:lstStyle/>
        <a:p>
          <a:endParaRPr lang="en-US"/>
        </a:p>
      </dgm:t>
    </dgm:pt>
    <dgm:pt modelId="{3D6EC938-1ECF-4715-9F20-1991C832D310}" type="sibTrans" cxnId="{14CDB5EB-2E05-41E5-93CD-1B7CBFF41024}">
      <dgm:prSet/>
      <dgm:spPr/>
      <dgm:t>
        <a:bodyPr/>
        <a:lstStyle/>
        <a:p>
          <a:endParaRPr lang="en-US"/>
        </a:p>
      </dgm:t>
    </dgm:pt>
    <dgm:pt modelId="{D2EC96F0-F5DB-4CF6-BFC0-D02E68EBB91E}">
      <dgm:prSet/>
      <dgm:spPr/>
      <dgm:t>
        <a:bodyPr/>
        <a:lstStyle/>
        <a:p>
          <a:r>
            <a:rPr lang="en-US" b="0" i="0"/>
            <a:t>Tool </a:t>
          </a:r>
          <a:endParaRPr lang="en-US"/>
        </a:p>
      </dgm:t>
    </dgm:pt>
    <dgm:pt modelId="{6B2DE1D8-4AF5-48B5-BDD1-93D8C07DA49F}" type="parTrans" cxnId="{B93CC7E8-BFD6-4004-9A0C-7D2BDB0DDC77}">
      <dgm:prSet/>
      <dgm:spPr/>
      <dgm:t>
        <a:bodyPr/>
        <a:lstStyle/>
        <a:p>
          <a:endParaRPr lang="en-US"/>
        </a:p>
      </dgm:t>
    </dgm:pt>
    <dgm:pt modelId="{04EF9BFD-2E20-45AF-917B-CCD34E252354}" type="sibTrans" cxnId="{B93CC7E8-BFD6-4004-9A0C-7D2BDB0DDC77}">
      <dgm:prSet/>
      <dgm:spPr/>
      <dgm:t>
        <a:bodyPr/>
        <a:lstStyle/>
        <a:p>
          <a:endParaRPr lang="en-US"/>
        </a:p>
      </dgm:t>
    </dgm:pt>
    <dgm:pt modelId="{16F228D4-DC42-4785-92CE-D54DF0D8EA9C}">
      <dgm:prSet/>
      <dgm:spPr/>
      <dgm:t>
        <a:bodyPr/>
        <a:lstStyle/>
        <a:p>
          <a:r>
            <a:rPr lang="en-US" b="0" i="0"/>
            <a:t>Option</a:t>
          </a:r>
          <a:endParaRPr lang="en-US"/>
        </a:p>
      </dgm:t>
    </dgm:pt>
    <dgm:pt modelId="{07051A55-260E-482D-B433-D11AF3C26D2D}" type="parTrans" cxnId="{915EB61F-E47A-4F40-98DD-C57865440486}">
      <dgm:prSet/>
      <dgm:spPr/>
      <dgm:t>
        <a:bodyPr/>
        <a:lstStyle/>
        <a:p>
          <a:endParaRPr lang="en-US"/>
        </a:p>
      </dgm:t>
    </dgm:pt>
    <dgm:pt modelId="{6C6F4D9A-AB94-4EBA-A17F-0A5E3A8C355C}" type="sibTrans" cxnId="{915EB61F-E47A-4F40-98DD-C57865440486}">
      <dgm:prSet/>
      <dgm:spPr/>
      <dgm:t>
        <a:bodyPr/>
        <a:lstStyle/>
        <a:p>
          <a:endParaRPr lang="en-US"/>
        </a:p>
      </dgm:t>
    </dgm:pt>
    <dgm:pt modelId="{64B924EA-2E2F-134A-857D-A6D8075A30A2}" type="pres">
      <dgm:prSet presAssocID="{41427FC2-20C1-4DC1-A9EF-14F06F47ECAA}" presName="linear" presStyleCnt="0">
        <dgm:presLayoutVars>
          <dgm:animLvl val="lvl"/>
          <dgm:resizeHandles val="exact"/>
        </dgm:presLayoutVars>
      </dgm:prSet>
      <dgm:spPr/>
    </dgm:pt>
    <dgm:pt modelId="{19E8A821-931E-0842-AA18-42049AE4EEAB}" type="pres">
      <dgm:prSet presAssocID="{9B4EC896-0C8E-4292-8774-72B9F7378C5E}" presName="parentText" presStyleLbl="node1" presStyleIdx="0" presStyleCnt="7">
        <dgm:presLayoutVars>
          <dgm:chMax val="0"/>
          <dgm:bulletEnabled val="1"/>
        </dgm:presLayoutVars>
      </dgm:prSet>
      <dgm:spPr/>
    </dgm:pt>
    <dgm:pt modelId="{B1B9B941-856B-5B43-8B94-D322FE271053}" type="pres">
      <dgm:prSet presAssocID="{FE249F45-58FD-45E6-A752-5C5F17F5D816}" presName="spacer" presStyleCnt="0"/>
      <dgm:spPr/>
    </dgm:pt>
    <dgm:pt modelId="{F0909D00-9250-0940-ADFF-C1E7278D0316}" type="pres">
      <dgm:prSet presAssocID="{C5253964-4442-4553-AD50-7BFDEB36B316}" presName="parentText" presStyleLbl="node1" presStyleIdx="1" presStyleCnt="7">
        <dgm:presLayoutVars>
          <dgm:chMax val="0"/>
          <dgm:bulletEnabled val="1"/>
        </dgm:presLayoutVars>
      </dgm:prSet>
      <dgm:spPr/>
    </dgm:pt>
    <dgm:pt modelId="{310CBA8C-7EBC-0842-ADBA-6008C82BB316}" type="pres">
      <dgm:prSet presAssocID="{6CE87462-43BC-4799-86BF-9E944F6F8831}" presName="spacer" presStyleCnt="0"/>
      <dgm:spPr/>
    </dgm:pt>
    <dgm:pt modelId="{C59EFCD3-610D-B54B-843A-3F9A81A45F28}" type="pres">
      <dgm:prSet presAssocID="{5DDBA66B-3C0B-4479-84FB-2FD33E90B703}" presName="parentText" presStyleLbl="node1" presStyleIdx="2" presStyleCnt="7">
        <dgm:presLayoutVars>
          <dgm:chMax val="0"/>
          <dgm:bulletEnabled val="1"/>
        </dgm:presLayoutVars>
      </dgm:prSet>
      <dgm:spPr/>
    </dgm:pt>
    <dgm:pt modelId="{8BA4DBAB-54E9-6C46-B57F-F60113512B32}" type="pres">
      <dgm:prSet presAssocID="{DC241A3C-D088-40BA-BEDC-82332958DCAC}" presName="spacer" presStyleCnt="0"/>
      <dgm:spPr/>
    </dgm:pt>
    <dgm:pt modelId="{8863FBE7-C687-C94E-85B1-61A272EC2E0F}" type="pres">
      <dgm:prSet presAssocID="{6D430FD1-84F0-44C2-A000-36A8A49D2E94}" presName="parentText" presStyleLbl="node1" presStyleIdx="3" presStyleCnt="7">
        <dgm:presLayoutVars>
          <dgm:chMax val="0"/>
          <dgm:bulletEnabled val="1"/>
        </dgm:presLayoutVars>
      </dgm:prSet>
      <dgm:spPr/>
    </dgm:pt>
    <dgm:pt modelId="{50609437-4E10-EB40-A9C9-E8C37C7AEFC1}" type="pres">
      <dgm:prSet presAssocID="{718233C8-AD0E-48DF-9C44-5F1D87907B79}" presName="spacer" presStyleCnt="0"/>
      <dgm:spPr/>
    </dgm:pt>
    <dgm:pt modelId="{2C3B2C5F-E22E-B847-AB79-425B31178F09}" type="pres">
      <dgm:prSet presAssocID="{33A50DD6-90BB-4E5B-B40B-A938BBDA4147}" presName="parentText" presStyleLbl="node1" presStyleIdx="4" presStyleCnt="7">
        <dgm:presLayoutVars>
          <dgm:chMax val="0"/>
          <dgm:bulletEnabled val="1"/>
        </dgm:presLayoutVars>
      </dgm:prSet>
      <dgm:spPr/>
    </dgm:pt>
    <dgm:pt modelId="{144DA812-466A-5D47-9341-59F370E8168B}" type="pres">
      <dgm:prSet presAssocID="{3D6EC938-1ECF-4715-9F20-1991C832D310}" presName="spacer" presStyleCnt="0"/>
      <dgm:spPr/>
    </dgm:pt>
    <dgm:pt modelId="{81517CF7-2B11-124E-B468-34812E97E767}" type="pres">
      <dgm:prSet presAssocID="{D2EC96F0-F5DB-4CF6-BFC0-D02E68EBB91E}" presName="parentText" presStyleLbl="node1" presStyleIdx="5" presStyleCnt="7">
        <dgm:presLayoutVars>
          <dgm:chMax val="0"/>
          <dgm:bulletEnabled val="1"/>
        </dgm:presLayoutVars>
      </dgm:prSet>
      <dgm:spPr/>
    </dgm:pt>
    <dgm:pt modelId="{E03CC467-2B53-9F48-908E-242E6AF4BBD2}" type="pres">
      <dgm:prSet presAssocID="{04EF9BFD-2E20-45AF-917B-CCD34E252354}" presName="spacer" presStyleCnt="0"/>
      <dgm:spPr/>
    </dgm:pt>
    <dgm:pt modelId="{22B38873-BFF0-9946-A520-B445A0189867}" type="pres">
      <dgm:prSet presAssocID="{16F228D4-DC42-4785-92CE-D54DF0D8EA9C}" presName="parentText" presStyleLbl="node1" presStyleIdx="6" presStyleCnt="7">
        <dgm:presLayoutVars>
          <dgm:chMax val="0"/>
          <dgm:bulletEnabled val="1"/>
        </dgm:presLayoutVars>
      </dgm:prSet>
      <dgm:spPr/>
    </dgm:pt>
  </dgm:ptLst>
  <dgm:cxnLst>
    <dgm:cxn modelId="{72510A03-3EF6-8246-9FB1-1DEBF70DA439}" type="presOf" srcId="{16F228D4-DC42-4785-92CE-D54DF0D8EA9C}" destId="{22B38873-BFF0-9946-A520-B445A0189867}" srcOrd="0" destOrd="0" presId="urn:microsoft.com/office/officeart/2005/8/layout/vList2"/>
    <dgm:cxn modelId="{B3BCFD0C-A5D1-2344-88B1-3192FE8B51DD}" type="presOf" srcId="{9B4EC896-0C8E-4292-8774-72B9F7378C5E}" destId="{19E8A821-931E-0842-AA18-42049AE4EEAB}" srcOrd="0" destOrd="0" presId="urn:microsoft.com/office/officeart/2005/8/layout/vList2"/>
    <dgm:cxn modelId="{0A04C20E-C2F4-1944-9E64-F62304F082AE}" type="presOf" srcId="{6D430FD1-84F0-44C2-A000-36A8A49D2E94}" destId="{8863FBE7-C687-C94E-85B1-61A272EC2E0F}" srcOrd="0" destOrd="0" presId="urn:microsoft.com/office/officeart/2005/8/layout/vList2"/>
    <dgm:cxn modelId="{3DCAFC10-450D-471F-87F2-5FF50EC717EC}" srcId="{41427FC2-20C1-4DC1-A9EF-14F06F47ECAA}" destId="{6D430FD1-84F0-44C2-A000-36A8A49D2E94}" srcOrd="3" destOrd="0" parTransId="{5D1B4AFF-7F1B-4B93-8279-00F110B08109}" sibTransId="{718233C8-AD0E-48DF-9C44-5F1D87907B79}"/>
    <dgm:cxn modelId="{915EB61F-E47A-4F40-98DD-C57865440486}" srcId="{41427FC2-20C1-4DC1-A9EF-14F06F47ECAA}" destId="{16F228D4-DC42-4785-92CE-D54DF0D8EA9C}" srcOrd="6" destOrd="0" parTransId="{07051A55-260E-482D-B433-D11AF3C26D2D}" sibTransId="{6C6F4D9A-AB94-4EBA-A17F-0A5E3A8C355C}"/>
    <dgm:cxn modelId="{5F60BC3A-8F5A-4254-BFE2-B0C20A461A2C}" srcId="{41427FC2-20C1-4DC1-A9EF-14F06F47ECAA}" destId="{5DDBA66B-3C0B-4479-84FB-2FD33E90B703}" srcOrd="2" destOrd="0" parTransId="{36E24412-4CEC-4204-955B-1ABF58A7917C}" sibTransId="{DC241A3C-D088-40BA-BEDC-82332958DCAC}"/>
    <dgm:cxn modelId="{CE49BF46-1148-4746-9555-CD3C16047519}" type="presOf" srcId="{41427FC2-20C1-4DC1-A9EF-14F06F47ECAA}" destId="{64B924EA-2E2F-134A-857D-A6D8075A30A2}" srcOrd="0" destOrd="0" presId="urn:microsoft.com/office/officeart/2005/8/layout/vList2"/>
    <dgm:cxn modelId="{69195484-BCAD-7643-9FC6-841B761404EC}" type="presOf" srcId="{D2EC96F0-F5DB-4CF6-BFC0-D02E68EBB91E}" destId="{81517CF7-2B11-124E-B468-34812E97E767}" srcOrd="0" destOrd="0" presId="urn:microsoft.com/office/officeart/2005/8/layout/vList2"/>
    <dgm:cxn modelId="{DD3FE984-DDB8-5640-A286-ED65DE35255F}" type="presOf" srcId="{5DDBA66B-3C0B-4479-84FB-2FD33E90B703}" destId="{C59EFCD3-610D-B54B-843A-3F9A81A45F28}" srcOrd="0" destOrd="0" presId="urn:microsoft.com/office/officeart/2005/8/layout/vList2"/>
    <dgm:cxn modelId="{8062DBAA-AE29-48B3-B816-1995AA18C98E}" srcId="{41427FC2-20C1-4DC1-A9EF-14F06F47ECAA}" destId="{C5253964-4442-4553-AD50-7BFDEB36B316}" srcOrd="1" destOrd="0" parTransId="{B45D8EF8-85CB-4E07-8BBE-831C4D543070}" sibTransId="{6CE87462-43BC-4799-86BF-9E944F6F8831}"/>
    <dgm:cxn modelId="{BA3BAFAE-43CB-4295-894D-12B83CED90DF}" srcId="{41427FC2-20C1-4DC1-A9EF-14F06F47ECAA}" destId="{9B4EC896-0C8E-4292-8774-72B9F7378C5E}" srcOrd="0" destOrd="0" parTransId="{B5DD25FD-E6BE-4FD6-883D-59C823CE77CD}" sibTransId="{FE249F45-58FD-45E6-A752-5C5F17F5D816}"/>
    <dgm:cxn modelId="{1E80F4B4-51EB-DB42-9144-A056C0C1E7D5}" type="presOf" srcId="{33A50DD6-90BB-4E5B-B40B-A938BBDA4147}" destId="{2C3B2C5F-E22E-B847-AB79-425B31178F09}" srcOrd="0" destOrd="0" presId="urn:microsoft.com/office/officeart/2005/8/layout/vList2"/>
    <dgm:cxn modelId="{A28B5EB5-1D4A-3244-8B03-5A44B144DF99}" type="presOf" srcId="{C5253964-4442-4553-AD50-7BFDEB36B316}" destId="{F0909D00-9250-0940-ADFF-C1E7278D0316}" srcOrd="0" destOrd="0" presId="urn:microsoft.com/office/officeart/2005/8/layout/vList2"/>
    <dgm:cxn modelId="{B93CC7E8-BFD6-4004-9A0C-7D2BDB0DDC77}" srcId="{41427FC2-20C1-4DC1-A9EF-14F06F47ECAA}" destId="{D2EC96F0-F5DB-4CF6-BFC0-D02E68EBB91E}" srcOrd="5" destOrd="0" parTransId="{6B2DE1D8-4AF5-48B5-BDD1-93D8C07DA49F}" sibTransId="{04EF9BFD-2E20-45AF-917B-CCD34E252354}"/>
    <dgm:cxn modelId="{14CDB5EB-2E05-41E5-93CD-1B7CBFF41024}" srcId="{41427FC2-20C1-4DC1-A9EF-14F06F47ECAA}" destId="{33A50DD6-90BB-4E5B-B40B-A938BBDA4147}" srcOrd="4" destOrd="0" parTransId="{7A22F275-A58C-4D2C-B391-DFADBED53749}" sibTransId="{3D6EC938-1ECF-4715-9F20-1991C832D310}"/>
    <dgm:cxn modelId="{9ACC5999-4580-2348-B57F-BB623C3E0642}" type="presParOf" srcId="{64B924EA-2E2F-134A-857D-A6D8075A30A2}" destId="{19E8A821-931E-0842-AA18-42049AE4EEAB}" srcOrd="0" destOrd="0" presId="urn:microsoft.com/office/officeart/2005/8/layout/vList2"/>
    <dgm:cxn modelId="{15E0DD91-CAD5-0E4E-8AAC-88F6D7E6B7C1}" type="presParOf" srcId="{64B924EA-2E2F-134A-857D-A6D8075A30A2}" destId="{B1B9B941-856B-5B43-8B94-D322FE271053}" srcOrd="1" destOrd="0" presId="urn:microsoft.com/office/officeart/2005/8/layout/vList2"/>
    <dgm:cxn modelId="{45ADCE91-66B5-0C43-B353-5B1F740FE9E9}" type="presParOf" srcId="{64B924EA-2E2F-134A-857D-A6D8075A30A2}" destId="{F0909D00-9250-0940-ADFF-C1E7278D0316}" srcOrd="2" destOrd="0" presId="urn:microsoft.com/office/officeart/2005/8/layout/vList2"/>
    <dgm:cxn modelId="{DBAFCEDC-3FC2-CF45-A39E-CF56971A6E1A}" type="presParOf" srcId="{64B924EA-2E2F-134A-857D-A6D8075A30A2}" destId="{310CBA8C-7EBC-0842-ADBA-6008C82BB316}" srcOrd="3" destOrd="0" presId="urn:microsoft.com/office/officeart/2005/8/layout/vList2"/>
    <dgm:cxn modelId="{5C7D255C-54BE-7347-AC37-8CFCCA39DBBF}" type="presParOf" srcId="{64B924EA-2E2F-134A-857D-A6D8075A30A2}" destId="{C59EFCD3-610D-B54B-843A-3F9A81A45F28}" srcOrd="4" destOrd="0" presId="urn:microsoft.com/office/officeart/2005/8/layout/vList2"/>
    <dgm:cxn modelId="{37D0BFD3-660E-A84D-8C4A-91763C66B804}" type="presParOf" srcId="{64B924EA-2E2F-134A-857D-A6D8075A30A2}" destId="{8BA4DBAB-54E9-6C46-B57F-F60113512B32}" srcOrd="5" destOrd="0" presId="urn:microsoft.com/office/officeart/2005/8/layout/vList2"/>
    <dgm:cxn modelId="{7B6D38E6-9B4C-CE49-8E09-F15F531A879E}" type="presParOf" srcId="{64B924EA-2E2F-134A-857D-A6D8075A30A2}" destId="{8863FBE7-C687-C94E-85B1-61A272EC2E0F}" srcOrd="6" destOrd="0" presId="urn:microsoft.com/office/officeart/2005/8/layout/vList2"/>
    <dgm:cxn modelId="{9957E77E-2332-224B-BA44-275E54BE772B}" type="presParOf" srcId="{64B924EA-2E2F-134A-857D-A6D8075A30A2}" destId="{50609437-4E10-EB40-A9C9-E8C37C7AEFC1}" srcOrd="7" destOrd="0" presId="urn:microsoft.com/office/officeart/2005/8/layout/vList2"/>
    <dgm:cxn modelId="{8C381DB0-F1E6-9440-B40E-FE79437E5090}" type="presParOf" srcId="{64B924EA-2E2F-134A-857D-A6D8075A30A2}" destId="{2C3B2C5F-E22E-B847-AB79-425B31178F09}" srcOrd="8" destOrd="0" presId="urn:microsoft.com/office/officeart/2005/8/layout/vList2"/>
    <dgm:cxn modelId="{E7DD492D-A87E-C641-8BB1-22BA669A8F9C}" type="presParOf" srcId="{64B924EA-2E2F-134A-857D-A6D8075A30A2}" destId="{144DA812-466A-5D47-9341-59F370E8168B}" srcOrd="9" destOrd="0" presId="urn:microsoft.com/office/officeart/2005/8/layout/vList2"/>
    <dgm:cxn modelId="{8BEBC769-42F9-3B45-A581-880AE05069E3}" type="presParOf" srcId="{64B924EA-2E2F-134A-857D-A6D8075A30A2}" destId="{81517CF7-2B11-124E-B468-34812E97E767}" srcOrd="10" destOrd="0" presId="urn:microsoft.com/office/officeart/2005/8/layout/vList2"/>
    <dgm:cxn modelId="{DD7E560C-EC37-0645-9424-804765613930}" type="presParOf" srcId="{64B924EA-2E2F-134A-857D-A6D8075A30A2}" destId="{E03CC467-2B53-9F48-908E-242E6AF4BBD2}" srcOrd="11" destOrd="0" presId="urn:microsoft.com/office/officeart/2005/8/layout/vList2"/>
    <dgm:cxn modelId="{6858A4A0-7B7D-FB4E-A5AA-859AB6D5768B}" type="presParOf" srcId="{64B924EA-2E2F-134A-857D-A6D8075A30A2}" destId="{22B38873-BFF0-9946-A520-B445A0189867}"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3A1329-5416-4D66-A9B4-206D668C4BD0}">
      <dsp:nvSpPr>
        <dsp:cNvPr id="0" name=""/>
        <dsp:cNvSpPr/>
      </dsp:nvSpPr>
      <dsp:spPr>
        <a:xfrm>
          <a:off x="0" y="53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07F3BE-3690-4C52-BD3F-29ED140D84C4}">
      <dsp:nvSpPr>
        <dsp:cNvPr id="0" name=""/>
        <dsp:cNvSpPr/>
      </dsp:nvSpPr>
      <dsp:spPr>
        <a:xfrm>
          <a:off x="375988" y="28019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601DFA-93C3-4BC0-83F9-FB3C7079639D}">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b="0" i="0" kern="1200"/>
            <a:t>The Baseline is evidence.</a:t>
          </a:r>
          <a:endParaRPr lang="en-US" sz="2500" kern="1200"/>
        </a:p>
      </dsp:txBody>
      <dsp:txXfrm>
        <a:off x="1435590" y="531"/>
        <a:ext cx="9080009" cy="1242935"/>
      </dsp:txXfrm>
    </dsp:sp>
    <dsp:sp modelId="{DDCEDBFC-526C-4A82-B633-5A11B16F1286}">
      <dsp:nvSpPr>
        <dsp:cNvPr id="0" name=""/>
        <dsp:cNvSpPr/>
      </dsp:nvSpPr>
      <dsp:spPr>
        <a:xfrm>
          <a:off x="0" y="1554201"/>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8EE093-1161-4E90-8835-F436D035D5B9}">
      <dsp:nvSpPr>
        <dsp:cNvPr id="0" name=""/>
        <dsp:cNvSpPr/>
      </dsp:nvSpPr>
      <dsp:spPr>
        <a:xfrm>
          <a:off x="375988" y="183386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CD319FF-56BA-434D-941C-F37439FB02CF}">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b="0" i="0" kern="1200"/>
            <a:t>The Counterfactual is inference.</a:t>
          </a:r>
          <a:endParaRPr lang="en-US" sz="2500" kern="1200"/>
        </a:p>
      </dsp:txBody>
      <dsp:txXfrm>
        <a:off x="1435590" y="1554201"/>
        <a:ext cx="9080009" cy="1242935"/>
      </dsp:txXfrm>
    </dsp:sp>
    <dsp:sp modelId="{4359D8D6-E817-4D60-BDBB-8A31EA653AB7}">
      <dsp:nvSpPr>
        <dsp:cNvPr id="0" name=""/>
        <dsp:cNvSpPr/>
      </dsp:nvSpPr>
      <dsp:spPr>
        <a:xfrm>
          <a:off x="0" y="3107870"/>
          <a:ext cx="10515600"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2C56B6-8A0C-4F5F-8762-1FF3063EE393}">
      <dsp:nvSpPr>
        <dsp:cNvPr id="0" name=""/>
        <dsp:cNvSpPr/>
      </dsp:nvSpPr>
      <dsp:spPr>
        <a:xfrm>
          <a:off x="375988" y="3387531"/>
          <a:ext cx="683614" cy="68361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640AA6B-5BDD-48BB-AA95-022FB7091870}">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90000"/>
            </a:lnSpc>
            <a:spcBef>
              <a:spcPct val="0"/>
            </a:spcBef>
            <a:spcAft>
              <a:spcPct val="35000"/>
            </a:spcAft>
            <a:buNone/>
          </a:pPr>
          <a:r>
            <a:rPr lang="en-US" sz="2500" b="0" i="0" kern="1200"/>
            <a:t>Don’t confuse the two. </a:t>
          </a:r>
          <a:endParaRPr lang="en-US" sz="2500" kern="1200"/>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F2A90E-6373-DF42-A6CD-049758145B1B}">
      <dsp:nvSpPr>
        <dsp:cNvPr id="0" name=""/>
        <dsp:cNvSpPr/>
      </dsp:nvSpPr>
      <dsp:spPr>
        <a:xfrm>
          <a:off x="0" y="1305401"/>
          <a:ext cx="10515600" cy="1740535"/>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D5F69F-8CA6-474F-892E-BB3B3A1F6DAE}">
      <dsp:nvSpPr>
        <dsp:cNvPr id="0" name=""/>
        <dsp:cNvSpPr/>
      </dsp:nvSpPr>
      <dsp:spPr>
        <a:xfrm>
          <a:off x="808"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Plan</a:t>
          </a:r>
        </a:p>
      </dsp:txBody>
      <dsp:txXfrm>
        <a:off x="808" y="0"/>
        <a:ext cx="1296222" cy="1740535"/>
      </dsp:txXfrm>
    </dsp:sp>
    <dsp:sp modelId="{614091D0-FF01-2A41-8FEC-3CA9BD3D8F71}">
      <dsp:nvSpPr>
        <dsp:cNvPr id="0" name=""/>
        <dsp:cNvSpPr/>
      </dsp:nvSpPr>
      <dsp:spPr>
        <a:xfrm>
          <a:off x="431352"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3991B5-B402-E045-A922-12ECE6931B21}">
      <dsp:nvSpPr>
        <dsp:cNvPr id="0" name=""/>
        <dsp:cNvSpPr/>
      </dsp:nvSpPr>
      <dsp:spPr>
        <a:xfrm>
          <a:off x="1361842"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1361842" y="2610802"/>
        <a:ext cx="1296222" cy="1740535"/>
      </dsp:txXfrm>
    </dsp:sp>
    <dsp:sp modelId="{8697F6B8-AD2D-8C48-9ABD-336C1BBEBBD7}">
      <dsp:nvSpPr>
        <dsp:cNvPr id="0" name=""/>
        <dsp:cNvSpPr/>
      </dsp:nvSpPr>
      <dsp:spPr>
        <a:xfrm>
          <a:off x="1792386"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F9B44D-426A-BD44-B22C-D096155871BB}">
      <dsp:nvSpPr>
        <dsp:cNvPr id="0" name=""/>
        <dsp:cNvSpPr/>
      </dsp:nvSpPr>
      <dsp:spPr>
        <a:xfrm>
          <a:off x="2722875"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Develop baseline model</a:t>
          </a:r>
        </a:p>
      </dsp:txBody>
      <dsp:txXfrm>
        <a:off x="2722875" y="0"/>
        <a:ext cx="1296222" cy="1740535"/>
      </dsp:txXfrm>
    </dsp:sp>
    <dsp:sp modelId="{E8E86469-CAA0-6C48-AF04-F8E9680AC545}">
      <dsp:nvSpPr>
        <dsp:cNvPr id="0" name=""/>
        <dsp:cNvSpPr/>
      </dsp:nvSpPr>
      <dsp:spPr>
        <a:xfrm>
          <a:off x="3153419"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0E55ED1-452E-8E4E-8E1B-0704E1F6B3C5}">
      <dsp:nvSpPr>
        <dsp:cNvPr id="0" name=""/>
        <dsp:cNvSpPr/>
      </dsp:nvSpPr>
      <dsp:spPr>
        <a:xfrm>
          <a:off x="4083908"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Installation of ECM</a:t>
          </a:r>
        </a:p>
      </dsp:txBody>
      <dsp:txXfrm>
        <a:off x="4083908" y="2610802"/>
        <a:ext cx="1296222" cy="1740535"/>
      </dsp:txXfrm>
    </dsp:sp>
    <dsp:sp modelId="{9AF72B61-47BD-0C41-93DF-1D3EFB97D40E}">
      <dsp:nvSpPr>
        <dsp:cNvPr id="0" name=""/>
        <dsp:cNvSpPr/>
      </dsp:nvSpPr>
      <dsp:spPr>
        <a:xfrm>
          <a:off x="4514453" y="1958102"/>
          <a:ext cx="435133" cy="435133"/>
        </a:xfrm>
        <a:prstGeom prst="ellipse">
          <a:avLst/>
        </a:prstGeom>
        <a:solidFill>
          <a:schemeClr val="bg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6A5F06-52E7-BB4C-B757-930F8572F5BA}">
      <dsp:nvSpPr>
        <dsp:cNvPr id="0" name=""/>
        <dsp:cNvSpPr/>
      </dsp:nvSpPr>
      <dsp:spPr>
        <a:xfrm>
          <a:off x="5444942"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Measure and collect data</a:t>
          </a:r>
        </a:p>
      </dsp:txBody>
      <dsp:txXfrm>
        <a:off x="5444942" y="0"/>
        <a:ext cx="1296222" cy="1740535"/>
      </dsp:txXfrm>
    </dsp:sp>
    <dsp:sp modelId="{D42E69B9-3A96-B64F-A243-EF914D98A5D9}">
      <dsp:nvSpPr>
        <dsp:cNvPr id="0" name=""/>
        <dsp:cNvSpPr/>
      </dsp:nvSpPr>
      <dsp:spPr>
        <a:xfrm>
          <a:off x="5875486"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83C049-EFBE-7242-973D-6D857830733B}">
      <dsp:nvSpPr>
        <dsp:cNvPr id="0" name=""/>
        <dsp:cNvSpPr/>
      </dsp:nvSpPr>
      <dsp:spPr>
        <a:xfrm>
          <a:off x="6805975" y="2610802"/>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Adjust baseline model</a:t>
          </a:r>
        </a:p>
      </dsp:txBody>
      <dsp:txXfrm>
        <a:off x="6805975" y="2610802"/>
        <a:ext cx="1296222" cy="1740535"/>
      </dsp:txXfrm>
    </dsp:sp>
    <dsp:sp modelId="{647E0C18-FD54-0649-A6F9-1C49098F32E2}">
      <dsp:nvSpPr>
        <dsp:cNvPr id="0" name=""/>
        <dsp:cNvSpPr/>
      </dsp:nvSpPr>
      <dsp:spPr>
        <a:xfrm>
          <a:off x="7236519" y="1958102"/>
          <a:ext cx="435133" cy="435133"/>
        </a:xfrm>
        <a:prstGeom prst="ellipse">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5E66557-3491-1C49-999C-B9E27F1145DD}">
      <dsp:nvSpPr>
        <dsp:cNvPr id="0" name=""/>
        <dsp:cNvSpPr/>
      </dsp:nvSpPr>
      <dsp:spPr>
        <a:xfrm>
          <a:off x="8167009" y="0"/>
          <a:ext cx="1296222" cy="1740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b" anchorCtr="0">
          <a:noAutofit/>
        </a:bodyPr>
        <a:lstStyle/>
        <a:p>
          <a:pPr marL="0" lvl="0" indent="0" algn="ctr" defTabSz="666750">
            <a:lnSpc>
              <a:spcPct val="90000"/>
            </a:lnSpc>
            <a:spcBef>
              <a:spcPct val="0"/>
            </a:spcBef>
            <a:spcAft>
              <a:spcPct val="35000"/>
            </a:spcAft>
            <a:buNone/>
          </a:pPr>
          <a:r>
            <a:rPr lang="en-US" sz="1500" b="0" i="0" kern="1200">
              <a:latin typeface="Verdana" panose="020B0604030504040204" pitchFamily="34" charset="0"/>
            </a:rPr>
            <a:t>Report</a:t>
          </a:r>
        </a:p>
      </dsp:txBody>
      <dsp:txXfrm>
        <a:off x="8167009" y="0"/>
        <a:ext cx="1296222" cy="1740535"/>
      </dsp:txXfrm>
    </dsp:sp>
    <dsp:sp modelId="{9E03863F-C95F-7E48-9F4E-6C417F127C30}">
      <dsp:nvSpPr>
        <dsp:cNvPr id="0" name=""/>
        <dsp:cNvSpPr/>
      </dsp:nvSpPr>
      <dsp:spPr>
        <a:xfrm>
          <a:off x="8597553" y="1958102"/>
          <a:ext cx="435133" cy="435133"/>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E8A821-931E-0842-AA18-42049AE4EEAB}">
      <dsp:nvSpPr>
        <dsp:cNvPr id="0" name=""/>
        <dsp:cNvSpPr/>
      </dsp:nvSpPr>
      <dsp:spPr>
        <a:xfrm>
          <a:off x="0" y="46156"/>
          <a:ext cx="5181600"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Approach</a:t>
          </a:r>
          <a:endParaRPr lang="en-US" sz="2300" kern="1200"/>
        </a:p>
      </dsp:txBody>
      <dsp:txXfrm>
        <a:off x="26930" y="73086"/>
        <a:ext cx="5127740" cy="497795"/>
      </dsp:txXfrm>
    </dsp:sp>
    <dsp:sp modelId="{F0909D00-9250-0940-ADFF-C1E7278D0316}">
      <dsp:nvSpPr>
        <dsp:cNvPr id="0" name=""/>
        <dsp:cNvSpPr/>
      </dsp:nvSpPr>
      <dsp:spPr>
        <a:xfrm>
          <a:off x="0" y="664051"/>
          <a:ext cx="5181600"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Method</a:t>
          </a:r>
          <a:endParaRPr lang="en-US" sz="2300" kern="1200"/>
        </a:p>
      </dsp:txBody>
      <dsp:txXfrm>
        <a:off x="26930" y="690981"/>
        <a:ext cx="5127740" cy="497795"/>
      </dsp:txXfrm>
    </dsp:sp>
    <dsp:sp modelId="{C59EFCD3-610D-B54B-843A-3F9A81A45F28}">
      <dsp:nvSpPr>
        <dsp:cNvPr id="0" name=""/>
        <dsp:cNvSpPr/>
      </dsp:nvSpPr>
      <dsp:spPr>
        <a:xfrm>
          <a:off x="0" y="1281946"/>
          <a:ext cx="5181600"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Technique</a:t>
          </a:r>
          <a:endParaRPr lang="en-US" sz="2300" kern="1200"/>
        </a:p>
      </dsp:txBody>
      <dsp:txXfrm>
        <a:off x="26930" y="1308876"/>
        <a:ext cx="5127740" cy="497795"/>
      </dsp:txXfrm>
    </dsp:sp>
    <dsp:sp modelId="{8863FBE7-C687-C94E-85B1-61A272EC2E0F}">
      <dsp:nvSpPr>
        <dsp:cNvPr id="0" name=""/>
        <dsp:cNvSpPr/>
      </dsp:nvSpPr>
      <dsp:spPr>
        <a:xfrm>
          <a:off x="0" y="1899841"/>
          <a:ext cx="5181600"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“Way”</a:t>
          </a:r>
          <a:endParaRPr lang="en-US" sz="2300" kern="1200"/>
        </a:p>
      </dsp:txBody>
      <dsp:txXfrm>
        <a:off x="26930" y="1926771"/>
        <a:ext cx="5127740" cy="497795"/>
      </dsp:txXfrm>
    </dsp:sp>
    <dsp:sp modelId="{2C3B2C5F-E22E-B847-AB79-425B31178F09}">
      <dsp:nvSpPr>
        <dsp:cNvPr id="0" name=""/>
        <dsp:cNvSpPr/>
      </dsp:nvSpPr>
      <dsp:spPr>
        <a:xfrm>
          <a:off x="0" y="2517736"/>
          <a:ext cx="5181600"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Process</a:t>
          </a:r>
          <a:endParaRPr lang="en-US" sz="2300" kern="1200"/>
        </a:p>
      </dsp:txBody>
      <dsp:txXfrm>
        <a:off x="26930" y="2544666"/>
        <a:ext cx="5127740" cy="497795"/>
      </dsp:txXfrm>
    </dsp:sp>
    <dsp:sp modelId="{81517CF7-2B11-124E-B468-34812E97E767}">
      <dsp:nvSpPr>
        <dsp:cNvPr id="0" name=""/>
        <dsp:cNvSpPr/>
      </dsp:nvSpPr>
      <dsp:spPr>
        <a:xfrm>
          <a:off x="0" y="3135631"/>
          <a:ext cx="5181600"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Tool </a:t>
          </a:r>
          <a:endParaRPr lang="en-US" sz="2300" kern="1200"/>
        </a:p>
      </dsp:txBody>
      <dsp:txXfrm>
        <a:off x="26930" y="3162561"/>
        <a:ext cx="5127740" cy="497795"/>
      </dsp:txXfrm>
    </dsp:sp>
    <dsp:sp modelId="{22B38873-BFF0-9946-A520-B445A0189867}">
      <dsp:nvSpPr>
        <dsp:cNvPr id="0" name=""/>
        <dsp:cNvSpPr/>
      </dsp:nvSpPr>
      <dsp:spPr>
        <a:xfrm>
          <a:off x="0" y="3753526"/>
          <a:ext cx="5181600" cy="551655"/>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a:t>Option</a:t>
          </a:r>
          <a:endParaRPr lang="en-US" sz="2300" kern="1200"/>
        </a:p>
      </dsp:txBody>
      <dsp:txXfrm>
        <a:off x="26930" y="3780456"/>
        <a:ext cx="5127740" cy="49779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0.36653</cdr:x>
      <cdr:y>0.67486</cdr:y>
    </cdr:from>
    <cdr:to>
      <cdr:x>0.48328</cdr:x>
      <cdr:y>0.72706</cdr:y>
    </cdr:to>
    <cdr:sp macro="" textlink="">
      <cdr:nvSpPr>
        <cdr:cNvPr id="2" name="TextBox 1">
          <a:extLst xmlns:a="http://schemas.openxmlformats.org/drawingml/2006/main">
            <a:ext uri="{FF2B5EF4-FFF2-40B4-BE49-F238E27FC236}">
              <a16:creationId xmlns:a16="http://schemas.microsoft.com/office/drawing/2014/main" id="{5E0A75F8-694C-D3F6-8175-974A40BC8E3C}"/>
            </a:ext>
          </a:extLst>
        </cdr:cNvPr>
        <cdr:cNvSpPr txBox="1"/>
      </cdr:nvSpPr>
      <cdr:spPr>
        <a:xfrm xmlns:a="http://schemas.openxmlformats.org/drawingml/2006/main">
          <a:off x="3793754" y="3541858"/>
          <a:ext cx="1208384" cy="273960"/>
        </a:xfrm>
        <a:prstGeom xmlns:a="http://schemas.openxmlformats.org/drawingml/2006/main" prst="rect">
          <a:avLst/>
        </a:prstGeom>
      </cdr:spPr>
      <cdr:txBody>
        <a:bodyPr xmlns:a="http://schemas.openxmlformats.org/drawingml/2006/main" vertOverflow="clip" wrap="none" rtlCol="0"/>
        <a:lstStyle xmlns:a="http://schemas.openxmlformats.org/drawingml/2006/main"/>
        <a:p xmlns:a="http://schemas.openxmlformats.org/drawingml/2006/main">
          <a:endParaRPr lang="en-US" sz="1100" kern="12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AC3932-3886-AF3B-4577-2492C2720727}"/>
              </a:ext>
            </a:extLst>
          </p:cNvPr>
          <p:cNvSpPr>
            <a:spLocks noGrp="1"/>
          </p:cNvSpPr>
          <p:nvPr>
            <p:ph type="ftr" sz="quarter" idx="2"/>
          </p:nvPr>
        </p:nvSpPr>
        <p:spPr>
          <a:xfrm>
            <a:off x="628000" y="9120188"/>
            <a:ext cx="2542238" cy="481012"/>
          </a:xfrm>
          <a:prstGeom prst="rect">
            <a:avLst/>
          </a:prstGeom>
        </p:spPr>
        <p:txBody>
          <a:bodyPr vert="horz" lIns="91440" tIns="45720" rIns="91440" bIns="45720" rtlCol="0" anchor="ctr"/>
          <a:lstStyle>
            <a:lvl1pPr algn="l">
              <a:defRPr sz="1200"/>
            </a:lvl1pPr>
          </a:lstStyle>
          <a:p>
            <a:r>
              <a:rPr lang="en-US" dirty="0">
                <a:latin typeface="Verdana" panose="020B0604030504040204" pitchFamily="34" charset="0"/>
                <a:ea typeface="Verdana" panose="020B0604030504040204" pitchFamily="34" charset="0"/>
              </a:rPr>
              <a:t>CMVP_v2.0_G_v1.1</a:t>
            </a:r>
          </a:p>
        </p:txBody>
      </p:sp>
      <p:sp>
        <p:nvSpPr>
          <p:cNvPr id="3" name="Slide Number Placeholder 2">
            <a:extLst>
              <a:ext uri="{FF2B5EF4-FFF2-40B4-BE49-F238E27FC236}">
                <a16:creationId xmlns:a16="http://schemas.microsoft.com/office/drawing/2014/main" id="{7099AACF-F874-6EBB-6E79-2DC0B8D9F232}"/>
              </a:ext>
            </a:extLst>
          </p:cNvPr>
          <p:cNvSpPr>
            <a:spLocks noGrp="1"/>
          </p:cNvSpPr>
          <p:nvPr>
            <p:ph type="sldNum" sz="quarter" idx="3"/>
          </p:nvPr>
        </p:nvSpPr>
        <p:spPr>
          <a:xfrm>
            <a:off x="4143375" y="9120188"/>
            <a:ext cx="2542238" cy="481012"/>
          </a:xfrm>
          <a:prstGeom prst="rect">
            <a:avLst/>
          </a:prstGeom>
        </p:spPr>
        <p:txBody>
          <a:bodyPr vert="horz" lIns="91440" tIns="45720" rIns="91440" bIns="45720" rtlCol="0" anchor="ctr"/>
          <a:lstStyle>
            <a:lvl1pPr algn="r">
              <a:defRPr sz="1200"/>
            </a:lvl1pPr>
          </a:lstStyle>
          <a:p>
            <a:fld id="{6A0A43C9-0FE5-4E47-A9B5-EF746693113D}" type="slidenum">
              <a:rPr lang="en-US" smtClean="0">
                <a:latin typeface="Verdana" panose="020B0604030504040204" pitchFamily="34" charset="0"/>
                <a:ea typeface="Verdana" panose="020B0604030504040204" pitchFamily="34" charset="0"/>
              </a:rPr>
              <a:t>‹#›</a:t>
            </a:fld>
            <a:endParaRPr lang="en-US">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4247389152"/>
      </p:ext>
    </p:extLst>
  </p:cSld>
  <p:clrMap bg1="lt1" tx1="dk1" bg2="lt2" tx2="dk2" accent1="accent1" accent2="accent2" accent3="accent3" accent4="accent4" accent5="accent5" accent6="accent6" hlink="hlink" folHlink="folHlink"/>
  <p:hf hdr="0" dt="0"/>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5:30:01.009"/>
    </inkml:context>
    <inkml:brush xml:id="br0">
      <inkml:brushProperty name="width" value="0.05" units="cm"/>
      <inkml:brushProperty name="height" value="0.05" units="cm"/>
    </inkml:brush>
  </inkml:definitions>
  <inkml:trace contextRef="#ctx0" brushRef="#br0">838 1544 8191,'-21'-66'0,"-1"0"0,8-1 0,3-4 2460,0-24 1,6-4-2461,10 7 0,5 1 0,3 1 0,4 2 1418,3 10 0,1 3-1418,2 11 0,2 4 868,2 9 0,4 5-868,7 2 0,2 4 6731,25-17-6731,-7 18 0,3 5 160,19-2-160,-18 11 0,2 2 0,-11 9 0,-2 4 0,41-5 0,-2 7 0,-2 13 0,11 9 0,-37-3 0,2 2 0,8 5 0,3 3 0,8 6 0,3 3 0,-24-5 0,1 2 0,0 2-152,2 3 1,0 2 0,-1 2 151,-2 1 0,-2 2 0,1 4 0,8 10 0,0 5 0,-2 1-491,-5 0 1,-2 2-1,1 5 491,-7-3 0,2 4 0,-1 2 0,-2-1 0,-6-5 0,-1 0 0,-2 1 0,0 1 0,3 7 0,0 2 0,-2 1 0,-2-1 0,-4-5 0,-1 0 0,-3-1 0,0 2 0,-2 2 0,0 0 0,-3 0 0,-1-1-327,2 13 1,-3-1-1,-2 2 327,-2 11 0,-3 2 0,-3-3 0,-4-12 0,-4-3 0,0 2 0,0 8 0,-1 3 0,-3-2 0,-2-8 0,-3 0 0,-2-1 0,-2-2 0,-3-1 0,-2 0-110,-2-5 1,-2-1 0,-2-1 109,-3-3 0,-3-2 0,-1-2 0,-9 17 0,-5-4 195,-6-5 1,-4-4-196,4-14 0,-3-4 699,-3-2 0,-4-5-699,-5-8 0,-5-4 0,-19-3 0,-8-5 0,19-7 0,-4-1 0,-3-2 68,-10 1 1,-3-1 0,1-2-69,3-1 0,1-2 0,-1-1 0,-6-2 0,-1-2 0,0-2 0,7-2 0,1-2 0,-2-1 0,-6-3 0,-2-1 0,0-3 0,-1-3 0,0-2 0,1-4 0,3-3 0,0-4 0,2-4 0,-1-5 0,2-3 0,2-4 0,6-1 0,3-4 0,3-1 0,7 2 0,3-1 0,3-1 0,6 0 0,3-2 0,2-1 0,2-4 0,2-2 0,2-3 0,0-8 0,1-3 0,2-4 0,-2-11 0,1-4 0,3-1 0,1 0 0,3-3 0,3 2 0,3 4 0,3 1 0,2 1 0,3 7 0,3 1 0,3 2 104,-1-21 1,4 2-105,2-1 0,5 0 0,4 7 0,4 1 0,3-7 0,4-1 0,5-2 0,4 0 0,-2 32 0,3-1 0,1 2 0,3-1 0,2 1 0,2 1 0,5 0 0,2 0 0,2 2 0,1 3 0,1 1 0,0 3 0,6-10 0,3 3 0,15-6 0,-1 8 0,10 2 0,-19 21 0,2 2 866,25-1-866,2 2 164,-9 3-164,-16 1 0,2-2 0,-16 5 0,-12 9 0,-10 7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5:30:17.442"/>
    </inkml:context>
    <inkml:brush xml:id="br0">
      <inkml:brushProperty name="width" value="0.05" units="cm"/>
      <inkml:brushProperty name="height" value="0.05" units="cm"/>
    </inkml:brush>
  </inkml:definitions>
  <inkml:trace contextRef="#ctx0" brushRef="#br0">236 54 8191,'6'-9'0,"4"-2"5063,41-10-5063,26 12 0,18 6 0,-7 3 0,7 3 0,-1 1 326,-13-3 0,-2 1 0,9 7-326,-11 4 0,9 4 0,4 4 0,2 3 0,-4 1 0,-7 1-24,7 6 0,-8 3 0,0 2 0,9 4 24,-13-7 0,7 2 0,3 1 0,2 3 0,0 1 0,-3 0 0,-4 2 362,3 5 1,-3 2 0,-1 1-1,-2 2 1,-1 0 0,0 2-363,0 1 0,0 1 0,-1 2 0,-1 0 0,-2 2 0,-1 1 0,-3 0 0,-1 1 0,-1 1 0,-2 1 0,-2 1 0,-2 2 0,-1 1 0,-3 2 0,-1 0 0,-2 2 0,-2 0 0,-2 0-377,3 10 1,-2 0 0,-3 0-1,-2 2 1,-2 2 376,-6-10 0,-3 3 0,0 0 0,-2 1 0,-2 0 0,0-2 0,1 9 0,-1-1 0,-3 0 0,1 0 0,-1 2 0,1 4 0,-1 1 0,0 1 0,-1-1 0,0-1 0,-3-6 0,-1-1 0,-1 0 0,0 0 0,-1-1 60,-2-3 0,0 1 0,-2-1 0,0-1 0,-2-2-60,0 8 0,-1-2 0,-2-2 0,-2-3 708,-1 9 1,-3-3-1,-3-6-708,0 8 0,-6-10 2922,-18 17-2922,-21-37 0,-3-30 0,-14-5 0,-9-4 0,-10-3 0,-8-2-146,9-1 1,-6-2 0,-5 1 0,-4-2 0,-1 0 145,0-1 0,-4 0 0,-2-2 0,-2 1 0,-1-1 0,1 0 0,10 0 0,-1-1 0,0 1 0,-1-1 0,1 0 0,2 0 0,0 0 0,-6-1 0,1 1 0,0-1 0,3-1 0,1 1 0,3-1 37,0 0 0,3 1-1,2-1 1,2-1 0,3-2-37,-3 0 0,4-2 0,2-2 0,2 0-128,-8-3 0,3-1 1,1-6 127,-1-4 0,2-5 0,0-7 0,-5-11 0,1-8 0,1-5-358,19 9 1,1-4-1,0-3 1,0-3 357,-8-13 0,0-6 0,1-3 0,4-1 0,5 0 0,2-3 0,4-1 0,3 1 0,6 7 0,3 0 0,3-1 0,3-1 578,1-4-1,4-2 1,3 1 0,3 2-578,3-10 0,4 3 0,3-3 0,1-9 0,3-2 0,4 1 0,2 11 0,4 1 0,2 0 0,3 1 0,3 0 0,2 5 657,6-15 1,6 5-658,6-1 0,6 5 0,2 14 0,4 4 0,3 2 0,4-2 0,-6 12 0,2-3 0,3 0-183,1-1 0,1-1 1,3-2 182,-5 7 0,1-1 0,2-2 0,2-1-6,12-11 1,4-3 0,2 1 0,-2 4 5,-5 11 0,0 2 0,-2 2 0,-2 1 0,6-8 0,-3 2 0,-5 9 0,-3 14 0,-1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5:30:20.159"/>
    </inkml:context>
    <inkml:brush xml:id="br0">
      <inkml:brushProperty name="width" value="0.05" units="cm"/>
      <inkml:brushProperty name="height" value="0.05" units="cm"/>
    </inkml:brush>
  </inkml:definitions>
  <inkml:trace contextRef="#ctx0" brushRef="#br0">1384 1302 8191,'17'-46'0,"2"1"5063,-1 12-5063,7 1 2818,1 8-2818,16-5 1719,16-3-1719,-15 10 0,4-1 3392,13-3 0,3-1-3392,11-6 0,3 0 0,8-2 0,0 2 0,4-1 0,0 2 0,-1 3 0,0 3 0,1 1 0,0 2 0,1 1 0,2 2-282,-25 6 1,1 0 0,2 1 281,10-2 0,2 0 0,3 1 0,9-2 0,3 0 0,4 1-584,-14 2 0,3 0 1,2 1-1,1 0 584,-14 2 0,2 0 0,0 1 0,1 0 0,0 1 0,4-1 0,0 0 0,1 1 0,0 1 0,0 1 0,1 1 0,1 0 0,-1 1 0,0 2 0,-2 0 0,13 0 0,-1 2 0,-2 1 0,-1 2-343,-8 2 1,-1 1-1,-2 2 1,0 3 342,-2 2 0,-1 3 0,-2 2 0,0 1 0,-5 2 0,-1 1 0,0 2 0,0 2 0,4 2 0,0 1 0,1 2 0,0 2 0,4 4 0,0 1 0,0 2 0,-1 1 0,-3-1 0,-1 2 0,0 0 0,2 3-353,-11-5 1,2 1 0,0 2 0,0 0 0,-3 1 352,13 9 0,-2 1 0,-1 2 0,-1 0 0,-1 2 0,0 1 0,0 0 0,-2 3 0,2 4 0,-1 2 0,-1 1 0,-2 0 0,-7-2 0,-2 0 0,-2 1 0,0 3 0,3 5 0,-1 2 0,-2 2 0,-5 1 0,-6-4 0,-3 1 0,-3 2 0,-5 1 0,-2 2 0,-4 2 0,-4 1 0,-3 1 0,-5-1 0,-3 0 0,-3 1 0,-3 1 0,-3 3 0,-3 1 0,-2-1 0,-3-2-151,-1-9 1,-3-1-1,-1-1 1,-2 1 150,-4 9 0,-3 2 0,-2-1 0,-3-2 0,-2-8 0,-1-1 0,-3-2 0,-2 2 0,-4 7 0,-3 1 0,-3 0 0,-1-2 0,-2-3 0,-1-2 0,-3 0 0,-1-3 0,-1-4 0,-1-2 0,-2-1 0,-2-2 0,-3 0 0,-1-1 0,-2-2 0,0-3 0,2-5 0,0-2 0,-2-2 0,0-1 0,-19 13 0,-1-3 0,-4-1 0,14-14 0,-3-1 0,-1-2 0,0-1 0,1-4 0,1-1 0,-1-2 0,-4 0 0,-13 5 0,-4-2 0,-2 0 0,0-3-10,18-9 0,-1-1 1,-1-1-1,0-1 1,-1-2 9,-3-1 0,0-1 0,-1-2 0,-1-1 0,0-2 0,0-2 0,-1-2 0,0-1 0,-1-2 0,1-2 0,-1-2 0,0-1 0,-1-3 0,2-1 0,1-1 0,-13-4 0,2-1 0,1-3 0,-3-2 0,11 0 0,-1-1 0,-2-2 0,2-1 0,1-1 0,4-2 0,1-1 0,0-2 0,1 0 0,0 0 0,0 1 0,1 0 0,0-1 0,0-1 0,0-2 0,-2-5 0,-2-2 0,2-1 0,0-1 0,4 0 0,-8-5 0,3 0 0,1-1 0,0-2 0,-4-4 0,0-2 0,0-2 0,1-1 0,15 8 0,1-1 0,1 0 0,0-2 0,0 0 0,-12-10 0,2 0 0,-1-2 0,-3-3 0,17 11 0,-1-1 0,-1-3 0,-1 0 0,1-2 0,1 2-197,0-2 0,0 1 0,1-2 0,0 1 0,1-2 0,0 1 197,0-2 0,-1-1 0,2-1 0,0 1 0,1-1 0,2 0 0,-7-9 0,2 0 0,1-1 0,3 0 0,3 1 18,-4-10 0,3 0 1,4-1-1,1 0-18,5 1 0,2-1 0,1 0 0,2-1 0,0-1 0,1 0 0,1-1 0,2 2 0,3 5 0,1 0 0,2 1 0,0 0 43,1-3 0,2 0 0,0 0 0,3 2-43,-4-15 0,3 2 0,4-1 0,6 18 0,3 0 0,1-1 0,2 1 0,1-15 0,2 0 0,5 2 393,4 2 1,5 1-1,3 1-393,6 2 0,4 0 0,6 1 0,9-1 0,6 0 0,5 3 484,5-1 1,5 2 0,5 1-485,-8 15 0,4 1 0,2 1 0,1 2 0,-2 5 0,2 2 0,1 2 0,0 0 0,-1 1 0,0 2 0,2 0 0,3 3 0,13-2 0,4 2 0,1 2 0,-1 3 0,-8 6 0,-1 1 0,-1 3 0,-2 1 0,8-3 0,-4 3 0,-4 4 0,0 6 0,1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5:30:22.580"/>
    </inkml:context>
    <inkml:brush xml:id="br0">
      <inkml:brushProperty name="width" value="0.05" units="cm"/>
      <inkml:brushProperty name="height" value="0.05" units="cm"/>
    </inkml:brush>
  </inkml:definitions>
  <inkml:trace contextRef="#ctx0" brushRef="#br0">0 3090 8191,'1'-20'0,"1"-13"5063,5-30-5063,0-2 0,2-11 0,-1 3 0,2-6 0,-1-2 585,1-11 1,0-2 0,-1-3-586,-3 17 0,0-2 0,0 0 0,-1 3 0,0-13 0,-2 4 0,0 1 600,-2 6 0,0 1 0,-1 6-600,0-11 0,0 9 3149,1 18 0,0 8-3149,2-4 0,1 32 0,5 9 1370,11-10-1370,23-29 48,-9 14 0,6-2-48,17-14 0,8 0 0,14-3 0,9 6-414,-16 18 1,6 5 0,3 4 413,11 2 0,3 4 0,5 5-624,-11 7 1,4 4 0,4 2 0,5 1 623,-16 0 0,5 2 0,2 1 0,3 1 0,1-1 0,0 0-738,-6 0 0,1 0 0,0 0 0,2 0 1,2-1-1,3 1 0,3-1 738,-14 0 0,2 0 0,2-1 0,3 1 0,0-1 0,2 0 0,1 0 0,-1 0 0,1-1 0,-1 0-349,-5 0 0,-1 0 0,1-1 1,1 0-1,-1 0 0,2 0 0,-1-1 1,2 1-1,0-1 0,1 0 1,1 0 348,-8 0 0,2 0 0,0 0 0,1-1 0,0 0 0,1 0 0,1 0 0,0 0 0,0 0 0,1 0 0,0 0 0,1 1 0,0-1-160,0 1 1,2 0-1,1-1 1,1 1-1,0 0 1,1 0 0,0 0-1,0 0 1,-1 0-1,-1 0 1,-1 0 0,-1 1-1,-2-1 1,-2 0 159,8 0 0,-3 0 0,-1 0 0,-2 0 0,-1 1 0,0-1 0,-1 0 0,1 1 0,0 0 0,1 1 0,1 0 0,-2 0 0,1 1 0,2-1 0,0 2 0,0-1 0,1 1 0,-2 0 0,0 0 0,-2 0 0,-1 1 0,-3 0 0,-3 0 0,20 2 0,-5 0 0,-2 0 0,-2 1 0,-1 1 0,-1-1 0,0 1 0,0-1-95,-4 1 1,-1-1 0,-1 1 0,-1 0-1,1 0 1,0 1 0,0-1 0,2-1 94,4 1 0,1 0 0,2 1 0,0-1 0,-1-1 0,-2 1 0,-2-1 0,-3 0 160,9 0 0,-3-1 1,-2 0-1,-2 0 1,-1-1-1,2 0-160,-2 0 0,0-1 0,0 0 0,-1-1 0,-2 0 0,-1 0 350,4-1 0,-3 0 0,-1 0 1,-1 0-1,1 1-350,-3 0 0,1 1 0,-1 1 0,-1 0 0,-1 1 723,13 3 1,-1 0 0,-2 1 0,-2 0-724,-9 1 0,-1 0 0,-3 0 0,-5 0 1144,-1 2 0,-5 0 0,-6 0-1144,0-1 0,-8-2 2796,8 0-2796,-4-3 2406,-4-2-2406,-22-2 1478,11 2-1478,-24-3 0,-1-1 0,-17-10 0,-5-7 0,0 0 0,1-4 0,2-18 0,2-52 0,6 15 0,1-7 0,-1-8 0,1-3 0,1-4 0,0 3 0,-3 19 0,-2 5 0,-1 12 0,-2 5 0,0-17 0,0 26 0,0 22 0,0 14 0,1 3 0,6 8 0,8 11 0,12 20 0,22 35 0,-18-18 0,2 5 0,5 10 0,-1 3 0,-1 2 0,-2 1 0,-5-4 0,-4 0 0,-5-7 0,-2-1 0,-5-9 0,-1-3 0,5 35 0,-10-32 0,-5-19 0,-3-19 0,-11-4 0,-42 14 0,6-2 0,-6 3 0,-21 8 0,-5 0 0,6-3 0,1-2 0,7-4 0,6-5 0,-16-2 0,26-11 0,12-4 0,14-2 0,8-3 0,24-12 0,14 3-1696,1-4 0,-1 10 0,-17 7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3T15:30:23.447"/>
    </inkml:context>
    <inkml:brush xml:id="br0">
      <inkml:brushProperty name="width" value="0.05" units="cm"/>
      <inkml:brushProperty name="height" value="0.05" units="cm"/>
    </inkml:brush>
  </inkml:definitions>
  <inkml:trace contextRef="#ctx0" brushRef="#br0">406 87 8191,'32'-31'0,"17"0"5063,26 14-5063,-12 11 0,7 5 0,12 4 0,7 7 558,-5 5 1,6 5-1,0 3-558,-18-3 0,0 2 0,0 3 0,1 2 0,6 3 0,1 2 0,-1 3 0,-1 2 0,0 4 0,0 2 0,-2 3 0,-4 2 0,-5 2 0,-3 2 0,-3 3 0,-2 2 0,-6 2 0,-2 2 0,-3 2 0,-5 2 0,-4 3 0,-4 3 0,-5 0 0,-4 1 0,1 17 0,-7 1 0,-8 2 0,-8-16 0,-5 2 0,-6 0 0,-3-2 0,-10 21 0,-9-2 0,-6-1 0,-1-15 0,-5 1 0,-4-2 0,-5-3 88,-6 0 1,-5-2 0,-4-3-1,-4-1-88,7-14 0,-2-1 0,-3-2 0,-2-1 0,-1-2 0,-7 2 0,-3-2 0,-1-2 0,-2-2 0,2-2 0,4-4 0,0-2 0,0-2 0,-1-3 0,0-3 0,-19 3 0,0-5 0,0-4 0,2-4 1285,8-7 1,0-5-1,5-2 1,7-3-1286,-17-3 0,10-5 0,-4-6 0,32 3 0,54 9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22:37:36.554"/>
    </inkml:context>
    <inkml:brush xml:id="br0">
      <inkml:brushProperty name="width" value="0.1" units="cm"/>
      <inkml:brushProperty name="height" value="0.1" units="cm"/>
      <inkml:brushProperty name="color" value="#00A0D7"/>
    </inkml:brush>
  </inkml:definitions>
  <inkml:trace contextRef="#ctx0" brushRef="#br0">0 1 24575,'12'12'0,"-5"-6"0,4 7 0,-7-9 0,2 1 0,-3-3 0,0 2 0,2 1 0,1 1 0,1 1 0,-1 0 0,-1-2 0,1 2 0,1 0 0,1 4 0,1 2 0,1 4 0,1 1 0,0 2 0,-4-3 0,0-2 0,-3-2 0,0-1 0,3 5 0,0 3 0,1 0 0,-2-4 0,-2-6 0,-2-2 0,0-3 0,2 4 0,-1-2 0,1 2 0,0 2 0,-1-1 0,2 2 0,-2-3 0,0 0 0,-1-4 0,0 2 0,1 2 0,1 3 0,1 5 0,-1-1 0,0-1 0,2 1 0,-2-2 0,2 3 0,-3 0 0,0-1 0,0-2 0,-1-3 0,0-1 0,-1 1 0,3 2 0,-2 4 0,2-3 0,-1 4 0,0-5 0,1 3 0,-2-6 0,-1-3 0,0-5 0,0 4 0,0 1 0,1 2 0,0-1 0,-1-4 0,0 1 0,2 2 0,-3-3 0,2 2 0,-4-6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12T22:37:38.729"/>
    </inkml:context>
    <inkml:brush xml:id="br0">
      <inkml:brushProperty name="width" value="0.1" units="cm"/>
      <inkml:brushProperty name="height" value="0.1" units="cm"/>
      <inkml:brushProperty name="color" value="#00A0D7"/>
    </inkml:brush>
  </inkml:definitions>
  <inkml:trace contextRef="#ctx0" brushRef="#br0">1 0 24575,'13'2'0,"-5"-1"0,3 1 0,-6-1 0,2-1 0,-4 1 0,0 0 0,5 0 0,-5 0 0,4-1 0,-7 0 0</inkml:trace>
</inkml:ink>
</file>

<file path=ppt/notesMasters/_rels/notesMaster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b="0" i="0">
                <a:latin typeface="Verdana" panose="020B0604030504040204" pitchFamily="34" charset="0"/>
              </a:defRPr>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b="0" i="0">
                <a:latin typeface="Verdana" panose="020B0604030504040204" pitchFamily="34" charset="0"/>
              </a:defRPr>
            </a:lvl1pPr>
          </a:lstStyle>
          <a:p>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8"/>
            <a:ext cx="5852160" cy="3240405"/>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b="0" i="0">
                <a:latin typeface="Verdana" panose="020B0604030504040204" pitchFamily="34" charset="0"/>
              </a:defRPr>
            </a:lvl1pPr>
          </a:lstStyle>
          <a:p>
            <a:r>
              <a:rPr lang="en-US"/>
              <a:t>CMVP_v2022.07</a:t>
            </a:r>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b="0" i="0">
                <a:latin typeface="Verdana" panose="020B0604030504040204" pitchFamily="34" charset="0"/>
              </a:defRPr>
            </a:lvl1pPr>
          </a:lstStyle>
          <a:p>
            <a:fld id="{82869989-EB00-4EE7-BCB5-25BDC5BB29F8}" type="slidenum">
              <a:rPr lang="en-US" smtClean="0"/>
              <a:pPr/>
              <a:t>‹#›</a:t>
            </a:fld>
            <a:endParaRPr lang="en-US"/>
          </a:p>
        </p:txBody>
      </p:sp>
      <p:pic>
        <p:nvPicPr>
          <p:cNvPr id="8" name="Picture 7" descr="A picture containing clipart&#10;&#10;Description automatically generated">
            <a:extLst>
              <a:ext uri="{FF2B5EF4-FFF2-40B4-BE49-F238E27FC236}">
                <a16:creationId xmlns:a16="http://schemas.microsoft.com/office/drawing/2014/main" id="{282D8A7A-2763-924E-9D2B-562D2FA8E6F8}"/>
              </a:ext>
            </a:extLst>
          </p:cNvPr>
          <p:cNvPicPr>
            <a:picLocks noChangeAspect="1"/>
          </p:cNvPicPr>
          <p:nvPr/>
        </p:nvPicPr>
        <p:blipFill>
          <a:blip r:embed="rId2"/>
          <a:stretch>
            <a:fillRect/>
          </a:stretch>
        </p:blipFill>
        <p:spPr>
          <a:xfrm>
            <a:off x="3011961" y="8838448"/>
            <a:ext cx="1291278" cy="562051"/>
          </a:xfrm>
          <a:prstGeom prst="rect">
            <a:avLst/>
          </a:prstGeom>
        </p:spPr>
      </p:pic>
    </p:spTree>
    <p:extLst>
      <p:ext uri="{BB962C8B-B14F-4D97-AF65-F5344CB8AC3E}">
        <p14:creationId xmlns:p14="http://schemas.microsoft.com/office/powerpoint/2010/main" val="219363614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b="0" i="0" kern="1200">
        <a:solidFill>
          <a:schemeClr val="tx1"/>
        </a:solidFill>
        <a:latin typeface="Verdana" panose="020B0604030504040204" pitchFamily="34" charset="0"/>
        <a:ea typeface="+mn-ea"/>
        <a:cs typeface="+mn-cs"/>
      </a:defRPr>
    </a:lvl1pPr>
    <a:lvl2pPr marL="457200" algn="l" defTabSz="914400" rtl="0" eaLnBrk="1" latinLnBrk="0" hangingPunct="1">
      <a:defRPr sz="1200" b="0" i="0" kern="1200">
        <a:solidFill>
          <a:schemeClr val="tx1"/>
        </a:solidFill>
        <a:latin typeface="Verdana" panose="020B0604030504040204" pitchFamily="34" charset="0"/>
        <a:ea typeface="+mn-ea"/>
        <a:cs typeface="+mn-cs"/>
      </a:defRPr>
    </a:lvl2pPr>
    <a:lvl3pPr marL="914400" algn="l" defTabSz="914400" rtl="0" eaLnBrk="1" latinLnBrk="0" hangingPunct="1">
      <a:defRPr sz="1200" b="0" i="0" kern="1200">
        <a:solidFill>
          <a:schemeClr val="tx1"/>
        </a:solidFill>
        <a:latin typeface="Verdana" panose="020B0604030504040204" pitchFamily="34" charset="0"/>
        <a:ea typeface="+mn-ea"/>
        <a:cs typeface="+mn-cs"/>
      </a:defRPr>
    </a:lvl3pPr>
    <a:lvl4pPr marL="1371600" algn="l" defTabSz="914400" rtl="0" eaLnBrk="1" latinLnBrk="0" hangingPunct="1">
      <a:defRPr sz="1200" b="0" i="0" kern="1200">
        <a:solidFill>
          <a:schemeClr val="tx1"/>
        </a:solidFill>
        <a:latin typeface="Verdana" panose="020B0604030504040204" pitchFamily="34" charset="0"/>
        <a:ea typeface="+mn-ea"/>
        <a:cs typeface="+mn-cs"/>
      </a:defRPr>
    </a:lvl4pPr>
    <a:lvl5pPr marL="1828800" algn="l" defTabSz="914400" rtl="0" eaLnBrk="1" latinLnBrk="0" hangingPunct="1">
      <a:defRPr sz="1200" b="0" i="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82869989-EB00-4EE7-BCB5-25BDC5BB29F8}" type="slidenum">
              <a:rPr lang="en-US" smtClean="0"/>
              <a:pPr/>
              <a:t>1</a:t>
            </a:fld>
            <a:endParaRPr lang="en-US"/>
          </a:p>
        </p:txBody>
      </p:sp>
      <p:sp>
        <p:nvSpPr>
          <p:cNvPr id="5" name="Footer Placeholder 4">
            <a:extLst>
              <a:ext uri="{FF2B5EF4-FFF2-40B4-BE49-F238E27FC236}">
                <a16:creationId xmlns:a16="http://schemas.microsoft.com/office/drawing/2014/main" id="{55CD5BB4-05D4-988F-ECBA-20A0F72A87D4}"/>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8254958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a:t>
            </a:fld>
            <a:endParaRPr lang="en-US"/>
          </a:p>
        </p:txBody>
      </p:sp>
    </p:spTree>
    <p:extLst>
      <p:ext uri="{BB962C8B-B14F-4D97-AF65-F5344CB8AC3E}">
        <p14:creationId xmlns:p14="http://schemas.microsoft.com/office/powerpoint/2010/main" val="957123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82869989-EB00-4EE7-BCB5-25BDC5BB29F8}" type="slidenum">
              <a:rPr lang="en-US" smtClean="0"/>
              <a:t>3</a:t>
            </a:fld>
            <a:endParaRPr lang="en-US"/>
          </a:p>
        </p:txBody>
      </p:sp>
      <p:sp>
        <p:nvSpPr>
          <p:cNvPr id="5" name="Footer Placeholder 4">
            <a:extLst>
              <a:ext uri="{FF2B5EF4-FFF2-40B4-BE49-F238E27FC236}">
                <a16:creationId xmlns:a16="http://schemas.microsoft.com/office/drawing/2014/main" id="{70C52FB1-1658-1B53-7033-B1A0C5C3F940}"/>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1325156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E5CE6-B98B-4C71-CE92-FACC0DE652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C90CA5-D578-8824-F815-E5872F81A1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4F55A0-E390-8B02-0D28-8955E4F4E1A1}"/>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6B7E5C5A-36AE-0ABB-B04A-9F39C770D780}"/>
              </a:ext>
            </a:extLst>
          </p:cNvPr>
          <p:cNvSpPr>
            <a:spLocks noGrp="1"/>
          </p:cNvSpPr>
          <p:nvPr>
            <p:ph type="ftr" sz="quarter" idx="4"/>
          </p:nvPr>
        </p:nvSpPr>
        <p:spPr/>
        <p:txBody>
          <a:bodyPr/>
          <a:lstStyle/>
          <a:p>
            <a:r>
              <a:rPr lang="en-US"/>
              <a:t>CMVP_v2022.07</a:t>
            </a:r>
          </a:p>
        </p:txBody>
      </p:sp>
      <p:sp>
        <p:nvSpPr>
          <p:cNvPr id="5" name="Slide Number Placeholder 4">
            <a:extLst>
              <a:ext uri="{FF2B5EF4-FFF2-40B4-BE49-F238E27FC236}">
                <a16:creationId xmlns:a16="http://schemas.microsoft.com/office/drawing/2014/main" id="{56F4AFCA-88FA-CC62-456B-AC292CABCD44}"/>
              </a:ext>
            </a:extLst>
          </p:cNvPr>
          <p:cNvSpPr>
            <a:spLocks noGrp="1"/>
          </p:cNvSpPr>
          <p:nvPr>
            <p:ph type="sldNum" sz="quarter" idx="5"/>
          </p:nvPr>
        </p:nvSpPr>
        <p:spPr/>
        <p:txBody>
          <a:bodyPr/>
          <a:lstStyle/>
          <a:p>
            <a:fld id="{82869989-EB00-4EE7-BCB5-25BDC5BB29F8}" type="slidenum">
              <a:rPr lang="en-US" smtClean="0"/>
              <a:pPr/>
              <a:t>4</a:t>
            </a:fld>
            <a:endParaRPr lang="en-US"/>
          </a:p>
        </p:txBody>
      </p:sp>
    </p:spTree>
    <p:extLst>
      <p:ext uri="{BB962C8B-B14F-4D97-AF65-F5344CB8AC3E}">
        <p14:creationId xmlns:p14="http://schemas.microsoft.com/office/powerpoint/2010/main" val="28515402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6</a:t>
            </a:fld>
            <a:endParaRPr lang="en-US"/>
          </a:p>
        </p:txBody>
      </p:sp>
      <p:sp>
        <p:nvSpPr>
          <p:cNvPr id="5" name="Footer Placeholder 4">
            <a:extLst>
              <a:ext uri="{FF2B5EF4-FFF2-40B4-BE49-F238E27FC236}">
                <a16:creationId xmlns:a16="http://schemas.microsoft.com/office/drawing/2014/main" id="{3F18E575-0AD7-649E-5872-B281609F127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299571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Discuss story of certain factory and company where they don’t believe in counterfactuals—they only believe what they can measure.</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9</a:t>
            </a:fld>
            <a:endParaRPr lang="en-US"/>
          </a:p>
        </p:txBody>
      </p:sp>
    </p:spTree>
    <p:extLst>
      <p:ext uri="{BB962C8B-B14F-4D97-AF65-F5344CB8AC3E}">
        <p14:creationId xmlns:p14="http://schemas.microsoft.com/office/powerpoint/2010/main" val="28305049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B91AF-84C6-A4AC-DB54-2396449A4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F55554-811A-7F5C-EFFA-18FB8EE76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9BF3C1-405A-8919-F5E9-AFFB834BEDE4}"/>
              </a:ext>
            </a:extLst>
          </p:cNvPr>
          <p:cNvSpPr>
            <a:spLocks noGrp="1"/>
          </p:cNvSpPr>
          <p:nvPr>
            <p:ph type="body" idx="1"/>
          </p:nvPr>
        </p:nvSpPr>
        <p:spPr/>
        <p:txBody>
          <a:bodyPr/>
          <a:lstStyle/>
          <a:p>
            <a:r>
              <a:rPr lang="en-US" b="1"/>
              <a:t>Instructor Note</a:t>
            </a:r>
            <a:r>
              <a:rPr lang="en-US"/>
              <a:t>: Discuss story of certain factory and company where they don’t believe in counterfactuals—they only believe what they can measure.</a:t>
            </a:r>
          </a:p>
        </p:txBody>
      </p:sp>
      <p:sp>
        <p:nvSpPr>
          <p:cNvPr id="4" name="Footer Placeholder 3">
            <a:extLst>
              <a:ext uri="{FF2B5EF4-FFF2-40B4-BE49-F238E27FC236}">
                <a16:creationId xmlns:a16="http://schemas.microsoft.com/office/drawing/2014/main" id="{96ADCC1F-08C6-6E63-1980-5672EA1630E2}"/>
              </a:ext>
            </a:extLst>
          </p:cNvPr>
          <p:cNvSpPr>
            <a:spLocks noGrp="1"/>
          </p:cNvSpPr>
          <p:nvPr>
            <p:ph type="ftr" sz="quarter" idx="4"/>
          </p:nvPr>
        </p:nvSpPr>
        <p:spPr/>
        <p:txBody>
          <a:bodyPr/>
          <a:lstStyle/>
          <a:p>
            <a:r>
              <a:rPr lang="en-US"/>
              <a:t>CMVP_v2022.07</a:t>
            </a:r>
          </a:p>
        </p:txBody>
      </p:sp>
      <p:sp>
        <p:nvSpPr>
          <p:cNvPr id="5" name="Slide Number Placeholder 4">
            <a:extLst>
              <a:ext uri="{FF2B5EF4-FFF2-40B4-BE49-F238E27FC236}">
                <a16:creationId xmlns:a16="http://schemas.microsoft.com/office/drawing/2014/main" id="{F1F98B96-0BE1-0CEC-DDEB-33AAC954C39D}"/>
              </a:ext>
            </a:extLst>
          </p:cNvPr>
          <p:cNvSpPr>
            <a:spLocks noGrp="1"/>
          </p:cNvSpPr>
          <p:nvPr>
            <p:ph type="sldNum" sz="quarter" idx="5"/>
          </p:nvPr>
        </p:nvSpPr>
        <p:spPr/>
        <p:txBody>
          <a:bodyPr/>
          <a:lstStyle/>
          <a:p>
            <a:fld id="{82869989-EB00-4EE7-BCB5-25BDC5BB29F8}" type="slidenum">
              <a:rPr lang="en-US" smtClean="0"/>
              <a:pPr/>
              <a:t>10</a:t>
            </a:fld>
            <a:endParaRPr lang="en-US"/>
          </a:p>
        </p:txBody>
      </p:sp>
    </p:spTree>
    <p:extLst>
      <p:ext uri="{BB962C8B-B14F-4D97-AF65-F5344CB8AC3E}">
        <p14:creationId xmlns:p14="http://schemas.microsoft.com/office/powerpoint/2010/main" val="2438970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25844-8BF0-F434-46A4-D9423036F9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ABB9C0-E0A7-CE4A-E4B7-DFA7A3271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0E9BE8-B798-6913-973D-2D5C42E18410}"/>
              </a:ext>
            </a:extLst>
          </p:cNvPr>
          <p:cNvSpPr>
            <a:spLocks noGrp="1"/>
          </p:cNvSpPr>
          <p:nvPr>
            <p:ph type="body" idx="1"/>
          </p:nvPr>
        </p:nvSpPr>
        <p:spPr/>
        <p:txBody>
          <a:bodyPr/>
          <a:lstStyle/>
          <a:p>
            <a:endParaRPr lang="en-US">
              <a:latin typeface="Verdana" panose="020B0604030504040204" pitchFamily="34" charset="0"/>
            </a:endParaRPr>
          </a:p>
        </p:txBody>
      </p:sp>
      <p:sp>
        <p:nvSpPr>
          <p:cNvPr id="4" name="Slide Number Placeholder 3">
            <a:extLst>
              <a:ext uri="{FF2B5EF4-FFF2-40B4-BE49-F238E27FC236}">
                <a16:creationId xmlns:a16="http://schemas.microsoft.com/office/drawing/2014/main" id="{94FDE018-3CF0-26B5-6AB0-47D2A3A22630}"/>
              </a:ext>
            </a:extLst>
          </p:cNvPr>
          <p:cNvSpPr>
            <a:spLocks noGrp="1"/>
          </p:cNvSpPr>
          <p:nvPr>
            <p:ph type="sldNum" sz="quarter" idx="5"/>
          </p:nvPr>
        </p:nvSpPr>
        <p:spPr/>
        <p:txBody>
          <a:bodyPr/>
          <a:lstStyle/>
          <a:p>
            <a:fld id="{82869989-EB00-4EE7-BCB5-25BDC5BB29F8}" type="slidenum">
              <a:rPr lang="en-US" smtClean="0"/>
              <a:t>12</a:t>
            </a:fld>
            <a:endParaRPr lang="en-US"/>
          </a:p>
        </p:txBody>
      </p:sp>
      <p:sp>
        <p:nvSpPr>
          <p:cNvPr id="5" name="Footer Placeholder 4">
            <a:extLst>
              <a:ext uri="{FF2B5EF4-FFF2-40B4-BE49-F238E27FC236}">
                <a16:creationId xmlns:a16="http://schemas.microsoft.com/office/drawing/2014/main" id="{92509CD0-4D11-72AF-E8E7-4C8E46BB8EE9}"/>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910944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Verdana" panose="020B0604030504040204" pitchFamily="34" charset="0"/>
              </a:rPr>
              <a:t>Instructor Note</a:t>
            </a:r>
            <a:r>
              <a:rPr lang="en-US">
                <a:latin typeface="Verdana" panose="020B0604030504040204" pitchFamily="34" charset="0"/>
              </a:rPr>
              <a:t>: Consider asking learners if they feel that the diagram should be circular rather than linear. Have them justify their answers.</a:t>
            </a:r>
          </a:p>
        </p:txBody>
      </p:sp>
      <p:sp>
        <p:nvSpPr>
          <p:cNvPr id="4" name="Slide Number Placeholder 3"/>
          <p:cNvSpPr>
            <a:spLocks noGrp="1"/>
          </p:cNvSpPr>
          <p:nvPr>
            <p:ph type="sldNum" sz="quarter" idx="5"/>
          </p:nvPr>
        </p:nvSpPr>
        <p:spPr/>
        <p:txBody>
          <a:bodyPr/>
          <a:lstStyle/>
          <a:p>
            <a:fld id="{82869989-EB00-4EE7-BCB5-25BDC5BB29F8}" type="slidenum">
              <a:rPr lang="en-US" smtClean="0"/>
              <a:t>15</a:t>
            </a:fld>
            <a:endParaRPr lang="en-US"/>
          </a:p>
        </p:txBody>
      </p:sp>
      <p:sp>
        <p:nvSpPr>
          <p:cNvPr id="5" name="Footer Placeholder 4">
            <a:extLst>
              <a:ext uri="{FF2B5EF4-FFF2-40B4-BE49-F238E27FC236}">
                <a16:creationId xmlns:a16="http://schemas.microsoft.com/office/drawing/2014/main" id="{28E8F2B7-B002-DBFD-0CF0-DCE5A1632139}"/>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086610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418DE-4986-BF1E-3F79-5F5935D200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83343-B0EB-E092-92A3-6B4D37F7C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96D11-DCA8-A602-9792-96BF030BECFA}"/>
              </a:ext>
            </a:extLst>
          </p:cNvPr>
          <p:cNvSpPr>
            <a:spLocks noGrp="1"/>
          </p:cNvSpPr>
          <p:nvPr>
            <p:ph type="body" idx="1"/>
          </p:nvPr>
        </p:nvSpPr>
        <p:spPr/>
        <p:txBody>
          <a:bodyPr/>
          <a:lstStyle/>
          <a:p>
            <a:r>
              <a:rPr lang="en-US" b="1" dirty="0">
                <a:latin typeface="Verdana" panose="020B0604030504040204" pitchFamily="34" charset="0"/>
              </a:rPr>
              <a:t>Instructor Note</a:t>
            </a:r>
            <a:r>
              <a:rPr lang="en-US" dirty="0">
                <a:latin typeface="Verdana" panose="020B0604030504040204" pitchFamily="34" charset="0"/>
              </a:rPr>
              <a:t>: Walk through the process</a:t>
            </a:r>
          </a:p>
          <a:p>
            <a:endParaRPr lang="en-US" dirty="0">
              <a:latin typeface="Verdana" panose="020B0604030504040204" pitchFamily="34" charset="0"/>
            </a:endParaRPr>
          </a:p>
        </p:txBody>
      </p:sp>
      <p:sp>
        <p:nvSpPr>
          <p:cNvPr id="4" name="Slide Number Placeholder 3">
            <a:extLst>
              <a:ext uri="{FF2B5EF4-FFF2-40B4-BE49-F238E27FC236}">
                <a16:creationId xmlns:a16="http://schemas.microsoft.com/office/drawing/2014/main" id="{5FE74BE8-BE20-840A-D5ED-32D6B636CBFD}"/>
              </a:ext>
            </a:extLst>
          </p:cNvPr>
          <p:cNvSpPr>
            <a:spLocks noGrp="1"/>
          </p:cNvSpPr>
          <p:nvPr>
            <p:ph type="sldNum" sz="quarter" idx="5"/>
          </p:nvPr>
        </p:nvSpPr>
        <p:spPr/>
        <p:txBody>
          <a:bodyPr/>
          <a:lstStyle/>
          <a:p>
            <a:fld id="{82869989-EB00-4EE7-BCB5-25BDC5BB29F8}" type="slidenum">
              <a:rPr lang="en-US" smtClean="0"/>
              <a:t>16</a:t>
            </a:fld>
            <a:endParaRPr lang="en-US"/>
          </a:p>
        </p:txBody>
      </p:sp>
      <p:sp>
        <p:nvSpPr>
          <p:cNvPr id="5" name="Footer Placeholder 4">
            <a:extLst>
              <a:ext uri="{FF2B5EF4-FFF2-40B4-BE49-F238E27FC236}">
                <a16:creationId xmlns:a16="http://schemas.microsoft.com/office/drawing/2014/main" id="{70C9B189-539C-FF03-B64A-2BC378783C1C}"/>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0170579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17</a:t>
            </a:fld>
            <a:endParaRPr lang="en-US"/>
          </a:p>
        </p:txBody>
      </p:sp>
    </p:spTree>
    <p:extLst>
      <p:ext uri="{BB962C8B-B14F-4D97-AF65-F5344CB8AC3E}">
        <p14:creationId xmlns:p14="http://schemas.microsoft.com/office/powerpoint/2010/main" val="2257941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this is what many people consider M&amp;V.  Measure that the ECM is working. Short term or </a:t>
            </a:r>
            <a:r>
              <a:rPr lang="en-US" dirty="0" err="1"/>
              <a:t>continuouislu</a:t>
            </a:r>
            <a:r>
              <a:rPr lang="en-US" dirty="0"/>
              <a:t>. </a:t>
            </a:r>
          </a:p>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20</a:t>
            </a:fld>
            <a:endParaRPr lang="en-US"/>
          </a:p>
        </p:txBody>
      </p:sp>
    </p:spTree>
    <p:extLst>
      <p:ext uri="{BB962C8B-B14F-4D97-AF65-F5344CB8AC3E}">
        <p14:creationId xmlns:p14="http://schemas.microsoft.com/office/powerpoint/2010/main" val="4138705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24</a:t>
            </a:fld>
            <a:endParaRPr lang="en-US"/>
          </a:p>
        </p:txBody>
      </p:sp>
    </p:spTree>
    <p:extLst>
      <p:ext uri="{BB962C8B-B14F-4D97-AF65-F5344CB8AC3E}">
        <p14:creationId xmlns:p14="http://schemas.microsoft.com/office/powerpoint/2010/main" val="37537476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Verdana" panose="020B0604030504040204" pitchFamily="34" charset="0"/>
                <a:ea typeface="+mn-ea"/>
                <a:cs typeface="+mn-cs"/>
              </a:rPr>
              <a:t>Transition Language (for instructor):</a:t>
            </a:r>
            <a:r>
              <a:rPr lang="en-US" sz="1200" b="0" i="0" kern="1200" dirty="0">
                <a:solidFill>
                  <a:schemeClr val="tx1"/>
                </a:solidFill>
                <a:effectLst/>
                <a:latin typeface="Verdana" panose="020B0604030504040204" pitchFamily="34" charset="0"/>
                <a:ea typeface="+mn-ea"/>
                <a:cs typeface="+mn-cs"/>
              </a:rPr>
              <a:t> "This is THE most important conceptual distinction in M&amp;V. Students who confuse baseline with counterfactual struggle throughout the course. Let me be very clear:</a:t>
            </a:r>
          </a:p>
          <a:p>
            <a:endParaRPr lang="en-US" sz="1200" b="0" i="0" kern="1200" dirty="0">
              <a:solidFill>
                <a:schemeClr val="tx1"/>
              </a:solidFill>
              <a:effectLst/>
              <a:latin typeface="Verdana" panose="020B0604030504040204" pitchFamily="34" charset="0"/>
              <a:ea typeface="+mn-ea"/>
              <a:cs typeface="+mn-cs"/>
            </a:endParaRPr>
          </a:p>
          <a:p>
            <a:pPr lvl="0"/>
            <a:r>
              <a:rPr lang="en-US" sz="1200" b="0" i="0" kern="1200" dirty="0">
                <a:solidFill>
                  <a:schemeClr val="tx1"/>
                </a:solidFill>
                <a:effectLst/>
                <a:latin typeface="Verdana" panose="020B0604030504040204" pitchFamily="34" charset="0"/>
                <a:ea typeface="+mn-ea"/>
                <a:cs typeface="+mn-cs"/>
              </a:rPr>
              <a:t>The BASELINE is what we measured before. It's historical data. It's evidence.</a:t>
            </a:r>
          </a:p>
          <a:p>
            <a:pPr lvl="0"/>
            <a:r>
              <a:rPr lang="en-US" sz="1200" b="0" i="0" kern="1200" dirty="0">
                <a:solidFill>
                  <a:schemeClr val="tx1"/>
                </a:solidFill>
                <a:effectLst/>
                <a:latin typeface="Verdana" panose="020B0604030504040204" pitchFamily="34" charset="0"/>
                <a:ea typeface="+mn-ea"/>
                <a:cs typeface="+mn-cs"/>
              </a:rPr>
              <a:t>The COUNTERFACTUAL is what we infer would have happened without the intervention. It's our inference, our model.</a:t>
            </a:r>
          </a:p>
          <a:p>
            <a:pPr lvl="0"/>
            <a:endParaRPr lang="en-US" sz="1200" b="0" i="0" kern="1200" dirty="0">
              <a:solidFill>
                <a:schemeClr val="tx1"/>
              </a:solidFill>
              <a:effectLst/>
              <a:latin typeface="Verdana" panose="020B0604030504040204" pitchFamily="34" charset="0"/>
              <a:ea typeface="+mn-ea"/>
              <a:cs typeface="+mn-cs"/>
            </a:endParaRPr>
          </a:p>
          <a:p>
            <a:r>
              <a:rPr lang="en-US" sz="1200" b="0" i="0" kern="1200" dirty="0">
                <a:solidFill>
                  <a:schemeClr val="tx1"/>
                </a:solidFill>
                <a:effectLst/>
                <a:latin typeface="Verdana" panose="020B0604030504040204" pitchFamily="34" charset="0"/>
                <a:ea typeface="+mn-ea"/>
                <a:cs typeface="+mn-cs"/>
              </a:rPr>
              <a:t>We use the baseline to BUILD the counterfactual, but they are not the same thing.</a:t>
            </a:r>
          </a:p>
          <a:p>
            <a:endParaRPr lang="en-US" sz="1200" b="0" i="0" kern="1200" dirty="0">
              <a:solidFill>
                <a:schemeClr val="tx1"/>
              </a:solidFill>
              <a:effectLst/>
              <a:latin typeface="Verdana" panose="020B0604030504040204" pitchFamily="34" charset="0"/>
              <a:ea typeface="+mn-ea"/>
              <a:cs typeface="+mn-cs"/>
            </a:endParaRPr>
          </a:p>
          <a:p>
            <a:r>
              <a:rPr lang="en-US" sz="1200" b="1" i="0" kern="1200" dirty="0">
                <a:solidFill>
                  <a:schemeClr val="tx1"/>
                </a:solidFill>
                <a:effectLst/>
                <a:latin typeface="Verdana" panose="020B0604030504040204" pitchFamily="34" charset="0"/>
                <a:ea typeface="+mn-ea"/>
                <a:cs typeface="+mn-cs"/>
              </a:rPr>
              <a:t>Learning Objective Alignment:</a:t>
            </a:r>
            <a:r>
              <a:rPr lang="en-US" sz="1200" b="0" i="0" kern="1200" dirty="0">
                <a:solidFill>
                  <a:schemeClr val="tx1"/>
                </a:solidFill>
                <a:effectLst/>
                <a:latin typeface="Verdana" panose="020B0604030504040204" pitchFamily="34" charset="0"/>
                <a:ea typeface="+mn-ea"/>
                <a:cs typeface="+mn-cs"/>
              </a:rPr>
              <a:t> "Define key terms: baseline, adjusted baseline model" (Module 1)</a:t>
            </a:r>
          </a:p>
          <a:p>
            <a:r>
              <a:rPr lang="en-US" sz="1200" b="1" i="0" kern="1200" dirty="0">
                <a:solidFill>
                  <a:schemeClr val="tx1"/>
                </a:solidFill>
                <a:effectLst/>
                <a:latin typeface="Verdana" panose="020B0604030504040204" pitchFamily="34" charset="0"/>
                <a:ea typeface="+mn-ea"/>
                <a:cs typeface="+mn-cs"/>
              </a:rPr>
              <a:t>Discussion Prompt:</a:t>
            </a:r>
            <a:r>
              <a:rPr lang="en-US" sz="1200" b="0" i="0" kern="1200" dirty="0">
                <a:solidFill>
                  <a:schemeClr val="tx1"/>
                </a:solidFill>
                <a:effectLst/>
                <a:latin typeface="Verdana" panose="020B0604030504040204" pitchFamily="34" charset="0"/>
                <a:ea typeface="+mn-ea"/>
                <a:cs typeface="+mn-cs"/>
              </a:rPr>
              <a:t> "Why can't we just extend the baseline line forward? What changes?"</a:t>
            </a:r>
          </a:p>
          <a:p>
            <a:r>
              <a:rPr lang="en-US" sz="1200" b="1" i="0" kern="1200" dirty="0">
                <a:solidFill>
                  <a:schemeClr val="tx1"/>
                </a:solidFill>
                <a:effectLst/>
                <a:latin typeface="Verdana" panose="020B0604030504040204" pitchFamily="34" charset="0"/>
                <a:ea typeface="+mn-ea"/>
                <a:cs typeface="+mn-cs"/>
              </a:rPr>
              <a:t>Common Student Error to Address:</a:t>
            </a:r>
            <a:r>
              <a:rPr lang="en-US" sz="1200" b="0" i="0" kern="1200" dirty="0">
                <a:solidFill>
                  <a:schemeClr val="tx1"/>
                </a:solidFill>
                <a:effectLst/>
                <a:latin typeface="Verdana" panose="020B0604030504040204" pitchFamily="34" charset="0"/>
                <a:ea typeface="+mn-ea"/>
                <a:cs typeface="+mn-cs"/>
              </a:rPr>
              <a:t> Students often say "compare to baseline" when they mean "compare to adjusted baseline model (counterfactual)"</a:t>
            </a:r>
          </a:p>
          <a:p>
            <a:r>
              <a:rPr lang="en-US" sz="1200" b="1" i="0" kern="1200" dirty="0">
                <a:solidFill>
                  <a:schemeClr val="tx1"/>
                </a:solidFill>
                <a:effectLst/>
                <a:latin typeface="Verdana" panose="020B0604030504040204" pitchFamily="34" charset="0"/>
                <a:ea typeface="+mn-ea"/>
                <a:cs typeface="+mn-cs"/>
              </a:rPr>
              <a:t>Web Links to Reference:</a:t>
            </a:r>
            <a:endParaRPr lang="en-US" sz="1200" b="0" i="0" kern="1200" dirty="0">
              <a:solidFill>
                <a:schemeClr val="tx1"/>
              </a:solidFill>
              <a:effectLst/>
              <a:latin typeface="Verdana" panose="020B0604030504040204" pitchFamily="34" charset="0"/>
              <a:ea typeface="+mn-ea"/>
              <a:cs typeface="+mn-cs"/>
            </a:endParaRPr>
          </a:p>
          <a:p>
            <a:endParaRPr lang="en-US" dirty="0"/>
          </a:p>
        </p:txBody>
      </p:sp>
      <p:sp>
        <p:nvSpPr>
          <p:cNvPr id="4" name="Slide Number Placeholder 3"/>
          <p:cNvSpPr>
            <a:spLocks noGrp="1"/>
          </p:cNvSpPr>
          <p:nvPr>
            <p:ph type="sldNum" sz="quarter" idx="5"/>
          </p:nvPr>
        </p:nvSpPr>
        <p:spPr/>
        <p:txBody>
          <a:bodyPr/>
          <a:lstStyle/>
          <a:p>
            <a:fld id="{82869989-EB00-4EE7-BCB5-25BDC5BB29F8}" type="slidenum">
              <a:rPr lang="en-US" smtClean="0"/>
              <a:t>26</a:t>
            </a:fld>
            <a:endParaRPr lang="en-US"/>
          </a:p>
        </p:txBody>
      </p:sp>
      <p:sp>
        <p:nvSpPr>
          <p:cNvPr id="5" name="Footer Placeholder 4">
            <a:extLst>
              <a:ext uri="{FF2B5EF4-FFF2-40B4-BE49-F238E27FC236}">
                <a16:creationId xmlns:a16="http://schemas.microsoft.com/office/drawing/2014/main" id="{C47EC017-BB81-318F-44DC-25E153060F7C}"/>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187113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Emphasize that this (trying to mimic baseline behavior) applies mainly to counterfactual methods. Performance verification doesn’t do this.</a:t>
            </a:r>
          </a:p>
        </p:txBody>
      </p:sp>
      <p:sp>
        <p:nvSpPr>
          <p:cNvPr id="4" name="Slide Number Placeholder 3"/>
          <p:cNvSpPr>
            <a:spLocks noGrp="1"/>
          </p:cNvSpPr>
          <p:nvPr>
            <p:ph type="sldNum" sz="quarter" idx="5"/>
          </p:nvPr>
        </p:nvSpPr>
        <p:spPr/>
        <p:txBody>
          <a:bodyPr/>
          <a:lstStyle/>
          <a:p>
            <a:fld id="{82869989-EB00-4EE7-BCB5-25BDC5BB29F8}" type="slidenum">
              <a:rPr lang="en-US" smtClean="0"/>
              <a:pPr/>
              <a:t>27</a:t>
            </a:fld>
            <a:endParaRPr lang="en-US"/>
          </a:p>
        </p:txBody>
      </p:sp>
      <p:sp>
        <p:nvSpPr>
          <p:cNvPr id="5" name="Footer Placeholder 4">
            <a:extLst>
              <a:ext uri="{FF2B5EF4-FFF2-40B4-BE49-F238E27FC236}">
                <a16:creationId xmlns:a16="http://schemas.microsoft.com/office/drawing/2014/main" id="{C72C844C-E8C1-20D8-4AB7-FE8C0096B4A7}"/>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803634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AB985-158A-DFC8-C2E3-BFD6BA0F2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C2D04D-7CDA-1046-A727-2C24B01415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039B69-2345-CAEE-5DB6-98FF234EDC18}"/>
              </a:ext>
            </a:extLst>
          </p:cNvPr>
          <p:cNvSpPr>
            <a:spLocks noGrp="1"/>
          </p:cNvSpPr>
          <p:nvPr>
            <p:ph type="body" idx="1"/>
          </p:nvPr>
        </p:nvSpPr>
        <p:spPr/>
        <p:txBody>
          <a:bodyPr/>
          <a:lstStyle/>
          <a:p>
            <a:r>
              <a:rPr lang="en-US" b="1" dirty="0"/>
              <a:t>Instructor Note</a:t>
            </a:r>
            <a:r>
              <a:rPr lang="en-US" dirty="0"/>
              <a:t>: Emphasize that this (trying to mimic baseline behavior) applies mainly to counterfactual methods. Performance verification doesn’t do this.</a:t>
            </a:r>
          </a:p>
        </p:txBody>
      </p:sp>
      <p:sp>
        <p:nvSpPr>
          <p:cNvPr id="4" name="Slide Number Placeholder 3">
            <a:extLst>
              <a:ext uri="{FF2B5EF4-FFF2-40B4-BE49-F238E27FC236}">
                <a16:creationId xmlns:a16="http://schemas.microsoft.com/office/drawing/2014/main" id="{5EF741EC-64F7-2B71-52EE-C8FA24B851FF}"/>
              </a:ext>
            </a:extLst>
          </p:cNvPr>
          <p:cNvSpPr>
            <a:spLocks noGrp="1"/>
          </p:cNvSpPr>
          <p:nvPr>
            <p:ph type="sldNum" sz="quarter" idx="5"/>
          </p:nvPr>
        </p:nvSpPr>
        <p:spPr/>
        <p:txBody>
          <a:bodyPr/>
          <a:lstStyle/>
          <a:p>
            <a:fld id="{82869989-EB00-4EE7-BCB5-25BDC5BB29F8}" type="slidenum">
              <a:rPr lang="en-US" smtClean="0"/>
              <a:pPr/>
              <a:t>28</a:t>
            </a:fld>
            <a:endParaRPr lang="en-US"/>
          </a:p>
        </p:txBody>
      </p:sp>
      <p:sp>
        <p:nvSpPr>
          <p:cNvPr id="5" name="Footer Placeholder 4">
            <a:extLst>
              <a:ext uri="{FF2B5EF4-FFF2-40B4-BE49-F238E27FC236}">
                <a16:creationId xmlns:a16="http://schemas.microsoft.com/office/drawing/2014/main" id="{4153DF97-B355-3931-3F54-9CF04E65378B}"/>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91163719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28986-9A0E-FF39-5509-08A2D21F2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034249-110F-C043-0B3C-4CCC85D20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6C3CE-9043-0340-B28E-536B7D13CC3B}"/>
              </a:ext>
            </a:extLst>
          </p:cNvPr>
          <p:cNvSpPr>
            <a:spLocks noGrp="1"/>
          </p:cNvSpPr>
          <p:nvPr>
            <p:ph type="body" idx="1"/>
          </p:nvPr>
        </p:nvSpPr>
        <p:spPr/>
        <p:txBody>
          <a:bodyPr/>
          <a:lstStyle/>
          <a:p>
            <a:r>
              <a:rPr lang="en-US" b="1" dirty="0"/>
              <a:t>Instructor Note</a:t>
            </a:r>
            <a:r>
              <a:rPr lang="en-US" dirty="0"/>
              <a:t>: Emphasize that this (trying to mimic baseline behavior) applies mainly to counterfactual methods. Performance verification doesn’t do this.</a:t>
            </a:r>
          </a:p>
        </p:txBody>
      </p:sp>
      <p:sp>
        <p:nvSpPr>
          <p:cNvPr id="4" name="Slide Number Placeholder 3">
            <a:extLst>
              <a:ext uri="{FF2B5EF4-FFF2-40B4-BE49-F238E27FC236}">
                <a16:creationId xmlns:a16="http://schemas.microsoft.com/office/drawing/2014/main" id="{C261034E-2E16-845F-DE82-98030DCCF220}"/>
              </a:ext>
            </a:extLst>
          </p:cNvPr>
          <p:cNvSpPr>
            <a:spLocks noGrp="1"/>
          </p:cNvSpPr>
          <p:nvPr>
            <p:ph type="sldNum" sz="quarter" idx="5"/>
          </p:nvPr>
        </p:nvSpPr>
        <p:spPr/>
        <p:txBody>
          <a:bodyPr/>
          <a:lstStyle/>
          <a:p>
            <a:fld id="{82869989-EB00-4EE7-BCB5-25BDC5BB29F8}" type="slidenum">
              <a:rPr lang="en-US" smtClean="0"/>
              <a:pPr/>
              <a:t>29</a:t>
            </a:fld>
            <a:endParaRPr lang="en-US"/>
          </a:p>
        </p:txBody>
      </p:sp>
      <p:sp>
        <p:nvSpPr>
          <p:cNvPr id="5" name="Footer Placeholder 4">
            <a:extLst>
              <a:ext uri="{FF2B5EF4-FFF2-40B4-BE49-F238E27FC236}">
                <a16:creationId xmlns:a16="http://schemas.microsoft.com/office/drawing/2014/main" id="{1D05BDF5-33BB-C2CB-9536-151408918C76}"/>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73739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Verdana" panose="020B0604030504040204" pitchFamily="34" charset="0"/>
              </a:rPr>
              <a:t>Instructor Notes</a:t>
            </a:r>
          </a:p>
          <a:p>
            <a:pPr marL="171450" indent="-171450">
              <a:buFont typeface="Arial" panose="020B0604020202020204" pitchFamily="34" charset="0"/>
              <a:buChar char="•"/>
            </a:pPr>
            <a:r>
              <a:rPr lang="en-US" sz="2000">
                <a:latin typeface="Verdana" panose="020B0604030504040204" pitchFamily="34" charset="0"/>
              </a:rPr>
              <a:t>The first law of ESCO dynamics: no matter what happens, the ESCO might try to prove that more resources would have been used if not for the intervention. </a:t>
            </a:r>
          </a:p>
          <a:p>
            <a:pPr marL="171450" indent="-171450">
              <a:buFont typeface="Arial" panose="020B0604020202020204" pitchFamily="34" charset="0"/>
              <a:buChar char="•"/>
            </a:pPr>
            <a:r>
              <a:rPr lang="en-US">
                <a:latin typeface="Verdana" panose="020B0604030504040204" pitchFamily="34" charset="0"/>
              </a:rPr>
              <a:t>The only way to ensure that the adjusted baseline is “real”—i.e., not ”gamed”—is to develop and follow a solid M&amp;V plan.</a:t>
            </a:r>
          </a:p>
          <a:p>
            <a:endParaRPr lang="en-US">
              <a:latin typeface="Verdana" panose="020B0604030504040204" pitchFamily="34" charset="0"/>
            </a:endParaRPr>
          </a:p>
          <a:p>
            <a:endParaRPr lang="en-US">
              <a:latin typeface="Verdana" panose="020B0604030504040204" pitchFamily="34" charset="0"/>
            </a:endParaRPr>
          </a:p>
        </p:txBody>
      </p:sp>
      <p:sp>
        <p:nvSpPr>
          <p:cNvPr id="4" name="Slide Number Placeholder 3"/>
          <p:cNvSpPr>
            <a:spLocks noGrp="1"/>
          </p:cNvSpPr>
          <p:nvPr>
            <p:ph type="sldNum" sz="quarter" idx="5"/>
          </p:nvPr>
        </p:nvSpPr>
        <p:spPr/>
        <p:txBody>
          <a:bodyPr/>
          <a:lstStyle/>
          <a:p>
            <a:fld id="{82869989-EB00-4EE7-BCB5-25BDC5BB29F8}" type="slidenum">
              <a:rPr lang="en-US" smtClean="0"/>
              <a:t>30</a:t>
            </a:fld>
            <a:endParaRPr lang="en-US"/>
          </a:p>
        </p:txBody>
      </p:sp>
      <p:sp>
        <p:nvSpPr>
          <p:cNvPr id="5" name="Footer Placeholder 4">
            <a:extLst>
              <a:ext uri="{FF2B5EF4-FFF2-40B4-BE49-F238E27FC236}">
                <a16:creationId xmlns:a16="http://schemas.microsoft.com/office/drawing/2014/main" id="{E10E5632-75FA-5C64-4A06-437E7FE3FFCF}"/>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2797317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Discuss benchmarking use of these terms vs. “savings.” </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31</a:t>
            </a:fld>
            <a:endParaRPr lang="en-US"/>
          </a:p>
        </p:txBody>
      </p:sp>
    </p:spTree>
    <p:extLst>
      <p:ext uri="{BB962C8B-B14F-4D97-AF65-F5344CB8AC3E}">
        <p14:creationId xmlns:p14="http://schemas.microsoft.com/office/powerpoint/2010/main" val="12331836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Notes</a:t>
            </a:r>
          </a:p>
          <a:p>
            <a:pPr marL="171450" indent="-171450">
              <a:buFont typeface="Arial" panose="020B0604020202020204" pitchFamily="34" charset="0"/>
              <a:buChar char="•"/>
            </a:pPr>
            <a:r>
              <a:rPr lang="en-US" dirty="0"/>
              <a:t>Modeling can apply to both performance verification and counterfactual methods. But the latter is much more involved and difficult.  </a:t>
            </a:r>
          </a:p>
          <a:p>
            <a:pPr marL="171450" indent="-171450">
              <a:buFont typeface="Arial" panose="020B0604020202020204" pitchFamily="34" charset="0"/>
              <a:buChar char="•"/>
            </a:pPr>
            <a:r>
              <a:rPr lang="en-US" dirty="0"/>
              <a:t>Regarding the George Box quotation: set expectations! That’s the key to a successful settlement.</a:t>
            </a:r>
          </a:p>
          <a:p>
            <a:endParaRPr lang="en-US" dirty="0"/>
          </a:p>
          <a:p>
            <a:endParaRPr lang="en-US" dirty="0"/>
          </a:p>
          <a:p>
            <a:r>
              <a:rPr lang="en-US" sz="1200" b="1" i="0" kern="1200" dirty="0">
                <a:solidFill>
                  <a:schemeClr val="tx1"/>
                </a:solidFill>
                <a:effectLst/>
                <a:latin typeface="Verdana" panose="020B0604030504040204" pitchFamily="34" charset="0"/>
                <a:ea typeface="+mn-ea"/>
                <a:cs typeface="+mn-cs"/>
              </a:rPr>
              <a:t>Instructor Note:</a:t>
            </a:r>
            <a:r>
              <a:rPr lang="en-US" sz="1200" b="0" i="0" kern="1200" dirty="0">
                <a:solidFill>
                  <a:schemeClr val="tx1"/>
                </a:solidFill>
                <a:effectLst/>
                <a:latin typeface="Verdana" panose="020B0604030504040204" pitchFamily="34" charset="0"/>
                <a:ea typeface="+mn-ea"/>
                <a:cs typeface="+mn-cs"/>
              </a:rPr>
              <a:t> "For students who want to go deeper into spurious correlations and the limits of statistical inference:"</a:t>
            </a:r>
          </a:p>
          <a:p>
            <a:pPr lvl="0"/>
            <a:r>
              <a:rPr lang="en-US" sz="1200" b="0" i="0" kern="1200" dirty="0">
                <a:solidFill>
                  <a:schemeClr val="tx1"/>
                </a:solidFill>
                <a:effectLst/>
                <a:latin typeface="Verdana" panose="020B0604030504040204" pitchFamily="34" charset="0"/>
                <a:ea typeface="+mn-ea"/>
                <a:cs typeface="+mn-cs"/>
              </a:rPr>
              <a:t>Tyler Vigen - Spurious Correlations: https://</a:t>
            </a:r>
            <a:r>
              <a:rPr lang="en-US" sz="1200" b="0" i="0" kern="1200" dirty="0" err="1">
                <a:solidFill>
                  <a:schemeClr val="tx1"/>
                </a:solidFill>
                <a:effectLst/>
                <a:latin typeface="Verdana" panose="020B0604030504040204" pitchFamily="34" charset="0"/>
                <a:ea typeface="+mn-ea"/>
                <a:cs typeface="+mn-cs"/>
              </a:rPr>
              <a:t>tylervigen.com</a:t>
            </a:r>
            <a:r>
              <a:rPr lang="en-US" sz="1200" b="0" i="0" kern="1200" dirty="0">
                <a:solidFill>
                  <a:schemeClr val="tx1"/>
                </a:solidFill>
                <a:effectLst/>
                <a:latin typeface="Verdana" panose="020B0604030504040204" pitchFamily="34" charset="0"/>
                <a:ea typeface="+mn-ea"/>
                <a:cs typeface="+mn-cs"/>
              </a:rPr>
              <a:t>/spurious-correlations</a:t>
            </a:r>
          </a:p>
          <a:p>
            <a:endParaRPr lang="en-US" dirty="0"/>
          </a:p>
        </p:txBody>
      </p:sp>
      <p:sp>
        <p:nvSpPr>
          <p:cNvPr id="4" name="Slide Number Placeholder 3"/>
          <p:cNvSpPr>
            <a:spLocks noGrp="1"/>
          </p:cNvSpPr>
          <p:nvPr>
            <p:ph type="sldNum" sz="quarter" idx="5"/>
          </p:nvPr>
        </p:nvSpPr>
        <p:spPr/>
        <p:txBody>
          <a:bodyPr/>
          <a:lstStyle/>
          <a:p>
            <a:fld id="{82869989-EB00-4EE7-BCB5-25BDC5BB29F8}" type="slidenum">
              <a:rPr lang="en-US" smtClean="0"/>
              <a:t>32</a:t>
            </a:fld>
            <a:endParaRPr lang="en-US"/>
          </a:p>
        </p:txBody>
      </p:sp>
      <p:sp>
        <p:nvSpPr>
          <p:cNvPr id="5" name="Footer Placeholder 4">
            <a:extLst>
              <a:ext uri="{FF2B5EF4-FFF2-40B4-BE49-F238E27FC236}">
                <a16:creationId xmlns:a16="http://schemas.microsoft.com/office/drawing/2014/main" id="{02549062-C29B-CFA4-254C-A80685936FE2}"/>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6107758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Ask participants what they think the “lesson” of this story is. </a:t>
            </a:r>
          </a:p>
          <a:p>
            <a:endParaRPr lang="en-US" i="0"/>
          </a:p>
          <a:p>
            <a:r>
              <a:rPr lang="en-US" i="0"/>
              <a:t>(Response Sought</a:t>
            </a:r>
            <a:r>
              <a:rPr lang="en-US"/>
              <a:t>: The concept of the “spherical cow” refers to the practice of simplifying real-world problems for the sake of the feasibility of computational analysis—especially when the simplification undermines the model’s practical applicability.)</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35</a:t>
            </a:fld>
            <a:endParaRPr lang="en-US"/>
          </a:p>
        </p:txBody>
      </p:sp>
    </p:spTree>
    <p:extLst>
      <p:ext uri="{BB962C8B-B14F-4D97-AF65-F5344CB8AC3E}">
        <p14:creationId xmlns:p14="http://schemas.microsoft.com/office/powerpoint/2010/main" val="17185882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3220B-9EFC-DD5B-4135-257F321CE5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93C6E-CAA1-ED73-9AAE-3F910F016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FC880D-E42E-5B20-FAF5-BD9F63A1DD97}"/>
              </a:ext>
            </a:extLst>
          </p:cNvPr>
          <p:cNvSpPr>
            <a:spLocks noGrp="1"/>
          </p:cNvSpPr>
          <p:nvPr>
            <p:ph type="body" idx="1"/>
          </p:nvPr>
        </p:nvSpPr>
        <p:spPr/>
        <p:txBody>
          <a:bodyPr/>
          <a:lstStyle/>
          <a:p>
            <a:r>
              <a:rPr lang="en-US" b="1" dirty="0"/>
              <a:t>Instructor Note</a:t>
            </a:r>
            <a:r>
              <a:rPr lang="en-US" dirty="0"/>
              <a:t>: Ask participants what they think the “lesson” of this story is. </a:t>
            </a:r>
          </a:p>
          <a:p>
            <a:endParaRPr lang="en-US" i="0" dirty="0"/>
          </a:p>
          <a:p>
            <a:r>
              <a:rPr lang="en-US" i="0" dirty="0"/>
              <a:t>(Response Sought</a:t>
            </a:r>
            <a:r>
              <a:rPr lang="en-US" dirty="0"/>
              <a:t>: The concept of the “spherical cow” refers to the practice of simplifying real-world problems for the sake of the feasibility of computational analysis—especially when the simplification undermines the model’s practical applicability.)</a:t>
            </a:r>
          </a:p>
          <a:p>
            <a:endParaRPr lang="en-US" dirty="0"/>
          </a:p>
          <a:p>
            <a:r>
              <a:rPr lang="en-US" dirty="0"/>
              <a:t>Also </a:t>
            </a:r>
            <a:r>
              <a:rPr lang="en-US" dirty="0" err="1"/>
              <a:t>cynefin</a:t>
            </a:r>
            <a:r>
              <a:rPr lang="en-US" dirty="0"/>
              <a:t> approach. </a:t>
            </a:r>
          </a:p>
          <a:p>
            <a:endParaRPr lang="en-US" dirty="0"/>
          </a:p>
        </p:txBody>
      </p:sp>
      <p:sp>
        <p:nvSpPr>
          <p:cNvPr id="4" name="Footer Placeholder 3">
            <a:extLst>
              <a:ext uri="{FF2B5EF4-FFF2-40B4-BE49-F238E27FC236}">
                <a16:creationId xmlns:a16="http://schemas.microsoft.com/office/drawing/2014/main" id="{C37CC07D-5B7E-396B-A39B-88A18557E498}"/>
              </a:ext>
            </a:extLst>
          </p:cNvPr>
          <p:cNvSpPr>
            <a:spLocks noGrp="1"/>
          </p:cNvSpPr>
          <p:nvPr>
            <p:ph type="ftr" sz="quarter" idx="4"/>
          </p:nvPr>
        </p:nvSpPr>
        <p:spPr/>
        <p:txBody>
          <a:bodyPr/>
          <a:lstStyle/>
          <a:p>
            <a:r>
              <a:rPr lang="en-US"/>
              <a:t>CMVP_v2022.07</a:t>
            </a:r>
          </a:p>
        </p:txBody>
      </p:sp>
      <p:sp>
        <p:nvSpPr>
          <p:cNvPr id="5" name="Slide Number Placeholder 4">
            <a:extLst>
              <a:ext uri="{FF2B5EF4-FFF2-40B4-BE49-F238E27FC236}">
                <a16:creationId xmlns:a16="http://schemas.microsoft.com/office/drawing/2014/main" id="{17C1ABAE-DA97-CD09-E7AE-C0E8D6E1C238}"/>
              </a:ext>
            </a:extLst>
          </p:cNvPr>
          <p:cNvSpPr>
            <a:spLocks noGrp="1"/>
          </p:cNvSpPr>
          <p:nvPr>
            <p:ph type="sldNum" sz="quarter" idx="5"/>
          </p:nvPr>
        </p:nvSpPr>
        <p:spPr/>
        <p:txBody>
          <a:bodyPr/>
          <a:lstStyle/>
          <a:p>
            <a:fld id="{82869989-EB00-4EE7-BCB5-25BDC5BB29F8}" type="slidenum">
              <a:rPr lang="en-US" smtClean="0"/>
              <a:pPr/>
              <a:t>36</a:t>
            </a:fld>
            <a:endParaRPr lang="en-US"/>
          </a:p>
        </p:txBody>
      </p:sp>
    </p:spTree>
    <p:extLst>
      <p:ext uri="{BB962C8B-B14F-4D97-AF65-F5344CB8AC3E}">
        <p14:creationId xmlns:p14="http://schemas.microsoft.com/office/powerpoint/2010/main" val="687148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37</a:t>
            </a:fld>
            <a:endParaRPr lang="en-US"/>
          </a:p>
        </p:txBody>
      </p:sp>
      <p:sp>
        <p:nvSpPr>
          <p:cNvPr id="5" name="Footer Placeholder 4">
            <a:extLst>
              <a:ext uri="{FF2B5EF4-FFF2-40B4-BE49-F238E27FC236}">
                <a16:creationId xmlns:a16="http://schemas.microsoft.com/office/drawing/2014/main" id="{2E3AF764-E8D2-00F8-535A-BA441B256D2E}"/>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4723929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b="0"/>
              <a:t>: </a:t>
            </a:r>
            <a:r>
              <a:rPr lang="en-US"/>
              <a:t>Explain that we will discuss this use of models in the sections on whole facility and retrofit isolation.</a:t>
            </a:r>
          </a:p>
        </p:txBody>
      </p:sp>
      <p:sp>
        <p:nvSpPr>
          <p:cNvPr id="4" name="Slide Number Placeholder 3"/>
          <p:cNvSpPr>
            <a:spLocks noGrp="1"/>
          </p:cNvSpPr>
          <p:nvPr>
            <p:ph type="sldNum" sz="quarter" idx="5"/>
          </p:nvPr>
        </p:nvSpPr>
        <p:spPr/>
        <p:txBody>
          <a:bodyPr/>
          <a:lstStyle/>
          <a:p>
            <a:fld id="{82869989-EB00-4EE7-BCB5-25BDC5BB29F8}" type="slidenum">
              <a:rPr lang="en-US" smtClean="0"/>
              <a:t>38</a:t>
            </a:fld>
            <a:endParaRPr lang="en-US"/>
          </a:p>
        </p:txBody>
      </p:sp>
      <p:sp>
        <p:nvSpPr>
          <p:cNvPr id="5" name="Footer Placeholder 4">
            <a:extLst>
              <a:ext uri="{FF2B5EF4-FFF2-40B4-BE49-F238E27FC236}">
                <a16:creationId xmlns:a16="http://schemas.microsoft.com/office/drawing/2014/main" id="{2E3AF764-E8D2-00F8-535A-BA441B256D2E}"/>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0630333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39</a:t>
            </a:fld>
            <a:endParaRPr lang="en-US"/>
          </a:p>
        </p:txBody>
      </p:sp>
      <p:sp>
        <p:nvSpPr>
          <p:cNvPr id="5" name="Footer Placeholder 4">
            <a:extLst>
              <a:ext uri="{FF2B5EF4-FFF2-40B4-BE49-F238E27FC236}">
                <a16:creationId xmlns:a16="http://schemas.microsoft.com/office/drawing/2014/main" id="{A300ED8B-01A6-E9B4-DF0A-019C619B4EDE}"/>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5988632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a:t>
            </a:r>
            <a:r>
              <a:rPr lang="en-US"/>
              <a:t>: Consider showing examples of simple models.</a:t>
            </a:r>
          </a:p>
        </p:txBody>
      </p:sp>
      <p:sp>
        <p:nvSpPr>
          <p:cNvPr id="4" name="Slide Number Placeholder 3"/>
          <p:cNvSpPr>
            <a:spLocks noGrp="1"/>
          </p:cNvSpPr>
          <p:nvPr>
            <p:ph type="sldNum" sz="quarter" idx="5"/>
          </p:nvPr>
        </p:nvSpPr>
        <p:spPr/>
        <p:txBody>
          <a:bodyPr/>
          <a:lstStyle/>
          <a:p>
            <a:fld id="{82869989-EB00-4EE7-BCB5-25BDC5BB29F8}" type="slidenum">
              <a:rPr lang="en-US" smtClean="0"/>
              <a:pPr/>
              <a:t>41</a:t>
            </a:fld>
            <a:endParaRPr lang="en-US"/>
          </a:p>
        </p:txBody>
      </p:sp>
      <p:sp>
        <p:nvSpPr>
          <p:cNvPr id="5" name="Footer Placeholder 4">
            <a:extLst>
              <a:ext uri="{FF2B5EF4-FFF2-40B4-BE49-F238E27FC236}">
                <a16:creationId xmlns:a16="http://schemas.microsoft.com/office/drawing/2014/main" id="{02CE61E8-6A49-5719-6707-A1AFA58F2A23}"/>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5950782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www.sciencedirect.com</a:t>
            </a:r>
            <a:r>
              <a:rPr lang="en-US" dirty="0"/>
              <a:t>/science/article/</a:t>
            </a:r>
            <a:r>
              <a:rPr lang="en-US" dirty="0" err="1"/>
              <a:t>pii</a:t>
            </a:r>
            <a:r>
              <a:rPr lang="en-US" dirty="0"/>
              <a:t>/S2352711025003334</a:t>
            </a:r>
          </a:p>
          <a:p>
            <a:endParaRPr lang="en-US" dirty="0"/>
          </a:p>
          <a:p>
            <a:r>
              <a:rPr lang="en-US" dirty="0"/>
              <a:t>https://</a:t>
            </a:r>
            <a:r>
              <a:rPr lang="en-US" dirty="0" err="1"/>
              <a:t>github.com</a:t>
            </a:r>
            <a:r>
              <a:rPr lang="en-US" dirty="0"/>
              <a:t>/LBNL-ETA/</a:t>
            </a:r>
            <a:r>
              <a:rPr lang="en-US" dirty="0" err="1"/>
              <a:t>EnergyPlus</a:t>
            </a:r>
            <a:r>
              <a:rPr lang="en-US" dirty="0"/>
              <a:t>-MCP</a:t>
            </a:r>
          </a:p>
          <a:p>
            <a:endParaRPr lang="en-US" dirty="0"/>
          </a:p>
          <a:p>
            <a:endParaRPr lang="en-US" dirty="0"/>
          </a:p>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44</a:t>
            </a:fld>
            <a:endParaRPr lang="en-US"/>
          </a:p>
        </p:txBody>
      </p:sp>
    </p:spTree>
    <p:extLst>
      <p:ext uri="{BB962C8B-B14F-4D97-AF65-F5344CB8AC3E}">
        <p14:creationId xmlns:p14="http://schemas.microsoft.com/office/powerpoint/2010/main" val="21187377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Verdana" panose="020B0604030504040204" pitchFamily="34" charset="0"/>
              </a:rPr>
              <a:t>Instructor Notes</a:t>
            </a:r>
          </a:p>
          <a:p>
            <a:pPr marL="181240" indent="-181240">
              <a:buFont typeface="Arial" panose="020B0604020202020204" pitchFamily="34" charset="0"/>
              <a:buChar char="•"/>
            </a:pPr>
            <a:r>
              <a:rPr lang="en-US">
                <a:latin typeface="Verdana" panose="020B0604030504040204" pitchFamily="34" charset="0"/>
              </a:rPr>
              <a:t>A good discussion of these topics can be found in FiveThirtyEight, “Model Talk: How Climate Models Work” (podcast): </a:t>
            </a:r>
            <a:r>
              <a:rPr lang="en-US" sz="1300">
                <a:latin typeface="Verdana" panose="020B0604030504040204" pitchFamily="34" charset="0"/>
              </a:rPr>
              <a:t>https://fivethirtyeight.com/features/how-climate-models-work/</a:t>
            </a:r>
          </a:p>
          <a:p>
            <a:pPr marL="181240" indent="-181240">
              <a:buFont typeface="Arial" panose="020B0604020202020204" pitchFamily="34" charset="0"/>
              <a:buChar char="•"/>
            </a:pPr>
            <a:r>
              <a:rPr lang="en-US" sz="1300">
                <a:latin typeface="Verdana" panose="020B0604030504040204" pitchFamily="34" charset="0"/>
              </a:rPr>
              <a:t>Other analytic industries share our challenge—how to create ”forecast” models that will hold up throughout the reporting period.</a:t>
            </a:r>
          </a:p>
        </p:txBody>
      </p:sp>
      <p:sp>
        <p:nvSpPr>
          <p:cNvPr id="4" name="Slide Number Placeholder 3"/>
          <p:cNvSpPr>
            <a:spLocks noGrp="1"/>
          </p:cNvSpPr>
          <p:nvPr>
            <p:ph type="sldNum" sz="quarter" idx="5"/>
          </p:nvPr>
        </p:nvSpPr>
        <p:spPr/>
        <p:txBody>
          <a:bodyPr/>
          <a:lstStyle/>
          <a:p>
            <a:fld id="{82869989-EB00-4EE7-BCB5-25BDC5BB29F8}" type="slidenum">
              <a:rPr lang="en-US" smtClean="0"/>
              <a:pPr/>
              <a:t>45</a:t>
            </a:fld>
            <a:endParaRPr lang="en-US"/>
          </a:p>
        </p:txBody>
      </p:sp>
      <p:sp>
        <p:nvSpPr>
          <p:cNvPr id="5" name="Footer Placeholder 4">
            <a:extLst>
              <a:ext uri="{FF2B5EF4-FFF2-40B4-BE49-F238E27FC236}">
                <a16:creationId xmlns:a16="http://schemas.microsoft.com/office/drawing/2014/main" id="{0C6D400F-7345-0851-552F-C56B372B821A}"/>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5791855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Verdana" panose="020B0604030504040204" pitchFamily="34" charset="0"/>
              </a:rPr>
              <a:t>Instructor Note</a:t>
            </a:r>
            <a:r>
              <a:rPr lang="en-US" b="0">
                <a:latin typeface="Verdana" panose="020B0604030504040204" pitchFamily="34" charset="0"/>
              </a:rPr>
              <a:t>: </a:t>
            </a:r>
            <a:r>
              <a:rPr lang="en-US">
                <a:latin typeface="Verdana" panose="020B0604030504040204" pitchFamily="34" charset="0"/>
              </a:rPr>
              <a:t>Here is a quip from one of the course creators: “M&amp;V is too important to be left to engineers.” —Steve Kromer, PE</a:t>
            </a:r>
          </a:p>
        </p:txBody>
      </p:sp>
      <p:sp>
        <p:nvSpPr>
          <p:cNvPr id="4" name="Slide Number Placeholder 3"/>
          <p:cNvSpPr>
            <a:spLocks noGrp="1"/>
          </p:cNvSpPr>
          <p:nvPr>
            <p:ph type="sldNum" sz="quarter" idx="5"/>
          </p:nvPr>
        </p:nvSpPr>
        <p:spPr/>
        <p:txBody>
          <a:bodyPr/>
          <a:lstStyle/>
          <a:p>
            <a:fld id="{82869989-EB00-4EE7-BCB5-25BDC5BB29F8}" type="slidenum">
              <a:rPr lang="en-US" smtClean="0"/>
              <a:pPr/>
              <a:t>46</a:t>
            </a:fld>
            <a:endParaRPr lang="en-US"/>
          </a:p>
        </p:txBody>
      </p:sp>
      <p:sp>
        <p:nvSpPr>
          <p:cNvPr id="5" name="Footer Placeholder 4">
            <a:extLst>
              <a:ext uri="{FF2B5EF4-FFF2-40B4-BE49-F238E27FC236}">
                <a16:creationId xmlns:a16="http://schemas.microsoft.com/office/drawing/2014/main" id="{167DE12E-9B92-11E6-0CB3-BD18AC36EF7B}"/>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95205428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48</a:t>
            </a:fld>
            <a:endParaRPr lang="en-US"/>
          </a:p>
        </p:txBody>
      </p:sp>
      <p:sp>
        <p:nvSpPr>
          <p:cNvPr id="5" name="Footer Placeholder 4">
            <a:extLst>
              <a:ext uri="{FF2B5EF4-FFF2-40B4-BE49-F238E27FC236}">
                <a16:creationId xmlns:a16="http://schemas.microsoft.com/office/drawing/2014/main" id="{08DDCA4A-40B4-8D21-99C0-647381CCFACD}"/>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15500642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Notes</a:t>
            </a:r>
            <a:endParaRPr lang="en-US"/>
          </a:p>
          <a:p>
            <a:pPr marL="181240" indent="-181240">
              <a:buFont typeface="Arial" panose="020B0604020202020204" pitchFamily="34" charset="0"/>
              <a:buChar char="•"/>
            </a:pPr>
            <a:r>
              <a:rPr lang="en-US"/>
              <a:t>Tarshid is Saudi Arabia’s national energy services company, “a result of a collaborative effort between the Ministry of Energy, Ministry of Finance, and the Saudi Energy Efficiency Center.”</a:t>
            </a:r>
          </a:p>
          <a:p>
            <a:pPr marL="181240" indent="-181240">
              <a:buFont typeface="Arial" panose="020B0604020202020204" pitchFamily="34" charset="0"/>
              <a:buChar char="•"/>
            </a:pPr>
            <a:r>
              <a:rPr lang="en-US"/>
              <a:t>Super ESCOs are governmental entities created to serve the public sector, develop the capacity of private ESCOs, and facilitate project financing.</a:t>
            </a:r>
          </a:p>
        </p:txBody>
      </p:sp>
      <p:sp>
        <p:nvSpPr>
          <p:cNvPr id="4" name="Slide Number Placeholder 3"/>
          <p:cNvSpPr>
            <a:spLocks noGrp="1"/>
          </p:cNvSpPr>
          <p:nvPr>
            <p:ph type="sldNum" sz="quarter" idx="5"/>
          </p:nvPr>
        </p:nvSpPr>
        <p:spPr/>
        <p:txBody>
          <a:bodyPr/>
          <a:lstStyle/>
          <a:p>
            <a:fld id="{82869989-EB00-4EE7-BCB5-25BDC5BB29F8}" type="slidenum">
              <a:rPr lang="en-US" smtClean="0"/>
              <a:pPr/>
              <a:t>49</a:t>
            </a:fld>
            <a:endParaRPr lang="en-US"/>
          </a:p>
        </p:txBody>
      </p:sp>
      <p:sp>
        <p:nvSpPr>
          <p:cNvPr id="5" name="Footer Placeholder 4">
            <a:extLst>
              <a:ext uri="{FF2B5EF4-FFF2-40B4-BE49-F238E27FC236}">
                <a16:creationId xmlns:a16="http://schemas.microsoft.com/office/drawing/2014/main" id="{3341FEC4-8096-A40A-911D-2F29ABEAB229}"/>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3448073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66612">
              <a:defRPr/>
            </a:pPr>
            <a:r>
              <a:rPr lang="en-US" b="1"/>
              <a:t>Instructor Notes</a:t>
            </a:r>
          </a:p>
          <a:p>
            <a:pPr marL="171450" indent="-171450" defTabSz="966612">
              <a:buFont typeface="Arial" panose="020B0604020202020204" pitchFamily="34" charset="0"/>
              <a:buChar char="•"/>
              <a:defRPr/>
            </a:pPr>
            <a:r>
              <a:rPr lang="en-US"/>
              <a:t>Which is the right model for this data? ​Each model will give a slightly different answer. ​Exercise judgment!​ [Continues on next slide.]</a:t>
            </a:r>
            <a:endParaRPr lang="en-US" b="1"/>
          </a:p>
          <a:p>
            <a:pPr marL="171450" indent="-171450" defTabSz="966612">
              <a:buFont typeface="Arial" panose="020B0604020202020204" pitchFamily="34" charset="0"/>
              <a:buChar char="•"/>
              <a:defRPr/>
            </a:pPr>
            <a:r>
              <a:rPr lang="en-US" b="0"/>
              <a:t>Discuss ECAM here. Open the link to a simple model. Demonstrate this pull down menu.</a:t>
            </a:r>
          </a:p>
        </p:txBody>
      </p:sp>
      <p:sp>
        <p:nvSpPr>
          <p:cNvPr id="4" name="Slide Number Placeholder 3"/>
          <p:cNvSpPr>
            <a:spLocks noGrp="1"/>
          </p:cNvSpPr>
          <p:nvPr>
            <p:ph type="sldNum" sz="quarter" idx="5"/>
          </p:nvPr>
        </p:nvSpPr>
        <p:spPr/>
        <p:txBody>
          <a:bodyPr/>
          <a:lstStyle/>
          <a:p>
            <a:fld id="{82869989-EB00-4EE7-BCB5-25BDC5BB29F8}" type="slidenum">
              <a:rPr lang="en-US" smtClean="0"/>
              <a:pPr/>
              <a:t>51</a:t>
            </a:fld>
            <a:endParaRPr lang="en-US"/>
          </a:p>
        </p:txBody>
      </p:sp>
      <p:sp>
        <p:nvSpPr>
          <p:cNvPr id="5" name="Footer Placeholder 4">
            <a:extLst>
              <a:ext uri="{FF2B5EF4-FFF2-40B4-BE49-F238E27FC236}">
                <a16:creationId xmlns:a16="http://schemas.microsoft.com/office/drawing/2014/main" id="{81910C09-27C5-409F-56C9-2AA320CAB2C1}"/>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8999690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Instructor Notes</a:t>
            </a:r>
          </a:p>
          <a:p>
            <a:pPr marL="171450" indent="-171450">
              <a:buFont typeface="Arial" panose="020B0604020202020204" pitchFamily="34" charset="0"/>
              <a:buChar char="•"/>
            </a:pPr>
            <a:r>
              <a:rPr lang="en-US"/>
              <a:t>Highlight the Statistical Terms—discuss that we will be going over all these later. </a:t>
            </a:r>
          </a:p>
          <a:p>
            <a:pPr marL="171450" indent="-171450">
              <a:buFont typeface="Arial" panose="020B0604020202020204" pitchFamily="34" charset="0"/>
              <a:buChar char="•"/>
            </a:pPr>
            <a:r>
              <a:rPr lang="en-US"/>
              <a:t>Discuss “Statistics” spreadsheet (Hannah Seeger).</a:t>
            </a:r>
          </a:p>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52</a:t>
            </a:fld>
            <a:endParaRPr lang="en-US"/>
          </a:p>
        </p:txBody>
      </p:sp>
      <p:sp>
        <p:nvSpPr>
          <p:cNvPr id="5" name="Footer Placeholder 4">
            <a:extLst>
              <a:ext uri="{FF2B5EF4-FFF2-40B4-BE49-F238E27FC236}">
                <a16:creationId xmlns:a16="http://schemas.microsoft.com/office/drawing/2014/main" id="{5118EEDC-5382-A236-DAC0-53D24F3F1378}"/>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42828113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pPr/>
              <a:t>53</a:t>
            </a:fld>
            <a:endParaRPr lang="en-US"/>
          </a:p>
        </p:txBody>
      </p:sp>
      <p:sp>
        <p:nvSpPr>
          <p:cNvPr id="5" name="Footer Placeholder 4">
            <a:extLst>
              <a:ext uri="{FF2B5EF4-FFF2-40B4-BE49-F238E27FC236}">
                <a16:creationId xmlns:a16="http://schemas.microsoft.com/office/drawing/2014/main" id="{1B8E853B-8EDF-2AF2-0BF7-CF670CAC5BD5}"/>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2554826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a:t>
            </a:r>
            <a:r>
              <a:rPr lang="en-US" dirty="0"/>
              <a:t>: Add an example report with something like “125,000 kWh ± 1000 kWh @ 90% confidence level.” Then, highlight the confidence interval and confidence level of the final result. Repeat this throughout the class. This </a:t>
            </a:r>
            <a:r>
              <a:rPr lang="en-US" b="0" i="0" dirty="0">
                <a:solidFill>
                  <a:srgbClr val="0056D6"/>
                </a:solidFill>
                <a:effectLst/>
                <a:latin typeface="Arial" panose="020B0604020202020204" pitchFamily="34" charset="0"/>
              </a:rPr>
              <a:t>can be implemented on a whiteboard or chart in the classroom.</a:t>
            </a:r>
          </a:p>
          <a:p>
            <a:endParaRPr lang="en-US" b="0" i="0" dirty="0">
              <a:solidFill>
                <a:srgbClr val="0056D6"/>
              </a:solidFill>
              <a:effectLst/>
              <a:latin typeface="Arial" panose="020B0604020202020204" pitchFamily="34" charset="0"/>
            </a:endParaRPr>
          </a:p>
          <a:p>
            <a:r>
              <a:rPr lang="en-US" b="0" i="0" dirty="0">
                <a:solidFill>
                  <a:srgbClr val="0056D6"/>
                </a:solidFill>
                <a:effectLst/>
                <a:latin typeface="Arial" panose="020B0604020202020204" pitchFamily="34" charset="0"/>
              </a:rPr>
              <a:t>Show how baselines can have uncertainty of all three types.   </a:t>
            </a:r>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54</a:t>
            </a:fld>
            <a:endParaRPr lang="en-US"/>
          </a:p>
        </p:txBody>
      </p:sp>
    </p:spTree>
    <p:extLst>
      <p:ext uri="{BB962C8B-B14F-4D97-AF65-F5344CB8AC3E}">
        <p14:creationId xmlns:p14="http://schemas.microsoft.com/office/powerpoint/2010/main" val="30807063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Verdana" panose="020B0604030504040204" pitchFamily="34" charset="0"/>
                <a:ea typeface="+mn-ea"/>
                <a:cs typeface="+mn-cs"/>
              </a:rPr>
              <a:t>"The baseline model has a certain uncertainty based on its CV(RMSE) - that's the 'quality' of the model fit to baseline data.</a:t>
            </a:r>
          </a:p>
          <a:p>
            <a:r>
              <a:rPr lang="en-US" sz="1200" b="0" i="0" u="none" strike="noStrike" kern="1200" dirty="0">
                <a:solidFill>
                  <a:schemeClr val="tx1"/>
                </a:solidFill>
                <a:effectLst/>
                <a:latin typeface="Verdana" panose="020B0604030504040204" pitchFamily="34" charset="0"/>
                <a:ea typeface="+mn-ea"/>
                <a:cs typeface="+mn-cs"/>
              </a:rPr>
              <a:t>When we start the reporting period, we're asking: 'Does this model still work?' After 1 month, we have limited evidence. After 12 months, we have strong evidence - twelve successful 'predictions' (actually, representations) that validated the model.</a:t>
            </a:r>
          </a:p>
          <a:p>
            <a:r>
              <a:rPr lang="en-US" sz="1200" b="0" i="0" u="none" strike="noStrike" kern="1200" dirty="0">
                <a:solidFill>
                  <a:schemeClr val="tx1"/>
                </a:solidFill>
                <a:effectLst/>
                <a:latin typeface="Verdana" panose="020B0604030504040204" pitchFamily="34" charset="0"/>
                <a:ea typeface="+mn-ea"/>
                <a:cs typeface="+mn-cs"/>
              </a:rPr>
              <a:t>That's why FSU has √months in the denominator. Not because we're getting better at predicting, but because we're accumulating evidence the model still represents reality.</a:t>
            </a:r>
          </a:p>
          <a:p>
            <a:r>
              <a:rPr lang="en-US" sz="1200" b="0" i="0" u="none" strike="noStrike" kern="1200" dirty="0">
                <a:solidFill>
                  <a:schemeClr val="tx1"/>
                </a:solidFill>
                <a:effectLst/>
                <a:latin typeface="Verdana" panose="020B0604030504040204" pitchFamily="34" charset="0"/>
                <a:ea typeface="+mn-ea"/>
                <a:cs typeface="+mn-cs"/>
              </a:rPr>
              <a:t>Think of it like this: The model's inherent uncertainty (CV(RMSE)) is fixed - that was determined during baseline. But our confidence that it still applies grows with more reporting data. FSU quantifies that growing confidence."</a:t>
            </a:r>
          </a:p>
          <a:p>
            <a:endParaRPr lang="en-US" dirty="0"/>
          </a:p>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55</a:t>
            </a:fld>
            <a:endParaRPr lang="en-US"/>
          </a:p>
        </p:txBody>
      </p:sp>
    </p:spTree>
    <p:extLst>
      <p:ext uri="{BB962C8B-B14F-4D97-AF65-F5344CB8AC3E}">
        <p14:creationId xmlns:p14="http://schemas.microsoft.com/office/powerpoint/2010/main" val="6579948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Talk about epistemic humility – we aren’t going to be able to learn everything. </a:t>
            </a:r>
          </a:p>
          <a:p>
            <a:endParaRPr lang="en-US" dirty="0"/>
          </a:p>
          <a:p>
            <a:endParaRPr lang="en-US" dirty="0"/>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58</a:t>
            </a:fld>
            <a:endParaRPr lang="en-US"/>
          </a:p>
        </p:txBody>
      </p:sp>
    </p:spTree>
    <p:extLst>
      <p:ext uri="{BB962C8B-B14F-4D97-AF65-F5344CB8AC3E}">
        <p14:creationId xmlns:p14="http://schemas.microsoft.com/office/powerpoint/2010/main" val="22598980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72</a:t>
            </a:fld>
            <a:endParaRPr lang="en-US"/>
          </a:p>
        </p:txBody>
      </p:sp>
    </p:spTree>
    <p:extLst>
      <p:ext uri="{BB962C8B-B14F-4D97-AF65-F5344CB8AC3E}">
        <p14:creationId xmlns:p14="http://schemas.microsoft.com/office/powerpoint/2010/main" val="5495873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2869989-EB00-4EE7-BCB5-25BDC5BB29F8}" type="slidenum">
              <a:rPr lang="en-US" smtClean="0"/>
              <a:t>73</a:t>
            </a:fld>
            <a:endParaRPr lang="en-US"/>
          </a:p>
        </p:txBody>
      </p:sp>
      <p:sp>
        <p:nvSpPr>
          <p:cNvPr id="5" name="Footer Placeholder 4">
            <a:extLst>
              <a:ext uri="{FF2B5EF4-FFF2-40B4-BE49-F238E27FC236}">
                <a16:creationId xmlns:a16="http://schemas.microsoft.com/office/drawing/2014/main" id="{6CE7FF4D-EC1C-234D-98BA-56958D2A0671}"/>
              </a:ext>
            </a:extLst>
          </p:cNvPr>
          <p:cNvSpPr>
            <a:spLocks noGrp="1"/>
          </p:cNvSpPr>
          <p:nvPr>
            <p:ph type="ftr" sz="quarter" idx="4"/>
          </p:nvPr>
        </p:nvSpPr>
        <p:spPr/>
        <p:txBody>
          <a:bodyPr/>
          <a:lstStyle/>
          <a:p>
            <a:r>
              <a:rPr lang="en-US"/>
              <a:t>CMVP_v2022.07</a:t>
            </a:r>
          </a:p>
        </p:txBody>
      </p:sp>
    </p:spTree>
    <p:extLst>
      <p:ext uri="{BB962C8B-B14F-4D97-AF65-F5344CB8AC3E}">
        <p14:creationId xmlns:p14="http://schemas.microsoft.com/office/powerpoint/2010/main" val="30482168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Instructor Note: What policies drive all these constructs?</a:t>
            </a:r>
          </a:p>
        </p:txBody>
      </p:sp>
      <p:sp>
        <p:nvSpPr>
          <p:cNvPr id="4" name="Footer Placeholder 3"/>
          <p:cNvSpPr>
            <a:spLocks noGrp="1"/>
          </p:cNvSpPr>
          <p:nvPr>
            <p:ph type="ftr" sz="quarter" idx="4"/>
          </p:nvPr>
        </p:nvSpPr>
        <p:spPr/>
        <p:txBody>
          <a:bodyPr/>
          <a:lstStyle/>
          <a:p>
            <a:r>
              <a:rPr lang="en-US"/>
              <a:t>CMVP_v2022.07</a:t>
            </a:r>
          </a:p>
        </p:txBody>
      </p:sp>
      <p:sp>
        <p:nvSpPr>
          <p:cNvPr id="5" name="Slide Number Placeholder 4"/>
          <p:cNvSpPr>
            <a:spLocks noGrp="1"/>
          </p:cNvSpPr>
          <p:nvPr>
            <p:ph type="sldNum" sz="quarter" idx="5"/>
          </p:nvPr>
        </p:nvSpPr>
        <p:spPr/>
        <p:txBody>
          <a:bodyPr/>
          <a:lstStyle/>
          <a:p>
            <a:fld id="{82869989-EB00-4EE7-BCB5-25BDC5BB29F8}" type="slidenum">
              <a:rPr lang="en-US" smtClean="0"/>
              <a:pPr/>
              <a:t>74</a:t>
            </a:fld>
            <a:endParaRPr lang="en-US"/>
          </a:p>
        </p:txBody>
      </p:sp>
    </p:spTree>
    <p:extLst>
      <p:ext uri="{BB962C8B-B14F-4D97-AF65-F5344CB8AC3E}">
        <p14:creationId xmlns:p14="http://schemas.microsoft.com/office/powerpoint/2010/main" val="3727365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Verdana" panose="020B060403050404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647631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77216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59" name="Picture 58">
            <a:extLst>
              <a:ext uri="{FF2B5EF4-FFF2-40B4-BE49-F238E27FC236}">
                <a16:creationId xmlns:a16="http://schemas.microsoft.com/office/drawing/2014/main" id="{9F4859F1-D5C7-EC48-BAD7-2B16180A042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sp>
        <p:nvSpPr>
          <p:cNvPr id="2" name="Title 1">
            <a:extLst>
              <a:ext uri="{FF2B5EF4-FFF2-40B4-BE49-F238E27FC236}">
                <a16:creationId xmlns:a16="http://schemas.microsoft.com/office/drawing/2014/main" id="{59F6F62F-6086-F647-B44F-19908D7E21F7}"/>
              </a:ext>
            </a:extLst>
          </p:cNvPr>
          <p:cNvSpPr>
            <a:spLocks noGrp="1"/>
          </p:cNvSpPr>
          <p:nvPr>
            <p:ph type="title"/>
          </p:nvPr>
        </p:nvSpPr>
        <p:spPr>
          <a:xfrm>
            <a:off x="831850" y="576263"/>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C8EEF1-B00A-A645-A6F4-005FCEF7A515}"/>
              </a:ext>
            </a:extLst>
          </p:cNvPr>
          <p:cNvSpPr>
            <a:spLocks noGrp="1"/>
          </p:cNvSpPr>
          <p:nvPr>
            <p:ph type="body" idx="1"/>
          </p:nvPr>
        </p:nvSpPr>
        <p:spPr>
          <a:xfrm>
            <a:off x="831850" y="3455988"/>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cxnSp>
        <p:nvCxnSpPr>
          <p:cNvPr id="58" name="Straight Connector 57">
            <a:extLst>
              <a:ext uri="{FF2B5EF4-FFF2-40B4-BE49-F238E27FC236}">
                <a16:creationId xmlns:a16="http://schemas.microsoft.com/office/drawing/2014/main" id="{985FC28C-C508-BD4C-8B9A-740C8339A1AA}"/>
              </a:ext>
            </a:extLst>
          </p:cNvPr>
          <p:cNvCxnSpPr>
            <a:cxnSpLocks/>
          </p:cNvCxnSpPr>
          <p:nvPr userDrawn="1"/>
        </p:nvCxnSpPr>
        <p:spPr>
          <a:xfrm>
            <a:off x="958362" y="4160700"/>
            <a:ext cx="10287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709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422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Verdana" panose="020B060403050404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425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33772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5895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132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9722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4002691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27250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9801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71783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06973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51984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6785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993746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330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615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045575DB-02D9-E952-2213-315BDA88FD42}"/>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34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14527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C49ED7A3-C649-6235-DF9D-F3B16E3C813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C9CE07EE-50FE-474D-0F8E-5F992A7404BA}"/>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444854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9655640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B08F-9BA6-F36A-B0D9-029AA4C2262C}"/>
              </a:ext>
            </a:extLst>
          </p:cNvPr>
          <p:cNvSpPr>
            <a:spLocks noGrp="1"/>
          </p:cNvSpPr>
          <p:nvPr>
            <p:ph type="title"/>
          </p:nvPr>
        </p:nvSpPr>
        <p:spPr>
          <a:xfrm>
            <a:off x="838200" y="5284258"/>
            <a:ext cx="10515600" cy="1325563"/>
          </a:xfrm>
        </p:spPr>
        <p:txBody>
          <a:bodyPr/>
          <a:lstStyle>
            <a:lvl1pPr algn="ctr">
              <a:defRPr/>
            </a:lvl1pPr>
          </a:lstStyle>
          <a:p>
            <a:r>
              <a:rPr lang="en-US"/>
              <a:t>Click to edit Master title style</a:t>
            </a:r>
          </a:p>
        </p:txBody>
      </p:sp>
    </p:spTree>
    <p:extLst>
      <p:ext uri="{BB962C8B-B14F-4D97-AF65-F5344CB8AC3E}">
        <p14:creationId xmlns:p14="http://schemas.microsoft.com/office/powerpoint/2010/main" val="415992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D93B1B-427B-4952-82AE-60202DAD191C}"/>
              </a:ext>
            </a:extLst>
          </p:cNvPr>
          <p:cNvSpPr>
            <a:spLocks noGrp="1"/>
          </p:cNvSpPr>
          <p:nvPr>
            <p:ph type="ctrTitle"/>
          </p:nvPr>
        </p:nvSpPr>
        <p:spPr>
          <a:xfrm>
            <a:off x="958361" y="1573469"/>
            <a:ext cx="10286999" cy="2387600"/>
          </a:xfrm>
        </p:spPr>
        <p:txBody>
          <a:bodyPr anchor="b"/>
          <a:lstStyle>
            <a:lvl1pPr algn="l">
              <a:defRPr sz="6000"/>
            </a:lvl1pPr>
          </a:lstStyle>
          <a:p>
            <a:r>
              <a:rPr lang="en-US"/>
              <a:t>Click to edit Master title style</a:t>
            </a:r>
          </a:p>
        </p:txBody>
      </p:sp>
      <p:sp>
        <p:nvSpPr>
          <p:cNvPr id="3" name="Subtitle 2">
            <a:extLst>
              <a:ext uri="{FF2B5EF4-FFF2-40B4-BE49-F238E27FC236}">
                <a16:creationId xmlns:a16="http://schemas.microsoft.com/office/drawing/2014/main" id="{67303964-C8C6-AA7F-4B01-73CD18CA12C9}"/>
              </a:ext>
            </a:extLst>
          </p:cNvPr>
          <p:cNvSpPr>
            <a:spLocks noGrp="1"/>
          </p:cNvSpPr>
          <p:nvPr>
            <p:ph type="subTitle" idx="1"/>
          </p:nvPr>
        </p:nvSpPr>
        <p:spPr>
          <a:xfrm>
            <a:off x="958362" y="4360332"/>
            <a:ext cx="10286998"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descr="A screenshot of a computer&#10;&#10;Description automatically generated with medium confidence">
            <a:extLst>
              <a:ext uri="{FF2B5EF4-FFF2-40B4-BE49-F238E27FC236}">
                <a16:creationId xmlns:a16="http://schemas.microsoft.com/office/drawing/2014/main" id="{36028D5E-48DB-E431-5A76-631B89710B9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5241153"/>
            <a:ext cx="12192000" cy="1616847"/>
          </a:xfrm>
          <a:prstGeom prst="rect">
            <a:avLst/>
          </a:prstGeom>
        </p:spPr>
      </p:pic>
      <p:cxnSp>
        <p:nvCxnSpPr>
          <p:cNvPr id="9" name="Straight Connector 8">
            <a:extLst>
              <a:ext uri="{FF2B5EF4-FFF2-40B4-BE49-F238E27FC236}">
                <a16:creationId xmlns:a16="http://schemas.microsoft.com/office/drawing/2014/main" id="{33D4D6E7-D4E4-72C3-4120-84A91FF37BD3}"/>
              </a:ext>
            </a:extLst>
          </p:cNvPr>
          <p:cNvCxnSpPr>
            <a:cxnSpLocks/>
          </p:cNvCxnSpPr>
          <p:nvPr userDrawn="1"/>
        </p:nvCxnSpPr>
        <p:spPr>
          <a:xfrm>
            <a:off x="958362"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6006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our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6"/>
            <a:ext cx="10515600" cy="664422"/>
          </a:xfrm>
        </p:spPr>
        <p:txBody>
          <a:bodyPr/>
          <a:lstStyle/>
          <a:p>
            <a:r>
              <a:rPr lang="en-US"/>
              <a:t>Click to edit Master title style</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52C8A555-1706-5637-0DCF-42D6F9346F99}"/>
              </a:ext>
            </a:extLst>
          </p:cNvPr>
          <p:cNvSpPr>
            <a:spLocks noGrp="1"/>
          </p:cNvSpPr>
          <p:nvPr>
            <p:ph type="pic" sz="quarter" idx="11"/>
          </p:nvPr>
        </p:nvSpPr>
        <p:spPr>
          <a:xfrm>
            <a:off x="834621" y="1028935"/>
            <a:ext cx="5259391" cy="2400065"/>
          </a:xfrm>
        </p:spPr>
        <p:txBody>
          <a:bodyPr/>
          <a:lstStyle/>
          <a:p>
            <a:endParaRPr lang="en-US"/>
          </a:p>
        </p:txBody>
      </p:sp>
      <p:sp>
        <p:nvSpPr>
          <p:cNvPr id="12" name="Picture Placeholder 4">
            <a:extLst>
              <a:ext uri="{FF2B5EF4-FFF2-40B4-BE49-F238E27FC236}">
                <a16:creationId xmlns:a16="http://schemas.microsoft.com/office/drawing/2014/main" id="{A15DAA1B-DA05-AF85-ED79-730185EDE2B1}"/>
              </a:ext>
            </a:extLst>
          </p:cNvPr>
          <p:cNvSpPr>
            <a:spLocks noGrp="1"/>
          </p:cNvSpPr>
          <p:nvPr>
            <p:ph type="pic" sz="quarter" idx="12"/>
          </p:nvPr>
        </p:nvSpPr>
        <p:spPr>
          <a:xfrm>
            <a:off x="834620" y="3429000"/>
            <a:ext cx="5259391" cy="2407939"/>
          </a:xfrm>
        </p:spPr>
        <p:txBody>
          <a:bodyPr/>
          <a:lstStyle/>
          <a:p>
            <a:endParaRPr lang="en-US"/>
          </a:p>
        </p:txBody>
      </p:sp>
      <p:sp>
        <p:nvSpPr>
          <p:cNvPr id="13" name="Picture Placeholder 4">
            <a:extLst>
              <a:ext uri="{FF2B5EF4-FFF2-40B4-BE49-F238E27FC236}">
                <a16:creationId xmlns:a16="http://schemas.microsoft.com/office/drawing/2014/main" id="{932A95C9-5605-F23D-2E6D-18A350D72D15}"/>
              </a:ext>
            </a:extLst>
          </p:cNvPr>
          <p:cNvSpPr>
            <a:spLocks noGrp="1"/>
          </p:cNvSpPr>
          <p:nvPr>
            <p:ph type="pic" sz="quarter" idx="13"/>
          </p:nvPr>
        </p:nvSpPr>
        <p:spPr>
          <a:xfrm>
            <a:off x="6094409" y="1029548"/>
            <a:ext cx="5259391" cy="2407939"/>
          </a:xfrm>
        </p:spPr>
        <p:txBody>
          <a:bodyPr/>
          <a:lstStyle/>
          <a:p>
            <a:endParaRPr lang="en-US"/>
          </a:p>
        </p:txBody>
      </p:sp>
      <p:sp>
        <p:nvSpPr>
          <p:cNvPr id="14" name="Picture Placeholder 4">
            <a:extLst>
              <a:ext uri="{FF2B5EF4-FFF2-40B4-BE49-F238E27FC236}">
                <a16:creationId xmlns:a16="http://schemas.microsoft.com/office/drawing/2014/main" id="{56FF05F1-D24D-C72C-AF1C-85FE33CA6D91}"/>
              </a:ext>
            </a:extLst>
          </p:cNvPr>
          <p:cNvSpPr>
            <a:spLocks noGrp="1"/>
          </p:cNvSpPr>
          <p:nvPr>
            <p:ph type="pic" sz="quarter" idx="14"/>
          </p:nvPr>
        </p:nvSpPr>
        <p:spPr>
          <a:xfrm>
            <a:off x="6094011" y="3429000"/>
            <a:ext cx="5259391" cy="2407939"/>
          </a:xfrm>
        </p:spPr>
        <p:txBody>
          <a:bodyPr/>
          <a:lstStyle/>
          <a:p>
            <a:endParaRPr lang="en-US"/>
          </a:p>
        </p:txBody>
      </p:sp>
    </p:spTree>
    <p:extLst>
      <p:ext uri="{BB962C8B-B14F-4D97-AF65-F5344CB8AC3E}">
        <p14:creationId xmlns:p14="http://schemas.microsoft.com/office/powerpoint/2010/main" val="2568165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Images-Top">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10515600" cy="698131"/>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3572539"/>
            <a:ext cx="10515600" cy="2604423"/>
          </a:xfrm>
        </p:spPr>
        <p:txBody>
          <a:bodyPr tIns="228600"/>
          <a:lstStyle/>
          <a:p>
            <a:pPr lvl="0"/>
            <a:r>
              <a:rPr lang="en-US"/>
              <a:t>Click to edit Master text styles</a:t>
            </a:r>
          </a:p>
          <a:p>
            <a:pPr lvl="1"/>
            <a:r>
              <a:rPr lang="en-US"/>
              <a:t>Second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ABEA586E-8A46-1697-3026-716DEAC586D5}"/>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5" name="Picture Placeholder 4">
            <a:extLst>
              <a:ext uri="{FF2B5EF4-FFF2-40B4-BE49-F238E27FC236}">
                <a16:creationId xmlns:a16="http://schemas.microsoft.com/office/drawing/2014/main" id="{C8D6E386-D8BA-D64A-058C-0CBA3881C59B}"/>
              </a:ext>
            </a:extLst>
          </p:cNvPr>
          <p:cNvSpPr>
            <a:spLocks noGrp="1"/>
          </p:cNvSpPr>
          <p:nvPr>
            <p:ph type="pic" sz="quarter" idx="11"/>
          </p:nvPr>
        </p:nvSpPr>
        <p:spPr>
          <a:xfrm>
            <a:off x="838200" y="1063256"/>
            <a:ext cx="5257800" cy="2508619"/>
          </a:xfrm>
        </p:spPr>
        <p:txBody>
          <a:bodyPr/>
          <a:lstStyle/>
          <a:p>
            <a:endParaRPr lang="en-US"/>
          </a:p>
        </p:txBody>
      </p:sp>
      <p:sp>
        <p:nvSpPr>
          <p:cNvPr id="9" name="Picture Placeholder 4">
            <a:extLst>
              <a:ext uri="{FF2B5EF4-FFF2-40B4-BE49-F238E27FC236}">
                <a16:creationId xmlns:a16="http://schemas.microsoft.com/office/drawing/2014/main" id="{0ED7FFD3-1A10-2363-6DD7-943533E03150}"/>
              </a:ext>
            </a:extLst>
          </p:cNvPr>
          <p:cNvSpPr>
            <a:spLocks noGrp="1"/>
          </p:cNvSpPr>
          <p:nvPr>
            <p:ph type="pic" sz="quarter" idx="12"/>
          </p:nvPr>
        </p:nvSpPr>
        <p:spPr>
          <a:xfrm>
            <a:off x="6096000" y="1068019"/>
            <a:ext cx="5257800" cy="2499093"/>
          </a:xfrm>
        </p:spPr>
        <p:txBody>
          <a:bodyPr/>
          <a:lstStyle/>
          <a:p>
            <a:endParaRPr lang="en-US"/>
          </a:p>
        </p:txBody>
      </p:sp>
    </p:spTree>
    <p:extLst>
      <p:ext uri="{BB962C8B-B14F-4D97-AF65-F5344CB8AC3E}">
        <p14:creationId xmlns:p14="http://schemas.microsoft.com/office/powerpoint/2010/main" val="507366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Heavy Swoop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04872-5D78-0FCC-711A-523CD3A03A97}"/>
              </a:ext>
            </a:extLst>
          </p:cNvPr>
          <p:cNvSpPr>
            <a:spLocks noGrp="1"/>
          </p:cNvSpPr>
          <p:nvPr>
            <p:ph type="title"/>
          </p:nvPr>
        </p:nvSpPr>
        <p:spPr>
          <a:xfrm>
            <a:off x="838200" y="365125"/>
            <a:ext cx="891805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B682A5C-B66D-F1CF-7B6F-D6B17B516AEB}"/>
              </a:ext>
            </a:extLst>
          </p:cNvPr>
          <p:cNvSpPr>
            <a:spLocks noGrp="1"/>
          </p:cNvSpPr>
          <p:nvPr>
            <p:ph idx="1"/>
          </p:nvPr>
        </p:nvSpPr>
        <p:spPr>
          <a:xfrm>
            <a:off x="838200" y="1825625"/>
            <a:ext cx="8918050" cy="4351338"/>
          </a:xfrm>
        </p:spPr>
        <p:txBody>
          <a:bodyPr/>
          <a:lstStyle>
            <a:lvl1pPr>
              <a:defRPr sz="18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descr="A picture containing clipart&#10;&#10;Description automatically generated">
            <a:extLst>
              <a:ext uri="{FF2B5EF4-FFF2-40B4-BE49-F238E27FC236}">
                <a16:creationId xmlns:a16="http://schemas.microsoft.com/office/drawing/2014/main" id="{300D264E-B52D-083B-DDD1-A235CBA447BF}"/>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A76F52A1-6E6E-F21A-3811-A193D1D93F4C}"/>
              </a:ext>
            </a:extLst>
          </p:cNvPr>
          <p:cNvCxnSpPr>
            <a:cxnSpLocks/>
          </p:cNvCxnSpPr>
          <p:nvPr userDrawn="1"/>
        </p:nvCxnSpPr>
        <p:spPr>
          <a:xfrm>
            <a:off x="2232991" y="6488726"/>
            <a:ext cx="752325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16" name="Picture 15" descr="A picture containing text&#10;&#10;Description automatically generated">
            <a:extLst>
              <a:ext uri="{FF2B5EF4-FFF2-40B4-BE49-F238E27FC236}">
                <a16:creationId xmlns:a16="http://schemas.microsoft.com/office/drawing/2014/main" id="{160E74C2-3127-E8CF-4918-164FEC8F7D4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7681544" y="2347548"/>
            <a:ext cx="6858000" cy="2156088"/>
          </a:xfrm>
          <a:prstGeom prst="rect">
            <a:avLst/>
          </a:prstGeom>
        </p:spPr>
      </p:pic>
      <p:sp>
        <p:nvSpPr>
          <p:cNvPr id="14" name="Picture Placeholder 13">
            <a:extLst>
              <a:ext uri="{FF2B5EF4-FFF2-40B4-BE49-F238E27FC236}">
                <a16:creationId xmlns:a16="http://schemas.microsoft.com/office/drawing/2014/main" id="{86AA31C8-0E72-B9CC-4EDD-96355D3017D2}"/>
              </a:ext>
            </a:extLst>
          </p:cNvPr>
          <p:cNvSpPr>
            <a:spLocks noGrp="1"/>
          </p:cNvSpPr>
          <p:nvPr>
            <p:ph type="pic" sz="quarter" idx="10"/>
          </p:nvPr>
        </p:nvSpPr>
        <p:spPr>
          <a:xfrm>
            <a:off x="10090206" y="1611"/>
            <a:ext cx="2098380" cy="6852981"/>
          </a:xfrm>
          <a:custGeom>
            <a:avLst/>
            <a:gdLst>
              <a:gd name="connsiteX0" fmla="*/ 56634 w 1503235"/>
              <a:gd name="connsiteY0" fmla="*/ 0 h 6852981"/>
              <a:gd name="connsiteX1" fmla="*/ 1503235 w 1503235"/>
              <a:gd name="connsiteY1" fmla="*/ 0 h 6852981"/>
              <a:gd name="connsiteX2" fmla="*/ 1503235 w 1503235"/>
              <a:gd name="connsiteY2" fmla="*/ 6852981 h 6852981"/>
              <a:gd name="connsiteX3" fmla="*/ 645860 w 1503235"/>
              <a:gd name="connsiteY3" fmla="*/ 6850473 h 6852981"/>
              <a:gd name="connsiteX4" fmla="*/ 58942 w 1503235"/>
              <a:gd name="connsiteY4" fmla="*/ 3178158 h 6852981"/>
              <a:gd name="connsiteX5" fmla="*/ 56634 w 1503235"/>
              <a:gd name="connsiteY5" fmla="*/ 0 h 6852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3235" h="6852981">
                <a:moveTo>
                  <a:pt x="56634" y="0"/>
                </a:moveTo>
                <a:lnTo>
                  <a:pt x="1503235" y="0"/>
                </a:lnTo>
                <a:lnTo>
                  <a:pt x="1503235" y="6852981"/>
                </a:lnTo>
                <a:lnTo>
                  <a:pt x="645860" y="6850473"/>
                </a:lnTo>
                <a:cubicBezTo>
                  <a:pt x="389952" y="5820167"/>
                  <a:pt x="162339" y="4584273"/>
                  <a:pt x="58942" y="3178158"/>
                </a:cubicBezTo>
                <a:cubicBezTo>
                  <a:pt x="-27949" y="1997097"/>
                  <a:pt x="-10190" y="927359"/>
                  <a:pt x="56634" y="0"/>
                </a:cubicBezTo>
                <a:close/>
              </a:path>
            </a:pathLst>
          </a:custGeom>
        </p:spPr>
        <p:txBody>
          <a:bodyPr wrap="square">
            <a:noAutofit/>
          </a:bodyPr>
          <a:lstStyle/>
          <a:p>
            <a:endParaRPr lang="en-US"/>
          </a:p>
        </p:txBody>
      </p:sp>
      <p:sp>
        <p:nvSpPr>
          <p:cNvPr id="9" name="Text Placeholder 5">
            <a:extLst>
              <a:ext uri="{FF2B5EF4-FFF2-40B4-BE49-F238E27FC236}">
                <a16:creationId xmlns:a16="http://schemas.microsoft.com/office/drawing/2014/main" id="{116CF9A6-C7BC-B26A-AF92-4B1D03410300}"/>
              </a:ext>
            </a:extLst>
          </p:cNvPr>
          <p:cNvSpPr>
            <a:spLocks noGrp="1"/>
          </p:cNvSpPr>
          <p:nvPr>
            <p:ph type="body" sz="quarter" idx="11"/>
          </p:nvPr>
        </p:nvSpPr>
        <p:spPr>
          <a:xfrm>
            <a:off x="2233613" y="6181725"/>
            <a:ext cx="752263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796088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CC704-EDAD-4714-1BCE-6A9024D6E2C0}"/>
              </a:ext>
            </a:extLst>
          </p:cNvPr>
          <p:cNvSpPr>
            <a:spLocks noGrp="1"/>
          </p:cNvSpPr>
          <p:nvPr>
            <p:ph sz="half" idx="1"/>
          </p:nvPr>
        </p:nvSpPr>
        <p:spPr>
          <a:xfrm>
            <a:off x="838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3D63D1-B6F8-0EC2-FC6F-011DFCF5B1E2}"/>
              </a:ext>
            </a:extLst>
          </p:cNvPr>
          <p:cNvSpPr>
            <a:spLocks noGrp="1"/>
          </p:cNvSpPr>
          <p:nvPr>
            <p:ph sz="half" idx="2"/>
          </p:nvPr>
        </p:nvSpPr>
        <p:spPr>
          <a:xfrm>
            <a:off x="6172200" y="1690689"/>
            <a:ext cx="5181600" cy="4373228"/>
          </a:xfrm>
        </p:spPr>
        <p:txBody>
          <a:bodyPr>
            <a:normAutofit/>
          </a:bodyPr>
          <a:lstStyle>
            <a:lvl1pPr marL="0" indent="0">
              <a:buNone/>
              <a:defRPr sz="18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A picture containing clipart&#10;&#10;Description automatically generated">
            <a:extLst>
              <a:ext uri="{FF2B5EF4-FFF2-40B4-BE49-F238E27FC236}">
                <a16:creationId xmlns:a16="http://schemas.microsoft.com/office/drawing/2014/main" id="{609B6BFE-E691-89AD-4C91-86A211ED4C26}"/>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5" name="Title 1">
            <a:extLst>
              <a:ext uri="{FF2B5EF4-FFF2-40B4-BE49-F238E27FC236}">
                <a16:creationId xmlns:a16="http://schemas.microsoft.com/office/drawing/2014/main" id="{52DA9E68-AAA7-4FD1-4ACF-A9E2C052979F}"/>
              </a:ext>
            </a:extLst>
          </p:cNvPr>
          <p:cNvSpPr>
            <a:spLocks noGrp="1"/>
          </p:cNvSpPr>
          <p:nvPr>
            <p:ph type="title"/>
          </p:nvPr>
        </p:nvSpPr>
        <p:spPr>
          <a:xfrm>
            <a:off x="839788" y="365125"/>
            <a:ext cx="10515600" cy="1325563"/>
          </a:xfrm>
        </p:spPr>
        <p:txBody>
          <a:bodyPr/>
          <a:lstStyle/>
          <a:p>
            <a:r>
              <a:rPr lang="en-US"/>
              <a:t>Click to edit Master title style</a:t>
            </a:r>
          </a:p>
        </p:txBody>
      </p:sp>
      <p:cxnSp>
        <p:nvCxnSpPr>
          <p:cNvPr id="2" name="Straight Connector 1">
            <a:extLst>
              <a:ext uri="{FF2B5EF4-FFF2-40B4-BE49-F238E27FC236}">
                <a16:creationId xmlns:a16="http://schemas.microsoft.com/office/drawing/2014/main" id="{BF6F8C83-DA6C-9D74-DB7C-F33D17024F8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51C6D4C-DF41-8656-E66B-E27FA092EA74}"/>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507911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CD7-2872-55FB-9A85-F5F5E3F7A1F6}"/>
              </a:ext>
            </a:extLst>
          </p:cNvPr>
          <p:cNvSpPr>
            <a:spLocks noGrp="1"/>
          </p:cNvSpPr>
          <p:nvPr>
            <p:ph type="title"/>
          </p:nvPr>
        </p:nvSpPr>
        <p:spPr>
          <a:xfrm>
            <a:off x="839788" y="365126"/>
            <a:ext cx="10515600" cy="1016974"/>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2E4EF065-F4A6-A9AF-220D-6B0AFF176C11}"/>
              </a:ext>
            </a:extLst>
          </p:cNvPr>
          <p:cNvSpPr>
            <a:spLocks noGrp="1"/>
          </p:cNvSpPr>
          <p:nvPr>
            <p:ph type="body" idx="1"/>
          </p:nvPr>
        </p:nvSpPr>
        <p:spPr>
          <a:xfrm>
            <a:off x="839788" y="1403797"/>
            <a:ext cx="5157787" cy="662070"/>
          </a:xfrm>
        </p:spPr>
        <p:txBody>
          <a:bodyPr anchor="b"/>
          <a:lstStyle>
            <a:lvl1pPr marL="0" indent="0">
              <a:buNone/>
              <a:defRPr sz="2400" b="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A04EFB-41BC-9218-6F89-AE3FB427B9AF}"/>
              </a:ext>
            </a:extLst>
          </p:cNvPr>
          <p:cNvSpPr>
            <a:spLocks noGrp="1"/>
          </p:cNvSpPr>
          <p:nvPr>
            <p:ph sz="half" idx="2"/>
          </p:nvPr>
        </p:nvSpPr>
        <p:spPr>
          <a:xfrm>
            <a:off x="839788" y="2065867"/>
            <a:ext cx="5157787" cy="384643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253455-7029-147A-61AB-25BA398DD8A2}"/>
              </a:ext>
            </a:extLst>
          </p:cNvPr>
          <p:cNvSpPr>
            <a:spLocks noGrp="1"/>
          </p:cNvSpPr>
          <p:nvPr>
            <p:ph type="body" sz="quarter" idx="3"/>
          </p:nvPr>
        </p:nvSpPr>
        <p:spPr>
          <a:xfrm>
            <a:off x="6172200" y="1403797"/>
            <a:ext cx="5183188" cy="662070"/>
          </a:xfrm>
        </p:spPr>
        <p:txBody>
          <a:bodyPr anchor="b"/>
          <a:lstStyle>
            <a:lvl1pPr marL="0" indent="0">
              <a:buNone/>
              <a:defRPr sz="2400" b="0" i="0">
                <a:solidFill>
                  <a:srgbClr val="898989"/>
                </a:solidFill>
                <a:latin typeface="Segoe UI Semibold" panose="020B0702040204020203" pitchFamily="34" charset="0"/>
                <a:cs typeface="Segoe UI Semibold" panose="020B0702040204020203"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D96CBB-5D01-3987-470C-1A7FCC38DBD4}"/>
              </a:ext>
            </a:extLst>
          </p:cNvPr>
          <p:cNvSpPr>
            <a:spLocks noGrp="1"/>
          </p:cNvSpPr>
          <p:nvPr>
            <p:ph sz="quarter" idx="4"/>
          </p:nvPr>
        </p:nvSpPr>
        <p:spPr>
          <a:xfrm>
            <a:off x="6172200" y="2087564"/>
            <a:ext cx="5183188" cy="3824733"/>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ipart&#10;&#10;Description automatically generated">
            <a:extLst>
              <a:ext uri="{FF2B5EF4-FFF2-40B4-BE49-F238E27FC236}">
                <a16:creationId xmlns:a16="http://schemas.microsoft.com/office/drawing/2014/main" id="{DD0812C0-7373-E99F-5460-E09A85290A1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7" name="Straight Connector 6">
            <a:extLst>
              <a:ext uri="{FF2B5EF4-FFF2-40B4-BE49-F238E27FC236}">
                <a16:creationId xmlns:a16="http://schemas.microsoft.com/office/drawing/2014/main" id="{CD268754-B97E-FC72-F68A-60310D509A7E}"/>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 Placeholder 5">
            <a:extLst>
              <a:ext uri="{FF2B5EF4-FFF2-40B4-BE49-F238E27FC236}">
                <a16:creationId xmlns:a16="http://schemas.microsoft.com/office/drawing/2014/main" id="{6BDA3658-DCCD-5826-B876-EFD9A557D850}"/>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40032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p:txBody>
          <a:bodyPr/>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3" name="Straight Connector 2">
            <a:extLst>
              <a:ext uri="{FF2B5EF4-FFF2-40B4-BE49-F238E27FC236}">
                <a16:creationId xmlns:a16="http://schemas.microsoft.com/office/drawing/2014/main" id="{EC78B7C8-8363-300B-388E-47F442A6CC1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4" name="Text Placeholder 5">
            <a:extLst>
              <a:ext uri="{FF2B5EF4-FFF2-40B4-BE49-F238E27FC236}">
                <a16:creationId xmlns:a16="http://schemas.microsoft.com/office/drawing/2014/main" id="{5F9140F1-3E50-ED16-0F6D-CF6A042F70FC}"/>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63818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ree Image-Text Colum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3251662"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199" y="3284647"/>
            <a:ext cx="3251661" cy="2419241"/>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8102138" y="1022460"/>
            <a:ext cx="3251662"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8102137"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17" name="Picture Placeholder 3">
            <a:extLst>
              <a:ext uri="{FF2B5EF4-FFF2-40B4-BE49-F238E27FC236}">
                <a16:creationId xmlns:a16="http://schemas.microsoft.com/office/drawing/2014/main" id="{F011ED4E-3C7D-C1FC-B6FB-1B2743BB9310}"/>
              </a:ext>
            </a:extLst>
          </p:cNvPr>
          <p:cNvSpPr>
            <a:spLocks noGrp="1"/>
          </p:cNvSpPr>
          <p:nvPr>
            <p:ph type="pic" sz="quarter" idx="16"/>
          </p:nvPr>
        </p:nvSpPr>
        <p:spPr>
          <a:xfrm>
            <a:off x="4470166" y="1022460"/>
            <a:ext cx="3251662" cy="2262187"/>
          </a:xfrm>
        </p:spPr>
        <p:txBody>
          <a:bodyPr/>
          <a:lstStyle/>
          <a:p>
            <a:endParaRPr lang="en-US"/>
          </a:p>
        </p:txBody>
      </p:sp>
      <p:sp>
        <p:nvSpPr>
          <p:cNvPr id="18" name="Text Placeholder 9">
            <a:extLst>
              <a:ext uri="{FF2B5EF4-FFF2-40B4-BE49-F238E27FC236}">
                <a16:creationId xmlns:a16="http://schemas.microsoft.com/office/drawing/2014/main" id="{620B54E1-F126-7688-986D-67DBA659B6A6}"/>
              </a:ext>
            </a:extLst>
          </p:cNvPr>
          <p:cNvSpPr>
            <a:spLocks noGrp="1"/>
          </p:cNvSpPr>
          <p:nvPr>
            <p:ph type="body" sz="quarter" idx="17"/>
          </p:nvPr>
        </p:nvSpPr>
        <p:spPr>
          <a:xfrm>
            <a:off x="4470165" y="3284647"/>
            <a:ext cx="3251661" cy="2419241"/>
          </a:xfrm>
        </p:spPr>
        <p:txBody>
          <a:bodyPr tIns="228600" bIns="45720">
            <a:normAutofit/>
          </a:bodyPr>
          <a:lstStyle>
            <a:lvl1pPr marL="0" indent="0">
              <a:buNone/>
              <a:defRPr sz="1600"/>
            </a:lvl1pPr>
            <a:lvl2pPr>
              <a:defRPr sz="1400"/>
            </a:lvl2pPr>
            <a:lvl3pPr>
              <a:defRPr sz="1400"/>
            </a:lvl3pPr>
          </a:lstStyle>
          <a:p>
            <a:pPr lvl="0"/>
            <a:r>
              <a:rPr lang="en-US"/>
              <a:t>Click to edit Master text styles</a:t>
            </a:r>
          </a:p>
          <a:p>
            <a:pPr lvl="1"/>
            <a:r>
              <a:rPr lang="en-US"/>
              <a:t>Second level</a:t>
            </a:r>
          </a:p>
          <a:p>
            <a:pPr lvl="2"/>
            <a:r>
              <a:rPr lang="en-US"/>
              <a:t>Third level</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66968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hree Image-Captions">
    <p:spTree>
      <p:nvGrpSpPr>
        <p:cNvPr id="1" name=""/>
        <p:cNvGrpSpPr/>
        <p:nvPr/>
      </p:nvGrpSpPr>
      <p:grpSpPr>
        <a:xfrm>
          <a:off x="0" y="0"/>
          <a:ext cx="0" cy="0"/>
          <a:chOff x="0" y="0"/>
          <a:chExt cx="0" cy="0"/>
        </a:xfrm>
      </p:grpSpPr>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6611" y="1537847"/>
            <a:ext cx="3459155" cy="3456432"/>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6609"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3" name="Title 1">
            <a:extLst>
              <a:ext uri="{FF2B5EF4-FFF2-40B4-BE49-F238E27FC236}">
                <a16:creationId xmlns:a16="http://schemas.microsoft.com/office/drawing/2014/main" id="{08A4121E-B38A-CF28-38D0-313AEC7A599B}"/>
              </a:ext>
            </a:extLst>
          </p:cNvPr>
          <p:cNvSpPr>
            <a:spLocks noGrp="1"/>
          </p:cNvSpPr>
          <p:nvPr>
            <p:ph type="title"/>
          </p:nvPr>
        </p:nvSpPr>
        <p:spPr>
          <a:xfrm>
            <a:off x="838200" y="281883"/>
            <a:ext cx="10515600" cy="740577"/>
          </a:xfrm>
        </p:spPr>
        <p:txBody>
          <a:bodyPr wrap="square" bIns="182880">
            <a:normAutofit/>
          </a:bodyPr>
          <a:lstStyle>
            <a:lvl1pPr>
              <a:defRPr sz="3400"/>
            </a:lvl1pPr>
          </a:lstStyle>
          <a:p>
            <a:r>
              <a:rPr lang="en-US"/>
              <a:t>Click to edit Master title style</a:t>
            </a:r>
          </a:p>
        </p:txBody>
      </p:sp>
      <p:cxnSp>
        <p:nvCxnSpPr>
          <p:cNvPr id="2" name="Straight Connector 1">
            <a:extLst>
              <a:ext uri="{FF2B5EF4-FFF2-40B4-BE49-F238E27FC236}">
                <a16:creationId xmlns:a16="http://schemas.microsoft.com/office/drawing/2014/main" id="{932CE4B7-8E05-3FCE-DA71-6007B2B869D4}"/>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B70F523C-BCE7-529C-51A6-A6B9A8A06C06}"/>
              </a:ext>
            </a:extLst>
          </p:cNvPr>
          <p:cNvSpPr>
            <a:spLocks noGrp="1"/>
          </p:cNvSpPr>
          <p:nvPr>
            <p:ph type="body" sz="quarter" idx="18"/>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9" name="Picture Placeholder 3">
            <a:extLst>
              <a:ext uri="{FF2B5EF4-FFF2-40B4-BE49-F238E27FC236}">
                <a16:creationId xmlns:a16="http://schemas.microsoft.com/office/drawing/2014/main" id="{3FA4BA4A-A73F-3143-C1F1-47B555C36AD2}"/>
              </a:ext>
            </a:extLst>
          </p:cNvPr>
          <p:cNvSpPr>
            <a:spLocks noGrp="1"/>
          </p:cNvSpPr>
          <p:nvPr>
            <p:ph type="pic" sz="quarter" idx="19"/>
          </p:nvPr>
        </p:nvSpPr>
        <p:spPr>
          <a:xfrm>
            <a:off x="4365628" y="1537847"/>
            <a:ext cx="3459155" cy="3456432"/>
          </a:xfrm>
        </p:spPr>
        <p:txBody>
          <a:bodyPr/>
          <a:lstStyle/>
          <a:p>
            <a:endParaRPr lang="en-US"/>
          </a:p>
        </p:txBody>
      </p:sp>
      <p:sp>
        <p:nvSpPr>
          <p:cNvPr id="11" name="Picture Placeholder 3">
            <a:extLst>
              <a:ext uri="{FF2B5EF4-FFF2-40B4-BE49-F238E27FC236}">
                <a16:creationId xmlns:a16="http://schemas.microsoft.com/office/drawing/2014/main" id="{34841F7F-FA2F-E60F-9887-F584B637EB70}"/>
              </a:ext>
            </a:extLst>
          </p:cNvPr>
          <p:cNvSpPr>
            <a:spLocks noGrp="1"/>
          </p:cNvSpPr>
          <p:nvPr>
            <p:ph type="pic" sz="quarter" idx="20"/>
          </p:nvPr>
        </p:nvSpPr>
        <p:spPr>
          <a:xfrm>
            <a:off x="7894645" y="1537847"/>
            <a:ext cx="3459155" cy="3456432"/>
          </a:xfrm>
        </p:spPr>
        <p:txBody>
          <a:bodyPr/>
          <a:lstStyle/>
          <a:p>
            <a:endParaRPr lang="en-US"/>
          </a:p>
        </p:txBody>
      </p:sp>
      <p:sp>
        <p:nvSpPr>
          <p:cNvPr id="12" name="Text Placeholder 9">
            <a:extLst>
              <a:ext uri="{FF2B5EF4-FFF2-40B4-BE49-F238E27FC236}">
                <a16:creationId xmlns:a16="http://schemas.microsoft.com/office/drawing/2014/main" id="{FC94224B-95BE-84E5-884D-6A84F0D8B918}"/>
              </a:ext>
            </a:extLst>
          </p:cNvPr>
          <p:cNvSpPr>
            <a:spLocks noGrp="1"/>
          </p:cNvSpPr>
          <p:nvPr>
            <p:ph type="body" sz="quarter" idx="21"/>
          </p:nvPr>
        </p:nvSpPr>
        <p:spPr>
          <a:xfrm>
            <a:off x="4365628"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
        <p:nvSpPr>
          <p:cNvPr id="13" name="Text Placeholder 9">
            <a:extLst>
              <a:ext uri="{FF2B5EF4-FFF2-40B4-BE49-F238E27FC236}">
                <a16:creationId xmlns:a16="http://schemas.microsoft.com/office/drawing/2014/main" id="{19D8B6C2-A903-A23D-B848-7FF26692CD47}"/>
              </a:ext>
            </a:extLst>
          </p:cNvPr>
          <p:cNvSpPr>
            <a:spLocks noGrp="1"/>
          </p:cNvSpPr>
          <p:nvPr>
            <p:ph type="body" sz="quarter" idx="22"/>
          </p:nvPr>
        </p:nvSpPr>
        <p:spPr>
          <a:xfrm>
            <a:off x="7894645" y="4994279"/>
            <a:ext cx="3459155" cy="640818"/>
          </a:xfrm>
        </p:spPr>
        <p:txBody>
          <a:bodyPr tIns="228600" bIns="45720">
            <a:normAutofit/>
          </a:bodyPr>
          <a:lstStyle>
            <a:lvl1pPr marL="0" indent="0">
              <a:buNone/>
              <a:defRPr sz="1600"/>
            </a:lvl1pPr>
            <a:lvl2pPr marL="742950" indent="-285750">
              <a:buFont typeface="Arial" panose="020B0604020202020204" pitchFamily="34" charset="0"/>
              <a:buChar char="•"/>
              <a:defRPr sz="1400"/>
            </a:lvl2pPr>
            <a:lvl3pPr marL="1200150" indent="-285750">
              <a:buFont typeface="Arial" panose="020B0604020202020204" pitchFamily="34" charset="0"/>
              <a:buChar char="•"/>
              <a:defRPr sz="1400"/>
            </a:lvl3pPr>
          </a:lstStyle>
          <a:p>
            <a:pPr lvl="0"/>
            <a:r>
              <a:rPr lang="en-US"/>
              <a:t>Click to edit Master text styles</a:t>
            </a:r>
          </a:p>
        </p:txBody>
      </p:sp>
    </p:spTree>
    <p:extLst>
      <p:ext uri="{BB962C8B-B14F-4D97-AF65-F5344CB8AC3E}">
        <p14:creationId xmlns:p14="http://schemas.microsoft.com/office/powerpoint/2010/main" val="1682876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Image-Text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1200150" indent="-285750">
              <a:buFont typeface="Arial" panose="020B0604020202020204" pitchFamily="34" charset="0"/>
              <a:buChar char="•"/>
              <a:defRPr sz="1600"/>
            </a:lvl3pPr>
          </a:lstStyle>
          <a:p>
            <a:pPr lvl="0"/>
            <a:r>
              <a:rPr lang="en-US"/>
              <a:t>Click to edit Master text styles</a:t>
            </a:r>
          </a:p>
          <a:p>
            <a:pPr lvl="1"/>
            <a:r>
              <a:rPr lang="en-US"/>
              <a:t>Second level</a:t>
            </a:r>
          </a:p>
          <a:p>
            <a:pPr lvl="2"/>
            <a:r>
              <a:rPr lang="en-US"/>
              <a:t>Third level</a:t>
            </a:r>
          </a:p>
        </p:txBody>
      </p:sp>
      <p:sp>
        <p:nvSpPr>
          <p:cNvPr id="15" name="Picture Placeholder 3">
            <a:extLst>
              <a:ext uri="{FF2B5EF4-FFF2-40B4-BE49-F238E27FC236}">
                <a16:creationId xmlns:a16="http://schemas.microsoft.com/office/drawing/2014/main" id="{C79C3993-1A7B-1600-3BFC-255655101819}"/>
              </a:ext>
            </a:extLst>
          </p:cNvPr>
          <p:cNvSpPr>
            <a:spLocks noGrp="1"/>
          </p:cNvSpPr>
          <p:nvPr>
            <p:ph type="pic" sz="quarter" idx="14"/>
          </p:nvPr>
        </p:nvSpPr>
        <p:spPr>
          <a:xfrm>
            <a:off x="6442364" y="1022460"/>
            <a:ext cx="4911436" cy="2262187"/>
          </a:xfrm>
        </p:spPr>
        <p:txBody>
          <a:bodyPr/>
          <a:lstStyle/>
          <a:p>
            <a:endParaRPr lang="en-US"/>
          </a:p>
        </p:txBody>
      </p:sp>
      <p:sp>
        <p:nvSpPr>
          <p:cNvPr id="16" name="Text Placeholder 9">
            <a:extLst>
              <a:ext uri="{FF2B5EF4-FFF2-40B4-BE49-F238E27FC236}">
                <a16:creationId xmlns:a16="http://schemas.microsoft.com/office/drawing/2014/main" id="{5B53C4B3-D449-5543-7867-C2372D3A0D6B}"/>
              </a:ext>
            </a:extLst>
          </p:cNvPr>
          <p:cNvSpPr>
            <a:spLocks noGrp="1"/>
          </p:cNvSpPr>
          <p:nvPr>
            <p:ph type="body" sz="quarter" idx="15"/>
          </p:nvPr>
        </p:nvSpPr>
        <p:spPr>
          <a:xfrm>
            <a:off x="6442361" y="3284647"/>
            <a:ext cx="4911437" cy="2419241"/>
          </a:xfrm>
        </p:spPr>
        <p:txBody>
          <a:bodyPr tIns="228600">
            <a:normAutofit/>
          </a:bodyPr>
          <a:lstStyle>
            <a:lvl1pPr marL="0" indent="0">
              <a:buNone/>
              <a:defRPr sz="1800"/>
            </a:lvl1pPr>
            <a:lvl2pPr>
              <a:defRPr sz="1600"/>
            </a:lvl2pPr>
            <a:lvl3pPr>
              <a:defRPr sz="1600"/>
            </a:lvl3pPr>
          </a:lstStyle>
          <a:p>
            <a:pPr lvl="0"/>
            <a:r>
              <a:rPr lang="en-US"/>
              <a:t>Click to edit Master text styles</a:t>
            </a:r>
          </a:p>
          <a:p>
            <a:pPr lvl="1"/>
            <a:r>
              <a:rPr lang="en-US"/>
              <a:t>Second level</a:t>
            </a:r>
          </a:p>
          <a:p>
            <a:pPr lvl="2"/>
            <a:r>
              <a:rPr lang="en-US"/>
              <a:t>Third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864199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Column Alternativ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5749637" y="1022350"/>
            <a:ext cx="5604164" cy="4681538"/>
          </a:xfrm>
        </p:spPr>
        <p:txBody>
          <a:bodyPr l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838200" y="1022460"/>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838200" y="3284647"/>
            <a:ext cx="4911436" cy="2419241"/>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679499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Column Alternative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549A-74FA-128E-775E-E77CA78ADD92}"/>
              </a:ext>
            </a:extLst>
          </p:cNvPr>
          <p:cNvSpPr>
            <a:spLocks noGrp="1"/>
          </p:cNvSpPr>
          <p:nvPr>
            <p:ph type="title"/>
          </p:nvPr>
        </p:nvSpPr>
        <p:spPr>
          <a:xfrm>
            <a:off x="838200" y="281883"/>
            <a:ext cx="10515600" cy="740577"/>
          </a:xfrm>
        </p:spPr>
        <p:txBody>
          <a:bodyPr wrap="square" bIns="182880"/>
          <a:lstStyle/>
          <a:p>
            <a:r>
              <a:rPr lang="en-US"/>
              <a:t>Click to edit Master title style</a:t>
            </a:r>
          </a:p>
        </p:txBody>
      </p:sp>
      <p:pic>
        <p:nvPicPr>
          <p:cNvPr id="6" name="Picture 5" descr="A picture containing clipart&#10;&#10;Description automatically generated">
            <a:extLst>
              <a:ext uri="{FF2B5EF4-FFF2-40B4-BE49-F238E27FC236}">
                <a16:creationId xmlns:a16="http://schemas.microsoft.com/office/drawing/2014/main" id="{E13FE51B-15E2-8B93-8643-6207770DA439}"/>
              </a:ext>
            </a:extLst>
          </p:cNvPr>
          <p:cNvPicPr>
            <a:picLocks noChangeAspect="1"/>
          </p:cNvPicPr>
          <p:nvPr userDrawn="1"/>
        </p:nvPicPr>
        <p:blipFill>
          <a:blip r:embed="rId2"/>
          <a:stretch>
            <a:fillRect/>
          </a:stretch>
        </p:blipFill>
        <p:spPr>
          <a:xfrm>
            <a:off x="276705" y="6246199"/>
            <a:ext cx="1119809" cy="495153"/>
          </a:xfrm>
          <a:prstGeom prst="rect">
            <a:avLst/>
          </a:prstGeom>
        </p:spPr>
      </p:pic>
      <p:sp>
        <p:nvSpPr>
          <p:cNvPr id="8" name="Content Placeholder 7">
            <a:extLst>
              <a:ext uri="{FF2B5EF4-FFF2-40B4-BE49-F238E27FC236}">
                <a16:creationId xmlns:a16="http://schemas.microsoft.com/office/drawing/2014/main" id="{EFFBA75C-EE70-1C71-6D32-2BBC4A266795}"/>
              </a:ext>
            </a:extLst>
          </p:cNvPr>
          <p:cNvSpPr>
            <a:spLocks noGrp="1"/>
          </p:cNvSpPr>
          <p:nvPr>
            <p:ph sz="quarter" idx="17"/>
          </p:nvPr>
        </p:nvSpPr>
        <p:spPr>
          <a:xfrm>
            <a:off x="838200" y="1022350"/>
            <a:ext cx="5604164" cy="4681538"/>
          </a:xfrm>
        </p:spPr>
        <p:txBody>
          <a:bodyPr lIns="91440" rIns="228600"/>
          <a:lstStyle/>
          <a:p>
            <a:pPr lvl="0"/>
            <a:r>
              <a:rPr lang="en-US"/>
              <a:t>Click to edit Master text styles</a:t>
            </a:r>
          </a:p>
          <a:p>
            <a:pPr lvl="1"/>
            <a:r>
              <a:rPr lang="en-US"/>
              <a:t>Second level</a:t>
            </a:r>
          </a:p>
        </p:txBody>
      </p:sp>
      <p:sp>
        <p:nvSpPr>
          <p:cNvPr id="4" name="Picture Placeholder 3">
            <a:extLst>
              <a:ext uri="{FF2B5EF4-FFF2-40B4-BE49-F238E27FC236}">
                <a16:creationId xmlns:a16="http://schemas.microsoft.com/office/drawing/2014/main" id="{6EE1DC80-828E-6A9C-8F1A-0CBE68FBD85A}"/>
              </a:ext>
            </a:extLst>
          </p:cNvPr>
          <p:cNvSpPr>
            <a:spLocks noGrp="1"/>
          </p:cNvSpPr>
          <p:nvPr>
            <p:ph type="pic" sz="quarter" idx="10"/>
          </p:nvPr>
        </p:nvSpPr>
        <p:spPr>
          <a:xfrm>
            <a:off x="6442364" y="1021737"/>
            <a:ext cx="4911436" cy="2262187"/>
          </a:xfrm>
        </p:spPr>
        <p:txBody>
          <a:bodyPr/>
          <a:lstStyle/>
          <a:p>
            <a:endParaRPr lang="en-US"/>
          </a:p>
        </p:txBody>
      </p:sp>
      <p:sp>
        <p:nvSpPr>
          <p:cNvPr id="10" name="Text Placeholder 9">
            <a:extLst>
              <a:ext uri="{FF2B5EF4-FFF2-40B4-BE49-F238E27FC236}">
                <a16:creationId xmlns:a16="http://schemas.microsoft.com/office/drawing/2014/main" id="{4DA79FBF-8B91-A687-78FA-EFAE1C3A19E9}"/>
              </a:ext>
            </a:extLst>
          </p:cNvPr>
          <p:cNvSpPr>
            <a:spLocks noGrp="1"/>
          </p:cNvSpPr>
          <p:nvPr>
            <p:ph type="body" sz="quarter" idx="13"/>
          </p:nvPr>
        </p:nvSpPr>
        <p:spPr>
          <a:xfrm>
            <a:off x="6442364" y="3311851"/>
            <a:ext cx="4911436" cy="2392038"/>
          </a:xfrm>
        </p:spPr>
        <p:txBody>
          <a:bodyPr tIns="228600">
            <a:normAutofit/>
          </a:bodyPr>
          <a:lstStyle>
            <a:lvl1pPr marL="0" indent="0">
              <a:buNone/>
              <a:defRPr sz="1800"/>
            </a:lvl1pPr>
            <a:lvl2pPr marL="742950" indent="-285750">
              <a:buFont typeface="Arial" panose="020B0604020202020204" pitchFamily="34" charset="0"/>
              <a:buChar char="•"/>
              <a:defRPr sz="1600"/>
            </a:lvl2pPr>
            <a:lvl3pPr marL="914400" indent="0">
              <a:buFont typeface="Arial" panose="020B0604020202020204" pitchFamily="34" charset="0"/>
              <a:buNone/>
              <a:defRPr sz="1600"/>
            </a:lvl3pPr>
          </a:lstStyle>
          <a:p>
            <a:pPr lvl="0"/>
            <a:r>
              <a:rPr lang="en-US"/>
              <a:t>Click to edit Master text styles</a:t>
            </a:r>
          </a:p>
          <a:p>
            <a:pPr lvl="1"/>
            <a:r>
              <a:rPr lang="en-US"/>
              <a:t>Second level</a:t>
            </a:r>
          </a:p>
        </p:txBody>
      </p:sp>
      <p:cxnSp>
        <p:nvCxnSpPr>
          <p:cNvPr id="3" name="Straight Connector 2">
            <a:extLst>
              <a:ext uri="{FF2B5EF4-FFF2-40B4-BE49-F238E27FC236}">
                <a16:creationId xmlns:a16="http://schemas.microsoft.com/office/drawing/2014/main" id="{72687E30-A7A9-328E-5509-110085809C30}"/>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5" name="Text Placeholder 5">
            <a:extLst>
              <a:ext uri="{FF2B5EF4-FFF2-40B4-BE49-F238E27FC236}">
                <a16:creationId xmlns:a16="http://schemas.microsoft.com/office/drawing/2014/main" id="{C8961F9F-8B61-6C21-9C24-7CF2D216A7FF}"/>
              </a:ext>
            </a:extLst>
          </p:cNvPr>
          <p:cNvSpPr>
            <a:spLocks noGrp="1"/>
          </p:cNvSpPr>
          <p:nvPr>
            <p:ph type="body" sz="quarter" idx="16"/>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259645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ow Frame">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7E64B68C-19BD-94A4-BCA6-5C231578DBE6}"/>
              </a:ext>
            </a:extLst>
          </p:cNvPr>
          <p:cNvSpPr>
            <a:spLocks noGrp="1"/>
          </p:cNvSpPr>
          <p:nvPr>
            <p:ph type="pic" sz="quarter" idx="10"/>
          </p:nvPr>
        </p:nvSpPr>
        <p:spPr>
          <a:xfrm>
            <a:off x="0" y="-25928"/>
            <a:ext cx="12192000" cy="5339537"/>
          </a:xfrm>
          <a:custGeom>
            <a:avLst/>
            <a:gdLst>
              <a:gd name="connsiteX0" fmla="*/ 0 w 12192000"/>
              <a:gd name="connsiteY0" fmla="*/ 0 h 5339537"/>
              <a:gd name="connsiteX1" fmla="*/ 12192000 w 12192000"/>
              <a:gd name="connsiteY1" fmla="*/ 0 h 5339537"/>
              <a:gd name="connsiteX2" fmla="*/ 12192000 w 12192000"/>
              <a:gd name="connsiteY2" fmla="*/ 4286547 h 5339537"/>
              <a:gd name="connsiteX3" fmla="*/ 6541940 w 12192000"/>
              <a:gd name="connsiteY3" fmla="*/ 4290650 h 5339537"/>
              <a:gd name="connsiteX4" fmla="*/ 13378 w 12192000"/>
              <a:gd name="connsiteY4" fmla="*/ 5334060 h 5339537"/>
              <a:gd name="connsiteX5" fmla="*/ 13373 w 12192000"/>
              <a:gd name="connsiteY5" fmla="*/ 5335896 h 5339537"/>
              <a:gd name="connsiteX6" fmla="*/ 0 w 12192000"/>
              <a:gd name="connsiteY6" fmla="*/ 5339537 h 5339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339537">
                <a:moveTo>
                  <a:pt x="0" y="0"/>
                </a:moveTo>
                <a:lnTo>
                  <a:pt x="12192000" y="0"/>
                </a:lnTo>
                <a:lnTo>
                  <a:pt x="12192000" y="4286547"/>
                </a:lnTo>
                <a:cubicBezTo>
                  <a:pt x="10543360" y="4167749"/>
                  <a:pt x="8641604" y="4136176"/>
                  <a:pt x="6541940" y="4290650"/>
                </a:cubicBezTo>
                <a:cubicBezTo>
                  <a:pt x="4042179" y="4474466"/>
                  <a:pt x="1845032" y="4879112"/>
                  <a:pt x="13378" y="5334060"/>
                </a:cubicBezTo>
                <a:lnTo>
                  <a:pt x="13373" y="5335896"/>
                </a:lnTo>
                <a:lnTo>
                  <a:pt x="0" y="5339537"/>
                </a:lnTo>
                <a:close/>
              </a:path>
            </a:pathLst>
          </a:custGeom>
          <a:pattFill prst="pct5">
            <a:fgClr>
              <a:schemeClr val="accent1"/>
            </a:fgClr>
            <a:bgClr>
              <a:schemeClr val="bg1"/>
            </a:bgClr>
          </a:pattFill>
        </p:spPr>
        <p:txBody>
          <a:bodyPr wrap="square">
            <a:noAutofit/>
          </a:bodyPr>
          <a:lstStyle/>
          <a:p>
            <a:endParaRPr lang="en-US"/>
          </a:p>
        </p:txBody>
      </p:sp>
      <p:pic>
        <p:nvPicPr>
          <p:cNvPr id="11" name="Picture 10" descr="A picture containing text&#10;&#10;Description automatically generated">
            <a:extLst>
              <a:ext uri="{FF2B5EF4-FFF2-40B4-BE49-F238E27FC236}">
                <a16:creationId xmlns:a16="http://schemas.microsoft.com/office/drawing/2014/main" id="{2D5A594F-EE9B-015D-CFCD-15DF4937D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7150" y="4147098"/>
            <a:ext cx="12306300" cy="2773451"/>
          </a:xfrm>
          <a:prstGeom prst="rect">
            <a:avLst/>
          </a:prstGeom>
        </p:spPr>
      </p:pic>
      <p:sp>
        <p:nvSpPr>
          <p:cNvPr id="6" name="Title 1">
            <a:extLst>
              <a:ext uri="{FF2B5EF4-FFF2-40B4-BE49-F238E27FC236}">
                <a16:creationId xmlns:a16="http://schemas.microsoft.com/office/drawing/2014/main" id="{8D648E24-F46E-01DE-04C1-967015ACA31E}"/>
              </a:ext>
            </a:extLst>
          </p:cNvPr>
          <p:cNvSpPr>
            <a:spLocks noGrp="1"/>
          </p:cNvSpPr>
          <p:nvPr>
            <p:ph type="title"/>
          </p:nvPr>
        </p:nvSpPr>
        <p:spPr>
          <a:xfrm>
            <a:off x="6096000" y="6010669"/>
            <a:ext cx="6096000" cy="847331"/>
          </a:xfrm>
        </p:spPr>
        <p:txBody>
          <a:bodyPr lIns="91440" tIns="91440" rIns="91440" bIns="91440" anchor="b"/>
          <a:lstStyle>
            <a:lvl1pPr algn="r">
              <a:defRPr/>
            </a:lvl1pPr>
          </a:lstStyle>
          <a:p>
            <a:r>
              <a:rPr lang="en-US"/>
              <a:t>Click to edit Master title style</a:t>
            </a:r>
          </a:p>
        </p:txBody>
      </p:sp>
    </p:spTree>
    <p:extLst>
      <p:ext uri="{BB962C8B-B14F-4D97-AF65-F5344CB8AC3E}">
        <p14:creationId xmlns:p14="http://schemas.microsoft.com/office/powerpoint/2010/main" val="32124627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plash">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563C9E9-3ED8-F67B-0E27-68B346248583}"/>
              </a:ext>
            </a:extLst>
          </p:cNvPr>
          <p:cNvSpPr>
            <a:spLocks noGrp="1"/>
          </p:cNvSpPr>
          <p:nvPr>
            <p:ph type="pic" sz="quarter" idx="10"/>
          </p:nvPr>
        </p:nvSpPr>
        <p:spPr>
          <a:xfrm>
            <a:off x="0" y="0"/>
            <a:ext cx="12192000" cy="6858000"/>
          </a:xfrm>
        </p:spPr>
        <p:txBody>
          <a:bodyPr/>
          <a:lstStyle/>
          <a:p>
            <a:endParaRPr lang="en-US"/>
          </a:p>
        </p:txBody>
      </p:sp>
    </p:spTree>
    <p:extLst>
      <p:ext uri="{BB962C8B-B14F-4D97-AF65-F5344CB8AC3E}">
        <p14:creationId xmlns:p14="http://schemas.microsoft.com/office/powerpoint/2010/main" val="2201168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50FD-1749-6B32-C4E2-45BA3F46BADE}"/>
              </a:ext>
            </a:extLst>
          </p:cNvPr>
          <p:cNvSpPr>
            <a:spLocks noGrp="1"/>
          </p:cNvSpPr>
          <p:nvPr>
            <p:ph type="title"/>
          </p:nvPr>
        </p:nvSpPr>
        <p:spPr>
          <a:xfrm>
            <a:off x="839788" y="640080"/>
            <a:ext cx="3932237" cy="1069975"/>
          </a:xfrm>
        </p:spPr>
        <p:txBody>
          <a:bodyPr anchor="t">
            <a:normAutofit/>
          </a:bodyPr>
          <a:lstStyle>
            <a:lvl1pPr>
              <a:defRPr sz="3000"/>
            </a:lvl1pPr>
          </a:lstStyle>
          <a:p>
            <a:r>
              <a:rPr lang="en-US"/>
              <a:t>Click to edit Master title style</a:t>
            </a:r>
          </a:p>
        </p:txBody>
      </p:sp>
      <p:sp>
        <p:nvSpPr>
          <p:cNvPr id="3" name="Content Placeholder 2">
            <a:extLst>
              <a:ext uri="{FF2B5EF4-FFF2-40B4-BE49-F238E27FC236}">
                <a16:creationId xmlns:a16="http://schemas.microsoft.com/office/drawing/2014/main" id="{D3734D65-B365-95EE-54FD-870A0D8A919E}"/>
              </a:ext>
            </a:extLst>
          </p:cNvPr>
          <p:cNvSpPr>
            <a:spLocks noGrp="1"/>
          </p:cNvSpPr>
          <p:nvPr>
            <p:ph idx="1"/>
          </p:nvPr>
        </p:nvSpPr>
        <p:spPr>
          <a:xfrm>
            <a:off x="5183188" y="640080"/>
            <a:ext cx="6172200" cy="4873625"/>
          </a:xfrm>
        </p:spPr>
        <p:txBody>
          <a:bodyPr>
            <a:normAutofit/>
          </a:bodyPr>
          <a:lstStyle>
            <a:lvl1pPr>
              <a:defRPr sz="18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B4B2F56-2B0D-0EF4-56CD-C05932CCA913}"/>
              </a:ext>
            </a:extLst>
          </p:cNvPr>
          <p:cNvSpPr>
            <a:spLocks noGrp="1"/>
          </p:cNvSpPr>
          <p:nvPr>
            <p:ph type="body" sz="half" idx="2"/>
          </p:nvPr>
        </p:nvSpPr>
        <p:spPr>
          <a:xfrm>
            <a:off x="839788" y="1735455"/>
            <a:ext cx="3932237" cy="3811588"/>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BB5AD11E-7CA2-195A-3AED-D4EA18A7CBF0}"/>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8B7F537-9B65-DFA6-B015-6F940544605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26790AD-ED52-1F38-55AF-266155ED0CFF}"/>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2014559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200" y="640080"/>
            <a:ext cx="4343400"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4553"/>
            <a:ext cx="4343400"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383680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Pictures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838199" y="640080"/>
            <a:ext cx="5257799" cy="1069975"/>
          </a:xfrm>
        </p:spPr>
        <p:txBody>
          <a:bodyPr rIns="22860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6096000" y="6400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199" y="1714553"/>
            <a:ext cx="5257799"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318EBA64-C577-6D2A-2089-5D4B26D9FD27}"/>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B74958A6-E09D-E372-1B47-93CBA0788A71}"/>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Picture Placeholder 2">
            <a:extLst>
              <a:ext uri="{FF2B5EF4-FFF2-40B4-BE49-F238E27FC236}">
                <a16:creationId xmlns:a16="http://schemas.microsoft.com/office/drawing/2014/main" id="{E82FCC31-BC93-90AB-AF4D-96D2AAC1DC24}"/>
              </a:ext>
            </a:extLst>
          </p:cNvPr>
          <p:cNvSpPr>
            <a:spLocks noGrp="1"/>
          </p:cNvSpPr>
          <p:nvPr>
            <p:ph type="pic" idx="11"/>
          </p:nvPr>
        </p:nvSpPr>
        <p:spPr>
          <a:xfrm>
            <a:off x="6096000" y="3102981"/>
            <a:ext cx="5257800" cy="24231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Tree>
    <p:extLst>
      <p:ext uri="{BB962C8B-B14F-4D97-AF65-F5344CB8AC3E}">
        <p14:creationId xmlns:p14="http://schemas.microsoft.com/office/powerpoint/2010/main" val="2522863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with Caption (Invers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9ED91-2D10-3C13-53AF-C0D31F583690}"/>
              </a:ext>
            </a:extLst>
          </p:cNvPr>
          <p:cNvSpPr>
            <a:spLocks noGrp="1"/>
          </p:cNvSpPr>
          <p:nvPr>
            <p:ph type="title"/>
          </p:nvPr>
        </p:nvSpPr>
        <p:spPr>
          <a:xfrm>
            <a:off x="7010400" y="640080"/>
            <a:ext cx="4343400" cy="1069975"/>
          </a:xfrm>
        </p:spPr>
        <p:txBody>
          <a:bodyPr lIns="228600" rIns="91440" anchor="t">
            <a:normAutofit/>
          </a:bodyPr>
          <a:lstStyle>
            <a:lvl1pPr>
              <a:defRPr sz="3000"/>
            </a:lvl1pPr>
          </a:lstStyle>
          <a:p>
            <a:r>
              <a:rPr lang="en-US"/>
              <a:t>Click to edit Master title style</a:t>
            </a:r>
          </a:p>
        </p:txBody>
      </p:sp>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6614" y="640080"/>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08814" y="1706086"/>
            <a:ext cx="4343400"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58CC310E-4748-C5E8-AE54-7AC1A2994018}"/>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E1EF47C-843F-BE5E-8F02-5DE1A2AC11B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589816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Alternative 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5181600" y="1710055"/>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838200" y="1710056"/>
            <a:ext cx="4341812" cy="3811588"/>
          </a:xfrm>
        </p:spPr>
        <p:txBody>
          <a:bodyPr rIns="22860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242FA145-7884-663E-2FD6-F146DBF165AD}"/>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5E442B31-B535-5FE2-2BC5-880EDD26FEF6}"/>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9A7D85F-FFE4-4A07-245F-FEBB3A5BB908}"/>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325908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Alternative Picture with Caption (Invers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16A08B-B3AD-575A-A2E4-C242AB7047DC}"/>
              </a:ext>
            </a:extLst>
          </p:cNvPr>
          <p:cNvSpPr>
            <a:spLocks noGrp="1"/>
          </p:cNvSpPr>
          <p:nvPr>
            <p:ph type="pic" idx="1"/>
          </p:nvPr>
        </p:nvSpPr>
        <p:spPr>
          <a:xfrm>
            <a:off x="838197" y="1717992"/>
            <a:ext cx="6172200" cy="380365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97DD4-C389-6B3A-DFA1-D237B5C4E464}"/>
              </a:ext>
            </a:extLst>
          </p:cNvPr>
          <p:cNvSpPr>
            <a:spLocks noGrp="1"/>
          </p:cNvSpPr>
          <p:nvPr>
            <p:ph type="body" sz="half" idx="2"/>
          </p:nvPr>
        </p:nvSpPr>
        <p:spPr>
          <a:xfrm>
            <a:off x="7011988" y="1710055"/>
            <a:ext cx="4341812" cy="3811588"/>
          </a:xfrm>
        </p:spPr>
        <p:txBody>
          <a:bodyPr lIns="228600" rIns="91440">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A picture containing clipart&#10;&#10;Description automatically generated">
            <a:extLst>
              <a:ext uri="{FF2B5EF4-FFF2-40B4-BE49-F238E27FC236}">
                <a16:creationId xmlns:a16="http://schemas.microsoft.com/office/drawing/2014/main" id="{666E9DC7-4E55-131A-5A51-4CCFC9B25914}"/>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5" name="Straight Connector 4">
            <a:extLst>
              <a:ext uri="{FF2B5EF4-FFF2-40B4-BE49-F238E27FC236}">
                <a16:creationId xmlns:a16="http://schemas.microsoft.com/office/drawing/2014/main" id="{0F8A5377-95D6-C530-0CF9-020320B808C6}"/>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6" name="Text Placeholder 5">
            <a:extLst>
              <a:ext uri="{FF2B5EF4-FFF2-40B4-BE49-F238E27FC236}">
                <a16:creationId xmlns:a16="http://schemas.microsoft.com/office/drawing/2014/main" id="{87417A37-EF31-074D-6E80-67675A8F2A72}"/>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
        <p:nvSpPr>
          <p:cNvPr id="7" name="Title Placeholder 1">
            <a:extLst>
              <a:ext uri="{FF2B5EF4-FFF2-40B4-BE49-F238E27FC236}">
                <a16:creationId xmlns:a16="http://schemas.microsoft.com/office/drawing/2014/main" id="{1C5E523F-BEDA-B92E-177F-92952F4CFFF3}"/>
              </a:ext>
            </a:extLst>
          </p:cNvPr>
          <p:cNvSpPr>
            <a:spLocks noGrp="1"/>
          </p:cNvSpPr>
          <p:nvPr>
            <p:ph type="title"/>
          </p:nvPr>
        </p:nvSpPr>
        <p:spPr>
          <a:xfrm>
            <a:off x="838200" y="365125"/>
            <a:ext cx="10515600" cy="1325563"/>
          </a:xfrm>
          <a:prstGeom prst="rect">
            <a:avLst/>
          </a:prstGeom>
        </p:spPr>
        <p:txBody>
          <a:bodyPr vert="horz" lIns="91440" tIns="45720" rIns="91440" bIns="45720" rtlCol="0" anchor="t">
            <a:normAutofit/>
          </a:bodyPr>
          <a:lstStyle/>
          <a:p>
            <a:r>
              <a:rPr lang="en-US"/>
              <a:t>Click to edit Master title style</a:t>
            </a:r>
          </a:p>
        </p:txBody>
      </p:sp>
    </p:spTree>
    <p:extLst>
      <p:ext uri="{BB962C8B-B14F-4D97-AF65-F5344CB8AC3E}">
        <p14:creationId xmlns:p14="http://schemas.microsoft.com/office/powerpoint/2010/main" val="772575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330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6AAD5-8DD1-DC4F-C3FC-B95E383F0D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86E25A-25B7-0AFF-66E9-21B36824720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CAAA45-371A-B61B-294F-DE211B14540A}"/>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9EE6060D-87A1-4A21-509E-5852E923C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E29F6B3-1E80-9120-F2A6-44E6AB084BF5}"/>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7205110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E6A91-2D10-E1DA-4346-43F91908BE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2A29A5-815C-527E-B2DC-FBCE17A53B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C45CA9-C736-BD95-5532-BD7D05049A93}"/>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B1877436-BE64-99AD-D140-5F1C7774B8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0D367-A36F-C89F-E1D7-95115A871A4E}"/>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7891920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A8E33-CA27-88E2-9F92-AA12430C8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E62745-7C1E-6A02-04C2-6F1EC0E018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FEA6416-DEA8-2A6F-135E-7445E4B9DC74}"/>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42BDD8BD-2D8A-B3BD-27B8-7ED8DCCA54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B333E4-C1AC-A5A6-A1DE-1C42CDBC5843}"/>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36553016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5BDE1-317E-29CD-73F7-74703C9F8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3B4BE4-BBEF-2B13-8055-53D27E94F1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172DEF-0F28-A62C-3CDD-30FA579384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AAE753-C79D-9851-31EF-E05956745397}"/>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6" name="Footer Placeholder 5">
            <a:extLst>
              <a:ext uri="{FF2B5EF4-FFF2-40B4-BE49-F238E27FC236}">
                <a16:creationId xmlns:a16="http://schemas.microsoft.com/office/drawing/2014/main" id="{3B705142-9F70-CC54-60A4-3E09BC83A2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8EBA7BA-2731-3AED-08C7-C64BB662CAE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53370429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0CE2-7508-E81C-06F1-28A034A17CA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21967-D4D0-6219-3AAB-9D2E4F75EE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2F3A03-1015-ACF5-F20B-DB2A14A5A2A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C0E5BF-58E2-49EB-D836-6ED99AA1068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C1CF98-ECC9-55E8-CD6F-1D5D4638D0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0247C5-C34D-ADEC-AC65-FE6C8FD0C5C4}"/>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8" name="Footer Placeholder 7">
            <a:extLst>
              <a:ext uri="{FF2B5EF4-FFF2-40B4-BE49-F238E27FC236}">
                <a16:creationId xmlns:a16="http://schemas.microsoft.com/office/drawing/2014/main" id="{2D685EF8-754E-9EDF-566D-D2DBC48DF2D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5B8C502-F336-234A-C5BD-3A7EFE8771D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16281371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4C712-081B-49DF-40D3-CA896D1E5E1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801967A-6474-C9C7-09A5-D5C3F895D1FD}"/>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4" name="Footer Placeholder 3">
            <a:extLst>
              <a:ext uri="{FF2B5EF4-FFF2-40B4-BE49-F238E27FC236}">
                <a16:creationId xmlns:a16="http://schemas.microsoft.com/office/drawing/2014/main" id="{6C55163C-7A9E-4772-1C06-9759F6C3083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B45EDF-18A2-7D96-7ADF-DA791280AF2C}"/>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9608943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C8D037-04A9-F5D8-556C-9ECCE6402FB1}"/>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3" name="Footer Placeholder 2">
            <a:extLst>
              <a:ext uri="{FF2B5EF4-FFF2-40B4-BE49-F238E27FC236}">
                <a16:creationId xmlns:a16="http://schemas.microsoft.com/office/drawing/2014/main" id="{45ED36C8-3553-1C68-A5E2-48BC581803A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185F28-AB75-50BB-C03E-FAE7A9D589C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2242933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03D1E-6132-B1F1-98DE-A0DBF68548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1F0ECE0-A6ED-6CF1-9EC4-6E7C8946D8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25223C8-35DE-CFC4-E5AA-555D45C3423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9319D3-C3D5-78F0-E7B8-91755BC3E3A2}"/>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6" name="Footer Placeholder 5">
            <a:extLst>
              <a:ext uri="{FF2B5EF4-FFF2-40B4-BE49-F238E27FC236}">
                <a16:creationId xmlns:a16="http://schemas.microsoft.com/office/drawing/2014/main" id="{89C369DA-C9FF-BFE0-1EA8-F78CD5642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7B09E0-F147-AD07-BE6A-9BBAD80DED8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154107370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86FB5-82B2-AAEA-443C-3E53C2AB3B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5BBF77-398D-E23F-F419-00CADA31C78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F95E83-21D3-CE30-DF9F-E78B4F1692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428B0B-767F-E2AF-B42A-8971AF98189E}"/>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6" name="Footer Placeholder 5">
            <a:extLst>
              <a:ext uri="{FF2B5EF4-FFF2-40B4-BE49-F238E27FC236}">
                <a16:creationId xmlns:a16="http://schemas.microsoft.com/office/drawing/2014/main" id="{CFA0D381-E325-7846-8518-6CB8F235E9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7B72B-56E1-C7D4-9132-DEDFD5824502}"/>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64507225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D6BDF-36A7-5718-E5A5-DE5382070B4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89E1C7-143D-57A1-72A1-EF36DB985F1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42236C-253F-CDE9-3078-4DF99D383828}"/>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C609742D-9740-9A95-463E-174B2D718F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26397-AAEF-91D9-AB56-A5C31D582E3A}"/>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258085839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87D61-6E7E-6C92-72F6-6AC3A5DD73E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BB4B8-BCF0-9CA6-F340-C0A77C7158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3010D88-24BF-22A7-6352-8C048FA3B15E}"/>
              </a:ext>
            </a:extLst>
          </p:cNvPr>
          <p:cNvSpPr>
            <a:spLocks noGrp="1"/>
          </p:cNvSpPr>
          <p:nvPr>
            <p:ph type="dt" sz="half" idx="10"/>
          </p:nvPr>
        </p:nvSpPr>
        <p:spPr/>
        <p:txBody>
          <a:body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5BCAFD18-A41E-5830-3B37-37E15B19825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40DB3D-B834-0C92-B6FC-71D0A7CFE447}"/>
              </a:ext>
            </a:extLst>
          </p:cNvPr>
          <p:cNvSpPr>
            <a:spLocks noGrp="1"/>
          </p:cNvSpPr>
          <p:nvPr>
            <p:ph type="sldNum" sz="quarter" idx="12"/>
          </p:nvPr>
        </p:nvSpPr>
        <p:spPr/>
        <p:txBody>
          <a:bodyPr/>
          <a:lstStyle/>
          <a:p>
            <a:fld id="{F5A4FBA9-C6FD-EE4B-9F7E-379E16761BEB}" type="slidenum">
              <a:rPr lang="en-US" smtClean="0"/>
              <a:t>‹#›</a:t>
            </a:fld>
            <a:endParaRPr lang="en-US"/>
          </a:p>
        </p:txBody>
      </p:sp>
    </p:spTree>
    <p:extLst>
      <p:ext uri="{BB962C8B-B14F-4D97-AF65-F5344CB8AC3E}">
        <p14:creationId xmlns:p14="http://schemas.microsoft.com/office/powerpoint/2010/main" val="38412346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4FCFE-E3AC-5A49-AB52-7B585736DA5C}"/>
              </a:ext>
            </a:extLst>
          </p:cNvPr>
          <p:cNvSpPr>
            <a:spLocks noGrp="1"/>
          </p:cNvSpPr>
          <p:nvPr>
            <p:ph type="ctrTitle"/>
          </p:nvPr>
        </p:nvSpPr>
        <p:spPr>
          <a:xfrm>
            <a:off x="1524000" y="1122363"/>
            <a:ext cx="9144000" cy="2387600"/>
          </a:xfrm>
        </p:spPr>
        <p:txBody>
          <a:bodyPr anchor="b"/>
          <a:lstStyle>
            <a:lvl1pPr algn="ctr">
              <a:defRPr sz="6000" b="1" i="0">
                <a:latin typeface="+mj-lt"/>
              </a:defRPr>
            </a:lvl1pPr>
          </a:lstStyle>
          <a:p>
            <a:r>
              <a:rPr lang="en-US"/>
              <a:t>Click to edit Master title style</a:t>
            </a:r>
          </a:p>
        </p:txBody>
      </p:sp>
      <p:sp>
        <p:nvSpPr>
          <p:cNvPr id="3" name="Subtitle 2">
            <a:extLst>
              <a:ext uri="{FF2B5EF4-FFF2-40B4-BE49-F238E27FC236}">
                <a16:creationId xmlns:a16="http://schemas.microsoft.com/office/drawing/2014/main" id="{5697D152-A22F-464C-9C1C-D6E70F476F81}"/>
              </a:ext>
            </a:extLst>
          </p:cNvPr>
          <p:cNvSpPr>
            <a:spLocks noGrp="1"/>
          </p:cNvSpPr>
          <p:nvPr>
            <p:ph type="subTitle" idx="1"/>
          </p:nvPr>
        </p:nvSpPr>
        <p:spPr>
          <a:xfrm>
            <a:off x="1524000" y="3602038"/>
            <a:ext cx="9144000" cy="1655762"/>
          </a:xfrm>
        </p:spPr>
        <p:txBody>
          <a:bodyPr/>
          <a:lstStyle>
            <a:lvl1pPr marL="0" indent="0" algn="ctr">
              <a:buNone/>
              <a:defRPr sz="2400" b="0" i="0">
                <a:latin typeface="Verdan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1296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6187-F6B8-AC44-9D7A-A7C736DA53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C4595E6-CE14-8942-9616-1BDD6E236860}"/>
              </a:ext>
            </a:extLst>
          </p:cNvPr>
          <p:cNvSpPr>
            <a:spLocks noGrp="1"/>
          </p:cNvSpPr>
          <p:nvPr>
            <p:ph idx="1"/>
          </p:nvPr>
        </p:nvSpPr>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4101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5CAF67C-05D9-E035-DD4E-5DB53A813F9F}"/>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cxnSp>
        <p:nvCxnSpPr>
          <p:cNvPr id="3" name="Straight Connector 2">
            <a:extLst>
              <a:ext uri="{FF2B5EF4-FFF2-40B4-BE49-F238E27FC236}">
                <a16:creationId xmlns:a16="http://schemas.microsoft.com/office/drawing/2014/main" id="{CD6D67B6-5BB8-A321-DCC1-1CDE6D6F2B3E}"/>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26783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676D-77D7-1A45-91D1-8AFE4172914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D03B8F-EF2D-A146-8C3E-22846C450B9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346874-1196-5246-9CB9-C6D4A51F3B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6725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50B00-05FE-0842-A0E8-9645A44F915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58C8197-8236-F04B-B69A-98FED6B50FF1}"/>
              </a:ext>
            </a:extLst>
          </p:cNvPr>
          <p:cNvSpPr>
            <a:spLocks noGrp="1"/>
          </p:cNvSpPr>
          <p:nvPr>
            <p:ph type="body" idx="1"/>
          </p:nvPr>
        </p:nvSpPr>
        <p:spPr>
          <a:xfrm>
            <a:off x="839788" y="1681163"/>
            <a:ext cx="5157787"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3F859-F5F2-784C-8AC4-C56A71A1AC8F}"/>
              </a:ext>
            </a:extLst>
          </p:cNvPr>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9D932B1-DF26-154B-AA2F-44BD59F17863}"/>
              </a:ext>
            </a:extLst>
          </p:cNvPr>
          <p:cNvSpPr>
            <a:spLocks noGrp="1"/>
          </p:cNvSpPr>
          <p:nvPr>
            <p:ph type="body" sz="quarter" idx="3"/>
          </p:nvPr>
        </p:nvSpPr>
        <p:spPr>
          <a:xfrm>
            <a:off x="6172200" y="1681163"/>
            <a:ext cx="5183188" cy="823912"/>
          </a:xfrm>
        </p:spPr>
        <p:txBody>
          <a:bodyPr anchor="b"/>
          <a:lstStyle>
            <a:lvl1pPr marL="0" indent="0">
              <a:buNone/>
              <a:defRPr sz="2400" b="1" i="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42E3E7-6451-0747-8809-DDE98E6B7635}"/>
              </a:ext>
            </a:extLst>
          </p:cNvPr>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4136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C3DF3-AC55-584C-B99A-A52890ABC891}"/>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6311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764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type="blank" preserve="1">
  <p:cSld name="Fully-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945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F94C-12C0-C24C-8F1B-DD7926C4D2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3E066F4-7466-E245-A5E5-E8ED23FCB413}"/>
              </a:ext>
            </a:extLst>
          </p:cNvPr>
          <p:cNvSpPr>
            <a:spLocks noGrp="1"/>
          </p:cNvSpPr>
          <p:nvPr>
            <p:ph idx="1"/>
          </p:nvPr>
        </p:nvSpPr>
        <p:spPr>
          <a:xfrm>
            <a:off x="5183188" y="987425"/>
            <a:ext cx="6172200" cy="4873625"/>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78C06-B8C0-724A-882F-4C5FFDAFC5F3}"/>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cxnSp>
        <p:nvCxnSpPr>
          <p:cNvPr id="60" name="Straight Connector 59">
            <a:extLst>
              <a:ext uri="{FF2B5EF4-FFF2-40B4-BE49-F238E27FC236}">
                <a16:creationId xmlns:a16="http://schemas.microsoft.com/office/drawing/2014/main" id="{0772AB1D-AD15-EE40-B988-EBE8174638B8}"/>
              </a:ext>
            </a:extLst>
          </p:cNvPr>
          <p:cNvCxnSpPr/>
          <p:nvPr/>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AB7ABA80-BCE4-B20F-4ED2-67D0FB916F88}"/>
              </a:ext>
            </a:extLst>
          </p:cNvPr>
          <p:cNvCxnSpPr/>
          <p:nvPr userDrawn="1"/>
        </p:nvCxnSpPr>
        <p:spPr>
          <a:xfrm>
            <a:off x="7923089" y="2895600"/>
            <a:ext cx="3659311"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429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078D0-6ECA-8648-A088-378774872D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02544-BA53-FD4E-8F5C-C6F86755C19D}"/>
              </a:ext>
            </a:extLst>
          </p:cNvPr>
          <p:cNvSpPr>
            <a:spLocks noGrp="1"/>
          </p:cNvSpPr>
          <p:nvPr>
            <p:ph type="pic" idx="1"/>
          </p:nvPr>
        </p:nvSpPr>
        <p:spPr>
          <a:xfrm>
            <a:off x="5183188" y="987425"/>
            <a:ext cx="6172200" cy="4873625"/>
          </a:xfrm>
        </p:spPr>
        <p:txBody>
          <a:bodyPr/>
          <a:lstStyle>
            <a:lvl1pPr marL="0" indent="0">
              <a:buNone/>
              <a:defRPr sz="3200">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4DE78FC-C2BF-174C-BEB1-388D3807FEC1}"/>
              </a:ext>
            </a:extLst>
          </p:cNvPr>
          <p:cNvSpPr>
            <a:spLocks noGrp="1"/>
          </p:cNvSpPr>
          <p:nvPr>
            <p:ph type="body" sz="half" idx="2"/>
          </p:nvPr>
        </p:nvSpPr>
        <p:spPr>
          <a:xfrm>
            <a:off x="839788" y="2057400"/>
            <a:ext cx="3932237" cy="3811588"/>
          </a:xfrm>
        </p:spPr>
        <p:txBody>
          <a:bodyPr/>
          <a:lstStyle>
            <a:lvl1pPr marL="0" indent="0">
              <a:buNone/>
              <a:defRPr sz="1600">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33314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pic>
        <p:nvPicPr>
          <p:cNvPr id="7" name="Picture 6" descr="A picture containing clipart&#10;&#10;Description automatically generated">
            <a:extLst>
              <a:ext uri="{FF2B5EF4-FFF2-40B4-BE49-F238E27FC236}">
                <a16:creationId xmlns:a16="http://schemas.microsoft.com/office/drawing/2014/main" id="{9A7EA1FE-70E8-377A-9BCA-4A1930CC561D}"/>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8" name="Straight Connector 7">
            <a:extLst>
              <a:ext uri="{FF2B5EF4-FFF2-40B4-BE49-F238E27FC236}">
                <a16:creationId xmlns:a16="http://schemas.microsoft.com/office/drawing/2014/main" id="{54B80E5E-C6B1-0D18-CCDF-82BD487A9022}"/>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274428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nchor="t"/>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normAutofit/>
          </a:bodyPr>
          <a:lstStyle>
            <a:lvl1pPr marL="0" indent="0">
              <a:buNone/>
              <a:defRPr sz="2000" b="1">
                <a:solidFill>
                  <a:schemeClr val="bg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descr="A picture containing clipart&#10;&#10;Description automatically generated">
            <a:extLst>
              <a:ext uri="{FF2B5EF4-FFF2-40B4-BE49-F238E27FC236}">
                <a16:creationId xmlns:a16="http://schemas.microsoft.com/office/drawing/2014/main" id="{6301F7A8-A7D0-17C1-1E8C-89853C42F612}"/>
              </a:ext>
            </a:extLst>
          </p:cNvPr>
          <p:cNvPicPr>
            <a:picLocks noChangeAspect="1"/>
          </p:cNvPicPr>
          <p:nvPr userDrawn="1"/>
        </p:nvPicPr>
        <p:blipFill>
          <a:blip r:embed="rId2"/>
          <a:stretch>
            <a:fillRect/>
          </a:stretch>
        </p:blipFill>
        <p:spPr>
          <a:xfrm>
            <a:off x="276705" y="6246199"/>
            <a:ext cx="1119809" cy="495153"/>
          </a:xfrm>
          <a:prstGeom prst="rect">
            <a:avLst/>
          </a:prstGeom>
        </p:spPr>
      </p:pic>
      <p:cxnSp>
        <p:nvCxnSpPr>
          <p:cNvPr id="14" name="Straight Connector 13">
            <a:extLst>
              <a:ext uri="{FF2B5EF4-FFF2-40B4-BE49-F238E27FC236}">
                <a16:creationId xmlns:a16="http://schemas.microsoft.com/office/drawing/2014/main" id="{7FE577E1-9FB8-6A42-1A0F-FC0798BE1FB3}"/>
              </a:ext>
            </a:extLst>
          </p:cNvPr>
          <p:cNvCxnSpPr>
            <a:cxnSpLocks/>
          </p:cNvCxnSpPr>
          <p:nvPr userDrawn="1"/>
        </p:nvCxnSpPr>
        <p:spPr>
          <a:xfrm>
            <a:off x="2232991" y="6488726"/>
            <a:ext cx="912080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 Placeholder 5">
            <a:extLst>
              <a:ext uri="{FF2B5EF4-FFF2-40B4-BE49-F238E27FC236}">
                <a16:creationId xmlns:a16="http://schemas.microsoft.com/office/drawing/2014/main" id="{FEF2BCEF-4B54-F240-35CA-EB6762DC3139}"/>
              </a:ext>
            </a:extLst>
          </p:cNvPr>
          <p:cNvSpPr>
            <a:spLocks noGrp="1"/>
          </p:cNvSpPr>
          <p:nvPr>
            <p:ph type="body" sz="quarter" idx="10"/>
          </p:nvPr>
        </p:nvSpPr>
        <p:spPr>
          <a:xfrm>
            <a:off x="2233613" y="6181725"/>
            <a:ext cx="9120187" cy="306388"/>
          </a:xfrm>
        </p:spPr>
        <p:txBody>
          <a:bodyPr>
            <a:noAutofit/>
          </a:bodyPr>
          <a:lstStyle>
            <a:lvl1pPr marL="0" indent="0">
              <a:buNone/>
              <a:defRPr sz="1400"/>
            </a:lvl1pPr>
          </a:lstStyle>
          <a:p>
            <a:pPr lvl="0"/>
            <a:r>
              <a:rPr lang="en-US"/>
              <a:t>Click to edit Master text styles</a:t>
            </a:r>
          </a:p>
        </p:txBody>
      </p:sp>
    </p:spTree>
    <p:extLst>
      <p:ext uri="{BB962C8B-B14F-4D97-AF65-F5344CB8AC3E}">
        <p14:creationId xmlns:p14="http://schemas.microsoft.com/office/powerpoint/2010/main" val="16350650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1"/>
      </p:bgRef>
    </p:bg>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B4653C8-34A1-8DB5-99AB-DED32CB2C0D9}"/>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p:blipFill>
        <p:spPr>
          <a:xfrm>
            <a:off x="1524" y="5241358"/>
            <a:ext cx="12188952" cy="1616642"/>
          </a:xfrm>
          <a:prstGeom prst="rect">
            <a:avLst/>
          </a:prstGeom>
        </p:spPr>
      </p:pic>
      <p:sp>
        <p:nvSpPr>
          <p:cNvPr id="16" name="Title 1">
            <a:extLst>
              <a:ext uri="{FF2B5EF4-FFF2-40B4-BE49-F238E27FC236}">
                <a16:creationId xmlns:a16="http://schemas.microsoft.com/office/drawing/2014/main" id="{54ED4429-F895-F294-C9A9-CF2485FB4DB1}"/>
              </a:ext>
            </a:extLst>
          </p:cNvPr>
          <p:cNvSpPr>
            <a:spLocks noGrp="1"/>
          </p:cNvSpPr>
          <p:nvPr>
            <p:ph type="ctrTitle"/>
          </p:nvPr>
        </p:nvSpPr>
        <p:spPr>
          <a:xfrm>
            <a:off x="958362" y="1573469"/>
            <a:ext cx="10286999" cy="2387600"/>
          </a:xfrm>
          <a:prstGeom prst="rect">
            <a:avLst/>
          </a:prstGeom>
        </p:spPr>
        <p:txBody>
          <a:bodyPr anchor="b"/>
          <a:lstStyle>
            <a:lvl1pPr algn="l">
              <a:defRPr sz="4500"/>
            </a:lvl1pPr>
          </a:lstStyle>
          <a:p>
            <a:r>
              <a:rPr lang="en-US"/>
              <a:t>Click to edit Master title style</a:t>
            </a:r>
          </a:p>
        </p:txBody>
      </p:sp>
      <p:sp>
        <p:nvSpPr>
          <p:cNvPr id="17" name="Subtitle 2">
            <a:extLst>
              <a:ext uri="{FF2B5EF4-FFF2-40B4-BE49-F238E27FC236}">
                <a16:creationId xmlns:a16="http://schemas.microsoft.com/office/drawing/2014/main" id="{0746AD0F-DA27-AA3E-CE83-FEBCA29ED785}"/>
              </a:ext>
            </a:extLst>
          </p:cNvPr>
          <p:cNvSpPr>
            <a:spLocks noGrp="1"/>
          </p:cNvSpPr>
          <p:nvPr>
            <p:ph type="subTitle" idx="1"/>
          </p:nvPr>
        </p:nvSpPr>
        <p:spPr>
          <a:xfrm>
            <a:off x="958362" y="4360334"/>
            <a:ext cx="10286999" cy="897467"/>
          </a:xfrm>
        </p:spPr>
        <p:txBody>
          <a:bodyPr>
            <a:normAutofit/>
          </a:bodyPr>
          <a:lstStyle>
            <a:lvl1pPr marL="0" indent="0" algn="l">
              <a:buNone/>
              <a:defRPr sz="2000" b="0">
                <a:solidFill>
                  <a:srgbClr val="898989"/>
                </a:solidFill>
                <a:latin typeface="Segoe UI Semibold" panose="020B0702040204020203" pitchFamily="34" charset="0"/>
                <a:cs typeface="Segoe UI Semibold" panose="020B0702040204020203"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18" name="Straight Connector 17">
            <a:extLst>
              <a:ext uri="{FF2B5EF4-FFF2-40B4-BE49-F238E27FC236}">
                <a16:creationId xmlns:a16="http://schemas.microsoft.com/office/drawing/2014/main" id="{492F9FCB-9A33-E0F6-81A4-B060E24B7C33}"/>
              </a:ext>
            </a:extLst>
          </p:cNvPr>
          <p:cNvCxnSpPr>
            <a:cxnSpLocks/>
          </p:cNvCxnSpPr>
          <p:nvPr userDrawn="1"/>
        </p:nvCxnSpPr>
        <p:spPr>
          <a:xfrm>
            <a:off x="958363" y="4160700"/>
            <a:ext cx="10287000"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18954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1.gif"/><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3.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slideLayout" Target="../slideLayouts/slideLayout69.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5" Type="http://schemas.openxmlformats.org/officeDocument/2006/relationships/image" Target="../media/image1.gif"/><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userDrawn="1"/>
        </p:nvPicPr>
        <p:blipFill>
          <a:blip r:embed="rId13"/>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332867967"/>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5" r:id="rId8"/>
    <p:sldLayoutId id="2147483690" r:id="rId9"/>
    <p:sldLayoutId id="2147483691" r:id="rId10"/>
    <p:sldLayoutId id="2147483694"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accent1"/>
          </a:solidFill>
          <a:latin typeface="Verdana" panose="020B0604030504040204" pitchFamily="34" charset="0"/>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36"/>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ADF7A29A-0292-73AA-F083-6E595BAA8123}"/>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9477345E-DF3E-2C6E-4A34-F2D69FF9D719}"/>
              </a:ext>
            </a:extLst>
          </p:cNvPr>
          <p:cNvPicPr>
            <a:picLocks noChangeAspect="1"/>
          </p:cNvPicPr>
          <p:nvPr userDrawn="1"/>
        </p:nvPicPr>
        <p:blipFill>
          <a:blip r:embed="rId36"/>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2521153185"/>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28" r:id="rId13"/>
    <p:sldLayoutId id="2147483729" r:id="rId14"/>
    <p:sldLayoutId id="2147483731" r:id="rId15"/>
    <p:sldLayoutId id="2147483732" r:id="rId16"/>
    <p:sldLayoutId id="2147483733" r:id="rId17"/>
    <p:sldLayoutId id="2147483734" r:id="rId18"/>
    <p:sldLayoutId id="2147483735" r:id="rId19"/>
    <p:sldLayoutId id="2147483737" r:id="rId20"/>
    <p:sldLayoutId id="2147483738" r:id="rId21"/>
    <p:sldLayoutId id="2147483739" r:id="rId22"/>
    <p:sldLayoutId id="2147483741" r:id="rId23"/>
    <p:sldLayoutId id="2147483742" r:id="rId24"/>
    <p:sldLayoutId id="2147483743" r:id="rId25"/>
    <p:sldLayoutId id="2147483746" r:id="rId26"/>
    <p:sldLayoutId id="2147483747" r:id="rId27"/>
    <p:sldLayoutId id="2147483748" r:id="rId28"/>
    <p:sldLayoutId id="2147483749" r:id="rId29"/>
    <p:sldLayoutId id="2147483750" r:id="rId30"/>
    <p:sldLayoutId id="2147483751" r:id="rId31"/>
    <p:sldLayoutId id="2147483752" r:id="rId32"/>
    <p:sldLayoutId id="2147483753" r:id="rId33"/>
    <p:sldLayoutId id="2147483757"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2CBAF9-2965-A7C6-845B-62B5E12FB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28E179-5E80-77E1-3E99-B4B3300155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62F81F-BA8C-758D-D699-32EC909F1F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5E6E620-59F5-2C4A-92BD-F98311598A11}" type="datetimeFigureOut">
              <a:rPr lang="en-US" smtClean="0"/>
              <a:t>3/20/26</a:t>
            </a:fld>
            <a:endParaRPr lang="en-US"/>
          </a:p>
        </p:txBody>
      </p:sp>
      <p:sp>
        <p:nvSpPr>
          <p:cNvPr id="5" name="Footer Placeholder 4">
            <a:extLst>
              <a:ext uri="{FF2B5EF4-FFF2-40B4-BE49-F238E27FC236}">
                <a16:creationId xmlns:a16="http://schemas.microsoft.com/office/drawing/2014/main" id="{A8564B79-09C9-5020-93B1-FAC65CCB8A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CA6E8D9-C481-7218-0559-0C6D8A14D7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A4FBA9-C6FD-EE4B-9F7E-379E16761BEB}" type="slidenum">
              <a:rPr lang="en-US" smtClean="0"/>
              <a:t>‹#›</a:t>
            </a:fld>
            <a:endParaRPr lang="en-US"/>
          </a:p>
        </p:txBody>
      </p:sp>
    </p:spTree>
    <p:extLst>
      <p:ext uri="{BB962C8B-B14F-4D97-AF65-F5344CB8AC3E}">
        <p14:creationId xmlns:p14="http://schemas.microsoft.com/office/powerpoint/2010/main" val="1451717990"/>
      </p:ext>
    </p:extLst>
  </p:cSld>
  <p:clrMap bg1="lt1" tx1="dk1" bg2="lt2" tx2="dk2" accent1="accent1" accent2="accent2" accent3="accent3" accent4="accent4" accent5="accent5" accent6="accent6" hlink="hlink" folHlink="folHlink"/>
  <p:sldLayoutIdLst>
    <p:sldLayoutId id="2147483792" r:id="rId1"/>
    <p:sldLayoutId id="2147483793" r:id="rId2"/>
    <p:sldLayoutId id="2147483794" r:id="rId3"/>
    <p:sldLayoutId id="2147483795" r:id="rId4"/>
    <p:sldLayoutId id="2147483796" r:id="rId5"/>
    <p:sldLayoutId id="2147483797" r:id="rId6"/>
    <p:sldLayoutId id="2147483798" r:id="rId7"/>
    <p:sldLayoutId id="2147483799" r:id="rId8"/>
    <p:sldLayoutId id="2147483800" r:id="rId9"/>
    <p:sldLayoutId id="2147483801" r:id="rId10"/>
    <p:sldLayoutId id="214748380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6AE405B-E484-1F44-BA92-DA06795186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F88C3E7-28E6-4346-85A5-E468F7D3EA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8" name="Straight Connector 57">
            <a:extLst>
              <a:ext uri="{FF2B5EF4-FFF2-40B4-BE49-F238E27FC236}">
                <a16:creationId xmlns:a16="http://schemas.microsoft.com/office/drawing/2014/main" id="{153D4319-6701-BB41-86DD-1E8E5CE28547}"/>
              </a:ext>
            </a:extLst>
          </p:cNvPr>
          <p:cNvCxnSpPr>
            <a:cxnSpLocks/>
          </p:cNvCxnSpPr>
          <p:nvPr/>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9" name="Picture 58" descr="A picture containing clipart&#10;&#10;Description automatically generated">
            <a:extLst>
              <a:ext uri="{FF2B5EF4-FFF2-40B4-BE49-F238E27FC236}">
                <a16:creationId xmlns:a16="http://schemas.microsoft.com/office/drawing/2014/main" id="{794B8C55-2D15-E748-AB4D-6A62BBC3BBE0}"/>
              </a:ext>
            </a:extLst>
          </p:cNvPr>
          <p:cNvPicPr>
            <a:picLocks noChangeAspect="1"/>
          </p:cNvPicPr>
          <p:nvPr/>
        </p:nvPicPr>
        <p:blipFill>
          <a:blip r:embed="rId15"/>
          <a:stretch>
            <a:fillRect/>
          </a:stretch>
        </p:blipFill>
        <p:spPr>
          <a:xfrm>
            <a:off x="276705" y="6246199"/>
            <a:ext cx="1119809" cy="495153"/>
          </a:xfrm>
          <a:prstGeom prst="rect">
            <a:avLst/>
          </a:prstGeom>
        </p:spPr>
      </p:pic>
      <p:cxnSp>
        <p:nvCxnSpPr>
          <p:cNvPr id="4" name="Straight Connector 3">
            <a:extLst>
              <a:ext uri="{FF2B5EF4-FFF2-40B4-BE49-F238E27FC236}">
                <a16:creationId xmlns:a16="http://schemas.microsoft.com/office/drawing/2014/main" id="{75CC1EA0-8D57-D902-1BE8-8FCC4D5BBB36}"/>
              </a:ext>
            </a:extLst>
          </p:cNvPr>
          <p:cNvCxnSpPr>
            <a:cxnSpLocks/>
          </p:cNvCxnSpPr>
          <p:nvPr userDrawn="1"/>
        </p:nvCxnSpPr>
        <p:spPr>
          <a:xfrm>
            <a:off x="2232991" y="6488726"/>
            <a:ext cx="9120809" cy="0"/>
          </a:xfrm>
          <a:prstGeom prst="line">
            <a:avLst/>
          </a:prstGeom>
          <a:ln w="127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Picture 4" descr="A picture containing clipart&#10;&#10;Description automatically generated">
            <a:extLst>
              <a:ext uri="{FF2B5EF4-FFF2-40B4-BE49-F238E27FC236}">
                <a16:creationId xmlns:a16="http://schemas.microsoft.com/office/drawing/2014/main" id="{DA96A409-0530-A5F0-99CF-4177755327AB}"/>
              </a:ext>
            </a:extLst>
          </p:cNvPr>
          <p:cNvPicPr>
            <a:picLocks noChangeAspect="1"/>
          </p:cNvPicPr>
          <p:nvPr userDrawn="1"/>
        </p:nvPicPr>
        <p:blipFill>
          <a:blip r:embed="rId15"/>
          <a:stretch>
            <a:fillRect/>
          </a:stretch>
        </p:blipFill>
        <p:spPr>
          <a:xfrm>
            <a:off x="276705" y="6246199"/>
            <a:ext cx="1119809" cy="495153"/>
          </a:xfrm>
          <a:prstGeom prst="rect">
            <a:avLst/>
          </a:prstGeom>
        </p:spPr>
      </p:pic>
    </p:spTree>
    <p:extLst>
      <p:ext uri="{BB962C8B-B14F-4D97-AF65-F5344CB8AC3E}">
        <p14:creationId xmlns:p14="http://schemas.microsoft.com/office/powerpoint/2010/main" val="3233541644"/>
      </p:ext>
    </p:extLst>
  </p:cSld>
  <p:clrMap bg1="lt1" tx1="dk1" bg2="lt2" tx2="dk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4400" b="1" i="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600"/>
        </a:spcBef>
        <a:buFont typeface="Arial" panose="020B0604020202020204" pitchFamily="34" charset="0"/>
        <a:buNone/>
        <a:defRPr sz="2800" b="0" i="0" kern="1200">
          <a:solidFill>
            <a:schemeClr val="tx1"/>
          </a:solidFill>
          <a:latin typeface="Verdana" panose="020B0604030504040204" pitchFamily="34" charset="0"/>
          <a:ea typeface="+mn-ea"/>
          <a:cs typeface="+mn-cs"/>
        </a:defRPr>
      </a:lvl1pPr>
      <a:lvl2pPr marL="685800" indent="-228600" algn="l" defTabSz="914400" rtl="0" eaLnBrk="1" latinLnBrk="0" hangingPunct="1">
        <a:lnSpc>
          <a:spcPct val="100000"/>
        </a:lnSpc>
        <a:spcBef>
          <a:spcPts val="1600"/>
        </a:spcBef>
        <a:buFont typeface="Arial" panose="020B0604020202020204" pitchFamily="34" charset="0"/>
        <a:buChar char="•"/>
        <a:defRPr sz="2400" b="0" i="0" kern="1200">
          <a:solidFill>
            <a:schemeClr val="tx1"/>
          </a:solidFill>
          <a:latin typeface="Verdana" panose="020B0604030504040204" pitchFamily="34" charset="0"/>
          <a:ea typeface="+mn-ea"/>
          <a:cs typeface="+mn-cs"/>
        </a:defRPr>
      </a:lvl2pPr>
      <a:lvl3pPr marL="1143000" indent="-228600" algn="l" defTabSz="914400" rtl="0" eaLnBrk="1" latinLnBrk="0" hangingPunct="1">
        <a:lnSpc>
          <a:spcPct val="100000"/>
        </a:lnSpc>
        <a:spcBef>
          <a:spcPts val="1600"/>
        </a:spcBef>
        <a:buFont typeface="Arial" panose="020B0604020202020204" pitchFamily="34" charset="0"/>
        <a:buChar char="•"/>
        <a:defRPr sz="2000" b="0" i="0" kern="1200">
          <a:solidFill>
            <a:schemeClr val="tx1"/>
          </a:solidFill>
          <a:latin typeface="Verdana" panose="020B0604030504040204" pitchFamily="34" charset="0"/>
          <a:ea typeface="+mn-ea"/>
          <a:cs typeface="+mn-cs"/>
        </a:defRPr>
      </a:lvl3pPr>
      <a:lvl4pPr marL="16002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4pPr>
      <a:lvl5pPr marL="2057400" indent="-228600" algn="l" defTabSz="914400" rtl="0" eaLnBrk="1" latinLnBrk="0" hangingPunct="1">
        <a:lnSpc>
          <a:spcPct val="100000"/>
        </a:lnSpc>
        <a:spcBef>
          <a:spcPts val="1600"/>
        </a:spcBef>
        <a:buFont typeface="Arial" panose="020B0604020202020204" pitchFamily="34" charset="0"/>
        <a:buChar char="•"/>
        <a:defRPr sz="1800" b="0" i="0" kern="1200">
          <a:solidFill>
            <a:schemeClr val="tx1"/>
          </a:solidFill>
          <a:latin typeface="Verdana" panose="020B060403050404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www.energy.gov/femp/building-life-cycle-cost-programs?nrg_redirect=15635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penguinrandomhouse.com/books/320919/how-buildings-learn-by-stewart-brand/"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uuecgi25DAI" TargetMode="External"/><Relationship Id="rId2" Type="http://schemas.openxmlformats.org/officeDocument/2006/relationships/hyperlink" Target="https://www.calmac.org/cadmac-protocols.as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4.png"/><Relationship Id="rId18" Type="http://schemas.openxmlformats.org/officeDocument/2006/relationships/customXml" Target="../ink/ink4.xml"/><Relationship Id="rId3" Type="http://schemas.openxmlformats.org/officeDocument/2006/relationships/diagramData" Target="../diagrams/data2.xml"/><Relationship Id="rId21" Type="http://schemas.openxmlformats.org/officeDocument/2006/relationships/image" Target="../media/image18.png"/><Relationship Id="rId7" Type="http://schemas.microsoft.com/office/2007/relationships/diagramDrawing" Target="../diagrams/drawing2.xml"/><Relationship Id="rId12" Type="http://schemas.openxmlformats.org/officeDocument/2006/relationships/customXml" Target="../ink/ink1.xml"/><Relationship Id="rId17" Type="http://schemas.openxmlformats.org/officeDocument/2006/relationships/image" Target="../media/image16.png"/><Relationship Id="rId2" Type="http://schemas.openxmlformats.org/officeDocument/2006/relationships/notesSlide" Target="../notesSlides/notesSlide9.xml"/><Relationship Id="rId16" Type="http://schemas.openxmlformats.org/officeDocument/2006/relationships/customXml" Target="../ink/ink3.xml"/><Relationship Id="rId20" Type="http://schemas.openxmlformats.org/officeDocument/2006/relationships/customXml" Target="../ink/ink5.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9.svg"/><Relationship Id="rId5" Type="http://schemas.openxmlformats.org/officeDocument/2006/relationships/diagramQuickStyle" Target="../diagrams/quickStyle2.xml"/><Relationship Id="rId15" Type="http://schemas.openxmlformats.org/officeDocument/2006/relationships/image" Target="../media/image15.png"/><Relationship Id="rId10" Type="http://schemas.openxmlformats.org/officeDocument/2006/relationships/image" Target="../media/image8.svg"/><Relationship Id="rId19" Type="http://schemas.openxmlformats.org/officeDocument/2006/relationships/image" Target="../media/image17.png"/><Relationship Id="rId4" Type="http://schemas.openxmlformats.org/officeDocument/2006/relationships/diagramLayout" Target="../diagrams/layout2.xml"/><Relationship Id="rId9" Type="http://schemas.openxmlformats.org/officeDocument/2006/relationships/image" Target="../media/image7.svg"/><Relationship Id="rId14" Type="http://schemas.openxmlformats.org/officeDocument/2006/relationships/customXml" Target="../ink/ink2.xml"/></Relationships>
</file>

<file path=ppt/slides/_rels/slide16.xml.rels><?xml version="1.0" encoding="UTF-8" standalone="yes"?>
<Relationships xmlns="http://schemas.openxmlformats.org/package/2006/relationships"><Relationship Id="rId13" Type="http://schemas.openxmlformats.org/officeDocument/2006/relationships/customXml" Target="../ink/ink7.xml"/><Relationship Id="rId3" Type="http://schemas.openxmlformats.org/officeDocument/2006/relationships/image" Target="../media/image6.svg"/><Relationship Id="rId7" Type="http://schemas.openxmlformats.org/officeDocument/2006/relationships/customXml" Target="../ink/ink6.xml"/><Relationship Id="rId12"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svg"/><Relationship Id="rId15" Type="http://schemas.openxmlformats.org/officeDocument/2006/relationships/chart" Target="../charts/chart1.xml"/><Relationship Id="rId4" Type="http://schemas.openxmlformats.org/officeDocument/2006/relationships/image" Target="../media/image7.svg"/><Relationship Id="rId14" Type="http://schemas.openxmlformats.org/officeDocument/2006/relationships/image" Target="../media/image550.png"/></Relationships>
</file>

<file path=ppt/slides/_rels/slide17.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6.svg"/><Relationship Id="rId7" Type="http://schemas.openxmlformats.org/officeDocument/2006/relationships/image" Target="../media/image19.sv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1.svg"/><Relationship Id="rId1" Type="http://schemas.openxmlformats.org/officeDocument/2006/relationships/slideLayout" Target="../slideLayouts/slideLayout4.xml"/><Relationship Id="rId4" Type="http://schemas.openxmlformats.org/officeDocument/2006/relationships/image" Target="../media/image8.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hyperlink" Target="https://www.praxisframework.org/en/knowledge/complexity" TargetMode="External"/><Relationship Id="rId2" Type="http://schemas.openxmlformats.org/officeDocument/2006/relationships/notesSlide" Target="../notesSlides/notesSlide22.xml"/><Relationship Id="rId1" Type="http://schemas.openxmlformats.org/officeDocument/2006/relationships/slideLayout" Target="../slideLayouts/slideLayout4.xml"/><Relationship Id="rId4" Type="http://schemas.openxmlformats.org/officeDocument/2006/relationships/image" Target="../media/image26.jpeg"/></Relationships>
</file>

<file path=ppt/slides/_rels/slide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image" Target="../media/image9.svg"/><Relationship Id="rId4" Type="http://schemas.openxmlformats.org/officeDocument/2006/relationships/image" Target="../media/image28.jpeg"/></Relationships>
</file>

<file path=ppt/slides/_rels/slide42.xml.rels><?xml version="1.0" encoding="UTF-8" standalone="yes"?>
<Relationships xmlns="http://schemas.openxmlformats.org/package/2006/relationships"><Relationship Id="rId2" Type="http://schemas.openxmlformats.org/officeDocument/2006/relationships/hyperlink" Target="https://google.github.io/CausalImpact/CausalImpact.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ibpsa.us/best-directory/trace-3d-plus/"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hyperlink" Target="https://www.mathworks.com/solutions/mathematical-modeling.html"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4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0.sv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3.svg"/><Relationship Id="rId5" Type="http://schemas.openxmlformats.org/officeDocument/2006/relationships/image" Target="../media/image32.svg"/><Relationship Id="rId4" Type="http://schemas.openxmlformats.org/officeDocument/2006/relationships/image" Target="../media/image31.sv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2.xml"/><Relationship Id="rId4" Type="http://schemas.openxmlformats.org/officeDocument/2006/relationships/image" Target="../media/image9.svg"/></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5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9.svg"/></Relationships>
</file>

<file path=ppt/slides/_rels/slide5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7.svg"/></Relationships>
</file>

<file path=ppt/slides/_rels/slide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5.xml"/><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55.xml.rels><?xml version="1.0" encoding="UTF-8" standalone="yes"?>
<Relationships xmlns="http://schemas.openxmlformats.org/package/2006/relationships"><Relationship Id="rId3" Type="http://schemas.openxmlformats.org/officeDocument/2006/relationships/image" Target="../media/image36.gif"/><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6.gi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30.sv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2.png"/><Relationship Id="rId1" Type="http://schemas.openxmlformats.org/officeDocument/2006/relationships/slideLayout" Target="../slideLayouts/slideLayout6.xml"/><Relationship Id="rId4" Type="http://schemas.openxmlformats.org/officeDocument/2006/relationships/image" Target="../media/image9.svg"/></Relationships>
</file>

<file path=ppt/slides/_rels/slide7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6.sv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3.svg"/><Relationship Id="rId1" Type="http://schemas.openxmlformats.org/officeDocument/2006/relationships/slideLayout" Target="../slideLayouts/slideLayout4.xml"/><Relationship Id="rId4" Type="http://schemas.openxmlformats.org/officeDocument/2006/relationships/image" Target="../media/image9.svg"/></Relationships>
</file>

<file path=ppt/slides/_rels/slide7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11FC88F-BB76-B842-B4E9-49C7603ACA13}"/>
              </a:ext>
            </a:extLst>
          </p:cNvPr>
          <p:cNvSpPr>
            <a:spLocks noGrp="1"/>
          </p:cNvSpPr>
          <p:nvPr>
            <p:ph type="ctrTitle"/>
          </p:nvPr>
        </p:nvSpPr>
        <p:spPr>
          <a:xfrm>
            <a:off x="1524000" y="2235200"/>
            <a:ext cx="9144000" cy="2387600"/>
          </a:xfrm>
        </p:spPr>
        <p:txBody>
          <a:bodyPr anchor="ctr"/>
          <a:lstStyle/>
          <a:p>
            <a:r>
              <a:rPr lang="en-US" sz="4000" b="0">
                <a:cs typeface="Calibri Light"/>
              </a:rPr>
              <a:t>MODULE 1</a:t>
            </a:r>
            <a:br>
              <a:rPr lang="en-US" b="0">
                <a:cs typeface="Calibri Light"/>
              </a:rPr>
            </a:br>
            <a:r>
              <a:rPr lang="en-US">
                <a:cs typeface="Calibri Light"/>
              </a:rPr>
              <a:t>Fundamental Concepts</a:t>
            </a:r>
          </a:p>
        </p:txBody>
      </p:sp>
    </p:spTree>
    <p:extLst>
      <p:ext uri="{BB962C8B-B14F-4D97-AF65-F5344CB8AC3E}">
        <p14:creationId xmlns:p14="http://schemas.microsoft.com/office/powerpoint/2010/main" val="18717366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DF57A-3FC1-84D8-5D57-8F974382A5EB}"/>
              </a:ext>
            </a:extLst>
          </p:cNvPr>
          <p:cNvSpPr>
            <a:spLocks noGrp="1"/>
          </p:cNvSpPr>
          <p:nvPr>
            <p:ph type="title"/>
          </p:nvPr>
        </p:nvSpPr>
        <p:spPr/>
        <p:txBody>
          <a:bodyPr/>
          <a:lstStyle/>
          <a:p>
            <a:r>
              <a:rPr lang="en-US" dirty="0">
                <a:cs typeface="Calibri Light"/>
              </a:rPr>
              <a:t>Learning Objectives</a:t>
            </a:r>
            <a:endParaRPr lang="en-US" dirty="0"/>
          </a:p>
        </p:txBody>
      </p:sp>
      <p:sp>
        <p:nvSpPr>
          <p:cNvPr id="3" name="Content Placeholder 2">
            <a:extLst>
              <a:ext uri="{FF2B5EF4-FFF2-40B4-BE49-F238E27FC236}">
                <a16:creationId xmlns:a16="http://schemas.microsoft.com/office/drawing/2014/main" id="{17076B31-A901-9B49-3294-E4BD7CFD1D88}"/>
              </a:ext>
            </a:extLst>
          </p:cNvPr>
          <p:cNvSpPr>
            <a:spLocks noGrp="1"/>
          </p:cNvSpPr>
          <p:nvPr>
            <p:ph idx="1"/>
          </p:nvPr>
        </p:nvSpPr>
        <p:spPr>
          <a:xfrm>
            <a:off x="838200" y="1720695"/>
            <a:ext cx="10515600" cy="4351338"/>
          </a:xfrm>
        </p:spPr>
        <p:txBody>
          <a:bodyPr vert="horz" lIns="91440" tIns="45720" rIns="91440" bIns="45720" rtlCol="0" anchor="t">
            <a:normAutofit fontScale="77500" lnSpcReduction="20000"/>
          </a:bodyPr>
          <a:lstStyle/>
          <a:p>
            <a:pPr marL="457200" indent="-457200">
              <a:spcBef>
                <a:spcPts val="1000"/>
              </a:spcBef>
              <a:buFont typeface="Arial" panose="020B0604020202020204" pitchFamily="34" charset="0"/>
              <a:buChar char="•"/>
            </a:pPr>
            <a:r>
              <a:rPr lang="en-US" dirty="0">
                <a:ea typeface="Verdana" panose="020B0604030504040204" pitchFamily="34" charset="0"/>
                <a:cs typeface="Semplicita Pro"/>
              </a:rPr>
              <a:t>Define key terms: M&amp;V, ECM, baseline, adjusted baseline model, avoided energy use, statistical model, physical model, and ESCO.</a:t>
            </a:r>
          </a:p>
          <a:p>
            <a:pPr marL="457200" indent="-457200">
              <a:spcBef>
                <a:spcPts val="1000"/>
              </a:spcBef>
              <a:buFont typeface="Arial" panose="020B0604020202020204" pitchFamily="34" charset="0"/>
              <a:buChar char="•"/>
            </a:pPr>
            <a:r>
              <a:rPr lang="en-US" dirty="0">
                <a:ea typeface="Verdana" panose="020B0604030504040204" pitchFamily="34" charset="0"/>
                <a:cs typeface="Semplicita Pro"/>
              </a:rPr>
              <a:t>Explain the fundamental theories that drive most measurement and verification (M&amp;V) protocols and standards: the </a:t>
            </a:r>
            <a:r>
              <a:rPr lang="en-US" dirty="0">
                <a:solidFill>
                  <a:srgbClr val="FF0000"/>
                </a:solidFill>
                <a:ea typeface="Verdana" panose="020B0604030504040204" pitchFamily="34" charset="0"/>
                <a:cs typeface="Semplicita Pro"/>
              </a:rPr>
              <a:t>counterfactual method </a:t>
            </a:r>
            <a:r>
              <a:rPr lang="en-US" dirty="0">
                <a:ea typeface="Verdana" panose="020B0604030504040204" pitchFamily="34" charset="0"/>
                <a:cs typeface="Semplicita Pro"/>
              </a:rPr>
              <a:t>and </a:t>
            </a:r>
            <a:r>
              <a:rPr lang="en-US" dirty="0">
                <a:solidFill>
                  <a:srgbClr val="FF0000"/>
                </a:solidFill>
                <a:ea typeface="Verdana" panose="020B0604030504040204" pitchFamily="34" charset="0"/>
                <a:cs typeface="Semplicita Pro"/>
              </a:rPr>
              <a:t>performance verification</a:t>
            </a:r>
            <a:endParaRPr lang="en-US" dirty="0">
              <a:solidFill>
                <a:srgbClr val="FF0000"/>
              </a:solidFill>
              <a:cs typeface="Semplicita Pro"/>
            </a:endParaRPr>
          </a:p>
          <a:p>
            <a:pPr marL="457200" indent="-457200">
              <a:spcBef>
                <a:spcPts val="1000"/>
              </a:spcBef>
              <a:buFont typeface="Arial" panose="020B0604020202020204" pitchFamily="34" charset="0"/>
              <a:buChar char="•"/>
            </a:pPr>
            <a:r>
              <a:rPr lang="en-US" dirty="0">
                <a:ea typeface="Verdana" panose="020B0604030504040204" pitchFamily="34" charset="0"/>
                <a:cs typeface="Semplicita Pro"/>
              </a:rPr>
              <a:t>Recognize the importance of </a:t>
            </a:r>
            <a:r>
              <a:rPr lang="en-US" dirty="0">
                <a:solidFill>
                  <a:srgbClr val="FF0000"/>
                </a:solidFill>
                <a:ea typeface="Verdana" panose="020B0604030504040204" pitchFamily="34" charset="0"/>
                <a:cs typeface="Semplicita Pro"/>
              </a:rPr>
              <a:t>modeling</a:t>
            </a:r>
            <a:r>
              <a:rPr lang="en-US" dirty="0">
                <a:ea typeface="Verdana" panose="020B0604030504040204" pitchFamily="34" charset="0"/>
                <a:cs typeface="Semplicita Pro"/>
              </a:rPr>
              <a:t> in the implementation of the counterfactual method</a:t>
            </a:r>
          </a:p>
          <a:p>
            <a:pPr marL="457200" indent="-457200">
              <a:spcBef>
                <a:spcPts val="1000"/>
              </a:spcBef>
              <a:buFont typeface="Arial" panose="020B0604020202020204" pitchFamily="34" charset="0"/>
              <a:buChar char="•"/>
            </a:pPr>
            <a:r>
              <a:rPr lang="en-US" dirty="0">
                <a:ea typeface="Verdana" panose="020B0604030504040204" pitchFamily="34" charset="0"/>
                <a:cs typeface="Semplicita Pro"/>
              </a:rPr>
              <a:t>Differentiate between </a:t>
            </a:r>
            <a:r>
              <a:rPr lang="en-US" dirty="0">
                <a:solidFill>
                  <a:srgbClr val="FF0000"/>
                </a:solidFill>
                <a:ea typeface="Verdana" panose="020B0604030504040204" pitchFamily="34" charset="0"/>
                <a:cs typeface="Semplicita Pro"/>
              </a:rPr>
              <a:t>models</a:t>
            </a:r>
            <a:r>
              <a:rPr lang="en-US" dirty="0">
                <a:ea typeface="Verdana" panose="020B0604030504040204" pitchFamily="34" charset="0"/>
                <a:cs typeface="Semplicita Pro"/>
              </a:rPr>
              <a:t> based on energy data (</a:t>
            </a:r>
            <a:r>
              <a:rPr lang="en-US" dirty="0">
                <a:solidFill>
                  <a:schemeClr val="bg2">
                    <a:lumMod val="50000"/>
                  </a:schemeClr>
                </a:solidFill>
                <a:ea typeface="Verdana" panose="020B0604030504040204" pitchFamily="34" charset="0"/>
                <a:cs typeface="Semplicita Pro"/>
              </a:rPr>
              <a:t>statistical)</a:t>
            </a:r>
            <a:r>
              <a:rPr lang="en-US" dirty="0">
                <a:ea typeface="Verdana" panose="020B0604030504040204" pitchFamily="34" charset="0"/>
                <a:cs typeface="Semplicita Pro"/>
              </a:rPr>
              <a:t> and </a:t>
            </a:r>
            <a:r>
              <a:rPr lang="en-US" dirty="0">
                <a:solidFill>
                  <a:schemeClr val="bg2">
                    <a:lumMod val="50000"/>
                  </a:schemeClr>
                </a:solidFill>
                <a:ea typeface="Verdana" panose="020B0604030504040204" pitchFamily="34" charset="0"/>
                <a:cs typeface="Semplicita Pro"/>
              </a:rPr>
              <a:t>physical</a:t>
            </a:r>
            <a:r>
              <a:rPr lang="en-US" dirty="0">
                <a:ea typeface="Verdana" panose="020B0604030504040204" pitchFamily="34" charset="0"/>
                <a:cs typeface="Semplicita Pro"/>
              </a:rPr>
              <a:t> models (</a:t>
            </a:r>
            <a:r>
              <a:rPr lang="en-US" dirty="0">
                <a:solidFill>
                  <a:srgbClr val="00B050"/>
                </a:solidFill>
                <a:ea typeface="Verdana" panose="020B0604030504040204" pitchFamily="34" charset="0"/>
                <a:cs typeface="Semplicita Pro"/>
              </a:rPr>
              <a:t>simulation</a:t>
            </a:r>
            <a:r>
              <a:rPr lang="en-US" dirty="0">
                <a:ea typeface="Verdana" panose="020B0604030504040204" pitchFamily="34" charset="0"/>
                <a:cs typeface="Semplicita Pro"/>
              </a:rPr>
              <a:t>)</a:t>
            </a:r>
          </a:p>
          <a:p>
            <a:pPr marL="457200" indent="-457200">
              <a:spcBef>
                <a:spcPts val="1000"/>
              </a:spcBef>
              <a:buFont typeface="Arial" panose="020B0604020202020204" pitchFamily="34" charset="0"/>
              <a:buChar char="•"/>
            </a:pPr>
            <a:r>
              <a:rPr lang="en-US" dirty="0">
                <a:ea typeface="Verdana" panose="020B0604030504040204" pitchFamily="34" charset="0"/>
                <a:cs typeface="Semplicita Pro"/>
              </a:rPr>
              <a:t>Discuss KPIs</a:t>
            </a:r>
          </a:p>
          <a:p>
            <a:pPr marL="457200" indent="-457200">
              <a:spcBef>
                <a:spcPts val="1000"/>
              </a:spcBef>
              <a:buFont typeface="Arial" panose="020B0604020202020204" pitchFamily="34" charset="0"/>
              <a:buChar char="•"/>
            </a:pPr>
            <a:r>
              <a:rPr lang="en-US" dirty="0">
                <a:ea typeface="Verdana" panose="020B0604030504040204" pitchFamily="34" charset="0"/>
                <a:cs typeface="Semplicita Pro"/>
              </a:rPr>
              <a:t>Discuss the roles of judgment and uncertainty in M&amp;V</a:t>
            </a:r>
          </a:p>
          <a:p>
            <a:pPr marL="457200" indent="-457200">
              <a:spcBef>
                <a:spcPts val="1000"/>
              </a:spcBef>
              <a:buFont typeface="Arial" panose="020B0604020202020204" pitchFamily="34" charset="0"/>
              <a:buChar char="•"/>
            </a:pPr>
            <a:r>
              <a:rPr lang="en-US" dirty="0">
                <a:ea typeface="Verdana" panose="020B0604030504040204" pitchFamily="34" charset="0"/>
                <a:cs typeface="Semplicita Pro"/>
              </a:rPr>
              <a:t>Articulate the scope of a CMVP’s work</a:t>
            </a:r>
          </a:p>
        </p:txBody>
      </p:sp>
    </p:spTree>
    <p:extLst>
      <p:ext uri="{BB962C8B-B14F-4D97-AF65-F5344CB8AC3E}">
        <p14:creationId xmlns:p14="http://schemas.microsoft.com/office/powerpoint/2010/main" val="3993266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5B1C0-718B-F0BC-5EE8-100BC1A95C33}"/>
              </a:ext>
            </a:extLst>
          </p:cNvPr>
          <p:cNvSpPr>
            <a:spLocks noGrp="1"/>
          </p:cNvSpPr>
          <p:nvPr>
            <p:ph type="title"/>
          </p:nvPr>
        </p:nvSpPr>
        <p:spPr/>
        <p:txBody>
          <a:bodyPr/>
          <a:lstStyle/>
          <a:p>
            <a:r>
              <a:rPr lang="en-US"/>
              <a:t>What Is M&amp;V?</a:t>
            </a:r>
          </a:p>
        </p:txBody>
      </p:sp>
      <p:sp>
        <p:nvSpPr>
          <p:cNvPr id="3" name="Content Placeholder 2">
            <a:extLst>
              <a:ext uri="{FF2B5EF4-FFF2-40B4-BE49-F238E27FC236}">
                <a16:creationId xmlns:a16="http://schemas.microsoft.com/office/drawing/2014/main" id="{417B09B6-58C4-CB41-4EA9-85FD837BEF44}"/>
              </a:ext>
            </a:extLst>
          </p:cNvPr>
          <p:cNvSpPr>
            <a:spLocks noGrp="1"/>
          </p:cNvSpPr>
          <p:nvPr>
            <p:ph idx="1"/>
          </p:nvPr>
        </p:nvSpPr>
        <p:spPr/>
        <p:txBody>
          <a:bodyPr>
            <a:normAutofit/>
          </a:bodyPr>
          <a:lstStyle/>
          <a:p>
            <a:pPr marL="0" indent="0">
              <a:buNone/>
            </a:pPr>
            <a:r>
              <a:rPr lang="en-US" sz="2400" dirty="0"/>
              <a:t>At its core, measurement and verification (M&amp;V) is a </a:t>
            </a:r>
            <a:r>
              <a:rPr lang="en-US" sz="2400" b="1" dirty="0">
                <a:solidFill>
                  <a:srgbClr val="FF0000"/>
                </a:solidFill>
              </a:rPr>
              <a:t>process</a:t>
            </a:r>
            <a:r>
              <a:rPr lang="en-US" sz="2400" dirty="0"/>
              <a:t> that includes a wide range of measurement, verification, and analysis techniques for quantifying the results of resource efficiency and resource management activities. </a:t>
            </a:r>
          </a:p>
          <a:p>
            <a:pPr marL="342900" indent="-342900">
              <a:buFont typeface="Arial" panose="020B0604020202020204" pitchFamily="34" charset="0"/>
              <a:buChar char="•"/>
            </a:pPr>
            <a:r>
              <a:rPr lang="en-US" sz="2400" dirty="0"/>
              <a:t>Role of professional judgment – planning, communicating </a:t>
            </a:r>
          </a:p>
          <a:p>
            <a:pPr marL="342900" indent="-342900">
              <a:buFont typeface="Arial" panose="020B0604020202020204" pitchFamily="34" charset="0"/>
              <a:buChar char="•"/>
            </a:pPr>
            <a:r>
              <a:rPr lang="en-US" sz="2400" dirty="0"/>
              <a:t>Role of technical implementation – tools, data, </a:t>
            </a:r>
            <a:r>
              <a:rPr lang="en-US" sz="2400" dirty="0" err="1"/>
              <a:t>analyis</a:t>
            </a:r>
            <a:endParaRPr lang="en-US" sz="2400" dirty="0"/>
          </a:p>
          <a:p>
            <a:pPr marL="342900" indent="-342900">
              <a:buFont typeface="Arial" panose="020B0604020202020204" pitchFamily="34" charset="0"/>
              <a:buChar char="•"/>
            </a:pPr>
            <a:r>
              <a:rPr lang="en-US" sz="2400" dirty="0"/>
              <a:t>Importance of understanding – </a:t>
            </a:r>
            <a:r>
              <a:rPr lang="en-US" sz="2400" b="1" dirty="0">
                <a:solidFill>
                  <a:srgbClr val="FF0000"/>
                </a:solidFill>
              </a:rPr>
              <a:t>limited time and $$$ </a:t>
            </a:r>
          </a:p>
        </p:txBody>
      </p:sp>
      <p:pic>
        <p:nvPicPr>
          <p:cNvPr id="7" name="Graphic 6">
            <a:extLst>
              <a:ext uri="{FF2B5EF4-FFF2-40B4-BE49-F238E27FC236}">
                <a16:creationId xmlns:a16="http://schemas.microsoft.com/office/drawing/2014/main" id="{6D1FE6EF-067B-0AC8-A9B8-DCA2DA77F7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1124D3CD-DB21-1133-F22D-344E44CB7C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11" name="Graphic 10">
            <a:extLst>
              <a:ext uri="{FF2B5EF4-FFF2-40B4-BE49-F238E27FC236}">
                <a16:creationId xmlns:a16="http://schemas.microsoft.com/office/drawing/2014/main" id="{B7D1E020-DFBB-A0DA-67E3-957E2E1BD3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5314" y="89019"/>
            <a:ext cx="914400" cy="914400"/>
          </a:xfrm>
          <a:prstGeom prst="rect">
            <a:avLst/>
          </a:prstGeom>
        </p:spPr>
      </p:pic>
      <p:pic>
        <p:nvPicPr>
          <p:cNvPr id="13" name="Graphic 12">
            <a:extLst>
              <a:ext uri="{FF2B5EF4-FFF2-40B4-BE49-F238E27FC236}">
                <a16:creationId xmlns:a16="http://schemas.microsoft.com/office/drawing/2014/main" id="{05FC56B8-B5A0-10EF-F58F-B8891B514C2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
        <p:nvSpPr>
          <p:cNvPr id="4" name="TextBox 3">
            <a:extLst>
              <a:ext uri="{FF2B5EF4-FFF2-40B4-BE49-F238E27FC236}">
                <a16:creationId xmlns:a16="http://schemas.microsoft.com/office/drawing/2014/main" id="{1CF1473C-8E15-A6B1-193A-ABC699EC28C7}"/>
              </a:ext>
            </a:extLst>
          </p:cNvPr>
          <p:cNvSpPr txBox="1"/>
          <p:nvPr/>
        </p:nvSpPr>
        <p:spPr>
          <a:xfrm>
            <a:off x="5029200" y="5388570"/>
            <a:ext cx="6324600" cy="923330"/>
          </a:xfrm>
          <a:prstGeom prst="rect">
            <a:avLst/>
          </a:prstGeom>
          <a:noFill/>
          <a:ln w="28575">
            <a:solidFill>
              <a:schemeClr val="accent1"/>
            </a:solidFill>
            <a:prstDash val="sysDot"/>
          </a:ln>
        </p:spPr>
        <p:txBody>
          <a:bodyPr wrap="square" rtlCol="0">
            <a:spAutoFit/>
          </a:bodyPr>
          <a:lstStyle/>
          <a:p>
            <a:pPr algn="r"/>
            <a:r>
              <a:rPr lang="en-US">
                <a:latin typeface="Verdana" panose="020B0604030504040204" pitchFamily="34" charset="0"/>
                <a:ea typeface="Verdana" panose="020B0604030504040204" pitchFamily="34" charset="0"/>
                <a:cs typeface="Verdana" panose="020B0604030504040204" pitchFamily="34" charset="0"/>
              </a:rPr>
              <a:t>These icons refer to the different “domains” of M&amp;V: technical, regulatory, commercial, and legal. We will discuss them at length in the next module.</a:t>
            </a:r>
          </a:p>
        </p:txBody>
      </p:sp>
      <p:cxnSp>
        <p:nvCxnSpPr>
          <p:cNvPr id="10" name="Elbow Connector 9">
            <a:extLst>
              <a:ext uri="{FF2B5EF4-FFF2-40B4-BE49-F238E27FC236}">
                <a16:creationId xmlns:a16="http://schemas.microsoft.com/office/drawing/2014/main" id="{BB55ABBB-D583-CC0B-79F3-BEA25DE06B6D}"/>
              </a:ext>
            </a:extLst>
          </p:cNvPr>
          <p:cNvCxnSpPr>
            <a:stCxn id="4" idx="3"/>
          </p:cNvCxnSpPr>
          <p:nvPr/>
        </p:nvCxnSpPr>
        <p:spPr>
          <a:xfrm flipV="1">
            <a:off x="11353800" y="1003419"/>
            <a:ext cx="342900" cy="4846816"/>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0140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E1D87-4F69-52C8-8567-D5DCAB4A0E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7C92E2-5411-EF61-C142-F8D793488CB9}"/>
              </a:ext>
            </a:extLst>
          </p:cNvPr>
          <p:cNvSpPr>
            <a:spLocks noGrp="1"/>
          </p:cNvSpPr>
          <p:nvPr>
            <p:ph type="title"/>
          </p:nvPr>
        </p:nvSpPr>
        <p:spPr>
          <a:xfrm>
            <a:off x="860854" y="612260"/>
            <a:ext cx="10515600" cy="1325563"/>
          </a:xfrm>
        </p:spPr>
        <p:txBody>
          <a:bodyPr>
            <a:normAutofit fontScale="90000"/>
          </a:bodyPr>
          <a:lstStyle/>
          <a:p>
            <a:br>
              <a:rPr lang="en-US" dirty="0"/>
            </a:br>
            <a:r>
              <a:rPr lang="en-US" dirty="0"/>
              <a:t>THE CENTRAL CHALLENGE OF M&amp;V</a:t>
            </a:r>
            <a:br>
              <a:rPr lang="en-US" dirty="0"/>
            </a:br>
            <a:endParaRPr lang="en-US" dirty="0"/>
          </a:p>
        </p:txBody>
      </p:sp>
      <p:sp>
        <p:nvSpPr>
          <p:cNvPr id="3" name="Content Placeholder 2">
            <a:extLst>
              <a:ext uri="{FF2B5EF4-FFF2-40B4-BE49-F238E27FC236}">
                <a16:creationId xmlns:a16="http://schemas.microsoft.com/office/drawing/2014/main" id="{B6CD3B64-6F0F-C65B-88F6-ED1F594E0F43}"/>
              </a:ext>
            </a:extLst>
          </p:cNvPr>
          <p:cNvSpPr>
            <a:spLocks noGrp="1"/>
          </p:cNvSpPr>
          <p:nvPr>
            <p:ph idx="1"/>
          </p:nvPr>
        </p:nvSpPr>
        <p:spPr>
          <a:xfrm>
            <a:off x="838200" y="1720695"/>
            <a:ext cx="10515600" cy="4351338"/>
          </a:xfrm>
        </p:spPr>
        <p:txBody>
          <a:bodyPr vert="horz" lIns="91440" tIns="45720" rIns="91440" bIns="45720" rtlCol="0" anchor="t">
            <a:normAutofit fontScale="25000" lnSpcReduction="20000"/>
          </a:bodyPr>
          <a:lstStyle/>
          <a:p>
            <a:r>
              <a:rPr lang="en-US" sz="11200" dirty="0"/>
              <a:t>"How do we know what WOULD HAVE happened?"</a:t>
            </a:r>
          </a:p>
          <a:p>
            <a:r>
              <a:rPr lang="en-US" sz="5600" dirty="0"/>
              <a:t>We can measure:</a:t>
            </a:r>
          </a:p>
          <a:p>
            <a:r>
              <a:rPr lang="en-US" sz="5600" dirty="0">
                <a:solidFill>
                  <a:srgbClr val="00B050"/>
                </a:solidFill>
              </a:rPr>
              <a:t>✓</a:t>
            </a:r>
            <a:r>
              <a:rPr lang="en-US" sz="5600" dirty="0"/>
              <a:t> What DID happen before (baseline data)</a:t>
            </a:r>
          </a:p>
          <a:p>
            <a:r>
              <a:rPr lang="en-US" sz="5600" dirty="0">
                <a:solidFill>
                  <a:srgbClr val="00B050"/>
                </a:solidFill>
              </a:rPr>
              <a:t>✓</a:t>
            </a:r>
            <a:r>
              <a:rPr lang="en-US" sz="5600" dirty="0"/>
              <a:t> What DID happen after (actual performance)</a:t>
            </a:r>
            <a:endParaRPr lang="en-US" dirty="0"/>
          </a:p>
          <a:p>
            <a:r>
              <a:rPr lang="en-US" sz="5600" dirty="0"/>
              <a:t>We CANNOT measure:</a:t>
            </a:r>
          </a:p>
          <a:p>
            <a:r>
              <a:rPr lang="en-US" sz="5600" dirty="0">
                <a:solidFill>
                  <a:srgbClr val="FF0000"/>
                </a:solidFill>
              </a:rPr>
              <a:t>✗</a:t>
            </a:r>
            <a:r>
              <a:rPr lang="en-US" sz="5600" dirty="0"/>
              <a:t> What WOULD HAVE happened without the project</a:t>
            </a:r>
            <a:endParaRPr lang="en-US" dirty="0"/>
          </a:p>
          <a:p>
            <a:r>
              <a:rPr lang="en-US" sz="5600" dirty="0"/>
              <a:t>M&amp;V's solution: Build a defensible MODEL</a:t>
            </a:r>
          </a:p>
          <a:p>
            <a:r>
              <a:rPr lang="en-US" sz="5600" dirty="0"/>
              <a:t>- Based on baseline relationships</a:t>
            </a:r>
          </a:p>
          <a:p>
            <a:r>
              <a:rPr lang="en-US" sz="5600" dirty="0"/>
              <a:t>- Adjusted for actual conditions  </a:t>
            </a:r>
          </a:p>
          <a:p>
            <a:r>
              <a:rPr lang="en-US" sz="5600" dirty="0"/>
              <a:t>- Validated and transparent.      </a:t>
            </a:r>
            <a:r>
              <a:rPr lang="en-US" sz="7200" dirty="0"/>
              <a:t>This is COUNTERFACTUAL REASONING.</a:t>
            </a:r>
          </a:p>
          <a:p>
            <a:pPr algn="ctr"/>
            <a:r>
              <a:rPr lang="en-US" sz="8000" dirty="0"/>
              <a:t>Everything in this course builds on this concept.</a:t>
            </a:r>
          </a:p>
          <a:p>
            <a:pPr>
              <a:spcBef>
                <a:spcPts val="1000"/>
              </a:spcBef>
            </a:pPr>
            <a:endParaRPr lang="en-US" dirty="0">
              <a:ea typeface="Verdana" panose="020B0604030504040204" pitchFamily="34" charset="0"/>
              <a:cs typeface="Semplicita Pro"/>
            </a:endParaRPr>
          </a:p>
        </p:txBody>
      </p:sp>
    </p:spTree>
    <p:extLst>
      <p:ext uri="{BB962C8B-B14F-4D97-AF65-F5344CB8AC3E}">
        <p14:creationId xmlns:p14="http://schemas.microsoft.com/office/powerpoint/2010/main" val="986366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2356-51F4-9C62-D223-F68C38E7E17B}"/>
              </a:ext>
            </a:extLst>
          </p:cNvPr>
          <p:cNvSpPr>
            <a:spLocks noGrp="1"/>
          </p:cNvSpPr>
          <p:nvPr>
            <p:ph type="title"/>
          </p:nvPr>
        </p:nvSpPr>
        <p:spPr>
          <a:xfrm>
            <a:off x="838200" y="365125"/>
            <a:ext cx="10515600" cy="1325563"/>
          </a:xfrm>
        </p:spPr>
        <p:txBody>
          <a:bodyPr anchor="ctr">
            <a:normAutofit/>
          </a:bodyPr>
          <a:lstStyle/>
          <a:p>
            <a:r>
              <a:rPr lang="en-US" dirty="0"/>
              <a:t>Baseline vs. Counterfactual </a:t>
            </a:r>
          </a:p>
        </p:txBody>
      </p:sp>
      <p:graphicFrame>
        <p:nvGraphicFramePr>
          <p:cNvPr id="5" name="Content Placeholder 2">
            <a:extLst>
              <a:ext uri="{FF2B5EF4-FFF2-40B4-BE49-F238E27FC236}">
                <a16:creationId xmlns:a16="http://schemas.microsoft.com/office/drawing/2014/main" id="{7D381521-23B1-EC26-AA51-EF4EF652C5F0}"/>
              </a:ext>
            </a:extLst>
          </p:cNvPr>
          <p:cNvGraphicFramePr>
            <a:graphicFrameLocks noGrp="1"/>
          </p:cNvGraphicFramePr>
          <p:nvPr>
            <p:ph idx="1"/>
            <p:extLst>
              <p:ext uri="{D42A27DB-BD31-4B8C-83A1-F6EECF244321}">
                <p14:modId xmlns:p14="http://schemas.microsoft.com/office/powerpoint/2010/main" val="36876005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040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a:extLst>
              <a:ext uri="{FF2B5EF4-FFF2-40B4-BE49-F238E27FC236}">
                <a16:creationId xmlns:a16="http://schemas.microsoft.com/office/drawing/2014/main" id="{322617F9-B928-B45F-3E38-EEE4897EBC35}"/>
              </a:ext>
            </a:extLst>
          </p:cNvPr>
          <p:cNvPicPr>
            <a:picLocks noGrp="1" noChangeAspect="1"/>
          </p:cNvPicPr>
          <p:nvPr>
            <p:ph idx="4294967295"/>
          </p:nvPr>
        </p:nvPicPr>
        <p:blipFill>
          <a:blip r:embed="rId3"/>
          <a:srcRect/>
          <a:stretch/>
        </p:blipFill>
        <p:spPr>
          <a:xfrm>
            <a:off x="429509" y="543497"/>
            <a:ext cx="11580669" cy="5001768"/>
          </a:xfrm>
        </p:spPr>
      </p:pic>
      <p:grpSp>
        <p:nvGrpSpPr>
          <p:cNvPr id="8" name="Group 7">
            <a:extLst>
              <a:ext uri="{FF2B5EF4-FFF2-40B4-BE49-F238E27FC236}">
                <a16:creationId xmlns:a16="http://schemas.microsoft.com/office/drawing/2014/main" id="{8F4A4B79-52B1-BC10-5CF2-6224C35A650E}"/>
              </a:ext>
            </a:extLst>
          </p:cNvPr>
          <p:cNvGrpSpPr/>
          <p:nvPr/>
        </p:nvGrpSpPr>
        <p:grpSpPr>
          <a:xfrm>
            <a:off x="5971313" y="4302135"/>
            <a:ext cx="5708652" cy="1292662"/>
            <a:chOff x="5971313" y="4300750"/>
            <a:chExt cx="5708652" cy="1292662"/>
          </a:xfrm>
        </p:grpSpPr>
        <p:cxnSp>
          <p:nvCxnSpPr>
            <p:cNvPr id="4" name="Straight Arrow Connector 3">
              <a:extLst>
                <a:ext uri="{FF2B5EF4-FFF2-40B4-BE49-F238E27FC236}">
                  <a16:creationId xmlns:a16="http://schemas.microsoft.com/office/drawing/2014/main" id="{3FF8D62F-7863-3383-A7C5-497F1C491E8A}"/>
                </a:ext>
              </a:extLst>
            </p:cNvPr>
            <p:cNvCxnSpPr/>
            <p:nvPr/>
          </p:nvCxnSpPr>
          <p:spPr>
            <a:xfrm flipH="1">
              <a:off x="5971313" y="4946080"/>
              <a:ext cx="2327563" cy="0"/>
            </a:xfrm>
            <a:prstGeom prst="straightConnector1">
              <a:avLst/>
            </a:prstGeom>
            <a:ln w="38100">
              <a:solidFill>
                <a:srgbClr val="F05D5E"/>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6C4A763-0E75-9F09-13A9-02399F2BB733}"/>
                </a:ext>
              </a:extLst>
            </p:cNvPr>
            <p:cNvSpPr txBox="1"/>
            <p:nvPr/>
          </p:nvSpPr>
          <p:spPr>
            <a:xfrm>
              <a:off x="8298876" y="4300750"/>
              <a:ext cx="3381089" cy="1292662"/>
            </a:xfrm>
            <a:prstGeom prst="rect">
              <a:avLst/>
            </a:prstGeom>
            <a:noFill/>
            <a:ln w="38100">
              <a:solidFill>
                <a:srgbClr val="F05D5E"/>
              </a:solidFill>
            </a:ln>
          </p:spPr>
          <p:style>
            <a:lnRef idx="2">
              <a:schemeClr val="dk1"/>
            </a:lnRef>
            <a:fillRef idx="1">
              <a:schemeClr val="lt1"/>
            </a:fillRef>
            <a:effectRef idx="0">
              <a:schemeClr val="dk1"/>
            </a:effectRef>
            <a:fontRef idx="minor">
              <a:schemeClr val="dk1"/>
            </a:fontRef>
          </p:style>
          <p:txBody>
            <a:bodyPr wrap="square" tIns="91440" bIns="91440" rtlCol="0" anchor="ctr">
              <a:spAutoFit/>
            </a:bodyPr>
            <a:lstStyle/>
            <a:p>
              <a:pPr algn="ctr"/>
              <a:r>
                <a:rPr lang="en-US" sz="2400">
                  <a:latin typeface="Verdana" panose="020B0604030504040204" pitchFamily="34" charset="0"/>
                </a:rPr>
                <a:t>M&amp;V typically occurs at this point in a facility’s life cycle.</a:t>
              </a:r>
            </a:p>
          </p:txBody>
        </p:sp>
      </p:grpSp>
      <p:sp>
        <p:nvSpPr>
          <p:cNvPr id="5" name="TextBox 4">
            <a:extLst>
              <a:ext uri="{FF2B5EF4-FFF2-40B4-BE49-F238E27FC236}">
                <a16:creationId xmlns:a16="http://schemas.microsoft.com/office/drawing/2014/main" id="{1BEE2E3A-C124-9E1B-2E45-BADDA2ADF1B0}"/>
              </a:ext>
            </a:extLst>
          </p:cNvPr>
          <p:cNvSpPr txBox="1"/>
          <p:nvPr/>
        </p:nvSpPr>
        <p:spPr>
          <a:xfrm>
            <a:off x="968189" y="5873670"/>
            <a:ext cx="11101892" cy="646331"/>
          </a:xfrm>
          <a:prstGeom prst="rect">
            <a:avLst/>
          </a:prstGeom>
          <a:noFill/>
        </p:spPr>
        <p:txBody>
          <a:bodyPr wrap="square">
            <a:spAutoFit/>
          </a:bodyPr>
          <a:lstStyle/>
          <a:p>
            <a:r>
              <a:rPr lang="en-US" b="1" dirty="0"/>
              <a:t>NIST Life Cycle Costing</a:t>
            </a:r>
            <a:r>
              <a:rPr lang="en-US" dirty="0"/>
              <a:t>: </a:t>
            </a:r>
            <a:r>
              <a:rPr lang="en-US" dirty="0">
                <a:hlinkClick r:id="rId4"/>
              </a:rPr>
              <a:t>https://www.energy.gov/femp/building-life-cycle-cost-programs?nrg_redirect=156356</a:t>
            </a:r>
            <a:endParaRPr lang="en-US" dirty="0"/>
          </a:p>
          <a:p>
            <a:endParaRPr lang="en-US" dirty="0"/>
          </a:p>
        </p:txBody>
      </p:sp>
    </p:spTree>
    <p:extLst>
      <p:ext uri="{BB962C8B-B14F-4D97-AF65-F5344CB8AC3E}">
        <p14:creationId xmlns:p14="http://schemas.microsoft.com/office/powerpoint/2010/main" val="2396967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decel="500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1000" fill="hold"/>
                                        <p:tgtEl>
                                          <p:spTgt spid="8"/>
                                        </p:tgtEl>
                                        <p:attrNameLst>
                                          <p:attrName>ppt_x</p:attrName>
                                        </p:attrNameLst>
                                      </p:cBhvr>
                                      <p:tavLst>
                                        <p:tav tm="0">
                                          <p:val>
                                            <p:strVal val="1+#ppt_w/2"/>
                                          </p:val>
                                        </p:tav>
                                        <p:tav tm="100000">
                                          <p:val>
                                            <p:strVal val="#ppt_x"/>
                                          </p:val>
                                        </p:tav>
                                      </p:tavLst>
                                    </p:anim>
                                    <p:anim calcmode="lin" valueType="num">
                                      <p:cBhvr additive="base">
                                        <p:cTn id="8" dur="10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AB4D3F6-BBB0-2F5B-2AFC-9325F1D0D881}"/>
              </a:ext>
            </a:extLst>
          </p:cNvPr>
          <p:cNvSpPr>
            <a:spLocks noGrp="1"/>
          </p:cNvSpPr>
          <p:nvPr>
            <p:ph type="title"/>
          </p:nvPr>
        </p:nvSpPr>
        <p:spPr>
          <a:xfrm>
            <a:off x="838200" y="365125"/>
            <a:ext cx="10515600" cy="1325563"/>
          </a:xfrm>
        </p:spPr>
        <p:txBody>
          <a:bodyPr/>
          <a:lstStyle/>
          <a:p>
            <a:r>
              <a:rPr lang="en-US" dirty="0"/>
              <a:t>Denominator</a:t>
            </a:r>
          </a:p>
        </p:txBody>
      </p:sp>
      <p:sp>
        <p:nvSpPr>
          <p:cNvPr id="11" name="Content Placeholder 2">
            <a:extLst>
              <a:ext uri="{FF2B5EF4-FFF2-40B4-BE49-F238E27FC236}">
                <a16:creationId xmlns:a16="http://schemas.microsoft.com/office/drawing/2014/main" id="{F01B6B20-56DB-61BB-E988-C1558A99549B}"/>
              </a:ext>
            </a:extLst>
          </p:cNvPr>
          <p:cNvSpPr>
            <a:spLocks noGrp="1"/>
          </p:cNvSpPr>
          <p:nvPr>
            <p:ph idx="1"/>
          </p:nvPr>
        </p:nvSpPr>
        <p:spPr>
          <a:xfrm>
            <a:off x="838200" y="1825625"/>
            <a:ext cx="10515600" cy="4351338"/>
          </a:xfrm>
        </p:spPr>
        <p:txBody>
          <a:bodyPr/>
          <a:lstStyle/>
          <a:p>
            <a:r>
              <a:rPr lang="en-US" dirty="0"/>
              <a:t>Value</a:t>
            </a:r>
          </a:p>
          <a:p>
            <a:r>
              <a:rPr lang="en-US" dirty="0"/>
              <a:t>Service </a:t>
            </a:r>
          </a:p>
          <a:p>
            <a:r>
              <a:rPr lang="en-US" dirty="0"/>
              <a:t>Compliance – Code – Indoor environment </a:t>
            </a:r>
          </a:p>
          <a:p>
            <a:r>
              <a:rPr lang="en-US" dirty="0"/>
              <a:t>Production</a:t>
            </a:r>
          </a:p>
          <a:p>
            <a:r>
              <a:rPr lang="en-US" dirty="0"/>
              <a:t>Output</a:t>
            </a:r>
          </a:p>
          <a:p>
            <a:r>
              <a:rPr lang="en-US" dirty="0"/>
              <a:t>Benefit</a:t>
            </a:r>
          </a:p>
        </p:txBody>
      </p:sp>
    </p:spTree>
    <p:extLst>
      <p:ext uri="{BB962C8B-B14F-4D97-AF65-F5344CB8AC3E}">
        <p14:creationId xmlns:p14="http://schemas.microsoft.com/office/powerpoint/2010/main" val="23234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1DFB7-EEB5-9DEC-076E-2A2CE235FE1D}"/>
              </a:ext>
            </a:extLst>
          </p:cNvPr>
          <p:cNvSpPr>
            <a:spLocks noGrp="1"/>
          </p:cNvSpPr>
          <p:nvPr>
            <p:ph type="title"/>
          </p:nvPr>
        </p:nvSpPr>
        <p:spPr>
          <a:xfrm>
            <a:off x="838200" y="365125"/>
            <a:ext cx="10515600" cy="2250484"/>
          </a:xfrm>
        </p:spPr>
        <p:txBody>
          <a:bodyPr>
            <a:normAutofit/>
          </a:bodyPr>
          <a:lstStyle/>
          <a:p>
            <a:r>
              <a:rPr lang="en-US" dirty="0"/>
              <a:t>Baseline vs. Counterfactual - A Critical Distinction"</a:t>
            </a:r>
            <a:br>
              <a:rPr lang="en-US" dirty="0"/>
            </a:br>
            <a:endParaRPr lang="en-US" dirty="0"/>
          </a:p>
        </p:txBody>
      </p:sp>
      <p:sp>
        <p:nvSpPr>
          <p:cNvPr id="3" name="Content Placeholder 2">
            <a:extLst>
              <a:ext uri="{FF2B5EF4-FFF2-40B4-BE49-F238E27FC236}">
                <a16:creationId xmlns:a16="http://schemas.microsoft.com/office/drawing/2014/main" id="{1E56F9D1-7D61-6E4A-CFD6-0724D1BD479D}"/>
              </a:ext>
            </a:extLst>
          </p:cNvPr>
          <p:cNvSpPr>
            <a:spLocks noGrp="1"/>
          </p:cNvSpPr>
          <p:nvPr>
            <p:ph idx="1"/>
          </p:nvPr>
        </p:nvSpPr>
        <p:spPr>
          <a:xfrm>
            <a:off x="838200" y="2615609"/>
            <a:ext cx="10515600" cy="3561354"/>
          </a:xfrm>
        </p:spPr>
        <p:txBody>
          <a:bodyPr/>
          <a:lstStyle/>
          <a:p>
            <a:pPr lvl="0"/>
            <a:r>
              <a:rPr lang="en-US" dirty="0"/>
              <a:t>"The Baseline is </a:t>
            </a:r>
            <a:r>
              <a:rPr lang="en-US" b="1" dirty="0">
                <a:solidFill>
                  <a:schemeClr val="bg2">
                    <a:lumMod val="50000"/>
                  </a:schemeClr>
                </a:solidFill>
              </a:rPr>
              <a:t>evidence</a:t>
            </a:r>
            <a:r>
              <a:rPr lang="en-US" b="1" dirty="0"/>
              <a:t>"</a:t>
            </a:r>
          </a:p>
          <a:p>
            <a:pPr lvl="0"/>
            <a:r>
              <a:rPr lang="en-US" dirty="0"/>
              <a:t>"The Counterfactual is </a:t>
            </a:r>
            <a:r>
              <a:rPr lang="en-US" dirty="0">
                <a:solidFill>
                  <a:srgbClr val="FF0000"/>
                </a:solidFill>
              </a:rPr>
              <a:t>inference</a:t>
            </a:r>
            <a:r>
              <a:rPr lang="en-US" dirty="0"/>
              <a:t>"</a:t>
            </a:r>
          </a:p>
          <a:p>
            <a:pPr lvl="0"/>
            <a:r>
              <a:rPr lang="en-US" dirty="0"/>
              <a:t>"Don't conflate the two”</a:t>
            </a:r>
          </a:p>
          <a:p>
            <a:pPr lvl="0"/>
            <a:endParaRPr lang="en-US" dirty="0"/>
          </a:p>
          <a:p>
            <a:pPr lvl="0"/>
            <a:endParaRPr lang="en-US" dirty="0"/>
          </a:p>
          <a:p>
            <a:endParaRPr lang="en-US" dirty="0"/>
          </a:p>
        </p:txBody>
      </p:sp>
    </p:spTree>
    <p:extLst>
      <p:ext uri="{BB962C8B-B14F-4D97-AF65-F5344CB8AC3E}">
        <p14:creationId xmlns:p14="http://schemas.microsoft.com/office/powerpoint/2010/main" val="3583046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EA26C-9675-3C77-F7C8-9020BD3A8A91}"/>
              </a:ext>
            </a:extLst>
          </p:cNvPr>
          <p:cNvSpPr>
            <a:spLocks noGrp="1"/>
          </p:cNvSpPr>
          <p:nvPr>
            <p:ph type="title"/>
          </p:nvPr>
        </p:nvSpPr>
        <p:spPr/>
        <p:txBody>
          <a:bodyPr/>
          <a:lstStyle/>
          <a:p>
            <a:r>
              <a:rPr lang="en-US"/>
              <a:t>The Counterfactual Method</a:t>
            </a:r>
          </a:p>
        </p:txBody>
      </p:sp>
      <p:sp>
        <p:nvSpPr>
          <p:cNvPr id="3" name="Content Placeholder 2">
            <a:extLst>
              <a:ext uri="{FF2B5EF4-FFF2-40B4-BE49-F238E27FC236}">
                <a16:creationId xmlns:a16="http://schemas.microsoft.com/office/drawing/2014/main" id="{27F7AC82-DE66-BB6C-6D58-43042C916265}"/>
              </a:ext>
            </a:extLst>
          </p:cNvPr>
          <p:cNvSpPr>
            <a:spLocks noGrp="1"/>
          </p:cNvSpPr>
          <p:nvPr>
            <p:ph idx="1"/>
          </p:nvPr>
        </p:nvSpPr>
        <p:spPr>
          <a:xfrm>
            <a:off x="838200" y="1952234"/>
            <a:ext cx="10515600" cy="3259138"/>
          </a:xfrm>
        </p:spPr>
        <p:txBody>
          <a:bodyPr vert="horz" lIns="91440" tIns="45720" rIns="91440" bIns="45720" rtlCol="0" anchor="t">
            <a:normAutofit/>
          </a:bodyPr>
          <a:lstStyle/>
          <a:p>
            <a:pPr marL="0" indent="0">
              <a:lnSpc>
                <a:spcPct val="100000"/>
              </a:lnSpc>
              <a:buNone/>
            </a:pPr>
            <a:r>
              <a:rPr lang="en-US" sz="2400" dirty="0"/>
              <a:t>Counterfactuals are an essential part of how humans learn about the world and how our actions affect it. While we can never walk down both the paths that diverge in a wood, in a great many cases we can know, with some degree of </a:t>
            </a:r>
            <a:r>
              <a:rPr lang="en-US" sz="2400" b="1" dirty="0">
                <a:solidFill>
                  <a:srgbClr val="FF0000"/>
                </a:solidFill>
              </a:rPr>
              <a:t>confidence</a:t>
            </a:r>
            <a:r>
              <a:rPr lang="en-US" sz="2400" dirty="0"/>
              <a:t>, what lies down each.</a:t>
            </a:r>
          </a:p>
          <a:p>
            <a:pPr marL="0" indent="0" algn="r">
              <a:lnSpc>
                <a:spcPct val="100000"/>
              </a:lnSpc>
              <a:buNone/>
            </a:pPr>
            <a:r>
              <a:rPr lang="en-US" sz="2400" dirty="0"/>
              <a:t>—Judea Pearl and Dana Mackenzie</a:t>
            </a:r>
            <a:br>
              <a:rPr lang="en-US" sz="2400" dirty="0"/>
            </a:br>
            <a:r>
              <a:rPr lang="en-US" sz="2400" i="1" dirty="0"/>
              <a:t>The Book of Why: The New Science of Cause and Effect</a:t>
            </a:r>
          </a:p>
        </p:txBody>
      </p:sp>
      <p:sp>
        <p:nvSpPr>
          <p:cNvPr id="7" name="TextBox 6">
            <a:extLst>
              <a:ext uri="{FF2B5EF4-FFF2-40B4-BE49-F238E27FC236}">
                <a16:creationId xmlns:a16="http://schemas.microsoft.com/office/drawing/2014/main" id="{834BE7DB-B9BB-B4CC-17F8-562B37CA7135}"/>
              </a:ext>
            </a:extLst>
          </p:cNvPr>
          <p:cNvSpPr txBox="1"/>
          <p:nvPr/>
        </p:nvSpPr>
        <p:spPr>
          <a:xfrm>
            <a:off x="2710543" y="5663168"/>
            <a:ext cx="8643257" cy="646331"/>
          </a:xfrm>
          <a:prstGeom prst="rect">
            <a:avLst/>
          </a:prstGeom>
          <a:noFill/>
          <a:ln w="19050">
            <a:solidFill>
              <a:schemeClr val="accent1"/>
            </a:solidFill>
            <a:prstDash val="sysDot"/>
          </a:ln>
        </p:spPr>
        <p:txBody>
          <a:bodyPr wrap="square">
            <a:spAutoFit/>
          </a:bodyPr>
          <a:lstStyle/>
          <a:p>
            <a:pPr algn="r"/>
            <a:r>
              <a:rPr lang="en-US" b="1" dirty="0">
                <a:latin typeface="Verdana" panose="020B0604030504040204" pitchFamily="34" charset="0"/>
                <a:ea typeface="Verdana" panose="020B0604030504040204" pitchFamily="34" charset="0"/>
                <a:cs typeface="Verdana" panose="020B0604030504040204" pitchFamily="34" charset="0"/>
              </a:rPr>
              <a:t>Further Reading</a:t>
            </a:r>
            <a:r>
              <a:rPr lang="en-US" dirty="0">
                <a:latin typeface="Verdana" panose="020B0604030504040204" pitchFamily="34" charset="0"/>
                <a:ea typeface="Verdana" panose="020B0604030504040204" pitchFamily="34" charset="0"/>
                <a:cs typeface="Verdana" panose="020B0604030504040204" pitchFamily="34" charset="0"/>
              </a:rPr>
              <a:t>: Simon, Herbert A., and Nicholas </a:t>
            </a:r>
            <a:r>
              <a:rPr lang="en-US" dirty="0" err="1">
                <a:latin typeface="Verdana" panose="020B0604030504040204" pitchFamily="34" charset="0"/>
                <a:ea typeface="Verdana" panose="020B0604030504040204" pitchFamily="34" charset="0"/>
                <a:cs typeface="Verdana" panose="020B0604030504040204" pitchFamily="34" charset="0"/>
              </a:rPr>
              <a:t>Rescher</a:t>
            </a:r>
            <a:r>
              <a:rPr lang="en-US" dirty="0">
                <a:latin typeface="Verdana" panose="020B0604030504040204" pitchFamily="34" charset="0"/>
                <a:ea typeface="Verdana" panose="020B0604030504040204" pitchFamily="34" charset="0"/>
                <a:cs typeface="Verdana" panose="020B0604030504040204" pitchFamily="34" charset="0"/>
              </a:rPr>
              <a:t>. “Cause and Counterfactual.” </a:t>
            </a:r>
            <a:r>
              <a:rPr lang="en-US" i="1" dirty="0">
                <a:latin typeface="Verdana" panose="020B0604030504040204" pitchFamily="34" charset="0"/>
                <a:ea typeface="Verdana" panose="020B0604030504040204" pitchFamily="34" charset="0"/>
                <a:cs typeface="Verdana" panose="020B0604030504040204" pitchFamily="34" charset="0"/>
              </a:rPr>
              <a:t>Philosophy of Science </a:t>
            </a:r>
            <a:r>
              <a:rPr lang="en-US" dirty="0">
                <a:latin typeface="Verdana" panose="020B0604030504040204" pitchFamily="34" charset="0"/>
                <a:ea typeface="Verdana" panose="020B0604030504040204" pitchFamily="34" charset="0"/>
                <a:cs typeface="Verdana" panose="020B0604030504040204" pitchFamily="34" charset="0"/>
              </a:rPr>
              <a:t>33, no. 4 (1966): 323–40.</a:t>
            </a:r>
          </a:p>
        </p:txBody>
      </p:sp>
      <p:pic>
        <p:nvPicPr>
          <p:cNvPr id="8" name="Graphic 7">
            <a:extLst>
              <a:ext uri="{FF2B5EF4-FFF2-40B4-BE49-F238E27FC236}">
                <a16:creationId xmlns:a16="http://schemas.microsoft.com/office/drawing/2014/main" id="{A3A0A947-4A72-C770-6293-E6ABA56922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spTree>
    <p:extLst>
      <p:ext uri="{BB962C8B-B14F-4D97-AF65-F5344CB8AC3E}">
        <p14:creationId xmlns:p14="http://schemas.microsoft.com/office/powerpoint/2010/main" val="88455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8E864-8CDD-3D1B-41AE-34A780A928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48C5BE-F2DA-FE33-32E9-A2AF91B0027C}"/>
              </a:ext>
            </a:extLst>
          </p:cNvPr>
          <p:cNvSpPr>
            <a:spLocks noGrp="1"/>
          </p:cNvSpPr>
          <p:nvPr>
            <p:ph type="title"/>
          </p:nvPr>
        </p:nvSpPr>
        <p:spPr/>
        <p:txBody>
          <a:bodyPr/>
          <a:lstStyle/>
          <a:p>
            <a:r>
              <a:rPr lang="en-US"/>
              <a:t>The Counterfactual Method</a:t>
            </a:r>
          </a:p>
        </p:txBody>
      </p:sp>
      <p:sp>
        <p:nvSpPr>
          <p:cNvPr id="3" name="Content Placeholder 2">
            <a:extLst>
              <a:ext uri="{FF2B5EF4-FFF2-40B4-BE49-F238E27FC236}">
                <a16:creationId xmlns:a16="http://schemas.microsoft.com/office/drawing/2014/main" id="{E6F2D2F3-80C0-FBBF-17FF-4844AAD9C15A}"/>
              </a:ext>
            </a:extLst>
          </p:cNvPr>
          <p:cNvSpPr>
            <a:spLocks noGrp="1"/>
          </p:cNvSpPr>
          <p:nvPr>
            <p:ph idx="1"/>
          </p:nvPr>
        </p:nvSpPr>
        <p:spPr>
          <a:xfrm>
            <a:off x="838200" y="1952234"/>
            <a:ext cx="10515600" cy="3259138"/>
          </a:xfrm>
        </p:spPr>
        <p:txBody>
          <a:bodyPr vert="horz" lIns="91440" tIns="45720" rIns="91440" bIns="45720" rtlCol="0" anchor="t">
            <a:normAutofit/>
          </a:bodyPr>
          <a:lstStyle/>
          <a:p>
            <a:pPr marL="0" indent="0">
              <a:lnSpc>
                <a:spcPct val="100000"/>
              </a:lnSpc>
              <a:buNone/>
            </a:pPr>
            <a:br>
              <a:rPr lang="en-US" sz="1600" dirty="0"/>
            </a:br>
            <a:r>
              <a:rPr lang="en-US" b="0" i="0" u="none" strike="noStrike" dirty="0">
                <a:solidFill>
                  <a:srgbClr val="000000"/>
                </a:solidFill>
                <a:effectLst/>
                <a:latin typeface="-webkit-standard"/>
              </a:rPr>
              <a:t>The statement "you can't prove a negative" emphasizes that counterfactual claims can never be empirically confirmed with certainty. Instead, they must be rigorously and transparently supported through structured assumptions, logical inference, and evidence-based modeling. </a:t>
            </a:r>
            <a:endParaRPr lang="en-US" sz="2400" i="1" dirty="0"/>
          </a:p>
        </p:txBody>
      </p:sp>
      <p:pic>
        <p:nvPicPr>
          <p:cNvPr id="8" name="Graphic 7">
            <a:extLst>
              <a:ext uri="{FF2B5EF4-FFF2-40B4-BE49-F238E27FC236}">
                <a16:creationId xmlns:a16="http://schemas.microsoft.com/office/drawing/2014/main" id="{309DEA9E-8277-E60F-457B-592ADAF32C5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spTree>
    <p:extLst>
      <p:ext uri="{BB962C8B-B14F-4D97-AF65-F5344CB8AC3E}">
        <p14:creationId xmlns:p14="http://schemas.microsoft.com/office/powerpoint/2010/main" val="3274524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0D5B6-5A49-F456-24F0-EC1CB6BFA80B}"/>
              </a:ext>
            </a:extLst>
          </p:cNvPr>
          <p:cNvSpPr>
            <a:spLocks noGrp="1"/>
          </p:cNvSpPr>
          <p:nvPr>
            <p:ph type="title"/>
          </p:nvPr>
        </p:nvSpPr>
        <p:spPr/>
        <p:txBody>
          <a:bodyPr/>
          <a:lstStyle/>
          <a:p>
            <a:r>
              <a:rPr lang="en-US" dirty="0"/>
              <a:t>Buildings Evolve</a:t>
            </a:r>
          </a:p>
        </p:txBody>
      </p:sp>
      <p:sp>
        <p:nvSpPr>
          <p:cNvPr id="3" name="Content Placeholder 2">
            <a:extLst>
              <a:ext uri="{FF2B5EF4-FFF2-40B4-BE49-F238E27FC236}">
                <a16:creationId xmlns:a16="http://schemas.microsoft.com/office/drawing/2014/main" id="{C8ACED7D-8602-BD3D-0780-B96BAEB26EEC}"/>
              </a:ext>
            </a:extLst>
          </p:cNvPr>
          <p:cNvSpPr>
            <a:spLocks noGrp="1"/>
          </p:cNvSpPr>
          <p:nvPr>
            <p:ph idx="1"/>
          </p:nvPr>
        </p:nvSpPr>
        <p:spPr/>
        <p:txBody>
          <a:bodyPr/>
          <a:lstStyle/>
          <a:p>
            <a:r>
              <a:rPr lang="en-US" b="0" i="0" u="none" strike="noStrike" dirty="0">
                <a:solidFill>
                  <a:srgbClr val="000000"/>
                </a:solidFill>
                <a:effectLst/>
                <a:latin typeface="-webkit-standard"/>
              </a:rPr>
              <a:t>Anyone involved in Measurement and Verification (M&amp;V) must understand Stewart Brand's concepts in </a:t>
            </a:r>
            <a:r>
              <a:rPr lang="en-US" b="0" i="1" u="none" strike="noStrike" dirty="0">
                <a:solidFill>
                  <a:srgbClr val="000000"/>
                </a:solidFill>
                <a:effectLst/>
                <a:hlinkClick r:id="rId2"/>
              </a:rPr>
              <a:t>"How Buildings Learn"</a:t>
            </a:r>
            <a:r>
              <a:rPr lang="en-US" b="0" i="0" u="none" strike="noStrike" dirty="0">
                <a:solidFill>
                  <a:srgbClr val="000000"/>
                </a:solidFill>
                <a:effectLst/>
                <a:latin typeface="-webkit-standard"/>
                <a:hlinkClick r:id="rId2"/>
              </a:rPr>
              <a:t> </a:t>
            </a:r>
            <a:r>
              <a:rPr lang="en-US" b="0" i="0" u="none" strike="noStrike" dirty="0">
                <a:solidFill>
                  <a:srgbClr val="000000"/>
                </a:solidFill>
                <a:effectLst/>
                <a:latin typeface="-webkit-standard"/>
              </a:rPr>
              <a:t>because M&amp;V relies on accurately modeling and measuring building performance over time. Brand emphasizes that buildings are not static—they continuously evolve due to changes in occupancy, usage patterns, technology, and infrastructure. Recognizing this evolution helps M&amp;V practitioners better anticipate changes, refine their baseline models, and differentiate actual savings from performance variations driven by how buildings adapt.</a:t>
            </a:r>
            <a:endParaRPr lang="en-US" dirty="0"/>
          </a:p>
        </p:txBody>
      </p:sp>
    </p:spTree>
    <p:extLst>
      <p:ext uri="{BB962C8B-B14F-4D97-AF65-F5344CB8AC3E}">
        <p14:creationId xmlns:p14="http://schemas.microsoft.com/office/powerpoint/2010/main" val="2202640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85CFA-E82A-BC71-4CF0-A3C69F29FE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A58B3-95D8-6C11-0C4E-C981374953E8}"/>
              </a:ext>
            </a:extLst>
          </p:cNvPr>
          <p:cNvSpPr>
            <a:spLocks noGrp="1"/>
          </p:cNvSpPr>
          <p:nvPr>
            <p:ph type="title"/>
          </p:nvPr>
        </p:nvSpPr>
        <p:spPr>
          <a:xfrm>
            <a:off x="838200" y="365125"/>
            <a:ext cx="10515600" cy="1460500"/>
          </a:xfrm>
        </p:spPr>
        <p:txBody>
          <a:bodyPr>
            <a:normAutofit/>
          </a:bodyPr>
          <a:lstStyle/>
          <a:p>
            <a:r>
              <a:rPr lang="en-US" sz="3600" dirty="0"/>
              <a:t>What Is Energy (and carbon) Management?</a:t>
            </a:r>
          </a:p>
        </p:txBody>
      </p:sp>
      <p:sp>
        <p:nvSpPr>
          <p:cNvPr id="3" name="Content Placeholder 2">
            <a:extLst>
              <a:ext uri="{FF2B5EF4-FFF2-40B4-BE49-F238E27FC236}">
                <a16:creationId xmlns:a16="http://schemas.microsoft.com/office/drawing/2014/main" id="{B6199182-CA7A-6F83-A44B-B39AA282D788}"/>
              </a:ext>
            </a:extLst>
          </p:cNvPr>
          <p:cNvSpPr>
            <a:spLocks noGrp="1"/>
          </p:cNvSpPr>
          <p:nvPr>
            <p:ph idx="1"/>
          </p:nvPr>
        </p:nvSpPr>
        <p:spPr>
          <a:xfrm>
            <a:off x="838200" y="1925619"/>
            <a:ext cx="10515600" cy="4251344"/>
          </a:xfrm>
        </p:spPr>
        <p:txBody>
          <a:bodyPr>
            <a:normAutofit/>
          </a:bodyPr>
          <a:lstStyle/>
          <a:p>
            <a:pPr marL="342900" indent="-342900">
              <a:buFont typeface="Arial" panose="020B0604020202020204" pitchFamily="34" charset="0"/>
              <a:buChar char="•"/>
            </a:pPr>
            <a:r>
              <a:rPr lang="en-US" sz="2400" dirty="0"/>
              <a:t>Replacing equipment, assets</a:t>
            </a:r>
          </a:p>
          <a:p>
            <a:pPr marL="1028700" lvl="1" indent="-342900"/>
            <a:r>
              <a:rPr lang="en-US" sz="2000" dirty="0"/>
              <a:t>New technology (efficiency improvement)</a:t>
            </a:r>
          </a:p>
          <a:p>
            <a:pPr marL="1028700" lvl="1" indent="-342900"/>
            <a:r>
              <a:rPr lang="en-US" sz="2000" dirty="0"/>
              <a:t>Replacement on burnout (degraded performance) </a:t>
            </a:r>
          </a:p>
          <a:p>
            <a:pPr marL="1028700" lvl="1" indent="-342900"/>
            <a:r>
              <a:rPr lang="en-US" sz="2000" dirty="0"/>
              <a:t>Effective Useful Life (EUL) / Remaining Useful Life (RUL)</a:t>
            </a:r>
          </a:p>
          <a:p>
            <a:pPr marL="342900" indent="-342900">
              <a:buFont typeface="Arial" panose="020B0604020202020204" pitchFamily="34" charset="0"/>
              <a:buChar char="•"/>
            </a:pPr>
            <a:r>
              <a:rPr lang="en-US" sz="2400" dirty="0"/>
              <a:t>Optimizing operation (controls, setpoints)</a:t>
            </a:r>
          </a:p>
          <a:p>
            <a:pPr marL="342900" indent="-342900">
              <a:buFont typeface="Arial" panose="020B0604020202020204" pitchFamily="34" charset="0"/>
              <a:buChar char="•"/>
            </a:pPr>
            <a:r>
              <a:rPr lang="en-US" sz="2400" dirty="0"/>
              <a:t>Fuel switching (electrification)</a:t>
            </a:r>
          </a:p>
          <a:p>
            <a:pPr marL="342900" indent="-342900">
              <a:buFont typeface="Arial" panose="020B0604020202020204" pitchFamily="34" charset="0"/>
              <a:buChar char="•"/>
            </a:pPr>
            <a:r>
              <a:rPr lang="en-US" sz="2400" dirty="0"/>
              <a:t>Meeting the needs of the grid (Flex, Load-shifting)</a:t>
            </a:r>
          </a:p>
          <a:p>
            <a:pPr marL="0" indent="0">
              <a:buNone/>
            </a:pPr>
            <a:endParaRPr lang="en-US" sz="2400" dirty="0"/>
          </a:p>
        </p:txBody>
      </p:sp>
      <p:pic>
        <p:nvPicPr>
          <p:cNvPr id="7" name="Graphic 6">
            <a:extLst>
              <a:ext uri="{FF2B5EF4-FFF2-40B4-BE49-F238E27FC236}">
                <a16:creationId xmlns:a16="http://schemas.microsoft.com/office/drawing/2014/main" id="{359442CA-5D11-CB7B-8E42-4CF3F1A1E6E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1716B887-5676-8E95-5F9C-FDE4BAA3C4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11" name="Graphic 10">
            <a:extLst>
              <a:ext uri="{FF2B5EF4-FFF2-40B4-BE49-F238E27FC236}">
                <a16:creationId xmlns:a16="http://schemas.microsoft.com/office/drawing/2014/main" id="{C1DB1315-C59F-A07A-6413-DA5E124532C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5314" y="89019"/>
            <a:ext cx="914400" cy="914400"/>
          </a:xfrm>
          <a:prstGeom prst="rect">
            <a:avLst/>
          </a:prstGeom>
        </p:spPr>
      </p:pic>
      <p:pic>
        <p:nvPicPr>
          <p:cNvPr id="13" name="Graphic 12">
            <a:extLst>
              <a:ext uri="{FF2B5EF4-FFF2-40B4-BE49-F238E27FC236}">
                <a16:creationId xmlns:a16="http://schemas.microsoft.com/office/drawing/2014/main" id="{9A285FCE-57C0-5A7A-0367-A435A6B34B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69918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365C86-1BA0-9484-6399-1F3C080C2C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465EC-1561-7A4F-7F14-A170CA8B442E}"/>
              </a:ext>
            </a:extLst>
          </p:cNvPr>
          <p:cNvSpPr>
            <a:spLocks noGrp="1"/>
          </p:cNvSpPr>
          <p:nvPr>
            <p:ph type="title"/>
          </p:nvPr>
        </p:nvSpPr>
        <p:spPr/>
        <p:txBody>
          <a:bodyPr>
            <a:normAutofit/>
          </a:bodyPr>
          <a:lstStyle/>
          <a:p>
            <a:r>
              <a:rPr lang="en-US" sz="4000" dirty="0"/>
              <a:t>Brief History of Energy </a:t>
            </a:r>
            <a:r>
              <a:rPr lang="en-US" sz="3600" dirty="0"/>
              <a:t>Management</a:t>
            </a:r>
            <a:endParaRPr lang="en-US" sz="4000" dirty="0"/>
          </a:p>
        </p:txBody>
      </p:sp>
      <p:sp>
        <p:nvSpPr>
          <p:cNvPr id="3" name="Content Placeholder 2">
            <a:extLst>
              <a:ext uri="{FF2B5EF4-FFF2-40B4-BE49-F238E27FC236}">
                <a16:creationId xmlns:a16="http://schemas.microsoft.com/office/drawing/2014/main" id="{73919D28-A902-8C32-48DE-897B6F4449F3}"/>
              </a:ext>
            </a:extLst>
          </p:cNvPr>
          <p:cNvSpPr>
            <a:spLocks noGrp="1"/>
          </p:cNvSpPr>
          <p:nvPr>
            <p:ph idx="1"/>
          </p:nvPr>
        </p:nvSpPr>
        <p:spPr/>
        <p:txBody>
          <a:bodyPr/>
          <a:lstStyle/>
          <a:p>
            <a:r>
              <a:rPr lang="en-US" dirty="0"/>
              <a:t>Videos? Saudi Oil, Carter, Current…</a:t>
            </a:r>
          </a:p>
          <a:p>
            <a:endParaRPr lang="en-US" dirty="0"/>
          </a:p>
          <a:p>
            <a:r>
              <a:rPr lang="en-US" dirty="0"/>
              <a:t>As the four domains evolve – so does Energy Management </a:t>
            </a:r>
          </a:p>
          <a:p>
            <a:endParaRPr lang="en-US" dirty="0"/>
          </a:p>
        </p:txBody>
      </p:sp>
    </p:spTree>
    <p:extLst>
      <p:ext uri="{BB962C8B-B14F-4D97-AF65-F5344CB8AC3E}">
        <p14:creationId xmlns:p14="http://schemas.microsoft.com/office/powerpoint/2010/main" val="188212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B5187-EE33-642C-DBD8-E6EFF09C2615}"/>
              </a:ext>
            </a:extLst>
          </p:cNvPr>
          <p:cNvSpPr>
            <a:spLocks noGrp="1"/>
          </p:cNvSpPr>
          <p:nvPr>
            <p:ph type="title"/>
          </p:nvPr>
        </p:nvSpPr>
        <p:spPr/>
        <p:txBody>
          <a:bodyPr/>
          <a:lstStyle/>
          <a:p>
            <a:r>
              <a:rPr lang="en-US" dirty="0"/>
              <a:t>History of M&amp;V Documents</a:t>
            </a:r>
          </a:p>
        </p:txBody>
      </p:sp>
      <p:sp>
        <p:nvSpPr>
          <p:cNvPr id="3" name="Content Placeholder 2">
            <a:extLst>
              <a:ext uri="{FF2B5EF4-FFF2-40B4-BE49-F238E27FC236}">
                <a16:creationId xmlns:a16="http://schemas.microsoft.com/office/drawing/2014/main" id="{10EA4839-DF6B-22A5-105F-D0D04AA157A2}"/>
              </a:ext>
            </a:extLst>
          </p:cNvPr>
          <p:cNvSpPr>
            <a:spLocks noGrp="1"/>
          </p:cNvSpPr>
          <p:nvPr>
            <p:ph idx="1"/>
          </p:nvPr>
        </p:nvSpPr>
        <p:spPr/>
        <p:txBody>
          <a:bodyPr/>
          <a:lstStyle/>
          <a:p>
            <a:r>
              <a:rPr lang="en-US" dirty="0">
                <a:hlinkClick r:id="rId2"/>
              </a:rPr>
              <a:t>CADMAC 1994</a:t>
            </a:r>
          </a:p>
          <a:p>
            <a:r>
              <a:rPr lang="en-US" dirty="0">
                <a:hlinkClick r:id="rId2"/>
              </a:rPr>
              <a:t>https://www.calmac.org/cadmac-protocols.asp</a:t>
            </a:r>
            <a:endParaRPr lang="en-US" dirty="0"/>
          </a:p>
          <a:p>
            <a:r>
              <a:rPr lang="en-US" dirty="0"/>
              <a:t>FEMP 1995 – EPACT 1992 &gt; </a:t>
            </a:r>
            <a:r>
              <a:rPr lang="en-US" dirty="0">
                <a:hlinkClick r:id="rId3"/>
              </a:rPr>
              <a:t>Video</a:t>
            </a:r>
            <a:r>
              <a:rPr lang="en-US" dirty="0"/>
              <a:t>  &gt; now v5</a:t>
            </a:r>
          </a:p>
          <a:p>
            <a:r>
              <a:rPr lang="en-US" dirty="0"/>
              <a:t>NEMVP 1996</a:t>
            </a:r>
          </a:p>
          <a:p>
            <a:r>
              <a:rPr lang="en-US" dirty="0"/>
              <a:t>IPMVP 1997 &gt;&gt;&gt; 2022</a:t>
            </a:r>
          </a:p>
          <a:p>
            <a:r>
              <a:rPr lang="en-US" dirty="0"/>
              <a:t>ASHRAE 14   &gt;&gt;&gt; 2004 – 2014 - 2024</a:t>
            </a:r>
          </a:p>
          <a:p>
            <a:endParaRPr lang="en-US" dirty="0"/>
          </a:p>
          <a:p>
            <a:endParaRPr lang="en-US" dirty="0"/>
          </a:p>
          <a:p>
            <a:endParaRPr lang="en-US" dirty="0"/>
          </a:p>
        </p:txBody>
      </p:sp>
    </p:spTree>
    <p:extLst>
      <p:ext uri="{BB962C8B-B14F-4D97-AF65-F5344CB8AC3E}">
        <p14:creationId xmlns:p14="http://schemas.microsoft.com/office/powerpoint/2010/main" val="1761781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9C73D-C8AB-FF3E-61DB-7EB67FB326CE}"/>
              </a:ext>
            </a:extLst>
          </p:cNvPr>
          <p:cNvSpPr>
            <a:spLocks noGrp="1"/>
          </p:cNvSpPr>
          <p:nvPr>
            <p:ph type="title"/>
          </p:nvPr>
        </p:nvSpPr>
        <p:spPr>
          <a:xfrm>
            <a:off x="794657" y="546219"/>
            <a:ext cx="10515600" cy="1325563"/>
          </a:xfrm>
        </p:spPr>
        <p:txBody>
          <a:bodyPr/>
          <a:lstStyle/>
          <a:p>
            <a:r>
              <a:rPr lang="en-US"/>
              <a:t>M&amp;V, Step by Step</a:t>
            </a:r>
          </a:p>
        </p:txBody>
      </p:sp>
      <p:graphicFrame>
        <p:nvGraphicFramePr>
          <p:cNvPr id="6" name="Content Placeholder 5">
            <a:extLst>
              <a:ext uri="{FF2B5EF4-FFF2-40B4-BE49-F238E27FC236}">
                <a16:creationId xmlns:a16="http://schemas.microsoft.com/office/drawing/2014/main" id="{95760B30-2092-7FFC-4999-3A912D541C5F}"/>
              </a:ext>
            </a:extLst>
          </p:cNvPr>
          <p:cNvGraphicFramePr>
            <a:graphicFrameLocks noGrp="1"/>
          </p:cNvGraphicFramePr>
          <p:nvPr>
            <p:ph idx="1"/>
            <p:extLst>
              <p:ext uri="{D42A27DB-BD31-4B8C-83A1-F6EECF244321}">
                <p14:modId xmlns:p14="http://schemas.microsoft.com/office/powerpoint/2010/main" val="337013521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Graphic 7">
            <a:extLst>
              <a:ext uri="{FF2B5EF4-FFF2-40B4-BE49-F238E27FC236}">
                <a16:creationId xmlns:a16="http://schemas.microsoft.com/office/drawing/2014/main" id="{C8CC1955-D205-8892-2836-94EF156FF02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93D78E74-7CC6-7093-10A4-C4B0F525CF9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47859F1B-04C4-D65A-5369-FEE0986F424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485314" y="89019"/>
            <a:ext cx="914400" cy="914400"/>
          </a:xfrm>
          <a:prstGeom prst="rect">
            <a:avLst/>
          </a:prstGeom>
        </p:spPr>
      </p:pic>
      <p:pic>
        <p:nvPicPr>
          <p:cNvPr id="11" name="Graphic 10">
            <a:extLst>
              <a:ext uri="{FF2B5EF4-FFF2-40B4-BE49-F238E27FC236}">
                <a16:creationId xmlns:a16="http://schemas.microsoft.com/office/drawing/2014/main" id="{231DFF54-A800-939A-722E-65C1A0FBD28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228514" y="89019"/>
            <a:ext cx="914400" cy="914400"/>
          </a:xfrm>
          <a:prstGeom prst="rect">
            <a:avLst/>
          </a:prstGeom>
        </p:spPr>
      </p:pic>
      <mc:AlternateContent xmlns:mc="http://schemas.openxmlformats.org/markup-compatibility/2006">
        <mc:Choice xmlns:p14="http://schemas.microsoft.com/office/powerpoint/2010/main" Requires="p14">
          <p:contentPart p14:bwMode="auto" r:id="rId12">
            <p14:nvContentPartPr>
              <p14:cNvPr id="3" name="Ink 2">
                <a:extLst>
                  <a:ext uri="{FF2B5EF4-FFF2-40B4-BE49-F238E27FC236}">
                    <a16:creationId xmlns:a16="http://schemas.microsoft.com/office/drawing/2014/main" id="{0023D776-3E7A-D3C8-F0D2-10AA57FEF744}"/>
                  </a:ext>
                </a:extLst>
              </p14:cNvPr>
              <p14:cNvContentPartPr/>
              <p14:nvPr/>
            </p14:nvContentPartPr>
            <p14:xfrm>
              <a:off x="551794" y="2891194"/>
              <a:ext cx="1565280" cy="1761840"/>
            </p14:xfrm>
          </p:contentPart>
        </mc:Choice>
        <mc:Fallback>
          <p:pic>
            <p:nvPicPr>
              <p:cNvPr id="3" name="Ink 2">
                <a:extLst>
                  <a:ext uri="{FF2B5EF4-FFF2-40B4-BE49-F238E27FC236}">
                    <a16:creationId xmlns:a16="http://schemas.microsoft.com/office/drawing/2014/main" id="{0023D776-3E7A-D3C8-F0D2-10AA57FEF744}"/>
                  </a:ext>
                </a:extLst>
              </p:cNvPr>
              <p:cNvPicPr/>
              <p:nvPr/>
            </p:nvPicPr>
            <p:blipFill>
              <a:blip r:embed="rId13"/>
              <a:stretch>
                <a:fillRect/>
              </a:stretch>
            </p:blipFill>
            <p:spPr>
              <a:xfrm>
                <a:off x="542794" y="2882194"/>
                <a:ext cx="1582920" cy="1779480"/>
              </a:xfrm>
              <a:prstGeom prst="rect">
                <a:avLst/>
              </a:prstGeom>
            </p:spPr>
          </p:pic>
        </mc:Fallback>
      </mc:AlternateContent>
      <p:grpSp>
        <p:nvGrpSpPr>
          <p:cNvPr id="16" name="Group 15">
            <a:extLst>
              <a:ext uri="{FF2B5EF4-FFF2-40B4-BE49-F238E27FC236}">
                <a16:creationId xmlns:a16="http://schemas.microsoft.com/office/drawing/2014/main" id="{0A46D8E3-27E8-01F1-6ABC-49A72CBB4406}"/>
              </a:ext>
            </a:extLst>
          </p:cNvPr>
          <p:cNvGrpSpPr/>
          <p:nvPr/>
        </p:nvGrpSpPr>
        <p:grpSpPr>
          <a:xfrm>
            <a:off x="745834" y="2194594"/>
            <a:ext cx="8382600" cy="2858040"/>
            <a:chOff x="745834" y="2194594"/>
            <a:chExt cx="8382600" cy="2858040"/>
          </a:xfrm>
        </p:grpSpPr>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4B20DBF2-6356-F79F-30F3-D81C2A0B48A1}"/>
                    </a:ext>
                  </a:extLst>
                </p14:cNvPr>
                <p14:cNvContentPartPr/>
                <p14:nvPr/>
              </p14:nvContentPartPr>
              <p14:xfrm>
                <a:off x="745834" y="2879314"/>
                <a:ext cx="1832760" cy="2120760"/>
              </p14:xfrm>
            </p:contentPart>
          </mc:Choice>
          <mc:Fallback>
            <p:pic>
              <p:nvPicPr>
                <p:cNvPr id="4" name="Ink 3">
                  <a:extLst>
                    <a:ext uri="{FF2B5EF4-FFF2-40B4-BE49-F238E27FC236}">
                      <a16:creationId xmlns:a16="http://schemas.microsoft.com/office/drawing/2014/main" id="{4B20DBF2-6356-F79F-30F3-D81C2A0B48A1}"/>
                    </a:ext>
                  </a:extLst>
                </p:cNvPr>
                <p:cNvPicPr/>
                <p:nvPr/>
              </p:nvPicPr>
              <p:blipFill>
                <a:blip r:embed="rId15"/>
                <a:stretch>
                  <a:fillRect/>
                </a:stretch>
              </p:blipFill>
              <p:spPr>
                <a:xfrm>
                  <a:off x="736834" y="2870674"/>
                  <a:ext cx="1850400" cy="213840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5" name="Ink 4">
                  <a:extLst>
                    <a:ext uri="{FF2B5EF4-FFF2-40B4-BE49-F238E27FC236}">
                      <a16:creationId xmlns:a16="http://schemas.microsoft.com/office/drawing/2014/main" id="{870B2C3D-6921-DA97-475C-B8E5265F4B79}"/>
                    </a:ext>
                  </a:extLst>
                </p14:cNvPr>
                <p14:cNvContentPartPr/>
                <p14:nvPr/>
              </p14:nvContentPartPr>
              <p14:xfrm>
                <a:off x="5665234" y="2474674"/>
                <a:ext cx="3463200" cy="2577960"/>
              </p14:xfrm>
            </p:contentPart>
          </mc:Choice>
          <mc:Fallback>
            <p:pic>
              <p:nvPicPr>
                <p:cNvPr id="5" name="Ink 4">
                  <a:extLst>
                    <a:ext uri="{FF2B5EF4-FFF2-40B4-BE49-F238E27FC236}">
                      <a16:creationId xmlns:a16="http://schemas.microsoft.com/office/drawing/2014/main" id="{870B2C3D-6921-DA97-475C-B8E5265F4B79}"/>
                    </a:ext>
                  </a:extLst>
                </p:cNvPr>
                <p:cNvPicPr/>
                <p:nvPr/>
              </p:nvPicPr>
              <p:blipFill>
                <a:blip r:embed="rId17"/>
                <a:stretch>
                  <a:fillRect/>
                </a:stretch>
              </p:blipFill>
              <p:spPr>
                <a:xfrm>
                  <a:off x="5656234" y="2465674"/>
                  <a:ext cx="3480840" cy="259560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3" name="Ink 12">
                  <a:extLst>
                    <a:ext uri="{FF2B5EF4-FFF2-40B4-BE49-F238E27FC236}">
                      <a16:creationId xmlns:a16="http://schemas.microsoft.com/office/drawing/2014/main" id="{82A28F92-A78A-EC1B-3E24-FD74E4E74A1F}"/>
                    </a:ext>
                  </a:extLst>
                </p14:cNvPr>
                <p14:cNvContentPartPr/>
                <p14:nvPr/>
              </p14:nvContentPartPr>
              <p14:xfrm>
                <a:off x="1181794" y="2194594"/>
                <a:ext cx="5571720" cy="1112760"/>
              </p14:xfrm>
            </p:contentPart>
          </mc:Choice>
          <mc:Fallback>
            <p:pic>
              <p:nvPicPr>
                <p:cNvPr id="13" name="Ink 12">
                  <a:extLst>
                    <a:ext uri="{FF2B5EF4-FFF2-40B4-BE49-F238E27FC236}">
                      <a16:creationId xmlns:a16="http://schemas.microsoft.com/office/drawing/2014/main" id="{82A28F92-A78A-EC1B-3E24-FD74E4E74A1F}"/>
                    </a:ext>
                  </a:extLst>
                </p:cNvPr>
                <p:cNvPicPr/>
                <p:nvPr/>
              </p:nvPicPr>
              <p:blipFill>
                <a:blip r:embed="rId19"/>
                <a:stretch>
                  <a:fillRect/>
                </a:stretch>
              </p:blipFill>
              <p:spPr>
                <a:xfrm>
                  <a:off x="1172794" y="2185954"/>
                  <a:ext cx="5589360" cy="113040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4" name="Ink 13">
                  <a:extLst>
                    <a:ext uri="{FF2B5EF4-FFF2-40B4-BE49-F238E27FC236}">
                      <a16:creationId xmlns:a16="http://schemas.microsoft.com/office/drawing/2014/main" id="{8B42519E-0D33-F9AA-7C84-72329663D94E}"/>
                    </a:ext>
                  </a:extLst>
                </p14:cNvPr>
                <p14:cNvContentPartPr/>
                <p14:nvPr/>
              </p14:nvContentPartPr>
              <p14:xfrm>
                <a:off x="7805434" y="3638194"/>
                <a:ext cx="964080" cy="1253160"/>
              </p14:xfrm>
            </p:contentPart>
          </mc:Choice>
          <mc:Fallback>
            <p:pic>
              <p:nvPicPr>
                <p:cNvPr id="14" name="Ink 13">
                  <a:extLst>
                    <a:ext uri="{FF2B5EF4-FFF2-40B4-BE49-F238E27FC236}">
                      <a16:creationId xmlns:a16="http://schemas.microsoft.com/office/drawing/2014/main" id="{8B42519E-0D33-F9AA-7C84-72329663D94E}"/>
                    </a:ext>
                  </a:extLst>
                </p:cNvPr>
                <p:cNvPicPr/>
                <p:nvPr/>
              </p:nvPicPr>
              <p:blipFill>
                <a:blip r:embed="rId21"/>
                <a:stretch>
                  <a:fillRect/>
                </a:stretch>
              </p:blipFill>
              <p:spPr>
                <a:xfrm>
                  <a:off x="7796794" y="3629554"/>
                  <a:ext cx="981720" cy="1270800"/>
                </a:xfrm>
                <a:prstGeom prst="rect">
                  <a:avLst/>
                </a:prstGeom>
              </p:spPr>
            </p:pic>
          </mc:Fallback>
        </mc:AlternateContent>
      </p:grpSp>
    </p:spTree>
    <p:extLst>
      <p:ext uri="{BB962C8B-B14F-4D97-AF65-F5344CB8AC3E}">
        <p14:creationId xmlns:p14="http://schemas.microsoft.com/office/powerpoint/2010/main" val="1365680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00238-B3C8-C9BB-0C2B-00825D9712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BCD234-A219-9750-528D-B70258EFB8D6}"/>
              </a:ext>
            </a:extLst>
          </p:cNvPr>
          <p:cNvSpPr>
            <a:spLocks noGrp="1"/>
          </p:cNvSpPr>
          <p:nvPr>
            <p:ph type="title"/>
          </p:nvPr>
        </p:nvSpPr>
        <p:spPr/>
        <p:txBody>
          <a:bodyPr/>
          <a:lstStyle/>
          <a:p>
            <a:r>
              <a:rPr lang="en-US" dirty="0"/>
              <a:t>M&amp;V, Step by Step</a:t>
            </a:r>
          </a:p>
        </p:txBody>
      </p:sp>
      <p:pic>
        <p:nvPicPr>
          <p:cNvPr id="8" name="Graphic 7">
            <a:extLst>
              <a:ext uri="{FF2B5EF4-FFF2-40B4-BE49-F238E27FC236}">
                <a16:creationId xmlns:a16="http://schemas.microsoft.com/office/drawing/2014/main" id="{3CB54B8D-84CE-186E-485D-AED358FD91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7C89C9DD-3FBD-38A7-9270-164F13C935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10" name="Graphic 9">
            <a:extLst>
              <a:ext uri="{FF2B5EF4-FFF2-40B4-BE49-F238E27FC236}">
                <a16:creationId xmlns:a16="http://schemas.microsoft.com/office/drawing/2014/main" id="{316C113C-0C87-FC45-300E-727227C7D9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5314" y="89019"/>
            <a:ext cx="914400" cy="914400"/>
          </a:xfrm>
          <a:prstGeom prst="rect">
            <a:avLst/>
          </a:prstGeom>
        </p:spPr>
      </p:pic>
      <p:pic>
        <p:nvPicPr>
          <p:cNvPr id="11" name="Graphic 10">
            <a:extLst>
              <a:ext uri="{FF2B5EF4-FFF2-40B4-BE49-F238E27FC236}">
                <a16:creationId xmlns:a16="http://schemas.microsoft.com/office/drawing/2014/main" id="{DFF6703A-336C-2640-C5EF-576BA530487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grpSp>
        <p:nvGrpSpPr>
          <p:cNvPr id="16" name="Group 15">
            <a:extLst>
              <a:ext uri="{FF2B5EF4-FFF2-40B4-BE49-F238E27FC236}">
                <a16:creationId xmlns:a16="http://schemas.microsoft.com/office/drawing/2014/main" id="{E2E2F4CF-5769-3FD2-518B-D2E9CE927915}"/>
              </a:ext>
            </a:extLst>
          </p:cNvPr>
          <p:cNvGrpSpPr/>
          <p:nvPr/>
        </p:nvGrpSpPr>
        <p:grpSpPr>
          <a:xfrm>
            <a:off x="5043268" y="3037423"/>
            <a:ext cx="153720" cy="288720"/>
            <a:chOff x="5043268" y="3037423"/>
            <a:chExt cx="153720" cy="288720"/>
          </a:xfrm>
        </p:grpSpPr>
        <mc:AlternateContent xmlns:mc="http://schemas.openxmlformats.org/markup-compatibility/2006" xmlns:p14="http://schemas.microsoft.com/office/powerpoint/2010/main">
          <mc:Choice Requires="p14">
            <p:contentPart p14:bwMode="auto" r:id="rId7">
              <p14:nvContentPartPr>
                <p14:cNvPr id="13" name="Ink 12">
                  <a:extLst>
                    <a:ext uri="{FF2B5EF4-FFF2-40B4-BE49-F238E27FC236}">
                      <a16:creationId xmlns:a16="http://schemas.microsoft.com/office/drawing/2014/main" id="{A4FDB7B9-C050-9493-035A-DD94C322DD35}"/>
                    </a:ext>
                  </a:extLst>
                </p14:cNvPr>
                <p14:cNvContentPartPr/>
                <p14:nvPr/>
              </p14:nvContentPartPr>
              <p14:xfrm>
                <a:off x="5043268" y="3037423"/>
                <a:ext cx="113400" cy="277920"/>
              </p14:xfrm>
            </p:contentPart>
          </mc:Choice>
          <mc:Fallback xmlns="">
            <p:pic>
              <p:nvPicPr>
                <p:cNvPr id="13" name="Ink 12">
                  <a:extLst>
                    <a:ext uri="{FF2B5EF4-FFF2-40B4-BE49-F238E27FC236}">
                      <a16:creationId xmlns:a16="http://schemas.microsoft.com/office/drawing/2014/main" id="{A4FDB7B9-C050-9493-035A-DD94C322DD35}"/>
                    </a:ext>
                  </a:extLst>
                </p:cNvPr>
                <p:cNvPicPr/>
                <p:nvPr/>
              </p:nvPicPr>
              <p:blipFill>
                <a:blip r:embed="rId12"/>
                <a:stretch>
                  <a:fillRect/>
                </a:stretch>
              </p:blipFill>
              <p:spPr>
                <a:xfrm>
                  <a:off x="5025268" y="3019783"/>
                  <a:ext cx="149040" cy="3135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3033358C-3B77-9079-C0C8-3B621B0EDB3C}"/>
                    </a:ext>
                  </a:extLst>
                </p14:cNvPr>
                <p14:cNvContentPartPr/>
                <p14:nvPr/>
              </p14:nvContentPartPr>
              <p14:xfrm>
                <a:off x="5171788" y="3322183"/>
                <a:ext cx="25200" cy="3960"/>
              </p14:xfrm>
            </p:contentPart>
          </mc:Choice>
          <mc:Fallback xmlns="">
            <p:pic>
              <p:nvPicPr>
                <p:cNvPr id="14" name="Ink 13">
                  <a:extLst>
                    <a:ext uri="{FF2B5EF4-FFF2-40B4-BE49-F238E27FC236}">
                      <a16:creationId xmlns:a16="http://schemas.microsoft.com/office/drawing/2014/main" id="{3033358C-3B77-9079-C0C8-3B621B0EDB3C}"/>
                    </a:ext>
                  </a:extLst>
                </p:cNvPr>
                <p:cNvPicPr/>
                <p:nvPr/>
              </p:nvPicPr>
              <p:blipFill>
                <a:blip r:embed="rId14"/>
                <a:stretch>
                  <a:fillRect/>
                </a:stretch>
              </p:blipFill>
              <p:spPr>
                <a:xfrm>
                  <a:off x="5154148" y="3304183"/>
                  <a:ext cx="60840" cy="39600"/>
                </a:xfrm>
                <a:prstGeom prst="rect">
                  <a:avLst/>
                </a:prstGeom>
              </p:spPr>
            </p:pic>
          </mc:Fallback>
        </mc:AlternateContent>
      </p:grpSp>
      <p:sp>
        <p:nvSpPr>
          <p:cNvPr id="17" name="TextBox 16">
            <a:extLst>
              <a:ext uri="{FF2B5EF4-FFF2-40B4-BE49-F238E27FC236}">
                <a16:creationId xmlns:a16="http://schemas.microsoft.com/office/drawing/2014/main" id="{EA43ED78-629A-E02B-69AA-1C976769F2D4}"/>
              </a:ext>
            </a:extLst>
          </p:cNvPr>
          <p:cNvSpPr txBox="1"/>
          <p:nvPr/>
        </p:nvSpPr>
        <p:spPr>
          <a:xfrm>
            <a:off x="2220686" y="2648197"/>
            <a:ext cx="968535" cy="369332"/>
          </a:xfrm>
          <a:prstGeom prst="rect">
            <a:avLst/>
          </a:prstGeom>
          <a:noFill/>
        </p:spPr>
        <p:txBody>
          <a:bodyPr wrap="none" rtlCol="0">
            <a:spAutoFit/>
          </a:bodyPr>
          <a:lstStyle/>
          <a:p>
            <a:r>
              <a:rPr lang="en-US" dirty="0"/>
              <a:t>Baseline</a:t>
            </a:r>
          </a:p>
        </p:txBody>
      </p:sp>
      <p:sp>
        <p:nvSpPr>
          <p:cNvPr id="18" name="TextBox 17">
            <a:extLst>
              <a:ext uri="{FF2B5EF4-FFF2-40B4-BE49-F238E27FC236}">
                <a16:creationId xmlns:a16="http://schemas.microsoft.com/office/drawing/2014/main" id="{882B5395-1A91-9F51-6094-C15BFE64A773}"/>
              </a:ext>
            </a:extLst>
          </p:cNvPr>
          <p:cNvSpPr txBox="1"/>
          <p:nvPr/>
        </p:nvSpPr>
        <p:spPr>
          <a:xfrm>
            <a:off x="5747657" y="2386940"/>
            <a:ext cx="1851533" cy="369332"/>
          </a:xfrm>
          <a:prstGeom prst="rect">
            <a:avLst/>
          </a:prstGeom>
          <a:noFill/>
        </p:spPr>
        <p:txBody>
          <a:bodyPr wrap="none" rtlCol="0">
            <a:spAutoFit/>
          </a:bodyPr>
          <a:lstStyle/>
          <a:p>
            <a:r>
              <a:rPr lang="en-US" dirty="0"/>
              <a:t>Adjusted Baseline</a:t>
            </a:r>
          </a:p>
        </p:txBody>
      </p:sp>
      <p:sp>
        <p:nvSpPr>
          <p:cNvPr id="19" name="TextBox 18">
            <a:extLst>
              <a:ext uri="{FF2B5EF4-FFF2-40B4-BE49-F238E27FC236}">
                <a16:creationId xmlns:a16="http://schemas.microsoft.com/office/drawing/2014/main" id="{1C0EBEF9-B439-57B3-FF32-1E7EDC9EDC6C}"/>
              </a:ext>
            </a:extLst>
          </p:cNvPr>
          <p:cNvSpPr txBox="1"/>
          <p:nvPr/>
        </p:nvSpPr>
        <p:spPr>
          <a:xfrm>
            <a:off x="6721434" y="3550722"/>
            <a:ext cx="777777" cy="369332"/>
          </a:xfrm>
          <a:prstGeom prst="rect">
            <a:avLst/>
          </a:prstGeom>
          <a:noFill/>
        </p:spPr>
        <p:txBody>
          <a:bodyPr wrap="none" rtlCol="0">
            <a:spAutoFit/>
          </a:bodyPr>
          <a:lstStyle/>
          <a:p>
            <a:r>
              <a:rPr lang="en-US" dirty="0"/>
              <a:t>Actual</a:t>
            </a:r>
          </a:p>
        </p:txBody>
      </p:sp>
      <p:graphicFrame>
        <p:nvGraphicFramePr>
          <p:cNvPr id="20" name="Chart 19">
            <a:extLst>
              <a:ext uri="{FF2B5EF4-FFF2-40B4-BE49-F238E27FC236}">
                <a16:creationId xmlns:a16="http://schemas.microsoft.com/office/drawing/2014/main" id="{00000000-0008-0000-0500-000002000000}"/>
              </a:ext>
            </a:extLst>
          </p:cNvPr>
          <p:cNvGraphicFramePr>
            <a:graphicFrameLocks/>
          </p:cNvGraphicFramePr>
          <p:nvPr>
            <p:extLst>
              <p:ext uri="{D42A27DB-BD31-4B8C-83A1-F6EECF244321}">
                <p14:modId xmlns:p14="http://schemas.microsoft.com/office/powerpoint/2010/main" val="1612030506"/>
              </p:ext>
            </p:extLst>
          </p:nvPr>
        </p:nvGraphicFramePr>
        <p:xfrm>
          <a:off x="707572" y="1571935"/>
          <a:ext cx="10433050" cy="4837111"/>
        </p:xfrm>
        <a:graphic>
          <a:graphicData uri="http://schemas.openxmlformats.org/drawingml/2006/chart">
            <c:chart xmlns:c="http://schemas.openxmlformats.org/drawingml/2006/chart" xmlns:r="http://schemas.openxmlformats.org/officeDocument/2006/relationships" r:id="rId15"/>
          </a:graphicData>
        </a:graphic>
      </p:graphicFrame>
      <p:sp>
        <p:nvSpPr>
          <p:cNvPr id="21" name="TextBox 20">
            <a:extLst>
              <a:ext uri="{FF2B5EF4-FFF2-40B4-BE49-F238E27FC236}">
                <a16:creationId xmlns:a16="http://schemas.microsoft.com/office/drawing/2014/main" id="{75C90FF8-A00F-830F-AA2C-F38BCF766B1D}"/>
              </a:ext>
            </a:extLst>
          </p:cNvPr>
          <p:cNvSpPr txBox="1"/>
          <p:nvPr/>
        </p:nvSpPr>
        <p:spPr>
          <a:xfrm>
            <a:off x="3574473" y="4714504"/>
            <a:ext cx="3585597" cy="369332"/>
          </a:xfrm>
          <a:prstGeom prst="rect">
            <a:avLst/>
          </a:prstGeom>
          <a:noFill/>
        </p:spPr>
        <p:txBody>
          <a:bodyPr wrap="none" rtlCol="0">
            <a:spAutoFit/>
          </a:bodyPr>
          <a:lstStyle/>
          <a:p>
            <a:r>
              <a:rPr lang="en-US" dirty="0"/>
              <a:t>Temperature (independent variable)</a:t>
            </a:r>
          </a:p>
        </p:txBody>
      </p:sp>
    </p:spTree>
    <p:extLst>
      <p:ext uri="{BB962C8B-B14F-4D97-AF65-F5344CB8AC3E}">
        <p14:creationId xmlns:p14="http://schemas.microsoft.com/office/powerpoint/2010/main" val="655556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29D24-C207-8ABF-72BC-5934EAE0523E}"/>
              </a:ext>
            </a:extLst>
          </p:cNvPr>
          <p:cNvSpPr>
            <a:spLocks noGrp="1"/>
          </p:cNvSpPr>
          <p:nvPr>
            <p:ph type="title"/>
          </p:nvPr>
        </p:nvSpPr>
        <p:spPr/>
        <p:txBody>
          <a:bodyPr/>
          <a:lstStyle/>
          <a:p>
            <a:r>
              <a:rPr lang="en-US"/>
              <a:t>Hurdles</a:t>
            </a:r>
          </a:p>
        </p:txBody>
      </p:sp>
      <p:sp>
        <p:nvSpPr>
          <p:cNvPr id="4" name="TextBox 3">
            <a:extLst>
              <a:ext uri="{FF2B5EF4-FFF2-40B4-BE49-F238E27FC236}">
                <a16:creationId xmlns:a16="http://schemas.microsoft.com/office/drawing/2014/main" id="{FE59EFF5-41D3-F1B9-9C97-CC14E55B79F6}"/>
              </a:ext>
            </a:extLst>
          </p:cNvPr>
          <p:cNvSpPr txBox="1"/>
          <p:nvPr/>
        </p:nvSpPr>
        <p:spPr>
          <a:xfrm>
            <a:off x="838200" y="4744450"/>
            <a:ext cx="1828800" cy="461665"/>
          </a:xfrm>
          <a:prstGeom prst="rect">
            <a:avLst/>
          </a:prstGeom>
          <a:noFill/>
          <a:ln w="28575">
            <a:solidFill>
              <a:schemeClr val="accent1"/>
            </a:solidFill>
          </a:ln>
        </p:spPr>
        <p:txBody>
          <a:bodyPr wrap="square" rtlCol="0">
            <a:spAutoFit/>
          </a:bodyPr>
          <a:lstStyle/>
          <a:p>
            <a:pPr algn="ctr"/>
            <a:r>
              <a:rPr lang="en-US" sz="2400">
                <a:latin typeface="Verdana" panose="020B0604030504040204" pitchFamily="34" charset="0"/>
                <a:ea typeface="Verdana" panose="020B0604030504040204" pitchFamily="34" charset="0"/>
                <a:cs typeface="Verdana" panose="020B0604030504040204" pitchFamily="34" charset="0"/>
              </a:rPr>
              <a:t>M&amp;V Plan</a:t>
            </a:r>
          </a:p>
        </p:txBody>
      </p:sp>
      <p:sp>
        <p:nvSpPr>
          <p:cNvPr id="5" name="TextBox 4">
            <a:extLst>
              <a:ext uri="{FF2B5EF4-FFF2-40B4-BE49-F238E27FC236}">
                <a16:creationId xmlns:a16="http://schemas.microsoft.com/office/drawing/2014/main" id="{6D1B1C14-C5EF-B745-69A5-589C139331D9}"/>
              </a:ext>
            </a:extLst>
          </p:cNvPr>
          <p:cNvSpPr txBox="1"/>
          <p:nvPr/>
        </p:nvSpPr>
        <p:spPr>
          <a:xfrm>
            <a:off x="7570914" y="4744450"/>
            <a:ext cx="4114800" cy="461665"/>
          </a:xfrm>
          <a:prstGeom prst="rect">
            <a:avLst/>
          </a:prstGeom>
          <a:noFill/>
          <a:ln w="28575">
            <a:solidFill>
              <a:schemeClr val="accent1"/>
            </a:solidFill>
          </a:ln>
        </p:spPr>
        <p:txBody>
          <a:bodyPr wrap="square" rtlCol="0">
            <a:spAutoFit/>
          </a:bodyPr>
          <a:lstStyle/>
          <a:p>
            <a:pPr algn="ctr"/>
            <a:r>
              <a:rPr lang="en-US" sz="2400">
                <a:latin typeface="Verdana" panose="020B0604030504040204" pitchFamily="34" charset="0"/>
                <a:ea typeface="Verdana" panose="020B0604030504040204" pitchFamily="34" charset="0"/>
                <a:cs typeface="Verdana" panose="020B0604030504040204" pitchFamily="34" charset="0"/>
              </a:rPr>
              <a:t>Successful Settlement</a:t>
            </a:r>
          </a:p>
        </p:txBody>
      </p:sp>
      <p:pic>
        <p:nvPicPr>
          <p:cNvPr id="6" name="Graphic 5">
            <a:extLst>
              <a:ext uri="{FF2B5EF4-FFF2-40B4-BE49-F238E27FC236}">
                <a16:creationId xmlns:a16="http://schemas.microsoft.com/office/drawing/2014/main" id="{DEDDA1EC-29D3-82DC-255C-FE6DE6B5F9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276C3D9E-ACFF-24B5-CDD5-A62C16AD896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D6A3DE39-F41B-EA29-6D76-C2F626A842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54C4AA87-8CD2-1C04-A63C-9C098C1B47B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cxnSp>
        <p:nvCxnSpPr>
          <p:cNvPr id="11" name="Straight Arrow Connector 10">
            <a:extLst>
              <a:ext uri="{FF2B5EF4-FFF2-40B4-BE49-F238E27FC236}">
                <a16:creationId xmlns:a16="http://schemas.microsoft.com/office/drawing/2014/main" id="{D20A61CD-6908-402D-DFCF-2D6BA7AC2766}"/>
              </a:ext>
            </a:extLst>
          </p:cNvPr>
          <p:cNvCxnSpPr>
            <a:stCxn id="4" idx="3"/>
            <a:endCxn id="5" idx="1"/>
          </p:cNvCxnSpPr>
          <p:nvPr/>
        </p:nvCxnSpPr>
        <p:spPr>
          <a:xfrm>
            <a:off x="2667000" y="4975283"/>
            <a:ext cx="4903914"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E1497322-6D7E-AF9C-0181-C7AC88C142B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859507" y="3665207"/>
            <a:ext cx="754084" cy="1043149"/>
          </a:xfrm>
          <a:prstGeom prst="rect">
            <a:avLst/>
          </a:prstGeom>
        </p:spPr>
      </p:pic>
      <p:pic>
        <p:nvPicPr>
          <p:cNvPr id="16" name="Graphic 15">
            <a:extLst>
              <a:ext uri="{FF2B5EF4-FFF2-40B4-BE49-F238E27FC236}">
                <a16:creationId xmlns:a16="http://schemas.microsoft.com/office/drawing/2014/main" id="{7E4CE8B8-2B4B-1285-8E1F-54F68083ED6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624323" y="3637132"/>
            <a:ext cx="754084" cy="1043149"/>
          </a:xfrm>
          <a:prstGeom prst="rect">
            <a:avLst/>
          </a:prstGeom>
        </p:spPr>
      </p:pic>
      <p:pic>
        <p:nvPicPr>
          <p:cNvPr id="18" name="Graphic 17">
            <a:extLst>
              <a:ext uri="{FF2B5EF4-FFF2-40B4-BE49-F238E27FC236}">
                <a16:creationId xmlns:a16="http://schemas.microsoft.com/office/drawing/2014/main" id="{D1615595-3BCC-B5F0-DCCB-6298FF1AC1B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83584" y="2406318"/>
            <a:ext cx="1470746" cy="2302038"/>
          </a:xfrm>
          <a:prstGeom prst="rect">
            <a:avLst/>
          </a:prstGeom>
        </p:spPr>
      </p:pic>
    </p:spTree>
    <p:extLst>
      <p:ext uri="{BB962C8B-B14F-4D97-AF65-F5344CB8AC3E}">
        <p14:creationId xmlns:p14="http://schemas.microsoft.com/office/powerpoint/2010/main" val="3741189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17516" y="274321"/>
            <a:ext cx="8356968" cy="584775"/>
          </a:xfrm>
          <a:prstGeom prst="rect">
            <a:avLst/>
          </a:prstGeom>
          <a:noFill/>
        </p:spPr>
        <p:txBody>
          <a:bodyPr wrap="none">
            <a:spAutoFit/>
          </a:bodyPr>
          <a:lstStyle/>
          <a:p>
            <a:pPr algn="ctr">
              <a:defRPr sz="3200" b="1">
                <a:solidFill>
                  <a:srgbClr val="003366"/>
                </a:solidFill>
              </a:defRPr>
            </a:pPr>
            <a:r>
              <a:rPr sz="3200"/>
              <a:t>Satisfaction vs. Settlement: A Critical Distinction</a:t>
            </a:r>
          </a:p>
        </p:txBody>
      </p:sp>
      <p:sp>
        <p:nvSpPr>
          <p:cNvPr id="4" name="TextBox 3"/>
          <p:cNvSpPr txBox="1"/>
          <p:nvPr/>
        </p:nvSpPr>
        <p:spPr>
          <a:xfrm>
            <a:off x="1060174" y="977741"/>
            <a:ext cx="9872869" cy="338554"/>
          </a:xfrm>
          <a:prstGeom prst="rect">
            <a:avLst/>
          </a:prstGeom>
          <a:noFill/>
        </p:spPr>
        <p:txBody>
          <a:bodyPr wrap="square">
            <a:spAutoFit/>
          </a:bodyPr>
          <a:lstStyle/>
          <a:p>
            <a:pPr algn="ctr">
              <a:defRPr sz="1300" b="1">
                <a:solidFill>
                  <a:srgbClr val="C00000"/>
                </a:solidFill>
              </a:defRPr>
            </a:pPr>
            <a:r>
              <a:rPr sz="1600" dirty="0"/>
              <a:t>M&amp;V is about SETTLEMENT (quantifiable, rule-based), not satisfaction (conversational, subjective)</a:t>
            </a:r>
          </a:p>
        </p:txBody>
      </p:sp>
      <p:sp>
        <p:nvSpPr>
          <p:cNvPr id="5" name="Rectangle 4"/>
          <p:cNvSpPr/>
          <p:nvPr/>
        </p:nvSpPr>
        <p:spPr>
          <a:xfrm>
            <a:off x="1981200" y="1473644"/>
            <a:ext cx="3840480" cy="640080"/>
          </a:xfrm>
          <a:prstGeom prst="rect">
            <a:avLst/>
          </a:prstGeom>
          <a:solidFill>
            <a:srgbClr val="A5A5A5"/>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defRPr>
            </a:pPr>
            <a:r>
              <a:rPr sz="1500" dirty="0"/>
              <a:t>Satisfaction (Qualitative)</a:t>
            </a:r>
          </a:p>
        </p:txBody>
      </p:sp>
      <p:sp>
        <p:nvSpPr>
          <p:cNvPr id="6" name="TextBox 5"/>
          <p:cNvSpPr txBox="1"/>
          <p:nvPr/>
        </p:nvSpPr>
        <p:spPr>
          <a:xfrm>
            <a:off x="1981200" y="2205164"/>
            <a:ext cx="3840480" cy="338554"/>
          </a:xfrm>
          <a:prstGeom prst="rect">
            <a:avLst/>
          </a:prstGeom>
          <a:noFill/>
        </p:spPr>
        <p:txBody>
          <a:bodyPr wrap="square">
            <a:spAutoFit/>
          </a:bodyPr>
          <a:lstStyle/>
          <a:p>
            <a:pPr algn="ctr">
              <a:defRPr sz="1100" b="1">
                <a:solidFill>
                  <a:srgbClr val="646464"/>
                </a:solidFill>
              </a:defRPr>
            </a:pPr>
            <a:r>
              <a:rPr sz="1600" dirty="0"/>
              <a:t>Assessed by words &amp; ongoing dialogue</a:t>
            </a:r>
          </a:p>
        </p:txBody>
      </p:sp>
      <p:sp>
        <p:nvSpPr>
          <p:cNvPr id="7" name="Rectangle 6"/>
          <p:cNvSpPr/>
          <p:nvPr/>
        </p:nvSpPr>
        <p:spPr>
          <a:xfrm>
            <a:off x="1981200" y="2662364"/>
            <a:ext cx="3840480" cy="2743200"/>
          </a:xfrm>
          <a:prstGeom prst="rect">
            <a:avLst/>
          </a:prstGeom>
          <a:solidFill>
            <a:srgbClr val="DCDCDC"/>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00000"/>
                </a:solidFill>
              </a:defRPr>
            </a:pPr>
            <a:r>
              <a:rPr sz="1600" dirty="0"/>
              <a:t>How Success Is Measured:</a:t>
            </a:r>
          </a:p>
          <a:p>
            <a:pPr algn="ctr">
              <a:defRPr sz="1100" b="1">
                <a:solidFill>
                  <a:srgbClr val="000000"/>
                </a:solidFill>
              </a:defRPr>
            </a:pPr>
            <a:endParaRPr sz="1600" dirty="0"/>
          </a:p>
          <a:p>
            <a:pPr algn="ctr">
              <a:defRPr sz="1100" b="1">
                <a:solidFill>
                  <a:srgbClr val="000000"/>
                </a:solidFill>
              </a:defRPr>
            </a:pPr>
            <a:r>
              <a:rPr sz="1600" dirty="0"/>
              <a:t>• People keep talking</a:t>
            </a:r>
          </a:p>
          <a:p>
            <a:pPr algn="ctr">
              <a:defRPr sz="1100" b="1">
                <a:solidFill>
                  <a:srgbClr val="000000"/>
                </a:solidFill>
              </a:defRPr>
            </a:pPr>
            <a:r>
              <a:rPr sz="1600" dirty="0"/>
              <a:t>• Positive feelings expressed</a:t>
            </a:r>
          </a:p>
          <a:p>
            <a:pPr algn="ctr">
              <a:defRPr sz="1100" b="1">
                <a:solidFill>
                  <a:srgbClr val="000000"/>
                </a:solidFill>
              </a:defRPr>
            </a:pPr>
            <a:r>
              <a:rPr sz="1600" dirty="0"/>
              <a:t>• Relationship continues</a:t>
            </a:r>
          </a:p>
          <a:p>
            <a:pPr algn="ctr">
              <a:defRPr sz="1100" b="1">
                <a:solidFill>
                  <a:srgbClr val="000000"/>
                </a:solidFill>
              </a:defRPr>
            </a:pPr>
            <a:r>
              <a:rPr sz="1600" dirty="0"/>
              <a:t>• Trust maintained through conversation</a:t>
            </a:r>
          </a:p>
          <a:p>
            <a:pPr algn="ctr">
              <a:defRPr sz="1100" b="1">
                <a:solidFill>
                  <a:srgbClr val="000000"/>
                </a:solidFill>
              </a:defRPr>
            </a:pPr>
            <a:r>
              <a:rPr sz="1600" dirty="0"/>
              <a:t>• Subjective: 'Are you happy?'</a:t>
            </a:r>
          </a:p>
          <a:p>
            <a:pPr algn="ctr">
              <a:defRPr sz="1100" b="1">
                <a:solidFill>
                  <a:srgbClr val="000000"/>
                </a:solidFill>
              </a:defRPr>
            </a:pPr>
            <a:endParaRPr sz="1600" dirty="0"/>
          </a:p>
          <a:p>
            <a:pPr algn="ctr">
              <a:defRPr sz="1100" b="1">
                <a:solidFill>
                  <a:srgbClr val="000000"/>
                </a:solidFill>
              </a:defRPr>
            </a:pPr>
            <a:r>
              <a:rPr sz="1600" dirty="0"/>
              <a:t>Examples: Customer service,</a:t>
            </a:r>
          </a:p>
          <a:p>
            <a:pPr algn="ctr">
              <a:defRPr sz="1100" b="1">
                <a:solidFill>
                  <a:srgbClr val="000000"/>
                </a:solidFill>
              </a:defRPr>
            </a:pPr>
            <a:r>
              <a:rPr sz="1600" dirty="0"/>
              <a:t>therapy, consulting relationships</a:t>
            </a:r>
          </a:p>
        </p:txBody>
      </p:sp>
      <p:sp>
        <p:nvSpPr>
          <p:cNvPr id="8" name="Rectangle 7"/>
          <p:cNvSpPr/>
          <p:nvPr/>
        </p:nvSpPr>
        <p:spPr>
          <a:xfrm>
            <a:off x="6370320" y="1473644"/>
            <a:ext cx="3840480" cy="640080"/>
          </a:xfrm>
          <a:prstGeom prst="rect">
            <a:avLst/>
          </a:prstGeom>
          <a:solidFill>
            <a:srgbClr val="0070C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defRPr>
            </a:pPr>
            <a:r>
              <a:rPr sz="1500"/>
              <a:t>Settlement (Quantitative) ← M&amp;V</a:t>
            </a:r>
          </a:p>
        </p:txBody>
      </p:sp>
      <p:sp>
        <p:nvSpPr>
          <p:cNvPr id="9" name="TextBox 8"/>
          <p:cNvSpPr txBox="1"/>
          <p:nvPr/>
        </p:nvSpPr>
        <p:spPr>
          <a:xfrm>
            <a:off x="6370320" y="2205164"/>
            <a:ext cx="3840480" cy="338554"/>
          </a:xfrm>
          <a:prstGeom prst="rect">
            <a:avLst/>
          </a:prstGeom>
          <a:noFill/>
        </p:spPr>
        <p:txBody>
          <a:bodyPr wrap="square">
            <a:spAutoFit/>
          </a:bodyPr>
          <a:lstStyle/>
          <a:p>
            <a:pPr algn="ctr">
              <a:defRPr sz="1100" b="1">
                <a:solidFill>
                  <a:srgbClr val="003366"/>
                </a:solidFill>
              </a:defRPr>
            </a:pPr>
            <a:r>
              <a:rPr sz="1600" dirty="0"/>
              <a:t>Assessed by agreed-upon rules &amp; metrics</a:t>
            </a:r>
          </a:p>
        </p:txBody>
      </p:sp>
      <p:sp>
        <p:nvSpPr>
          <p:cNvPr id="10" name="Rectangle 9"/>
          <p:cNvSpPr/>
          <p:nvPr/>
        </p:nvSpPr>
        <p:spPr>
          <a:xfrm>
            <a:off x="6284181" y="2675075"/>
            <a:ext cx="3840480" cy="2743200"/>
          </a:xfrm>
          <a:prstGeom prst="rect">
            <a:avLst/>
          </a:prstGeom>
          <a:solidFill>
            <a:srgbClr val="C8DCFF"/>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100" b="1">
                <a:solidFill>
                  <a:srgbClr val="000000"/>
                </a:solidFill>
              </a:defRPr>
            </a:pPr>
            <a:r>
              <a:rPr sz="1600" dirty="0"/>
              <a:t>How Success Is Measured:</a:t>
            </a:r>
          </a:p>
          <a:p>
            <a:pPr algn="ctr">
              <a:defRPr sz="1100" b="1">
                <a:solidFill>
                  <a:srgbClr val="000000"/>
                </a:solidFill>
              </a:defRPr>
            </a:pPr>
            <a:endParaRPr sz="1600" dirty="0"/>
          </a:p>
          <a:p>
            <a:pPr algn="ctr">
              <a:defRPr sz="1100" b="1">
                <a:solidFill>
                  <a:srgbClr val="000000"/>
                </a:solidFill>
              </a:defRPr>
            </a:pPr>
            <a:r>
              <a:rPr sz="1600" dirty="0"/>
              <a:t>• Pre-agreed rules implemented</a:t>
            </a:r>
          </a:p>
          <a:p>
            <a:pPr algn="ctr">
              <a:defRPr sz="1100" b="1">
                <a:solidFill>
                  <a:srgbClr val="000000"/>
                </a:solidFill>
              </a:defRPr>
            </a:pPr>
            <a:r>
              <a:rPr sz="1600" dirty="0"/>
              <a:t>• Quantifiable metrics met</a:t>
            </a:r>
          </a:p>
          <a:p>
            <a:pPr algn="ctr">
              <a:defRPr sz="1100" b="1">
                <a:solidFill>
                  <a:srgbClr val="000000"/>
                </a:solidFill>
              </a:defRPr>
            </a:pPr>
            <a:r>
              <a:rPr sz="1600" dirty="0"/>
              <a:t>• Documented evidence provided</a:t>
            </a:r>
          </a:p>
          <a:p>
            <a:pPr algn="ctr">
              <a:defRPr sz="1100" b="1">
                <a:solidFill>
                  <a:srgbClr val="000000"/>
                </a:solidFill>
              </a:defRPr>
            </a:pPr>
            <a:r>
              <a:rPr sz="1600" dirty="0"/>
              <a:t>• Calculations follow agreed method</a:t>
            </a:r>
          </a:p>
          <a:p>
            <a:pPr algn="ctr">
              <a:defRPr sz="1100" b="1">
                <a:solidFill>
                  <a:srgbClr val="000000"/>
                </a:solidFill>
              </a:defRPr>
            </a:pPr>
            <a:r>
              <a:rPr sz="1600" dirty="0"/>
              <a:t>• Objective: 'Did we follow the plan?'</a:t>
            </a:r>
          </a:p>
          <a:p>
            <a:pPr algn="ctr">
              <a:defRPr sz="1100" b="1">
                <a:solidFill>
                  <a:srgbClr val="000000"/>
                </a:solidFill>
              </a:defRPr>
            </a:pPr>
            <a:endParaRPr sz="1600" dirty="0"/>
          </a:p>
          <a:p>
            <a:pPr algn="ctr">
              <a:defRPr sz="1100" b="1">
                <a:solidFill>
                  <a:srgbClr val="000000"/>
                </a:solidFill>
              </a:defRPr>
            </a:pPr>
            <a:r>
              <a:rPr sz="1600" dirty="0"/>
              <a:t>Examples: M&amp;V, legal contracts,</a:t>
            </a:r>
          </a:p>
          <a:p>
            <a:pPr algn="ctr">
              <a:defRPr sz="1100" b="1">
                <a:solidFill>
                  <a:srgbClr val="000000"/>
                </a:solidFill>
              </a:defRPr>
            </a:pPr>
            <a:r>
              <a:rPr sz="1600" dirty="0"/>
              <a:t>engineering specifications</a:t>
            </a:r>
          </a:p>
        </p:txBody>
      </p:sp>
      <p:sp>
        <p:nvSpPr>
          <p:cNvPr id="11" name="TextBox 10"/>
          <p:cNvSpPr txBox="1"/>
          <p:nvPr/>
        </p:nvSpPr>
        <p:spPr>
          <a:xfrm>
            <a:off x="1981200" y="5455924"/>
            <a:ext cx="8229600" cy="830997"/>
          </a:xfrm>
          <a:prstGeom prst="rect">
            <a:avLst/>
          </a:prstGeom>
          <a:noFill/>
        </p:spPr>
        <p:txBody>
          <a:bodyPr wrap="square">
            <a:spAutoFit/>
          </a:bodyPr>
          <a:lstStyle/>
          <a:p>
            <a:pPr algn="ctr">
              <a:defRPr sz="1100" b="1">
                <a:solidFill>
                  <a:srgbClr val="003366"/>
                </a:solidFill>
              </a:defRPr>
            </a:pPr>
            <a:r>
              <a:rPr sz="1600" dirty="0"/>
              <a:t>Key Distinction:</a:t>
            </a:r>
          </a:p>
          <a:p>
            <a:pPr algn="ctr">
              <a:defRPr sz="1100" b="1">
                <a:solidFill>
                  <a:srgbClr val="003366"/>
                </a:solidFill>
              </a:defRPr>
            </a:pPr>
            <a:r>
              <a:rPr sz="1600" dirty="0"/>
              <a:t>Satisfaction = 'Do stakeholders feel good?' (Subjective, conversational)</a:t>
            </a:r>
          </a:p>
          <a:p>
            <a:pPr algn="ctr">
              <a:defRPr sz="1100" b="1">
                <a:solidFill>
                  <a:srgbClr val="003366"/>
                </a:solidFill>
              </a:defRPr>
            </a:pPr>
            <a:r>
              <a:rPr sz="1600" dirty="0"/>
              <a:t>Settlement = 'Did we follow the agreed-upon rules?' (Objective, quantifiable)</a:t>
            </a:r>
          </a:p>
        </p:txBody>
      </p:sp>
      <p:sp>
        <p:nvSpPr>
          <p:cNvPr id="12" name="Rectangle 11"/>
          <p:cNvSpPr/>
          <p:nvPr/>
        </p:nvSpPr>
        <p:spPr>
          <a:xfrm>
            <a:off x="2895600" y="6268280"/>
            <a:ext cx="6400800" cy="365760"/>
          </a:xfrm>
          <a:prstGeom prst="rect">
            <a:avLst/>
          </a:prstGeom>
          <a:solidFill>
            <a:srgbClr val="0070C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300" b="1">
                <a:solidFill>
                  <a:srgbClr val="FFFFFF"/>
                </a:solidFill>
              </a:defRPr>
            </a:pPr>
            <a:r>
              <a:rPr sz="1300"/>
              <a:t>M&amp;V Success = Implementation of pre-agreed quantifiable methodology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F300-6F30-D15B-8F33-0DA2DE458924}"/>
              </a:ext>
            </a:extLst>
          </p:cNvPr>
          <p:cNvSpPr>
            <a:spLocks noGrp="1"/>
          </p:cNvSpPr>
          <p:nvPr>
            <p:ph type="title"/>
          </p:nvPr>
        </p:nvSpPr>
        <p:spPr/>
        <p:txBody>
          <a:bodyPr/>
          <a:lstStyle/>
          <a:p>
            <a:r>
              <a:rPr lang="en-US"/>
              <a:t>Related Disciplines</a:t>
            </a:r>
          </a:p>
        </p:txBody>
      </p:sp>
      <p:sp>
        <p:nvSpPr>
          <p:cNvPr id="3" name="Content Placeholder 2">
            <a:extLst>
              <a:ext uri="{FF2B5EF4-FFF2-40B4-BE49-F238E27FC236}">
                <a16:creationId xmlns:a16="http://schemas.microsoft.com/office/drawing/2014/main" id="{2B119425-314F-1FC9-404B-1E9196926665}"/>
              </a:ext>
            </a:extLst>
          </p:cNvPr>
          <p:cNvSpPr>
            <a:spLocks noGrp="1"/>
          </p:cNvSpPr>
          <p:nvPr>
            <p:ph idx="1"/>
          </p:nvPr>
        </p:nvSpPr>
        <p:spPr/>
        <p:txBody>
          <a:bodyPr/>
          <a:lstStyle/>
          <a:p>
            <a:pPr marL="457200" indent="-457200">
              <a:buFont typeface="Arial" panose="020B0604020202020204" pitchFamily="34" charset="0"/>
              <a:buChar char="•"/>
            </a:pPr>
            <a:r>
              <a:rPr lang="en-US"/>
              <a:t>Auditing</a:t>
            </a:r>
          </a:p>
          <a:p>
            <a:pPr marL="457200" indent="-457200">
              <a:buFont typeface="Arial" panose="020B0604020202020204" pitchFamily="34" charset="0"/>
              <a:buChar char="•"/>
            </a:pPr>
            <a:r>
              <a:rPr lang="en-US"/>
              <a:t>Commissioning</a:t>
            </a:r>
          </a:p>
          <a:p>
            <a:pPr marL="457200" indent="-457200">
              <a:buFont typeface="Arial" panose="020B0604020202020204" pitchFamily="34" charset="0"/>
              <a:buChar char="•"/>
            </a:pPr>
            <a:r>
              <a:rPr lang="en-US"/>
              <a:t>Monitoring-Based Commissioning/Continuous </a:t>
            </a:r>
            <a:r>
              <a:rPr lang="en-US" err="1"/>
              <a:t>Cx</a:t>
            </a:r>
            <a:endParaRPr lang="en-US"/>
          </a:p>
          <a:p>
            <a:pPr marL="457200" indent="-457200">
              <a:buFont typeface="Arial" panose="020B0604020202020204" pitchFamily="34" charset="0"/>
              <a:buChar char="•"/>
            </a:pPr>
            <a:r>
              <a:rPr lang="en-US"/>
              <a:t>Benchmarking</a:t>
            </a:r>
          </a:p>
          <a:p>
            <a:pPr marL="457200" indent="-457200">
              <a:buFont typeface="Arial" panose="020B0604020202020204" pitchFamily="34" charset="0"/>
              <a:buChar char="•"/>
            </a:pPr>
            <a:r>
              <a:rPr lang="en-US"/>
              <a:t>KPI/Performance Assurance</a:t>
            </a:r>
          </a:p>
        </p:txBody>
      </p:sp>
    </p:spTree>
    <p:extLst>
      <p:ext uri="{BB962C8B-B14F-4D97-AF65-F5344CB8AC3E}">
        <p14:creationId xmlns:p14="http://schemas.microsoft.com/office/powerpoint/2010/main" val="1232230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9AA11-B1D1-CD9B-2684-C18794E00758}"/>
              </a:ext>
            </a:extLst>
          </p:cNvPr>
          <p:cNvSpPr>
            <a:spLocks noGrp="1"/>
          </p:cNvSpPr>
          <p:nvPr>
            <p:ph type="title"/>
          </p:nvPr>
        </p:nvSpPr>
        <p:spPr/>
        <p:txBody>
          <a:bodyPr/>
          <a:lstStyle/>
          <a:p>
            <a:r>
              <a:rPr lang="en-US" dirty="0"/>
              <a:t>1) Performance Verification</a:t>
            </a:r>
          </a:p>
        </p:txBody>
      </p:sp>
      <p:sp>
        <p:nvSpPr>
          <p:cNvPr id="3" name="Content Placeholder 2">
            <a:extLst>
              <a:ext uri="{FF2B5EF4-FFF2-40B4-BE49-F238E27FC236}">
                <a16:creationId xmlns:a16="http://schemas.microsoft.com/office/drawing/2014/main" id="{88201662-F2F4-2821-B465-F756AD8D394C}"/>
              </a:ext>
            </a:extLst>
          </p:cNvPr>
          <p:cNvSpPr>
            <a:spLocks noGrp="1"/>
          </p:cNvSpPr>
          <p:nvPr>
            <p:ph sz="half" idx="1"/>
          </p:nvPr>
        </p:nvSpPr>
        <p:spPr/>
        <p:txBody>
          <a:bodyPr>
            <a:normAutofit lnSpcReduction="10000"/>
          </a:bodyPr>
          <a:lstStyle/>
          <a:p>
            <a:r>
              <a:rPr lang="en-US"/>
              <a:t>Equivalent to IPMVP “Option A.”</a:t>
            </a:r>
          </a:p>
          <a:p>
            <a:r>
              <a:rPr lang="en-US"/>
              <a:t>Ensures that a system or component meets its specified performance standards.</a:t>
            </a:r>
          </a:p>
          <a:p>
            <a:r>
              <a:rPr lang="en-US"/>
              <a:t>Direct assessment of a system’s actual performance.</a:t>
            </a:r>
          </a:p>
        </p:txBody>
      </p:sp>
      <p:sp>
        <p:nvSpPr>
          <p:cNvPr id="4" name="Content Placeholder 3">
            <a:extLst>
              <a:ext uri="{FF2B5EF4-FFF2-40B4-BE49-F238E27FC236}">
                <a16:creationId xmlns:a16="http://schemas.microsoft.com/office/drawing/2014/main" id="{315BB1C4-38F3-784F-1BA6-098067DC108A}"/>
              </a:ext>
            </a:extLst>
          </p:cNvPr>
          <p:cNvSpPr>
            <a:spLocks noGrp="1"/>
          </p:cNvSpPr>
          <p:nvPr>
            <p:ph sz="half" idx="2"/>
          </p:nvPr>
        </p:nvSpPr>
        <p:spPr/>
        <p:txBody>
          <a:bodyPr>
            <a:normAutofit lnSpcReduction="10000"/>
          </a:bodyPr>
          <a:lstStyle/>
          <a:p>
            <a:r>
              <a:rPr lang="en-US" b="1"/>
              <a:t>Equipment Checks</a:t>
            </a:r>
            <a:r>
              <a:rPr lang="en-US"/>
              <a:t>: Direct inspections and tests of machinery and equipment to ensure they function as intended.</a:t>
            </a:r>
          </a:p>
          <a:p>
            <a:r>
              <a:rPr lang="en-US" b="1"/>
              <a:t>Benchmarking</a:t>
            </a:r>
            <a:r>
              <a:rPr lang="en-US"/>
              <a:t>: Comparing the system’s performance against industry standards or similar systems.</a:t>
            </a:r>
          </a:p>
        </p:txBody>
      </p:sp>
      <p:pic>
        <p:nvPicPr>
          <p:cNvPr id="5" name="Graphic 4">
            <a:extLst>
              <a:ext uri="{FF2B5EF4-FFF2-40B4-BE49-F238E27FC236}">
                <a16:creationId xmlns:a16="http://schemas.microsoft.com/office/drawing/2014/main" id="{D70C9425-40B7-7418-5CE6-01D9C5D01B2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pic>
        <p:nvPicPr>
          <p:cNvPr id="6" name="Graphic 5">
            <a:extLst>
              <a:ext uri="{FF2B5EF4-FFF2-40B4-BE49-F238E27FC236}">
                <a16:creationId xmlns:a16="http://schemas.microsoft.com/office/drawing/2014/main" id="{06E7BF84-4A4F-D0C6-8C06-4873341B963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4114" y="84954"/>
            <a:ext cx="914400" cy="914400"/>
          </a:xfrm>
          <a:prstGeom prst="rect">
            <a:avLst/>
          </a:prstGeom>
        </p:spPr>
      </p:pic>
      <p:sp>
        <p:nvSpPr>
          <p:cNvPr id="7" name="TextBox 6">
            <a:extLst>
              <a:ext uri="{FF2B5EF4-FFF2-40B4-BE49-F238E27FC236}">
                <a16:creationId xmlns:a16="http://schemas.microsoft.com/office/drawing/2014/main" id="{768A0546-D175-EDEE-A82B-0C4C326E1A35}"/>
              </a:ext>
            </a:extLst>
          </p:cNvPr>
          <p:cNvSpPr txBox="1"/>
          <p:nvPr/>
        </p:nvSpPr>
        <p:spPr>
          <a:xfrm>
            <a:off x="2293621" y="6492875"/>
            <a:ext cx="9159239" cy="246221"/>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00">
                <a:effectLst/>
                <a:latin typeface="Verdana" panose="020B0604030504040204" pitchFamily="34" charset="0"/>
                <a:ea typeface="Verdana" panose="020B0604030504040204" pitchFamily="34" charset="0"/>
              </a:rPr>
              <a:t>IPMVP is a registered trademark of EVO. AEE is using the term “IPMVP” only to refer to the protocol.</a:t>
            </a:r>
            <a:endParaRPr lang="en-US" sz="1000">
              <a:latin typeface="Verdana" panose="020B0604030504040204" pitchFamily="34" charset="0"/>
            </a:endParaRPr>
          </a:p>
        </p:txBody>
      </p:sp>
    </p:spTree>
    <p:extLst>
      <p:ext uri="{BB962C8B-B14F-4D97-AF65-F5344CB8AC3E}">
        <p14:creationId xmlns:p14="http://schemas.microsoft.com/office/powerpoint/2010/main" val="14453695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Two Approaches to Verification</a:t>
            </a:r>
          </a:p>
        </p:txBody>
      </p:sp>
      <p:sp>
        <p:nvSpPr>
          <p:cNvPr id="4" name="TextBox 3"/>
          <p:cNvSpPr txBox="1"/>
          <p:nvPr/>
        </p:nvSpPr>
        <p:spPr>
          <a:xfrm>
            <a:off x="1981200" y="1051560"/>
            <a:ext cx="8229600" cy="338554"/>
          </a:xfrm>
          <a:prstGeom prst="rect">
            <a:avLst/>
          </a:prstGeom>
          <a:noFill/>
        </p:spPr>
        <p:txBody>
          <a:bodyPr wrap="square">
            <a:spAutoFit/>
          </a:bodyPr>
          <a:lstStyle/>
          <a:p>
            <a:pPr algn="l">
              <a:defRPr sz="1600" b="1">
                <a:solidFill>
                  <a:srgbClr val="0070C0"/>
                </a:solidFill>
                <a:latin typeface="Calibri"/>
              </a:defRPr>
            </a:pPr>
            <a:r>
              <a:rPr sz="1600"/>
              <a:t>Understanding the fundamental difference:</a:t>
            </a:r>
          </a:p>
        </p:txBody>
      </p:sp>
      <p:sp>
        <p:nvSpPr>
          <p:cNvPr id="5" name="Rectangle 4"/>
          <p:cNvSpPr/>
          <p:nvPr/>
        </p:nvSpPr>
        <p:spPr>
          <a:xfrm>
            <a:off x="1981200" y="1554480"/>
            <a:ext cx="4114800" cy="45720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600" b="1">
                <a:solidFill>
                  <a:srgbClr val="FFFFFF"/>
                </a:solidFill>
                <a:latin typeface="Calibri"/>
              </a:defRPr>
            </a:pPr>
            <a:r>
              <a:rPr sz="1600"/>
              <a:t>Performance Verification</a:t>
            </a:r>
          </a:p>
        </p:txBody>
      </p:sp>
      <p:sp>
        <p:nvSpPr>
          <p:cNvPr id="6" name="TextBox 5"/>
          <p:cNvSpPr txBox="1"/>
          <p:nvPr/>
        </p:nvSpPr>
        <p:spPr>
          <a:xfrm>
            <a:off x="1981200" y="2103121"/>
            <a:ext cx="4114800" cy="307777"/>
          </a:xfrm>
          <a:prstGeom prst="rect">
            <a:avLst/>
          </a:prstGeom>
          <a:noFill/>
        </p:spPr>
        <p:txBody>
          <a:bodyPr wrap="square">
            <a:spAutoFit/>
          </a:bodyPr>
          <a:lstStyle/>
          <a:p>
            <a:pPr algn="l">
              <a:defRPr sz="1400" b="1">
                <a:solidFill>
                  <a:srgbClr val="003366"/>
                </a:solidFill>
                <a:latin typeface="Calibri"/>
              </a:defRPr>
            </a:pPr>
            <a:r>
              <a:rPr sz="1400"/>
              <a:t>Compare to TARGET / SPECIFICATION</a:t>
            </a:r>
          </a:p>
        </p:txBody>
      </p:sp>
      <p:sp>
        <p:nvSpPr>
          <p:cNvPr id="7" name="TextBox 6"/>
          <p:cNvSpPr txBox="1"/>
          <p:nvPr/>
        </p:nvSpPr>
        <p:spPr>
          <a:xfrm>
            <a:off x="1981200" y="2651760"/>
            <a:ext cx="4114800" cy="1554272"/>
          </a:xfrm>
          <a:prstGeom prst="rect">
            <a:avLst/>
          </a:prstGeom>
          <a:noFill/>
        </p:spPr>
        <p:txBody>
          <a:bodyPr wrap="square">
            <a:spAutoFit/>
          </a:bodyPr>
          <a:lstStyle/>
          <a:p>
            <a:pPr>
              <a:spcAft>
                <a:spcPts val="1000"/>
              </a:spcAft>
              <a:defRPr sz="1400">
                <a:solidFill>
                  <a:srgbClr val="000000"/>
                </a:solidFill>
                <a:latin typeface="Calibri"/>
              </a:defRPr>
            </a:pPr>
            <a:r>
              <a:rPr sz="1400"/>
              <a:t>Does equipment meet design specifications?</a:t>
            </a:r>
          </a:p>
          <a:p>
            <a:pPr>
              <a:spcAft>
                <a:spcPts val="1000"/>
              </a:spcAft>
              <a:defRPr sz="1400">
                <a:solidFill>
                  <a:srgbClr val="000000"/>
                </a:solidFill>
                <a:latin typeface="Calibri"/>
              </a:defRPr>
            </a:pPr>
            <a:r>
              <a:rPr sz="1400"/>
              <a:t>Is system operating as intended?</a:t>
            </a:r>
          </a:p>
          <a:p>
            <a:pPr>
              <a:spcAft>
                <a:spcPts val="1000"/>
              </a:spcAft>
              <a:defRPr sz="1400">
                <a:solidFill>
                  <a:srgbClr val="000000"/>
                </a:solidFill>
                <a:latin typeface="Calibri"/>
              </a:defRPr>
            </a:pPr>
            <a:r>
              <a:rPr sz="1400"/>
              <a:t>Are performance targets achieved?</a:t>
            </a:r>
          </a:p>
          <a:p>
            <a:pPr>
              <a:spcAft>
                <a:spcPts val="1000"/>
              </a:spcAft>
              <a:defRPr sz="1400">
                <a:solidFill>
                  <a:srgbClr val="000000"/>
                </a:solidFill>
                <a:latin typeface="Calibri"/>
              </a:defRPr>
            </a:pPr>
            <a:r>
              <a:rPr sz="1400"/>
              <a:t>Compare to: Manufacturer specs, design values, contractual targets</a:t>
            </a:r>
          </a:p>
        </p:txBody>
      </p:sp>
      <p:sp>
        <p:nvSpPr>
          <p:cNvPr id="8" name="TextBox 7"/>
          <p:cNvSpPr txBox="1"/>
          <p:nvPr/>
        </p:nvSpPr>
        <p:spPr>
          <a:xfrm>
            <a:off x="1981200" y="4352075"/>
            <a:ext cx="4114800" cy="292388"/>
          </a:xfrm>
          <a:prstGeom prst="rect">
            <a:avLst/>
          </a:prstGeom>
          <a:noFill/>
        </p:spPr>
        <p:txBody>
          <a:bodyPr wrap="square">
            <a:spAutoFit/>
          </a:bodyPr>
          <a:lstStyle/>
          <a:p>
            <a:pPr algn="l">
              <a:defRPr sz="1300" b="1">
                <a:solidFill>
                  <a:srgbClr val="003366"/>
                </a:solidFill>
                <a:latin typeface="Calibri"/>
              </a:defRPr>
            </a:pPr>
            <a:r>
              <a:rPr sz="1300"/>
              <a:t>Example:</a:t>
            </a:r>
          </a:p>
        </p:txBody>
      </p:sp>
      <p:sp>
        <p:nvSpPr>
          <p:cNvPr id="9" name="TextBox 8"/>
          <p:cNvSpPr txBox="1"/>
          <p:nvPr/>
        </p:nvSpPr>
        <p:spPr>
          <a:xfrm>
            <a:off x="1981200" y="4717836"/>
            <a:ext cx="4114800" cy="646331"/>
          </a:xfrm>
          <a:prstGeom prst="rect">
            <a:avLst/>
          </a:prstGeom>
          <a:noFill/>
        </p:spPr>
        <p:txBody>
          <a:bodyPr wrap="square">
            <a:spAutoFit/>
          </a:bodyPr>
          <a:lstStyle/>
          <a:p>
            <a:pPr algn="l">
              <a:defRPr sz="1200" b="0">
                <a:solidFill>
                  <a:srgbClr val="000000"/>
                </a:solidFill>
                <a:latin typeface="Calibri"/>
              </a:defRPr>
            </a:pPr>
            <a:r>
              <a:rPr sz="1200" dirty="0"/>
              <a:t>VFD motor rated at 95% efficiency.</a:t>
            </a:r>
          </a:p>
          <a:p>
            <a:pPr algn="l">
              <a:defRPr sz="1200" b="0">
                <a:solidFill>
                  <a:srgbClr val="000000"/>
                </a:solidFill>
                <a:latin typeface="Calibri"/>
              </a:defRPr>
            </a:pPr>
            <a:r>
              <a:rPr sz="1200" dirty="0"/>
              <a:t>Measurement shows 94.8% efficiency.</a:t>
            </a:r>
          </a:p>
          <a:p>
            <a:pPr algn="l">
              <a:defRPr sz="1200" b="0">
                <a:solidFill>
                  <a:srgbClr val="000000"/>
                </a:solidFill>
                <a:latin typeface="Calibri"/>
              </a:defRPr>
            </a:pPr>
            <a:r>
              <a:rPr sz="1200" dirty="0"/>
              <a:t>Conclusion: ✓ Meets specification (within tolerance)</a:t>
            </a:r>
          </a:p>
        </p:txBody>
      </p:sp>
      <p:sp>
        <p:nvSpPr>
          <p:cNvPr id="10" name="Rectangle 9"/>
          <p:cNvSpPr/>
          <p:nvPr/>
        </p:nvSpPr>
        <p:spPr>
          <a:xfrm>
            <a:off x="6096000" y="1554480"/>
            <a:ext cx="4114800" cy="45720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600" b="1">
                <a:solidFill>
                  <a:srgbClr val="FFFFFF"/>
                </a:solidFill>
                <a:latin typeface="Calibri"/>
              </a:defRPr>
            </a:pPr>
            <a:r>
              <a:rPr sz="1600"/>
              <a:t>Counterfactual Method (Savings)</a:t>
            </a:r>
          </a:p>
        </p:txBody>
      </p:sp>
      <p:sp>
        <p:nvSpPr>
          <p:cNvPr id="11" name="TextBox 10"/>
          <p:cNvSpPr txBox="1"/>
          <p:nvPr/>
        </p:nvSpPr>
        <p:spPr>
          <a:xfrm>
            <a:off x="6096000" y="2103121"/>
            <a:ext cx="4114800" cy="307777"/>
          </a:xfrm>
          <a:prstGeom prst="rect">
            <a:avLst/>
          </a:prstGeom>
          <a:noFill/>
        </p:spPr>
        <p:txBody>
          <a:bodyPr wrap="square">
            <a:spAutoFit/>
          </a:bodyPr>
          <a:lstStyle/>
          <a:p>
            <a:pPr algn="l">
              <a:defRPr sz="1400" b="1">
                <a:solidFill>
                  <a:srgbClr val="003366"/>
                </a:solidFill>
                <a:latin typeface="Calibri"/>
              </a:defRPr>
            </a:pPr>
            <a:r>
              <a:rPr sz="1400"/>
              <a:t>Compare to BASELINE EVIDENCE</a:t>
            </a:r>
          </a:p>
        </p:txBody>
      </p:sp>
      <p:sp>
        <p:nvSpPr>
          <p:cNvPr id="12" name="TextBox 11"/>
          <p:cNvSpPr txBox="1"/>
          <p:nvPr/>
        </p:nvSpPr>
        <p:spPr>
          <a:xfrm>
            <a:off x="6096000" y="2651760"/>
            <a:ext cx="4114800" cy="1554272"/>
          </a:xfrm>
          <a:prstGeom prst="rect">
            <a:avLst/>
          </a:prstGeom>
          <a:noFill/>
        </p:spPr>
        <p:txBody>
          <a:bodyPr wrap="square">
            <a:spAutoFit/>
          </a:bodyPr>
          <a:lstStyle/>
          <a:p>
            <a:pPr>
              <a:spcAft>
                <a:spcPts val="1000"/>
              </a:spcAft>
              <a:defRPr sz="1400">
                <a:solidFill>
                  <a:srgbClr val="000000"/>
                </a:solidFill>
                <a:latin typeface="Calibri"/>
              </a:defRPr>
            </a:pPr>
            <a:r>
              <a:rPr sz="1400"/>
              <a:t>What WAS happening before project?</a:t>
            </a:r>
          </a:p>
          <a:p>
            <a:pPr>
              <a:spcAft>
                <a:spcPts val="1000"/>
              </a:spcAft>
              <a:defRPr sz="1400">
                <a:solidFill>
                  <a:srgbClr val="000000"/>
                </a:solidFill>
                <a:latin typeface="Calibri"/>
              </a:defRPr>
            </a:pPr>
            <a:r>
              <a:rPr sz="1400"/>
              <a:t>What WOULD HAVE happened without project?</a:t>
            </a:r>
          </a:p>
          <a:p>
            <a:pPr>
              <a:spcAft>
                <a:spcPts val="1000"/>
              </a:spcAft>
              <a:defRPr sz="1400">
                <a:solidFill>
                  <a:srgbClr val="000000"/>
                </a:solidFill>
                <a:latin typeface="Calibri"/>
              </a:defRPr>
            </a:pPr>
            <a:r>
              <a:rPr sz="1400"/>
              <a:t>Requires baseline data / model</a:t>
            </a:r>
          </a:p>
          <a:p>
            <a:pPr>
              <a:spcAft>
                <a:spcPts val="1000"/>
              </a:spcAft>
              <a:defRPr sz="1400">
                <a:solidFill>
                  <a:srgbClr val="000000"/>
                </a:solidFill>
                <a:latin typeface="Calibri"/>
              </a:defRPr>
            </a:pPr>
            <a:r>
              <a:rPr sz="1400"/>
              <a:t>Compare to: Historical energy use, adjusted baseline model</a:t>
            </a:r>
          </a:p>
        </p:txBody>
      </p:sp>
      <p:sp>
        <p:nvSpPr>
          <p:cNvPr id="13" name="TextBox 12"/>
          <p:cNvSpPr txBox="1"/>
          <p:nvPr/>
        </p:nvSpPr>
        <p:spPr>
          <a:xfrm>
            <a:off x="6096000" y="4352075"/>
            <a:ext cx="4114800" cy="292388"/>
          </a:xfrm>
          <a:prstGeom prst="rect">
            <a:avLst/>
          </a:prstGeom>
          <a:noFill/>
        </p:spPr>
        <p:txBody>
          <a:bodyPr wrap="square">
            <a:spAutoFit/>
          </a:bodyPr>
          <a:lstStyle/>
          <a:p>
            <a:pPr algn="l">
              <a:defRPr sz="1300" b="1">
                <a:solidFill>
                  <a:srgbClr val="003366"/>
                </a:solidFill>
                <a:latin typeface="Calibri"/>
              </a:defRPr>
            </a:pPr>
            <a:r>
              <a:rPr sz="1300"/>
              <a:t>Example:</a:t>
            </a:r>
          </a:p>
        </p:txBody>
      </p:sp>
      <p:sp>
        <p:nvSpPr>
          <p:cNvPr id="14" name="TextBox 13"/>
          <p:cNvSpPr txBox="1"/>
          <p:nvPr/>
        </p:nvSpPr>
        <p:spPr>
          <a:xfrm>
            <a:off x="6096000" y="4717836"/>
            <a:ext cx="4114800" cy="646331"/>
          </a:xfrm>
          <a:prstGeom prst="rect">
            <a:avLst/>
          </a:prstGeom>
          <a:noFill/>
        </p:spPr>
        <p:txBody>
          <a:bodyPr wrap="square">
            <a:spAutoFit/>
          </a:bodyPr>
          <a:lstStyle/>
          <a:p>
            <a:pPr algn="l">
              <a:defRPr sz="1200" b="0">
                <a:solidFill>
                  <a:srgbClr val="000000"/>
                </a:solidFill>
                <a:latin typeface="Calibri"/>
              </a:defRPr>
            </a:pPr>
            <a:r>
              <a:rPr sz="1200"/>
              <a:t>Baseline: Building used 500 MWh/year</a:t>
            </a:r>
          </a:p>
          <a:p>
            <a:pPr algn="l">
              <a:defRPr sz="1200" b="0">
                <a:solidFill>
                  <a:srgbClr val="000000"/>
                </a:solidFill>
                <a:latin typeface="Calibri"/>
              </a:defRPr>
            </a:pPr>
            <a:r>
              <a:rPr sz="1200"/>
              <a:t>Post-retrofit: Building uses 400 MWh/year</a:t>
            </a:r>
          </a:p>
          <a:p>
            <a:pPr algn="l">
              <a:defRPr sz="1200" b="0">
                <a:solidFill>
                  <a:srgbClr val="000000"/>
                </a:solidFill>
                <a:latin typeface="Calibri"/>
              </a:defRPr>
            </a:pPr>
            <a:r>
              <a:rPr sz="1200"/>
              <a:t>Conclusion: 100 MWh avoided energy use ('savings')</a:t>
            </a:r>
          </a:p>
        </p:txBody>
      </p:sp>
      <p:sp>
        <p:nvSpPr>
          <p:cNvPr id="15" name="Rectangle 14"/>
          <p:cNvSpPr/>
          <p:nvPr/>
        </p:nvSpPr>
        <p:spPr>
          <a:xfrm>
            <a:off x="1981200" y="5492186"/>
            <a:ext cx="8229600" cy="32004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Key Distinction: Performance Verification = 'Did we build it right?' (target)</a:t>
            </a:r>
          </a:p>
        </p:txBody>
      </p:sp>
      <p:sp>
        <p:nvSpPr>
          <p:cNvPr id="16" name="Rectangle 15"/>
          <p:cNvSpPr/>
          <p:nvPr/>
        </p:nvSpPr>
        <p:spPr>
          <a:xfrm>
            <a:off x="1981200" y="5915819"/>
            <a:ext cx="8229600" cy="32004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Counterfactual Method = 'What changed compared to baseline?' (evidence)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B03FC-FB24-E99B-9BE2-FC962428990D}"/>
              </a:ext>
            </a:extLst>
          </p:cNvPr>
          <p:cNvSpPr>
            <a:spLocks noGrp="1"/>
          </p:cNvSpPr>
          <p:nvPr>
            <p:ph type="title"/>
          </p:nvPr>
        </p:nvSpPr>
        <p:spPr>
          <a:xfrm>
            <a:off x="838200" y="365125"/>
            <a:ext cx="8877300" cy="1325563"/>
          </a:xfrm>
        </p:spPr>
        <p:txBody>
          <a:bodyPr>
            <a:normAutofit/>
          </a:bodyPr>
          <a:lstStyle/>
          <a:p>
            <a:r>
              <a:rPr lang="en-US"/>
              <a:t>Key Performance Indicators (KPIs)</a:t>
            </a:r>
          </a:p>
        </p:txBody>
      </p:sp>
      <p:pic>
        <p:nvPicPr>
          <p:cNvPr id="9" name="Content Placeholder 8">
            <a:extLst>
              <a:ext uri="{FF2B5EF4-FFF2-40B4-BE49-F238E27FC236}">
                <a16:creationId xmlns:a16="http://schemas.microsoft.com/office/drawing/2014/main" id="{EF5746AD-E607-030E-EDC4-04BD5637926A}"/>
              </a:ext>
            </a:extLst>
          </p:cNvPr>
          <p:cNvPicPr>
            <a:picLocks noGrp="1" noChangeAspect="1"/>
          </p:cNvPicPr>
          <p:nvPr>
            <p:ph sz="half" idx="1"/>
          </p:nvPr>
        </p:nvPicPr>
        <p:blipFill>
          <a:blip>
            <a:extLst>
              <a:ext uri="{96DAC541-7B7A-43D3-8B79-37D633B846F1}">
                <asvg:svgBlip xmlns:asvg="http://schemas.microsoft.com/office/drawing/2016/SVG/main" r:embed="rId2"/>
              </a:ext>
            </a:extLst>
          </a:blip>
          <a:stretch>
            <a:fillRect/>
          </a:stretch>
        </p:blipFill>
        <p:spPr>
          <a:xfrm>
            <a:off x="1362869" y="1690688"/>
            <a:ext cx="3913981" cy="3913981"/>
          </a:xfrm>
        </p:spPr>
      </p:pic>
      <p:sp>
        <p:nvSpPr>
          <p:cNvPr id="5" name="Content Placeholder 4">
            <a:extLst>
              <a:ext uri="{FF2B5EF4-FFF2-40B4-BE49-F238E27FC236}">
                <a16:creationId xmlns:a16="http://schemas.microsoft.com/office/drawing/2014/main" id="{9464587E-8330-BED0-739F-BC48C76F03A0}"/>
              </a:ext>
            </a:extLst>
          </p:cNvPr>
          <p:cNvSpPr>
            <a:spLocks noGrp="1"/>
          </p:cNvSpPr>
          <p:nvPr>
            <p:ph sz="half" idx="2"/>
          </p:nvPr>
        </p:nvSpPr>
        <p:spPr>
          <a:xfrm>
            <a:off x="6172200" y="1988915"/>
            <a:ext cx="5181600" cy="4351338"/>
          </a:xfrm>
        </p:spPr>
        <p:txBody>
          <a:bodyPr/>
          <a:lstStyle/>
          <a:p>
            <a:r>
              <a:rPr lang="en-US"/>
              <a:t>A quantifiable metric used to evaluate the effectiveness of a particular system, process, or intervention in achieving specified performance objectives.</a:t>
            </a:r>
          </a:p>
        </p:txBody>
      </p:sp>
      <p:pic>
        <p:nvPicPr>
          <p:cNvPr id="3" name="Graphic 2">
            <a:extLst>
              <a:ext uri="{FF2B5EF4-FFF2-40B4-BE49-F238E27FC236}">
                <a16:creationId xmlns:a16="http://schemas.microsoft.com/office/drawing/2014/main" id="{731FAA12-0A1E-1889-DA67-C9C7ED620A4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pic>
        <p:nvPicPr>
          <p:cNvPr id="4" name="Graphic 3">
            <a:extLst>
              <a:ext uri="{FF2B5EF4-FFF2-40B4-BE49-F238E27FC236}">
                <a16:creationId xmlns:a16="http://schemas.microsoft.com/office/drawing/2014/main" id="{46DAD179-A05B-9A7E-4B91-79989E37EC9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314114" y="84954"/>
            <a:ext cx="914400" cy="914400"/>
          </a:xfrm>
          <a:prstGeom prst="rect">
            <a:avLst/>
          </a:prstGeom>
        </p:spPr>
      </p:pic>
    </p:spTree>
    <p:extLst>
      <p:ext uri="{BB962C8B-B14F-4D97-AF65-F5344CB8AC3E}">
        <p14:creationId xmlns:p14="http://schemas.microsoft.com/office/powerpoint/2010/main" val="72642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 Building Performance Standard (BPS)?</a:t>
            </a:r>
          </a:p>
        </p:txBody>
      </p:sp>
      <p:sp>
        <p:nvSpPr>
          <p:cNvPr id="3" name="Content Placeholder 2"/>
          <p:cNvSpPr>
            <a:spLocks noGrp="1"/>
          </p:cNvSpPr>
          <p:nvPr>
            <p:ph idx="1"/>
          </p:nvPr>
        </p:nvSpPr>
        <p:spPr/>
        <p:txBody>
          <a:bodyPr/>
          <a:lstStyle/>
          <a:p>
            <a:r>
              <a:t>- Outcome-based policy for existing buildings</a:t>
            </a:r>
          </a:p>
          <a:p>
            <a:r>
              <a:t>- Applies performance targets (energy/GHG)</a:t>
            </a:r>
          </a:p>
          <a:p>
            <a:r>
              <a:t>- Examples: EUI thresholds, carbon limits</a:t>
            </a:r>
          </a:p>
          <a:p>
            <a:r>
              <a:t>- Goal: Reduce emissions, improve efficiency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BPS Functions as a KPI</a:t>
            </a:r>
          </a:p>
        </p:txBody>
      </p:sp>
      <p:sp>
        <p:nvSpPr>
          <p:cNvPr id="3" name="Content Placeholder 2"/>
          <p:cNvSpPr>
            <a:spLocks noGrp="1"/>
          </p:cNvSpPr>
          <p:nvPr>
            <p:ph idx="1"/>
          </p:nvPr>
        </p:nvSpPr>
        <p:spPr/>
        <p:txBody>
          <a:bodyPr/>
          <a:lstStyle/>
          <a:p>
            <a:r>
              <a:rPr dirty="0"/>
              <a:t>- BPS = policy-imposed KPI</a:t>
            </a:r>
          </a:p>
          <a:p>
            <a:r>
              <a:rPr dirty="0"/>
              <a:t>- Traditional KPI = voluntary</a:t>
            </a:r>
          </a:p>
          <a:p>
            <a:r>
              <a:rPr dirty="0"/>
              <a:t>- BPS = mandatory target</a:t>
            </a:r>
          </a:p>
          <a:p>
            <a:r>
              <a:rPr dirty="0"/>
              <a:t>- Metrics: </a:t>
            </a:r>
            <a:r>
              <a:rPr dirty="0" err="1"/>
              <a:t>kBtu</a:t>
            </a:r>
            <a:r>
              <a:rPr dirty="0"/>
              <a:t>/</a:t>
            </a:r>
            <a:r>
              <a:rPr dirty="0" err="1"/>
              <a:t>sqft</a:t>
            </a:r>
            <a:r>
              <a:rPr dirty="0"/>
              <a:t>, kg CO2e/</a:t>
            </a:r>
            <a:r>
              <a:rPr dirty="0" err="1"/>
              <a:t>sqft</a:t>
            </a:r>
            <a:endParaRPr dirty="0"/>
          </a:p>
          <a:p>
            <a:r>
              <a:rPr dirty="0"/>
              <a:t>- Compliance deadline: e.g., 203</a:t>
            </a:r>
            <a:r>
              <a:rPr lang="en-US" dirty="0"/>
              <a:t>0</a:t>
            </a:r>
          </a:p>
          <a:p>
            <a:r>
              <a:rPr lang="en-US" dirty="0"/>
              <a:t>Penalties for non-compliance!!</a:t>
            </a:r>
          </a:p>
          <a:p>
            <a:endParaRPr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Benefits of Framing BPS as a KPI</a:t>
            </a:r>
          </a:p>
        </p:txBody>
      </p:sp>
      <p:sp>
        <p:nvSpPr>
          <p:cNvPr id="3" name="Content Placeholder 2"/>
          <p:cNvSpPr>
            <a:spLocks noGrp="1"/>
          </p:cNvSpPr>
          <p:nvPr>
            <p:ph idx="1"/>
          </p:nvPr>
        </p:nvSpPr>
        <p:spPr/>
        <p:txBody>
          <a:bodyPr/>
          <a:lstStyle/>
          <a:p>
            <a:r>
              <a:t>- Aligns stakeholders</a:t>
            </a:r>
          </a:p>
          <a:p>
            <a:r>
              <a:t>- Enables accountability</a:t>
            </a:r>
          </a:p>
          <a:p>
            <a:r>
              <a:t>- Scalable for ESG, PACE</a:t>
            </a:r>
          </a:p>
          <a:p>
            <a:r>
              <a:t>- Supports risk management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EA26C-9675-3C77-F7C8-9020BD3A8A91}"/>
              </a:ext>
            </a:extLst>
          </p:cNvPr>
          <p:cNvSpPr>
            <a:spLocks noGrp="1"/>
          </p:cNvSpPr>
          <p:nvPr>
            <p:ph type="title"/>
          </p:nvPr>
        </p:nvSpPr>
        <p:spPr/>
        <p:txBody>
          <a:bodyPr/>
          <a:lstStyle/>
          <a:p>
            <a:r>
              <a:rPr lang="en-US" dirty="0"/>
              <a:t>2) The Counterfactual Method</a:t>
            </a:r>
          </a:p>
        </p:txBody>
      </p:sp>
      <p:sp>
        <p:nvSpPr>
          <p:cNvPr id="3" name="Content Placeholder 2">
            <a:extLst>
              <a:ext uri="{FF2B5EF4-FFF2-40B4-BE49-F238E27FC236}">
                <a16:creationId xmlns:a16="http://schemas.microsoft.com/office/drawing/2014/main" id="{27F7AC82-DE66-BB6C-6D58-43042C916265}"/>
              </a:ext>
            </a:extLst>
          </p:cNvPr>
          <p:cNvSpPr>
            <a:spLocks noGrp="1"/>
          </p:cNvSpPr>
          <p:nvPr>
            <p:ph idx="1"/>
          </p:nvPr>
        </p:nvSpPr>
        <p:spPr>
          <a:xfrm>
            <a:off x="838200" y="1825625"/>
            <a:ext cx="10515600" cy="3940474"/>
          </a:xfrm>
        </p:spPr>
        <p:txBody>
          <a:bodyPr vert="horz" lIns="91440" tIns="45720" rIns="91440" bIns="45720" rtlCol="0" anchor="t">
            <a:normAutofit/>
          </a:bodyPr>
          <a:lstStyle/>
          <a:p>
            <a:pPr marL="0" indent="0">
              <a:lnSpc>
                <a:spcPct val="100000"/>
              </a:lnSpc>
              <a:spcBef>
                <a:spcPts val="1800"/>
              </a:spcBef>
              <a:buNone/>
            </a:pPr>
            <a:r>
              <a:rPr lang="en-US" sz="2400" b="1" dirty="0"/>
              <a:t>Most</a:t>
            </a:r>
            <a:r>
              <a:rPr lang="en-US" sz="2400" dirty="0"/>
              <a:t> M&amp;V techniques rely on an approach called the counterfactual method, which assesses “savings”. </a:t>
            </a:r>
          </a:p>
          <a:p>
            <a:pPr marL="0" indent="0">
              <a:lnSpc>
                <a:spcPct val="100000"/>
              </a:lnSpc>
              <a:spcBef>
                <a:spcPts val="1800"/>
              </a:spcBef>
              <a:buNone/>
            </a:pPr>
            <a:r>
              <a:rPr lang="en-US" sz="2400" dirty="0"/>
              <a:t>This approach is used to calculate the avoided energy use achieved by an energy efficiency project over time.</a:t>
            </a:r>
          </a:p>
          <a:p>
            <a:pPr marL="0" indent="0">
              <a:lnSpc>
                <a:spcPct val="100000"/>
              </a:lnSpc>
              <a:spcBef>
                <a:spcPts val="1800"/>
              </a:spcBef>
              <a:buNone/>
            </a:pPr>
            <a:r>
              <a:rPr lang="en-US" sz="2400" dirty="0"/>
              <a:t>This concept can be applied to other resources as well—for instance, water and gas.</a:t>
            </a:r>
          </a:p>
        </p:txBody>
      </p:sp>
      <p:pic>
        <p:nvPicPr>
          <p:cNvPr id="10" name="Graphic 9">
            <a:extLst>
              <a:ext uri="{FF2B5EF4-FFF2-40B4-BE49-F238E27FC236}">
                <a16:creationId xmlns:a16="http://schemas.microsoft.com/office/drawing/2014/main" id="{014AC039-BFED-72BE-5459-7333E06099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spTree>
    <p:extLst>
      <p:ext uri="{BB962C8B-B14F-4D97-AF65-F5344CB8AC3E}">
        <p14:creationId xmlns:p14="http://schemas.microsoft.com/office/powerpoint/2010/main" val="1680577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2FD8B98A-973F-974E-9FFC-4DDCA6B33CCC}"/>
              </a:ext>
            </a:extLst>
          </p:cNvPr>
          <p:cNvSpPr txBox="1"/>
          <p:nvPr/>
        </p:nvSpPr>
        <p:spPr>
          <a:xfrm>
            <a:off x="1652337" y="5255865"/>
            <a:ext cx="9701463" cy="342830"/>
          </a:xfrm>
          <a:prstGeom prst="rect">
            <a:avLst/>
          </a:prstGeom>
          <a:noFill/>
          <a:ln w="19050">
            <a:solidFill>
              <a:schemeClr val="bg2"/>
            </a:solidFill>
          </a:ln>
        </p:spPr>
        <p:txBody>
          <a:bodyPr wrap="square" lIns="91440" tIns="45720" rIns="91440" bIns="45720" rtlCol="0" anchor="t">
            <a:spAutoFit/>
          </a:bodyPr>
          <a:lstStyle/>
          <a:p>
            <a:pPr algn="ctr"/>
            <a:r>
              <a:rPr lang="en-US" sz="1600">
                <a:latin typeface="Verdana" panose="020B0604030504040204" pitchFamily="34" charset="0"/>
              </a:rPr>
              <a:t>Adjusted Baseline Model Minus Actual Performance Equals “Savings” (Avoided Energy Use)</a:t>
            </a:r>
          </a:p>
        </p:txBody>
      </p:sp>
      <p:pic>
        <p:nvPicPr>
          <p:cNvPr id="18" name="Graphic 17">
            <a:extLst>
              <a:ext uri="{FF2B5EF4-FFF2-40B4-BE49-F238E27FC236}">
                <a16:creationId xmlns:a16="http://schemas.microsoft.com/office/drawing/2014/main" id="{2D5C0D6D-2BB5-B2EF-AD79-FA71C0243D59}"/>
              </a:ext>
            </a:extLst>
          </p:cNvPr>
          <p:cNvPicPr>
            <a:picLocks noChangeAspect="1"/>
          </p:cNvPicPr>
          <p:nvPr/>
        </p:nvPicPr>
        <p:blipFill>
          <a:blip r:embed="rId3"/>
          <a:srcRect/>
          <a:stretch/>
        </p:blipFill>
        <p:spPr>
          <a:xfrm>
            <a:off x="185413" y="999354"/>
            <a:ext cx="11365830" cy="3320355"/>
          </a:xfrm>
          <a:prstGeom prst="rect">
            <a:avLst/>
          </a:prstGeom>
        </p:spPr>
      </p:pic>
      <p:pic>
        <p:nvPicPr>
          <p:cNvPr id="6" name="Graphic 5">
            <a:extLst>
              <a:ext uri="{FF2B5EF4-FFF2-40B4-BE49-F238E27FC236}">
                <a16:creationId xmlns:a16="http://schemas.microsoft.com/office/drawing/2014/main" id="{88556076-983E-43A0-BEDC-21DD538F87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4954"/>
            <a:ext cx="914400" cy="914400"/>
          </a:xfrm>
          <a:prstGeom prst="rect">
            <a:avLst/>
          </a:prstGeom>
        </p:spPr>
      </p:pic>
    </p:spTree>
    <p:extLst>
      <p:ext uri="{BB962C8B-B14F-4D97-AF65-F5344CB8AC3E}">
        <p14:creationId xmlns:p14="http://schemas.microsoft.com/office/powerpoint/2010/main" val="26992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F94A8-3A66-D18B-4090-517F20643904}"/>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D20DE172-BFDA-76B5-D1CC-0B0FBBFF0BDC}"/>
              </a:ext>
            </a:extLst>
          </p:cNvPr>
          <p:cNvSpPr txBox="1"/>
          <p:nvPr/>
        </p:nvSpPr>
        <p:spPr>
          <a:xfrm>
            <a:off x="1652337" y="5255865"/>
            <a:ext cx="9701463" cy="342830"/>
          </a:xfrm>
          <a:prstGeom prst="rect">
            <a:avLst/>
          </a:prstGeom>
          <a:noFill/>
          <a:ln w="19050">
            <a:solidFill>
              <a:schemeClr val="bg2"/>
            </a:solidFill>
          </a:ln>
        </p:spPr>
        <p:txBody>
          <a:bodyPr wrap="square" lIns="91440" tIns="45720" rIns="91440" bIns="45720" rtlCol="0" anchor="t">
            <a:spAutoFit/>
          </a:bodyPr>
          <a:lstStyle/>
          <a:p>
            <a:pPr algn="ctr"/>
            <a:r>
              <a:rPr lang="en-US" sz="1600">
                <a:latin typeface="Verdana" panose="020B0604030504040204" pitchFamily="34" charset="0"/>
              </a:rPr>
              <a:t>Adjusted Baseline Model Minus Actual Performance Equals “Savings” (Avoided Energy Use)</a:t>
            </a:r>
          </a:p>
        </p:txBody>
      </p:sp>
      <p:pic>
        <p:nvPicPr>
          <p:cNvPr id="6" name="Graphic 5">
            <a:extLst>
              <a:ext uri="{FF2B5EF4-FFF2-40B4-BE49-F238E27FC236}">
                <a16:creationId xmlns:a16="http://schemas.microsoft.com/office/drawing/2014/main" id="{4A878618-5883-5231-70CF-2EF60E18F0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pic>
        <p:nvPicPr>
          <p:cNvPr id="2" name="Picture 1">
            <a:extLst>
              <a:ext uri="{FF2B5EF4-FFF2-40B4-BE49-F238E27FC236}">
                <a16:creationId xmlns:a16="http://schemas.microsoft.com/office/drawing/2014/main" id="{E39E1B39-E8EE-6A9A-81A0-9FEBE8529E13}"/>
              </a:ext>
            </a:extLst>
          </p:cNvPr>
          <p:cNvPicPr>
            <a:picLocks noChangeAspect="1"/>
          </p:cNvPicPr>
          <p:nvPr/>
        </p:nvPicPr>
        <p:blipFill>
          <a:blip r:embed="rId4"/>
          <a:stretch>
            <a:fillRect/>
          </a:stretch>
        </p:blipFill>
        <p:spPr>
          <a:xfrm>
            <a:off x="2209800" y="866859"/>
            <a:ext cx="7772400" cy="5124281"/>
          </a:xfrm>
          <a:prstGeom prst="rect">
            <a:avLst/>
          </a:prstGeom>
        </p:spPr>
      </p:pic>
    </p:spTree>
    <p:extLst>
      <p:ext uri="{BB962C8B-B14F-4D97-AF65-F5344CB8AC3E}">
        <p14:creationId xmlns:p14="http://schemas.microsoft.com/office/powerpoint/2010/main" val="69022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F8E3B-8092-E276-75F1-A34080C5B474}"/>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2884132C-7D1A-DB50-D1FB-8E0BE373BC5B}"/>
              </a:ext>
            </a:extLst>
          </p:cNvPr>
          <p:cNvSpPr txBox="1"/>
          <p:nvPr/>
        </p:nvSpPr>
        <p:spPr>
          <a:xfrm>
            <a:off x="2209800" y="5588378"/>
            <a:ext cx="9701463" cy="342830"/>
          </a:xfrm>
          <a:prstGeom prst="rect">
            <a:avLst/>
          </a:prstGeom>
          <a:noFill/>
          <a:ln w="19050">
            <a:solidFill>
              <a:schemeClr val="bg2"/>
            </a:solidFill>
          </a:ln>
        </p:spPr>
        <p:txBody>
          <a:bodyPr wrap="square" lIns="91440" tIns="45720" rIns="91440" bIns="45720" rtlCol="0" anchor="t">
            <a:spAutoFit/>
          </a:bodyPr>
          <a:lstStyle/>
          <a:p>
            <a:pPr algn="ctr"/>
            <a:r>
              <a:rPr lang="en-US" sz="1600" dirty="0">
                <a:latin typeface="Verdana" panose="020B0604030504040204" pitchFamily="34" charset="0"/>
              </a:rPr>
              <a:t>Adjusted Baseline Model Minus Actual Performance</a:t>
            </a:r>
          </a:p>
        </p:txBody>
      </p:sp>
      <p:pic>
        <p:nvPicPr>
          <p:cNvPr id="6" name="Graphic 5">
            <a:extLst>
              <a:ext uri="{FF2B5EF4-FFF2-40B4-BE49-F238E27FC236}">
                <a16:creationId xmlns:a16="http://schemas.microsoft.com/office/drawing/2014/main" id="{44ECF4C7-75CD-384D-A38D-D6653DE5AAC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pic>
        <p:nvPicPr>
          <p:cNvPr id="3" name="Picture 2">
            <a:extLst>
              <a:ext uri="{FF2B5EF4-FFF2-40B4-BE49-F238E27FC236}">
                <a16:creationId xmlns:a16="http://schemas.microsoft.com/office/drawing/2014/main" id="{2F2D9582-8B01-D596-ABFB-8EAB8B89C791}"/>
              </a:ext>
            </a:extLst>
          </p:cNvPr>
          <p:cNvPicPr>
            <a:picLocks noChangeAspect="1"/>
          </p:cNvPicPr>
          <p:nvPr/>
        </p:nvPicPr>
        <p:blipFill>
          <a:blip r:embed="rId4"/>
          <a:stretch>
            <a:fillRect/>
          </a:stretch>
        </p:blipFill>
        <p:spPr>
          <a:xfrm>
            <a:off x="2209800" y="542154"/>
            <a:ext cx="7772400" cy="4793456"/>
          </a:xfrm>
          <a:prstGeom prst="rect">
            <a:avLst/>
          </a:prstGeom>
        </p:spPr>
      </p:pic>
    </p:spTree>
    <p:extLst>
      <p:ext uri="{BB962C8B-B14F-4D97-AF65-F5344CB8AC3E}">
        <p14:creationId xmlns:p14="http://schemas.microsoft.com/office/powerpoint/2010/main" val="1193853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EA26C-9675-3C77-F7C8-9020BD3A8A91}"/>
              </a:ext>
            </a:extLst>
          </p:cNvPr>
          <p:cNvSpPr>
            <a:spLocks noGrp="1"/>
          </p:cNvSpPr>
          <p:nvPr>
            <p:ph type="title"/>
          </p:nvPr>
        </p:nvSpPr>
        <p:spPr/>
        <p:txBody>
          <a:bodyPr/>
          <a:lstStyle/>
          <a:p>
            <a:r>
              <a:rPr lang="en-US"/>
              <a:t>The Counterfactual Method</a:t>
            </a:r>
          </a:p>
        </p:txBody>
      </p:sp>
      <p:sp>
        <p:nvSpPr>
          <p:cNvPr id="3" name="Content Placeholder 2">
            <a:extLst>
              <a:ext uri="{FF2B5EF4-FFF2-40B4-BE49-F238E27FC236}">
                <a16:creationId xmlns:a16="http://schemas.microsoft.com/office/drawing/2014/main" id="{27F7AC82-DE66-BB6C-6D58-43042C916265}"/>
              </a:ext>
            </a:extLst>
          </p:cNvPr>
          <p:cNvSpPr>
            <a:spLocks noGrp="1"/>
          </p:cNvSpPr>
          <p:nvPr>
            <p:ph idx="1"/>
          </p:nvPr>
        </p:nvSpPr>
        <p:spPr>
          <a:xfrm>
            <a:off x="838200" y="1480364"/>
            <a:ext cx="10515600" cy="1603375"/>
          </a:xfrm>
        </p:spPr>
        <p:txBody>
          <a:bodyPr>
            <a:normAutofit/>
          </a:bodyPr>
          <a:lstStyle/>
          <a:p>
            <a:pPr marL="0" indent="0">
              <a:lnSpc>
                <a:spcPct val="95000"/>
              </a:lnSpc>
              <a:buNone/>
            </a:pPr>
            <a:r>
              <a:rPr lang="en-US" sz="2400" b="1"/>
              <a:t>How to do it</a:t>
            </a:r>
            <a:r>
              <a:rPr lang="en-US" sz="2400"/>
              <a:t>: Compare actual post-implementation performance to “what would have happened” had the project not been implemented. Simple, right?</a:t>
            </a:r>
          </a:p>
        </p:txBody>
      </p:sp>
      <p:graphicFrame>
        <p:nvGraphicFramePr>
          <p:cNvPr id="13" name="Table 6">
            <a:extLst>
              <a:ext uri="{FF2B5EF4-FFF2-40B4-BE49-F238E27FC236}">
                <a16:creationId xmlns:a16="http://schemas.microsoft.com/office/drawing/2014/main" id="{AA8625CF-4D53-410B-02E3-AE20726A0B51}"/>
              </a:ext>
            </a:extLst>
          </p:cNvPr>
          <p:cNvGraphicFramePr>
            <a:graphicFrameLocks noGrp="1"/>
          </p:cNvGraphicFramePr>
          <p:nvPr>
            <p:extLst>
              <p:ext uri="{D42A27DB-BD31-4B8C-83A1-F6EECF244321}">
                <p14:modId xmlns:p14="http://schemas.microsoft.com/office/powerpoint/2010/main" val="1073498440"/>
              </p:ext>
            </p:extLst>
          </p:nvPr>
        </p:nvGraphicFramePr>
        <p:xfrm>
          <a:off x="838200" y="3059458"/>
          <a:ext cx="10515600" cy="2956560"/>
        </p:xfrm>
        <a:graphic>
          <a:graphicData uri="http://schemas.openxmlformats.org/drawingml/2006/table">
            <a:tbl>
              <a:tblPr firstRow="1">
                <a:tableStyleId>{BC89EF96-8CEA-46FF-86C4-4CE0E7609802}</a:tableStyleId>
              </a:tblPr>
              <a:tblGrid>
                <a:gridCol w="3578157">
                  <a:extLst>
                    <a:ext uri="{9D8B030D-6E8A-4147-A177-3AD203B41FA5}">
                      <a16:colId xmlns:a16="http://schemas.microsoft.com/office/drawing/2014/main" val="1490727722"/>
                    </a:ext>
                  </a:extLst>
                </a:gridCol>
                <a:gridCol w="3432243">
                  <a:extLst>
                    <a:ext uri="{9D8B030D-6E8A-4147-A177-3AD203B41FA5}">
                      <a16:colId xmlns:a16="http://schemas.microsoft.com/office/drawing/2014/main" val="2914370236"/>
                    </a:ext>
                  </a:extLst>
                </a:gridCol>
                <a:gridCol w="3505200">
                  <a:extLst>
                    <a:ext uri="{9D8B030D-6E8A-4147-A177-3AD203B41FA5}">
                      <a16:colId xmlns:a16="http://schemas.microsoft.com/office/drawing/2014/main" val="2557771401"/>
                    </a:ext>
                  </a:extLst>
                </a:gridCol>
              </a:tblGrid>
              <a:tr h="0">
                <a:tc>
                  <a:txBody>
                    <a:bodyPr/>
                    <a:lstStyle/>
                    <a:p>
                      <a:endParaRPr lang="en-US" sz="2000" b="1" i="0">
                        <a:latin typeface="Verdana" panose="020B0604030504040204" pitchFamily="34" charset="0"/>
                      </a:endParaRPr>
                    </a:p>
                  </a:txBody>
                  <a:tcPr marL="137160" marR="137160" marT="137160" marB="137160"/>
                </a:tc>
                <a:tc>
                  <a:txBody>
                    <a:bodyPr/>
                    <a:lstStyle/>
                    <a:p>
                      <a:r>
                        <a:rPr lang="en-US" sz="2000" b="1" i="0">
                          <a:latin typeface="Verdana" panose="020B0604030504040204" pitchFamily="34" charset="0"/>
                        </a:rPr>
                        <a:t>Pre-Implementation</a:t>
                      </a:r>
                    </a:p>
                  </a:txBody>
                  <a:tcPr marL="137160" marR="137160" marT="137160" marB="137160"/>
                </a:tc>
                <a:tc>
                  <a:txBody>
                    <a:bodyPr/>
                    <a:lstStyle/>
                    <a:p>
                      <a:r>
                        <a:rPr lang="en-US" sz="2000" b="1" i="0">
                          <a:latin typeface="Verdana" panose="020B0604030504040204" pitchFamily="34" charset="0"/>
                        </a:rPr>
                        <a:t>Post-Implementation</a:t>
                      </a:r>
                    </a:p>
                  </a:txBody>
                  <a:tcPr marL="137160" marR="137160" marT="137160" marB="137160"/>
                </a:tc>
                <a:extLst>
                  <a:ext uri="{0D108BD9-81ED-4DB2-BD59-A6C34878D82A}">
                    <a16:rowId xmlns:a16="http://schemas.microsoft.com/office/drawing/2014/main" val="4087174031"/>
                  </a:ext>
                </a:extLst>
              </a:tr>
              <a:tr h="1188720">
                <a:tc>
                  <a:txBody>
                    <a:bodyPr/>
                    <a:lstStyle/>
                    <a:p>
                      <a:r>
                        <a:rPr lang="en-US" sz="2000" b="1" i="0">
                          <a:latin typeface="Verdana" panose="020B0604030504040204" pitchFamily="34" charset="0"/>
                        </a:rPr>
                        <a:t>Factual</a:t>
                      </a:r>
                    </a:p>
                  </a:txBody>
                  <a:tcPr marL="137160" marR="137160" marT="137160" marB="137160"/>
                </a:tc>
                <a:tc>
                  <a:txBody>
                    <a:bodyPr/>
                    <a:lstStyle/>
                    <a:p>
                      <a:r>
                        <a:rPr lang="en-US" sz="2000" b="0" i="0" dirty="0">
                          <a:latin typeface="Verdana" panose="020B0604030504040204" pitchFamily="34" charset="0"/>
                        </a:rPr>
                        <a:t>Baseline (metered energy)</a:t>
                      </a:r>
                    </a:p>
                  </a:txBody>
                  <a:tcPr marL="137160" marR="137160" marT="137160" marB="137160"/>
                </a:tc>
                <a:tc>
                  <a:txBody>
                    <a:bodyPr/>
                    <a:lstStyle/>
                    <a:p>
                      <a:r>
                        <a:rPr lang="en-US" sz="2000" b="0" i="0">
                          <a:latin typeface="Verdana" panose="020B0604030504040204" pitchFamily="34" charset="0"/>
                        </a:rPr>
                        <a:t>Actual performance (measured during the reporting period)</a:t>
                      </a:r>
                    </a:p>
                  </a:txBody>
                  <a:tcPr marL="137160" marR="137160" marT="137160" marB="137160"/>
                </a:tc>
                <a:extLst>
                  <a:ext uri="{0D108BD9-81ED-4DB2-BD59-A6C34878D82A}">
                    <a16:rowId xmlns:a16="http://schemas.microsoft.com/office/drawing/2014/main" val="3126917628"/>
                  </a:ext>
                </a:extLst>
              </a:tr>
              <a:tr h="1188720">
                <a:tc>
                  <a:txBody>
                    <a:bodyPr/>
                    <a:lstStyle/>
                    <a:p>
                      <a:r>
                        <a:rPr lang="en-US" sz="2000" b="1" i="0" dirty="0">
                          <a:latin typeface="Verdana" panose="020B0604030504040204" pitchFamily="34" charset="0"/>
                        </a:rPr>
                        <a:t>Counterfactual</a:t>
                      </a:r>
                    </a:p>
                    <a:p>
                      <a:r>
                        <a:rPr lang="en-US" sz="2000" b="1" i="0" dirty="0">
                          <a:latin typeface="Verdana" panose="020B0604030504040204" pitchFamily="34" charset="0"/>
                        </a:rPr>
                        <a:t>(inference)</a:t>
                      </a:r>
                    </a:p>
                  </a:txBody>
                  <a:tcPr marL="137160" marR="137160" marT="137160" marB="137160"/>
                </a:tc>
                <a:tc>
                  <a:txBody>
                    <a:bodyPr/>
                    <a:lstStyle/>
                    <a:p>
                      <a:endParaRPr lang="en-US" sz="2000" b="0" i="0">
                        <a:latin typeface="Verdana" panose="020B0604030504040204" pitchFamily="34" charset="0"/>
                      </a:endParaRPr>
                    </a:p>
                  </a:txBody>
                  <a:tcPr marL="137160" marR="137160" marT="137160" marB="137160">
                    <a:pattFill prst="wdUpDiag">
                      <a:fgClr>
                        <a:srgbClr val="4A66AC"/>
                      </a:fgClr>
                      <a:bgClr>
                        <a:schemeClr val="bg1"/>
                      </a:bgClr>
                    </a:pattFill>
                  </a:tcPr>
                </a:tc>
                <a:tc>
                  <a:txBody>
                    <a:bodyPr/>
                    <a:lstStyle/>
                    <a:p>
                      <a:r>
                        <a:rPr lang="en-US" sz="2000" b="0" i="0" dirty="0">
                          <a:solidFill>
                            <a:srgbClr val="00B050"/>
                          </a:solidFill>
                          <a:latin typeface="Verdana" panose="020B0604030504040204" pitchFamily="34" charset="0"/>
                        </a:rPr>
                        <a:t>Adjusted baseline model</a:t>
                      </a:r>
                    </a:p>
                  </a:txBody>
                  <a:tcPr marL="137160" marR="137160" marT="137160" marB="137160"/>
                </a:tc>
                <a:extLst>
                  <a:ext uri="{0D108BD9-81ED-4DB2-BD59-A6C34878D82A}">
                    <a16:rowId xmlns:a16="http://schemas.microsoft.com/office/drawing/2014/main" val="1492195803"/>
                  </a:ext>
                </a:extLst>
              </a:tr>
            </a:tbl>
          </a:graphicData>
        </a:graphic>
      </p:graphicFrame>
      <p:pic>
        <p:nvPicPr>
          <p:cNvPr id="21" name="Graphic 20">
            <a:extLst>
              <a:ext uri="{FF2B5EF4-FFF2-40B4-BE49-F238E27FC236}">
                <a16:creationId xmlns:a16="http://schemas.microsoft.com/office/drawing/2014/main" id="{5B7E5481-81E4-80D5-FF8D-37AEA92D596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spTree>
    <p:extLst>
      <p:ext uri="{BB962C8B-B14F-4D97-AF65-F5344CB8AC3E}">
        <p14:creationId xmlns:p14="http://schemas.microsoft.com/office/powerpoint/2010/main" val="3855419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38321-0965-4D59-481D-B07230BEB641}"/>
              </a:ext>
            </a:extLst>
          </p:cNvPr>
          <p:cNvSpPr>
            <a:spLocks noGrp="1"/>
          </p:cNvSpPr>
          <p:nvPr>
            <p:ph type="title"/>
          </p:nvPr>
        </p:nvSpPr>
        <p:spPr/>
        <p:txBody>
          <a:bodyPr/>
          <a:lstStyle/>
          <a:p>
            <a:r>
              <a:rPr lang="en-US" dirty="0"/>
              <a:t>Counterfactuals – Two Types	</a:t>
            </a:r>
          </a:p>
        </p:txBody>
      </p:sp>
      <p:sp>
        <p:nvSpPr>
          <p:cNvPr id="4" name="Text Placeholder 3">
            <a:extLst>
              <a:ext uri="{FF2B5EF4-FFF2-40B4-BE49-F238E27FC236}">
                <a16:creationId xmlns:a16="http://schemas.microsoft.com/office/drawing/2014/main" id="{33DB5F7C-2AD2-ED0B-26E2-821E9A4551EB}"/>
              </a:ext>
            </a:extLst>
          </p:cNvPr>
          <p:cNvSpPr>
            <a:spLocks noGrp="1"/>
          </p:cNvSpPr>
          <p:nvPr>
            <p:ph type="body" idx="1"/>
          </p:nvPr>
        </p:nvSpPr>
        <p:spPr/>
        <p:txBody>
          <a:bodyPr/>
          <a:lstStyle/>
          <a:p>
            <a:r>
              <a:rPr lang="en-US" dirty="0"/>
              <a:t>Longitudinal</a:t>
            </a:r>
          </a:p>
        </p:txBody>
      </p:sp>
      <p:sp>
        <p:nvSpPr>
          <p:cNvPr id="5" name="Content Placeholder 4">
            <a:extLst>
              <a:ext uri="{FF2B5EF4-FFF2-40B4-BE49-F238E27FC236}">
                <a16:creationId xmlns:a16="http://schemas.microsoft.com/office/drawing/2014/main" id="{DC8E3227-A249-F68B-73B2-30D51E6062A2}"/>
              </a:ext>
            </a:extLst>
          </p:cNvPr>
          <p:cNvSpPr>
            <a:spLocks noGrp="1"/>
          </p:cNvSpPr>
          <p:nvPr>
            <p:ph sz="half" idx="2"/>
          </p:nvPr>
        </p:nvSpPr>
        <p:spPr/>
        <p:txBody>
          <a:bodyPr>
            <a:noAutofit/>
          </a:bodyPr>
          <a:lstStyle/>
          <a:p>
            <a:r>
              <a:rPr lang="en-US" sz="2000" dirty="0"/>
              <a:t>Longitudinal benchmarking compares the energy usage in a fixed period for a building, system, or component to a baseline period of the same length, to determine if performance has deteriorated or improved, to set goals for a building or system, or to monitor for unexpectedly high usage.</a:t>
            </a:r>
          </a:p>
        </p:txBody>
      </p:sp>
      <p:sp>
        <p:nvSpPr>
          <p:cNvPr id="6" name="Text Placeholder 5">
            <a:extLst>
              <a:ext uri="{FF2B5EF4-FFF2-40B4-BE49-F238E27FC236}">
                <a16:creationId xmlns:a16="http://schemas.microsoft.com/office/drawing/2014/main" id="{17875D4A-C69F-1E10-CB9C-B125DF754D1A}"/>
              </a:ext>
            </a:extLst>
          </p:cNvPr>
          <p:cNvSpPr>
            <a:spLocks noGrp="1"/>
          </p:cNvSpPr>
          <p:nvPr>
            <p:ph type="body" sz="quarter" idx="3"/>
          </p:nvPr>
        </p:nvSpPr>
        <p:spPr/>
        <p:txBody>
          <a:bodyPr/>
          <a:lstStyle/>
          <a:p>
            <a:r>
              <a:rPr lang="en-US"/>
              <a:t>Cross-Sectional</a:t>
            </a:r>
          </a:p>
        </p:txBody>
      </p:sp>
      <p:sp>
        <p:nvSpPr>
          <p:cNvPr id="7" name="Content Placeholder 6">
            <a:extLst>
              <a:ext uri="{FF2B5EF4-FFF2-40B4-BE49-F238E27FC236}">
                <a16:creationId xmlns:a16="http://schemas.microsoft.com/office/drawing/2014/main" id="{D8AEBC63-D9B5-8590-0A78-076E5EA3B2DA}"/>
              </a:ext>
            </a:extLst>
          </p:cNvPr>
          <p:cNvSpPr>
            <a:spLocks noGrp="1"/>
          </p:cNvSpPr>
          <p:nvPr>
            <p:ph sz="quarter" idx="4"/>
          </p:nvPr>
        </p:nvSpPr>
        <p:spPr/>
        <p:txBody>
          <a:bodyPr>
            <a:normAutofit/>
          </a:bodyPr>
          <a:lstStyle/>
          <a:p>
            <a:r>
              <a:rPr lang="en-US" sz="2000" dirty="0"/>
              <a:t>Cross-sectional benchmarking is the process of comparing a building’s energy efficiency relative to a peer group. It is the first step to determine if a building has the potential to improve its efficiency. It is usually done at the whole-building level, to assess a building’s overall energy efficiency.</a:t>
            </a:r>
          </a:p>
        </p:txBody>
      </p:sp>
      <p:sp>
        <p:nvSpPr>
          <p:cNvPr id="9" name="TextBox 8">
            <a:extLst>
              <a:ext uri="{FF2B5EF4-FFF2-40B4-BE49-F238E27FC236}">
                <a16:creationId xmlns:a16="http://schemas.microsoft.com/office/drawing/2014/main" id="{960EE4C2-3F0E-6246-343E-BB6BAFB38D83}"/>
              </a:ext>
            </a:extLst>
          </p:cNvPr>
          <p:cNvSpPr txBox="1"/>
          <p:nvPr/>
        </p:nvSpPr>
        <p:spPr>
          <a:xfrm>
            <a:off x="3995803" y="5834018"/>
            <a:ext cx="7356409" cy="584775"/>
          </a:xfrm>
          <a:prstGeom prst="rect">
            <a:avLst/>
          </a:prstGeom>
          <a:noFill/>
        </p:spPr>
        <p:txBody>
          <a:bodyPr wrap="square">
            <a:spAutoFit/>
          </a:bodyPr>
          <a:lstStyle/>
          <a:p>
            <a:pPr algn="r"/>
            <a:r>
              <a:rPr lang="en-US" sz="1600" b="1" dirty="0">
                <a:latin typeface="Verdana" panose="020B0604030504040204" pitchFamily="34" charset="0"/>
                <a:ea typeface="Verdana" panose="020B0604030504040204" pitchFamily="34" charset="0"/>
                <a:cs typeface="Verdana" panose="020B0604030504040204" pitchFamily="34" charset="0"/>
              </a:rPr>
              <a:t>Source</a:t>
            </a:r>
            <a:r>
              <a:rPr lang="en-US" sz="1600" dirty="0">
                <a:latin typeface="Verdana" panose="020B0604030504040204" pitchFamily="34" charset="0"/>
                <a:ea typeface="Verdana" panose="020B0604030504040204" pitchFamily="34" charset="0"/>
                <a:cs typeface="Verdana" panose="020B0604030504040204" pitchFamily="34" charset="0"/>
              </a:rPr>
              <a:t>: Lawrence Berkeley National Laboratory, </a:t>
            </a:r>
            <a:r>
              <a:rPr lang="en-US" sz="1600" i="1" dirty="0">
                <a:latin typeface="Verdana" panose="020B0604030504040204" pitchFamily="34" charset="0"/>
                <a:ea typeface="Verdana" panose="020B0604030504040204" pitchFamily="34" charset="0"/>
                <a:cs typeface="Verdana" panose="020B0604030504040204" pitchFamily="34" charset="0"/>
              </a:rPr>
              <a:t>Energy Information Handbook: Applications for Energy-Efficient Building Operations</a:t>
            </a:r>
          </a:p>
        </p:txBody>
      </p:sp>
      <p:pic>
        <p:nvPicPr>
          <p:cNvPr id="10" name="Graphic 9">
            <a:extLst>
              <a:ext uri="{FF2B5EF4-FFF2-40B4-BE49-F238E27FC236}">
                <a16:creationId xmlns:a16="http://schemas.microsoft.com/office/drawing/2014/main" id="{754BE4BD-0329-E1C9-28C8-7387BA95BBD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spTree>
    <p:extLst>
      <p:ext uri="{BB962C8B-B14F-4D97-AF65-F5344CB8AC3E}">
        <p14:creationId xmlns:p14="http://schemas.microsoft.com/office/powerpoint/2010/main" val="1092333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8FE888-E1AF-5D15-3090-C48A6AD5F10E}"/>
              </a:ext>
            </a:extLst>
          </p:cNvPr>
          <p:cNvSpPr>
            <a:spLocks noGrp="1"/>
          </p:cNvSpPr>
          <p:nvPr>
            <p:ph type="title"/>
          </p:nvPr>
        </p:nvSpPr>
        <p:spPr/>
        <p:txBody>
          <a:bodyPr/>
          <a:lstStyle/>
          <a:p>
            <a:r>
              <a:rPr lang="en-US"/>
              <a:t>Modeling</a:t>
            </a:r>
          </a:p>
        </p:txBody>
      </p:sp>
      <p:sp>
        <p:nvSpPr>
          <p:cNvPr id="5" name="Content Placeholder 4">
            <a:extLst>
              <a:ext uri="{FF2B5EF4-FFF2-40B4-BE49-F238E27FC236}">
                <a16:creationId xmlns:a16="http://schemas.microsoft.com/office/drawing/2014/main" id="{6FB06ABD-26AE-D657-08E4-19D139351B1A}"/>
              </a:ext>
            </a:extLst>
          </p:cNvPr>
          <p:cNvSpPr>
            <a:spLocks noGrp="1"/>
          </p:cNvSpPr>
          <p:nvPr>
            <p:ph idx="1"/>
          </p:nvPr>
        </p:nvSpPr>
        <p:spPr/>
        <p:txBody>
          <a:bodyPr vert="horz" lIns="91440" tIns="45720" rIns="91440" bIns="45720" rtlCol="0" anchor="t">
            <a:normAutofit/>
          </a:bodyPr>
          <a:lstStyle/>
          <a:p>
            <a:pPr marL="0" indent="0">
              <a:lnSpc>
                <a:spcPct val="100000"/>
              </a:lnSpc>
              <a:spcBef>
                <a:spcPts val="1800"/>
              </a:spcBef>
              <a:buNone/>
            </a:pPr>
            <a:r>
              <a:rPr lang="en-US" sz="2200" dirty="0"/>
              <a:t>The counterfactual method presupposes a means of comparing expected performance to a project’s actual performance. In other words, the CMVP must construct a </a:t>
            </a:r>
            <a:r>
              <a:rPr lang="en-US" sz="2200" b="1" dirty="0">
                <a:solidFill>
                  <a:schemeClr val="bg2">
                    <a:lumMod val="50000"/>
                  </a:schemeClr>
                </a:solidFill>
              </a:rPr>
              <a:t>model.</a:t>
            </a:r>
            <a:endParaRPr lang="en-US" sz="2200" b="1" dirty="0">
              <a:solidFill>
                <a:schemeClr val="bg2">
                  <a:lumMod val="50000"/>
                </a:schemeClr>
              </a:solidFill>
              <a:cs typeface="Semplicita Pro"/>
            </a:endParaRPr>
          </a:p>
          <a:p>
            <a:pPr marL="0" indent="0">
              <a:lnSpc>
                <a:spcPct val="100000"/>
              </a:lnSpc>
              <a:spcBef>
                <a:spcPts val="1800"/>
              </a:spcBef>
              <a:buNone/>
            </a:pPr>
            <a:r>
              <a:rPr lang="en-US" sz="2200" dirty="0"/>
              <a:t>Creating a baseline model is just as important as measuring actual energy use before and after a project’s implementation.</a:t>
            </a:r>
            <a:endParaRPr lang="en-US" sz="2200" dirty="0">
              <a:cs typeface="Semplicita Pro"/>
            </a:endParaRPr>
          </a:p>
          <a:p>
            <a:pPr marL="0" indent="0">
              <a:lnSpc>
                <a:spcPct val="100000"/>
              </a:lnSpc>
              <a:spcBef>
                <a:spcPts val="1800"/>
              </a:spcBef>
              <a:buNone/>
            </a:pPr>
            <a:r>
              <a:rPr lang="en-US" sz="2200" dirty="0"/>
              <a:t>Without a baseline model, a CMVP can’t calculate avoided energy use.</a:t>
            </a:r>
          </a:p>
          <a:p>
            <a:pPr marL="0" indent="0">
              <a:lnSpc>
                <a:spcPct val="100000"/>
              </a:lnSpc>
              <a:spcBef>
                <a:spcPts val="1800"/>
              </a:spcBef>
              <a:buNone/>
            </a:pPr>
            <a:r>
              <a:rPr lang="en-US" sz="2200" dirty="0">
                <a:cs typeface="Semplicita Pro"/>
              </a:rPr>
              <a:t>Another word for model is “inference”. </a:t>
            </a:r>
          </a:p>
        </p:txBody>
      </p:sp>
      <p:pic>
        <p:nvPicPr>
          <p:cNvPr id="9" name="Graphic 8">
            <a:extLst>
              <a:ext uri="{FF2B5EF4-FFF2-40B4-BE49-F238E27FC236}">
                <a16:creationId xmlns:a16="http://schemas.microsoft.com/office/drawing/2014/main" id="{CE2B718B-3A27-EE8E-3B25-D999762B12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sp>
        <p:nvSpPr>
          <p:cNvPr id="6" name="TextBox 5">
            <a:extLst>
              <a:ext uri="{FF2B5EF4-FFF2-40B4-BE49-F238E27FC236}">
                <a16:creationId xmlns:a16="http://schemas.microsoft.com/office/drawing/2014/main" id="{3F3E0F7C-EACA-0104-1889-FF1EC185953B}"/>
              </a:ext>
            </a:extLst>
          </p:cNvPr>
          <p:cNvSpPr txBox="1"/>
          <p:nvPr/>
        </p:nvSpPr>
        <p:spPr>
          <a:xfrm>
            <a:off x="5140036" y="5562977"/>
            <a:ext cx="6213764" cy="748923"/>
          </a:xfrm>
          <a:prstGeom prst="rect">
            <a:avLst/>
          </a:prstGeom>
          <a:noFill/>
        </p:spPr>
        <p:txBody>
          <a:bodyPr wrap="square">
            <a:spAutoFit/>
          </a:bodyPr>
          <a:lstStyle/>
          <a:p>
            <a:pPr algn="r">
              <a:spcAft>
                <a:spcPts val="800"/>
              </a:spcAft>
            </a:pPr>
            <a:r>
              <a:rPr lang="en-US" sz="2000" i="1" dirty="0">
                <a:latin typeface="Verdana" panose="020B0604030504040204" pitchFamily="34" charset="0"/>
                <a:ea typeface="Verdana" panose="020B0604030504040204" pitchFamily="34" charset="0"/>
                <a:cs typeface="Verdana" panose="020B0604030504040204" pitchFamily="34" charset="0"/>
              </a:rPr>
              <a:t>All models are wrong, but some are useful.</a:t>
            </a:r>
          </a:p>
          <a:p>
            <a:pPr algn="r">
              <a:spcAft>
                <a:spcPts val="800"/>
              </a:spcAft>
            </a:pPr>
            <a:r>
              <a:rPr lang="en-US" sz="1600" dirty="0">
                <a:latin typeface="Verdana" panose="020B0604030504040204" pitchFamily="34" charset="0"/>
                <a:ea typeface="Verdana" panose="020B0604030504040204" pitchFamily="34" charset="0"/>
                <a:cs typeface="Verdana" panose="020B0604030504040204" pitchFamily="34" charset="0"/>
              </a:rPr>
              <a:t>—George Box, statistician</a:t>
            </a:r>
          </a:p>
        </p:txBody>
      </p:sp>
    </p:spTree>
    <p:extLst>
      <p:ext uri="{BB962C8B-B14F-4D97-AF65-F5344CB8AC3E}">
        <p14:creationId xmlns:p14="http://schemas.microsoft.com/office/powerpoint/2010/main" val="165525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679BE-63C3-24CD-531F-35B9D5B0F0F0}"/>
              </a:ext>
            </a:extLst>
          </p:cNvPr>
          <p:cNvSpPr>
            <a:spLocks noGrp="1"/>
          </p:cNvSpPr>
          <p:nvPr>
            <p:ph type="title"/>
          </p:nvPr>
        </p:nvSpPr>
        <p:spPr>
          <a:xfrm>
            <a:off x="838200" y="365125"/>
            <a:ext cx="10515600" cy="1325563"/>
          </a:xfrm>
        </p:spPr>
        <p:txBody>
          <a:bodyPr vert="horz" lIns="91440" tIns="45720" rIns="91440" bIns="45720" rtlCol="0" anchor="ctr">
            <a:normAutofit/>
          </a:bodyPr>
          <a:lstStyle/>
          <a:p>
            <a:r>
              <a:rPr lang="en-US" b="1" i="0" kern="1200">
                <a:latin typeface="Verdana" panose="020B0604030504040204" pitchFamily="34" charset="0"/>
                <a:ea typeface="+mj-ea"/>
                <a:cs typeface="+mj-cs"/>
              </a:rPr>
              <a:t>Terminology - </a:t>
            </a:r>
          </a:p>
        </p:txBody>
      </p:sp>
      <p:sp>
        <p:nvSpPr>
          <p:cNvPr id="5" name="TextBox 4">
            <a:extLst>
              <a:ext uri="{FF2B5EF4-FFF2-40B4-BE49-F238E27FC236}">
                <a16:creationId xmlns:a16="http://schemas.microsoft.com/office/drawing/2014/main" id="{3BD233E3-7F0F-17C7-2AC5-64BC2227AD20}"/>
              </a:ext>
            </a:extLst>
          </p:cNvPr>
          <p:cNvSpPr txBox="1"/>
          <p:nvPr/>
        </p:nvSpPr>
        <p:spPr>
          <a:xfrm>
            <a:off x="838200" y="1825625"/>
            <a:ext cx="5181600" cy="4351338"/>
          </a:xfrm>
          <a:prstGeom prst="rect">
            <a:avLst/>
          </a:prstGeom>
        </p:spPr>
        <p:txBody>
          <a:bodyPr vert="horz" lIns="91440" tIns="45720" rIns="91440" bIns="45720" rtlCol="0">
            <a:normAutofit/>
          </a:bodyPr>
          <a:lstStyle/>
          <a:p>
            <a:pPr algn="ctr">
              <a:spcBef>
                <a:spcPts val="1600"/>
              </a:spcBef>
              <a:buFont typeface="Arial" panose="020B0604020202020204" pitchFamily="34" charset="0"/>
            </a:pPr>
            <a:r>
              <a:rPr lang="en-US" sz="2800" b="1" dirty="0">
                <a:latin typeface="Verdana" panose="020B0604030504040204" pitchFamily="34" charset="0"/>
              </a:rPr>
              <a:t>Models</a:t>
            </a:r>
            <a:r>
              <a:rPr lang="en-US" sz="2800" dirty="0">
                <a:latin typeface="Verdana" panose="020B0604030504040204" pitchFamily="34" charset="0"/>
              </a:rPr>
              <a:t> </a:t>
            </a:r>
          </a:p>
          <a:p>
            <a:pPr>
              <a:spcBef>
                <a:spcPts val="1600"/>
              </a:spcBef>
              <a:buFont typeface="Arial" panose="020B0604020202020204" pitchFamily="34" charset="0"/>
            </a:pPr>
            <a:endParaRPr lang="en-US" sz="2800" dirty="0">
              <a:latin typeface="Verdana" panose="020B0604030504040204" pitchFamily="34" charset="0"/>
            </a:endParaRPr>
          </a:p>
          <a:p>
            <a:pPr marL="457200" indent="-457200">
              <a:spcBef>
                <a:spcPts val="1600"/>
              </a:spcBef>
              <a:buFont typeface="Arial" panose="020B0604020202020204" pitchFamily="34" charset="0"/>
              <a:buChar char="•"/>
            </a:pPr>
            <a:r>
              <a:rPr lang="en-US" sz="2800" dirty="0">
                <a:latin typeface="Verdana" panose="020B0604030504040204" pitchFamily="34" charset="0"/>
              </a:rPr>
              <a:t>Theoretical </a:t>
            </a:r>
          </a:p>
          <a:p>
            <a:pPr marL="457200" indent="-457200">
              <a:spcBef>
                <a:spcPts val="1600"/>
              </a:spcBef>
              <a:buFont typeface="Arial" panose="020B0604020202020204" pitchFamily="34" charset="0"/>
              <a:buChar char="•"/>
            </a:pPr>
            <a:r>
              <a:rPr lang="en-US" sz="2800" dirty="0">
                <a:latin typeface="Verdana" panose="020B0604030504040204" pitchFamily="34" charset="0"/>
              </a:rPr>
              <a:t>Structural </a:t>
            </a:r>
          </a:p>
          <a:p>
            <a:pPr marL="457200" indent="-457200">
              <a:spcBef>
                <a:spcPts val="1600"/>
              </a:spcBef>
              <a:buFont typeface="Arial" panose="020B0604020202020204" pitchFamily="34" charset="0"/>
              <a:buChar char="•"/>
            </a:pPr>
            <a:r>
              <a:rPr lang="en-US" sz="2800" dirty="0">
                <a:latin typeface="Verdana" panose="020B0604030504040204" pitchFamily="34" charset="0"/>
              </a:rPr>
              <a:t>Implementation </a:t>
            </a:r>
          </a:p>
          <a:p>
            <a:pPr>
              <a:spcBef>
                <a:spcPts val="1600"/>
              </a:spcBef>
              <a:buFont typeface="Arial" panose="020B0604020202020204" pitchFamily="34" charset="0"/>
            </a:pPr>
            <a:endParaRPr lang="en-US" sz="2800" dirty="0">
              <a:latin typeface="Verdana" panose="020B0604030504040204" pitchFamily="34" charset="0"/>
            </a:endParaRPr>
          </a:p>
        </p:txBody>
      </p:sp>
      <p:graphicFrame>
        <p:nvGraphicFramePr>
          <p:cNvPr id="18" name="Content Placeholder 2">
            <a:extLst>
              <a:ext uri="{FF2B5EF4-FFF2-40B4-BE49-F238E27FC236}">
                <a16:creationId xmlns:a16="http://schemas.microsoft.com/office/drawing/2014/main" id="{CDAC1451-64FF-477A-52A5-286E70F6A52C}"/>
              </a:ext>
            </a:extLst>
          </p:cNvPr>
          <p:cNvGraphicFramePr>
            <a:graphicFrameLocks noGrp="1"/>
          </p:cNvGraphicFramePr>
          <p:nvPr>
            <p:ph sz="half" idx="2"/>
            <p:extLst>
              <p:ext uri="{D42A27DB-BD31-4B8C-83A1-F6EECF244321}">
                <p14:modId xmlns:p14="http://schemas.microsoft.com/office/powerpoint/2010/main" val="4106904065"/>
              </p:ext>
            </p:extLst>
          </p:nvPr>
        </p:nvGraphicFramePr>
        <p:xfrm>
          <a:off x="6172200"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4781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822235" y="231789"/>
            <a:ext cx="8547533" cy="584775"/>
          </a:xfrm>
          <a:prstGeom prst="rect">
            <a:avLst/>
          </a:prstGeom>
          <a:noFill/>
        </p:spPr>
        <p:txBody>
          <a:bodyPr wrap="none">
            <a:spAutoFit/>
          </a:bodyPr>
          <a:lstStyle/>
          <a:p>
            <a:pPr algn="ctr">
              <a:defRPr sz="3200" b="1">
                <a:solidFill>
                  <a:srgbClr val="003366"/>
                </a:solidFill>
              </a:defRPr>
            </a:pPr>
            <a:r>
              <a:rPr sz="3200"/>
              <a:t>Terminology - Models, Approaches, and Methods</a:t>
            </a:r>
          </a:p>
        </p:txBody>
      </p:sp>
      <p:sp>
        <p:nvSpPr>
          <p:cNvPr id="4" name="TextBox 3"/>
          <p:cNvSpPr txBox="1"/>
          <p:nvPr/>
        </p:nvSpPr>
        <p:spPr>
          <a:xfrm>
            <a:off x="1981200" y="1129179"/>
            <a:ext cx="8229600" cy="292388"/>
          </a:xfrm>
          <a:prstGeom prst="rect">
            <a:avLst/>
          </a:prstGeom>
          <a:noFill/>
        </p:spPr>
        <p:txBody>
          <a:bodyPr wrap="square">
            <a:spAutoFit/>
          </a:bodyPr>
          <a:lstStyle/>
          <a:p>
            <a:pPr algn="ctr">
              <a:defRPr sz="1300" b="0">
                <a:solidFill>
                  <a:srgbClr val="646464"/>
                </a:solidFill>
              </a:defRPr>
            </a:pPr>
            <a:r>
              <a:rPr sz="1300"/>
              <a:t>Different M&amp;V protocols use different terms - understanding the hierarchy helps you navigate the literature</a:t>
            </a:r>
          </a:p>
        </p:txBody>
      </p:sp>
      <p:sp>
        <p:nvSpPr>
          <p:cNvPr id="5" name="Rectangle 4"/>
          <p:cNvSpPr/>
          <p:nvPr/>
        </p:nvSpPr>
        <p:spPr>
          <a:xfrm>
            <a:off x="2438400" y="2011680"/>
            <a:ext cx="3200400" cy="731520"/>
          </a:xfrm>
          <a:prstGeom prst="rect">
            <a:avLst/>
          </a:prstGeom>
          <a:solidFill>
            <a:srgbClr val="0070C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rPr sz="1600"/>
              <a:t>Model Types</a:t>
            </a:r>
          </a:p>
        </p:txBody>
      </p:sp>
      <p:sp>
        <p:nvSpPr>
          <p:cNvPr id="6" name="Rectangle 5"/>
          <p:cNvSpPr/>
          <p:nvPr/>
        </p:nvSpPr>
        <p:spPr>
          <a:xfrm>
            <a:off x="2438400" y="2834640"/>
            <a:ext cx="3200400" cy="3200400"/>
          </a:xfrm>
          <a:prstGeom prst="rect">
            <a:avLst/>
          </a:prstGeom>
          <a:solidFill>
            <a:srgbClr val="C8DCFF"/>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003366"/>
                </a:solidFill>
              </a:defRPr>
            </a:pPr>
            <a:r>
              <a:rPr sz="2200" dirty="0"/>
              <a:t>Theoretical</a:t>
            </a:r>
          </a:p>
          <a:p>
            <a:pPr algn="ctr">
              <a:defRPr sz="2200" b="1">
                <a:solidFill>
                  <a:srgbClr val="003366"/>
                </a:solidFill>
              </a:defRPr>
            </a:pPr>
            <a:endParaRPr sz="2200" dirty="0"/>
          </a:p>
          <a:p>
            <a:pPr algn="ctr">
              <a:defRPr sz="2200" b="1">
                <a:solidFill>
                  <a:srgbClr val="003366"/>
                </a:solidFill>
              </a:defRPr>
            </a:pPr>
            <a:r>
              <a:rPr sz="2200" dirty="0"/>
              <a:t>Structural</a:t>
            </a:r>
          </a:p>
          <a:p>
            <a:pPr algn="ctr">
              <a:defRPr sz="2200" b="1">
                <a:solidFill>
                  <a:srgbClr val="003366"/>
                </a:solidFill>
              </a:defRPr>
            </a:pPr>
            <a:endParaRPr sz="2200" dirty="0"/>
          </a:p>
          <a:p>
            <a:pPr algn="ctr">
              <a:defRPr sz="2200" b="1">
                <a:solidFill>
                  <a:srgbClr val="003366"/>
                </a:solidFill>
              </a:defRPr>
            </a:pPr>
            <a:r>
              <a:rPr sz="2200" dirty="0"/>
              <a:t>Implementation</a:t>
            </a:r>
          </a:p>
        </p:txBody>
      </p:sp>
      <p:sp>
        <p:nvSpPr>
          <p:cNvPr id="7" name="Rectangle 6"/>
          <p:cNvSpPr/>
          <p:nvPr/>
        </p:nvSpPr>
        <p:spPr>
          <a:xfrm>
            <a:off x="6553200" y="2011680"/>
            <a:ext cx="3200400" cy="731520"/>
          </a:xfrm>
          <a:prstGeom prst="rect">
            <a:avLst/>
          </a:prstGeom>
          <a:solidFill>
            <a:srgbClr val="0070C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600" b="1">
                <a:solidFill>
                  <a:srgbClr val="FFFFFF"/>
                </a:solidFill>
              </a:defRPr>
            </a:pPr>
            <a:r>
              <a:rPr sz="1600"/>
              <a:t>Terminology Hierarchy</a:t>
            </a:r>
          </a:p>
        </p:txBody>
      </p:sp>
      <p:sp>
        <p:nvSpPr>
          <p:cNvPr id="8" name="Rectangle 7"/>
          <p:cNvSpPr/>
          <p:nvPr/>
        </p:nvSpPr>
        <p:spPr>
          <a:xfrm>
            <a:off x="6553200" y="2834640"/>
            <a:ext cx="3200400" cy="3200400"/>
          </a:xfrm>
          <a:prstGeom prst="rect">
            <a:avLst/>
          </a:prstGeom>
          <a:solidFill>
            <a:srgbClr val="C8DCFF"/>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2200" b="1">
                <a:solidFill>
                  <a:srgbClr val="003366"/>
                </a:solidFill>
              </a:defRPr>
            </a:pPr>
            <a:r>
              <a:rPr sz="2200" dirty="0"/>
              <a:t>Approach</a:t>
            </a:r>
          </a:p>
          <a:p>
            <a:pPr algn="ctr">
              <a:defRPr sz="2200" b="1">
                <a:solidFill>
                  <a:srgbClr val="003366"/>
                </a:solidFill>
              </a:defRPr>
            </a:pPr>
            <a:r>
              <a:rPr sz="2200" dirty="0"/>
              <a:t>Method</a:t>
            </a:r>
          </a:p>
          <a:p>
            <a:pPr algn="ctr">
              <a:defRPr sz="2200" b="1">
                <a:solidFill>
                  <a:srgbClr val="003366"/>
                </a:solidFill>
              </a:defRPr>
            </a:pPr>
            <a:r>
              <a:rPr sz="2200" dirty="0"/>
              <a:t>Technique</a:t>
            </a:r>
          </a:p>
          <a:p>
            <a:pPr algn="ctr">
              <a:defRPr sz="2200" b="1">
                <a:solidFill>
                  <a:srgbClr val="003366"/>
                </a:solidFill>
              </a:defRPr>
            </a:pPr>
            <a:r>
              <a:rPr sz="2200" dirty="0"/>
              <a:t>Process</a:t>
            </a:r>
          </a:p>
          <a:p>
            <a:pPr algn="ctr">
              <a:defRPr sz="2200" b="1">
                <a:solidFill>
                  <a:srgbClr val="003366"/>
                </a:solidFill>
              </a:defRPr>
            </a:pPr>
            <a:r>
              <a:rPr sz="2200" dirty="0"/>
              <a:t>Tool</a:t>
            </a:r>
          </a:p>
          <a:p>
            <a:pPr algn="ctr">
              <a:defRPr sz="2200" b="1">
                <a:solidFill>
                  <a:srgbClr val="003366"/>
                </a:solidFill>
              </a:defRPr>
            </a:pPr>
            <a:r>
              <a:rPr sz="2200" dirty="0"/>
              <a:t>Option</a:t>
            </a:r>
          </a:p>
        </p:txBody>
      </p:sp>
      <p:sp>
        <p:nvSpPr>
          <p:cNvPr id="9" name="TextBox 8"/>
          <p:cNvSpPr txBox="1"/>
          <p:nvPr/>
        </p:nvSpPr>
        <p:spPr>
          <a:xfrm>
            <a:off x="1981200" y="6217921"/>
            <a:ext cx="8229600" cy="430887"/>
          </a:xfrm>
          <a:prstGeom prst="rect">
            <a:avLst/>
          </a:prstGeom>
          <a:noFill/>
        </p:spPr>
        <p:txBody>
          <a:bodyPr wrap="square">
            <a:spAutoFit/>
          </a:bodyPr>
          <a:lstStyle/>
          <a:p>
            <a:pPr algn="ctr">
              <a:defRPr sz="1100" b="1">
                <a:solidFill>
                  <a:srgbClr val="003366"/>
                </a:solidFill>
              </a:defRPr>
            </a:pPr>
            <a:r>
              <a:rPr sz="1100"/>
              <a:t>Note: IPMVP uses 'Options' | FEMP uses 'Approaches' | ASHRAE uses 'Methods'</a:t>
            </a:r>
          </a:p>
          <a:p>
            <a:pPr algn="ctr">
              <a:defRPr sz="1100" b="1">
                <a:solidFill>
                  <a:srgbClr val="003366"/>
                </a:solidFill>
              </a:defRPr>
            </a:pPr>
            <a:r>
              <a:rPr sz="1100"/>
              <a:t>Same concepts, different terminology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20029E-A476-C245-310B-7AC7BBB437D9}"/>
              </a:ext>
            </a:extLst>
          </p:cNvPr>
          <p:cNvSpPr>
            <a:spLocks noGrp="1"/>
          </p:cNvSpPr>
          <p:nvPr>
            <p:ph type="title"/>
          </p:nvPr>
        </p:nvSpPr>
        <p:spPr/>
        <p:txBody>
          <a:bodyPr/>
          <a:lstStyle/>
          <a:p>
            <a:r>
              <a:rPr lang="en-US"/>
              <a:t>Spherical Cow</a:t>
            </a:r>
          </a:p>
        </p:txBody>
      </p:sp>
      <p:sp>
        <p:nvSpPr>
          <p:cNvPr id="7" name="Content Placeholder 6">
            <a:extLst>
              <a:ext uri="{FF2B5EF4-FFF2-40B4-BE49-F238E27FC236}">
                <a16:creationId xmlns:a16="http://schemas.microsoft.com/office/drawing/2014/main" id="{781D06B6-3334-7C8E-8C80-CF21D36DFABC}"/>
              </a:ext>
            </a:extLst>
          </p:cNvPr>
          <p:cNvSpPr>
            <a:spLocks noGrp="1"/>
          </p:cNvSpPr>
          <p:nvPr>
            <p:ph sz="half" idx="1"/>
          </p:nvPr>
        </p:nvSpPr>
        <p:spPr>
          <a:xfrm>
            <a:off x="838200" y="1825625"/>
            <a:ext cx="5726723" cy="4351338"/>
          </a:xfrm>
        </p:spPr>
        <p:txBody>
          <a:bodyPr>
            <a:normAutofit fontScale="70000" lnSpcReduction="20000"/>
          </a:bodyPr>
          <a:lstStyle/>
          <a:p>
            <a:pPr>
              <a:lnSpc>
                <a:spcPct val="120000"/>
              </a:lnSpc>
            </a:pPr>
            <a:r>
              <a:rPr lang="en-US"/>
              <a:t>A dairy farm’s milk production was low, so the farmer asked the local university for help. A multidisciplinary team of professors was assembled, headed by a theoretical physicist, and weeks of intensive on-site investigation took place. The scholars then returned to the university, notebooks filled with data, where the task of writing the report was left to the team leader. Shortly afterward, the physicist returned to the farm, saying to the farmer, “I have the solution—but it works only for spherical cows in a vacuum.”</a:t>
            </a:r>
          </a:p>
        </p:txBody>
      </p:sp>
      <p:pic>
        <p:nvPicPr>
          <p:cNvPr id="10" name="Content Placeholder 9">
            <a:extLst>
              <a:ext uri="{FF2B5EF4-FFF2-40B4-BE49-F238E27FC236}">
                <a16:creationId xmlns:a16="http://schemas.microsoft.com/office/drawing/2014/main" id="{A5CF68C0-984D-D5BE-3180-E9FBC76F2BBA}"/>
              </a:ext>
            </a:extLst>
          </p:cNvPr>
          <p:cNvPicPr>
            <a:picLocks noGrp="1" noChangeAspect="1"/>
          </p:cNvPicPr>
          <p:nvPr>
            <p:ph sz="half" idx="2"/>
          </p:nvPr>
        </p:nvPicPr>
        <p:blipFill>
          <a:blip r:embed="rId3"/>
          <a:stretch>
            <a:fillRect/>
          </a:stretch>
        </p:blipFill>
        <p:spPr>
          <a:xfrm rot="1236012">
            <a:off x="6631163" y="1253332"/>
            <a:ext cx="4821118" cy="4351338"/>
          </a:xfrm>
        </p:spPr>
      </p:pic>
    </p:spTree>
    <p:extLst>
      <p:ext uri="{BB962C8B-B14F-4D97-AF65-F5344CB8AC3E}">
        <p14:creationId xmlns:p14="http://schemas.microsoft.com/office/powerpoint/2010/main" val="1172247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1BE06-ED86-C10E-5AB5-044DBDCF96E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8215A30-4C4C-8EA3-4573-2264F7794A8F}"/>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400" b="1" i="0" kern="1200" dirty="0">
                <a:solidFill>
                  <a:schemeClr val="accent1"/>
                </a:solidFill>
                <a:latin typeface="Verdana" panose="020B0604030504040204" pitchFamily="34" charset="0"/>
                <a:ea typeface="+mj-ea"/>
                <a:cs typeface="+mj-cs"/>
              </a:rPr>
              <a:t>Navigating Complexity</a:t>
            </a:r>
          </a:p>
        </p:txBody>
      </p:sp>
      <p:sp>
        <p:nvSpPr>
          <p:cNvPr id="6" name="Content Placeholder 5">
            <a:extLst>
              <a:ext uri="{FF2B5EF4-FFF2-40B4-BE49-F238E27FC236}">
                <a16:creationId xmlns:a16="http://schemas.microsoft.com/office/drawing/2014/main" id="{D8869E18-A4BB-0B0A-B3F4-76E440842E66}"/>
              </a:ext>
            </a:extLst>
          </p:cNvPr>
          <p:cNvSpPr>
            <a:spLocks noGrp="1"/>
          </p:cNvSpPr>
          <p:nvPr>
            <p:ph sz="half" idx="1"/>
          </p:nvPr>
        </p:nvSpPr>
        <p:spPr>
          <a:xfrm>
            <a:off x="838200" y="1825625"/>
            <a:ext cx="5181600" cy="4351338"/>
          </a:xfrm>
        </p:spPr>
        <p:txBody>
          <a:bodyPr vert="horz" lIns="91440" tIns="45720" rIns="91440" bIns="45720" rtlCol="0">
            <a:normAutofit/>
          </a:bodyPr>
          <a:lstStyle/>
          <a:p>
            <a:pPr>
              <a:lnSpc>
                <a:spcPct val="90000"/>
              </a:lnSpc>
            </a:pPr>
            <a:r>
              <a:rPr lang="en-US" sz="2200" dirty="0"/>
              <a:t>The Stacey Matrix</a:t>
            </a:r>
            <a:r>
              <a:rPr lang="en-US" sz="2200" baseline="30000" dirty="0"/>
              <a:t>1</a:t>
            </a:r>
            <a:r>
              <a:rPr lang="en-US" sz="2200" dirty="0"/>
              <a:t> was developed and published by Ralph Douglas Stacey. It is designed to help understand the factors that contribute to </a:t>
            </a:r>
            <a:r>
              <a:rPr lang="en-US" sz="2200" dirty="0">
                <a:hlinkClick r:id="rId3"/>
              </a:rPr>
              <a:t>complexity</a:t>
            </a:r>
            <a:r>
              <a:rPr lang="en-US" sz="2200" dirty="0"/>
              <a:t> and choose the best management actions to address different degrees of complexity. It was not specifically designed to address project delivery but is just as relevant to that area as any other.</a:t>
            </a:r>
          </a:p>
        </p:txBody>
      </p:sp>
      <p:pic>
        <p:nvPicPr>
          <p:cNvPr id="4098" name="Picture 2" descr="Navigating the Maze: Mastering the Stacey Matrix for Project ...">
            <a:extLst>
              <a:ext uri="{FF2B5EF4-FFF2-40B4-BE49-F238E27FC236}">
                <a16:creationId xmlns:a16="http://schemas.microsoft.com/office/drawing/2014/main" id="{BDF8A0A5-69FC-4038-1B14-32A47EECF67C}"/>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tretch>
            <a:fillRect/>
          </a:stretch>
        </p:blipFill>
        <p:spPr bwMode="auto">
          <a:xfrm>
            <a:off x="6508421" y="1825625"/>
            <a:ext cx="4509158" cy="4351338"/>
          </a:xfrm>
          <a:prstGeom prst="rect">
            <a:avLst/>
          </a:prstGeom>
          <a:solidFill>
            <a:srgbClr val="FFFFFF"/>
          </a:solidFill>
        </p:spPr>
      </p:pic>
    </p:spTree>
    <p:extLst>
      <p:ext uri="{BB962C8B-B14F-4D97-AF65-F5344CB8AC3E}">
        <p14:creationId xmlns:p14="http://schemas.microsoft.com/office/powerpoint/2010/main" val="255068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8FE888-E1AF-5D15-3090-C48A6AD5F10E}"/>
              </a:ext>
            </a:extLst>
          </p:cNvPr>
          <p:cNvSpPr>
            <a:spLocks noGrp="1"/>
          </p:cNvSpPr>
          <p:nvPr>
            <p:ph type="title"/>
          </p:nvPr>
        </p:nvSpPr>
        <p:spPr/>
        <p:txBody>
          <a:bodyPr/>
          <a:lstStyle/>
          <a:p>
            <a:r>
              <a:rPr lang="en-US"/>
              <a:t>Other Uses for Models</a:t>
            </a:r>
          </a:p>
        </p:txBody>
      </p:sp>
      <p:sp>
        <p:nvSpPr>
          <p:cNvPr id="5" name="Content Placeholder 4">
            <a:extLst>
              <a:ext uri="{FF2B5EF4-FFF2-40B4-BE49-F238E27FC236}">
                <a16:creationId xmlns:a16="http://schemas.microsoft.com/office/drawing/2014/main" id="{6FB06ABD-26AE-D657-08E4-19D139351B1A}"/>
              </a:ext>
            </a:extLst>
          </p:cNvPr>
          <p:cNvSpPr>
            <a:spLocks noGrp="1"/>
          </p:cNvSpPr>
          <p:nvPr>
            <p:ph idx="1"/>
          </p:nvPr>
        </p:nvSpPr>
        <p:spPr/>
        <p:txBody>
          <a:bodyPr vert="horz" lIns="91440" tIns="45720" rIns="91440" bIns="45720" rtlCol="0" anchor="t">
            <a:normAutofit/>
          </a:bodyPr>
          <a:lstStyle/>
          <a:p>
            <a:pPr marL="0" indent="0">
              <a:lnSpc>
                <a:spcPct val="100000"/>
              </a:lnSpc>
              <a:spcBef>
                <a:spcPts val="1400"/>
              </a:spcBef>
              <a:buNone/>
            </a:pPr>
            <a:r>
              <a:rPr lang="en-US" sz="2600" dirty="0">
                <a:cs typeface="Semplicita Pro"/>
              </a:rPr>
              <a:t>Models (physical) can also be used to investigate issues like interactive effects and non-routine adjustments.</a:t>
            </a:r>
          </a:p>
          <a:p>
            <a:pPr lvl="1">
              <a:spcBef>
                <a:spcPts val="1400"/>
              </a:spcBef>
            </a:pPr>
            <a:r>
              <a:rPr lang="en-US" b="1" dirty="0">
                <a:cs typeface="Semplicita Pro"/>
              </a:rPr>
              <a:t>Interactive effects</a:t>
            </a:r>
            <a:r>
              <a:rPr lang="en-US" dirty="0">
                <a:cs typeface="Semplicita Pro"/>
              </a:rPr>
              <a:t>: The influence of an ECM on the energy use of other equipment in a facility beyond the measurement boundary (the conceptual line demarcating the space in which measurements of equipment and systems will occur).</a:t>
            </a:r>
          </a:p>
          <a:p>
            <a:pPr lvl="1">
              <a:lnSpc>
                <a:spcPct val="100000"/>
              </a:lnSpc>
              <a:spcBef>
                <a:spcPts val="1400"/>
              </a:spcBef>
            </a:pPr>
            <a:r>
              <a:rPr lang="en-US" b="1" dirty="0">
                <a:cs typeface="Semplicita Pro"/>
              </a:rPr>
              <a:t>Non-routine adjustments</a:t>
            </a:r>
            <a:r>
              <a:rPr lang="en-US" dirty="0">
                <a:cs typeface="Semplicita Pro"/>
              </a:rPr>
              <a:t>: Adjustments that must be made to account for changes to elements of the baseline that were not expected to change during the reporting period.</a:t>
            </a:r>
          </a:p>
        </p:txBody>
      </p:sp>
      <p:pic>
        <p:nvPicPr>
          <p:cNvPr id="9" name="Graphic 8">
            <a:extLst>
              <a:ext uri="{FF2B5EF4-FFF2-40B4-BE49-F238E27FC236}">
                <a16:creationId xmlns:a16="http://schemas.microsoft.com/office/drawing/2014/main" id="{CE2B718B-3A27-EE8E-3B25-D999762B12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spTree>
    <p:extLst>
      <p:ext uri="{BB962C8B-B14F-4D97-AF65-F5344CB8AC3E}">
        <p14:creationId xmlns:p14="http://schemas.microsoft.com/office/powerpoint/2010/main" val="3605317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8FE888-E1AF-5D15-3090-C48A6AD5F10E}"/>
              </a:ext>
            </a:extLst>
          </p:cNvPr>
          <p:cNvSpPr>
            <a:spLocks noGrp="1"/>
          </p:cNvSpPr>
          <p:nvPr>
            <p:ph type="title"/>
          </p:nvPr>
        </p:nvSpPr>
        <p:spPr/>
        <p:txBody>
          <a:bodyPr/>
          <a:lstStyle/>
          <a:p>
            <a:r>
              <a:rPr lang="en-US"/>
              <a:t>Other Uses for Models</a:t>
            </a:r>
          </a:p>
        </p:txBody>
      </p:sp>
      <p:sp>
        <p:nvSpPr>
          <p:cNvPr id="5" name="Content Placeholder 4">
            <a:extLst>
              <a:ext uri="{FF2B5EF4-FFF2-40B4-BE49-F238E27FC236}">
                <a16:creationId xmlns:a16="http://schemas.microsoft.com/office/drawing/2014/main" id="{6FB06ABD-26AE-D657-08E4-19D139351B1A}"/>
              </a:ext>
            </a:extLst>
          </p:cNvPr>
          <p:cNvSpPr>
            <a:spLocks noGrp="1"/>
          </p:cNvSpPr>
          <p:nvPr>
            <p:ph idx="1"/>
          </p:nvPr>
        </p:nvSpPr>
        <p:spPr/>
        <p:txBody>
          <a:bodyPr vert="horz" lIns="91440" tIns="45720" rIns="91440" bIns="45720" rtlCol="0" anchor="t">
            <a:normAutofit/>
          </a:bodyPr>
          <a:lstStyle/>
          <a:p>
            <a:pPr lvl="1">
              <a:spcBef>
                <a:spcPts val="1400"/>
              </a:spcBef>
            </a:pPr>
            <a:r>
              <a:rPr lang="en-US" b="1" dirty="0">
                <a:cs typeface="Semplicita Pro"/>
              </a:rPr>
              <a:t>Predicting</a:t>
            </a:r>
            <a:r>
              <a:rPr lang="en-US" dirty="0">
                <a:cs typeface="Semplicita Pro"/>
              </a:rPr>
              <a:t>: An educated guess or estimate about what might happen in the future. Predictions can be based on past data and trends, but they can also be based on intuition, expert knowledge, or other subjective factors </a:t>
            </a:r>
            <a:r>
              <a:rPr lang="en-US" dirty="0">
                <a:solidFill>
                  <a:srgbClr val="FF0000"/>
                </a:solidFill>
                <a:cs typeface="Semplicita Pro"/>
              </a:rPr>
              <a:t>CEM/CEAs do this with audits – ASHRAE Level 1-3</a:t>
            </a:r>
          </a:p>
          <a:p>
            <a:pPr lvl="1">
              <a:spcBef>
                <a:spcPts val="1400"/>
              </a:spcBef>
            </a:pPr>
            <a:r>
              <a:rPr lang="en-US" b="1" dirty="0">
                <a:cs typeface="Semplicita Pro"/>
              </a:rPr>
              <a:t>Forecasting</a:t>
            </a:r>
            <a:r>
              <a:rPr lang="en-US" dirty="0">
                <a:cs typeface="Semplicita Pro"/>
              </a:rPr>
              <a:t>: A prediction of future conditions or events based on a combination of past data and current trends.</a:t>
            </a:r>
          </a:p>
          <a:p>
            <a:pPr lvl="1">
              <a:spcBef>
                <a:spcPts val="1400"/>
              </a:spcBef>
            </a:pPr>
            <a:r>
              <a:rPr lang="en-US" b="1" dirty="0">
                <a:cs typeface="Semplicita Pro"/>
              </a:rPr>
              <a:t>Digital Twin</a:t>
            </a:r>
            <a:r>
              <a:rPr lang="en-US" dirty="0">
                <a:cs typeface="Semplicita Pro"/>
              </a:rPr>
              <a:t>? </a:t>
            </a:r>
          </a:p>
        </p:txBody>
      </p:sp>
      <p:pic>
        <p:nvPicPr>
          <p:cNvPr id="9" name="Graphic 8">
            <a:extLst>
              <a:ext uri="{FF2B5EF4-FFF2-40B4-BE49-F238E27FC236}">
                <a16:creationId xmlns:a16="http://schemas.microsoft.com/office/drawing/2014/main" id="{CE2B718B-3A27-EE8E-3B25-D999762B12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4954"/>
            <a:ext cx="914400" cy="914400"/>
          </a:xfrm>
          <a:prstGeom prst="rect">
            <a:avLst/>
          </a:prstGeom>
        </p:spPr>
      </p:pic>
    </p:spTree>
    <p:extLst>
      <p:ext uri="{BB962C8B-B14F-4D97-AF65-F5344CB8AC3E}">
        <p14:creationId xmlns:p14="http://schemas.microsoft.com/office/powerpoint/2010/main" val="857723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79A90A-B829-B305-D323-B8F914306B8A}"/>
              </a:ext>
            </a:extLst>
          </p:cNvPr>
          <p:cNvSpPr>
            <a:spLocks noGrp="1"/>
          </p:cNvSpPr>
          <p:nvPr>
            <p:ph type="title"/>
          </p:nvPr>
        </p:nvSpPr>
        <p:spPr/>
        <p:txBody>
          <a:bodyPr/>
          <a:lstStyle/>
          <a:p>
            <a:r>
              <a:rPr lang="en-US" dirty="0"/>
              <a:t>Three Types of Models</a:t>
            </a:r>
          </a:p>
        </p:txBody>
      </p:sp>
      <p:sp>
        <p:nvSpPr>
          <p:cNvPr id="6" name="Text Placeholder 5">
            <a:extLst>
              <a:ext uri="{FF2B5EF4-FFF2-40B4-BE49-F238E27FC236}">
                <a16:creationId xmlns:a16="http://schemas.microsoft.com/office/drawing/2014/main" id="{031403F9-F08B-06C2-8727-9395CFE5FAB7}"/>
              </a:ext>
            </a:extLst>
          </p:cNvPr>
          <p:cNvSpPr>
            <a:spLocks noGrp="1"/>
          </p:cNvSpPr>
          <p:nvPr>
            <p:ph type="body" idx="1"/>
          </p:nvPr>
        </p:nvSpPr>
        <p:spPr>
          <a:xfrm>
            <a:off x="839788" y="1681163"/>
            <a:ext cx="6517942" cy="823912"/>
          </a:xfrm>
        </p:spPr>
        <p:txBody>
          <a:bodyPr/>
          <a:lstStyle/>
          <a:p>
            <a:r>
              <a:rPr lang="en-US" dirty="0"/>
              <a:t>        Statistical             &lt;- HYBRID -&gt; </a:t>
            </a:r>
          </a:p>
        </p:txBody>
      </p:sp>
      <p:sp>
        <p:nvSpPr>
          <p:cNvPr id="7" name="Content Placeholder 6">
            <a:extLst>
              <a:ext uri="{FF2B5EF4-FFF2-40B4-BE49-F238E27FC236}">
                <a16:creationId xmlns:a16="http://schemas.microsoft.com/office/drawing/2014/main" id="{2AC8B245-0FCB-E3A5-3A99-97309554B19C}"/>
              </a:ext>
            </a:extLst>
          </p:cNvPr>
          <p:cNvSpPr>
            <a:spLocks noGrp="1"/>
          </p:cNvSpPr>
          <p:nvPr>
            <p:ph sz="half" idx="2"/>
          </p:nvPr>
        </p:nvSpPr>
        <p:spPr/>
        <p:txBody>
          <a:bodyPr>
            <a:normAutofit fontScale="92500" lnSpcReduction="20000"/>
          </a:bodyPr>
          <a:lstStyle/>
          <a:p>
            <a:pPr marL="457200" indent="-457200">
              <a:buFont typeface="Arial" panose="020B0604020202020204" pitchFamily="34" charset="0"/>
              <a:buChar char="•"/>
            </a:pPr>
            <a:r>
              <a:rPr lang="en-US" sz="2400" dirty="0"/>
              <a:t>Attempt to identify correlations and other patterns in actual measured data</a:t>
            </a:r>
          </a:p>
          <a:p>
            <a:pPr marL="457200" indent="-457200">
              <a:buFont typeface="Arial" panose="020B0604020202020204" pitchFamily="34" charset="0"/>
              <a:buChar char="•"/>
            </a:pPr>
            <a:r>
              <a:rPr lang="en-US" sz="2400" dirty="0"/>
              <a:t>Can be Frequentist or Bayesian.</a:t>
            </a:r>
          </a:p>
          <a:p>
            <a:pPr marL="1143000" lvl="1" indent="-457200"/>
            <a:r>
              <a:rPr lang="en-US" sz="2000" dirty="0"/>
              <a:t>Frequentist: Estimates the probability of obtaining a certain result under repeated random sampling</a:t>
            </a:r>
          </a:p>
          <a:p>
            <a:pPr marL="1143000" lvl="1" indent="-457200"/>
            <a:r>
              <a:rPr lang="en-US" sz="2000" dirty="0"/>
              <a:t>Bayesian: Treats probability as a measure of belief or uncertainty, rather than as a frequency of occurrence.</a:t>
            </a:r>
          </a:p>
        </p:txBody>
      </p:sp>
      <p:sp>
        <p:nvSpPr>
          <p:cNvPr id="8" name="Text Placeholder 7">
            <a:extLst>
              <a:ext uri="{FF2B5EF4-FFF2-40B4-BE49-F238E27FC236}">
                <a16:creationId xmlns:a16="http://schemas.microsoft.com/office/drawing/2014/main" id="{D4895F56-6F09-8557-0114-4887CC677417}"/>
              </a:ext>
            </a:extLst>
          </p:cNvPr>
          <p:cNvSpPr>
            <a:spLocks noGrp="1"/>
          </p:cNvSpPr>
          <p:nvPr>
            <p:ph type="body" sz="quarter" idx="3"/>
          </p:nvPr>
        </p:nvSpPr>
        <p:spPr/>
        <p:txBody>
          <a:bodyPr/>
          <a:lstStyle/>
          <a:p>
            <a:pPr algn="ctr"/>
            <a:r>
              <a:rPr lang="en-US" dirty="0"/>
              <a:t>Physical</a:t>
            </a:r>
          </a:p>
        </p:txBody>
      </p:sp>
      <p:sp>
        <p:nvSpPr>
          <p:cNvPr id="9" name="Content Placeholder 8">
            <a:extLst>
              <a:ext uri="{FF2B5EF4-FFF2-40B4-BE49-F238E27FC236}">
                <a16:creationId xmlns:a16="http://schemas.microsoft.com/office/drawing/2014/main" id="{EC24DBB1-FF86-CF8B-079F-C08266667188}"/>
              </a:ext>
            </a:extLst>
          </p:cNvPr>
          <p:cNvSpPr>
            <a:spLocks noGrp="1"/>
          </p:cNvSpPr>
          <p:nvPr>
            <p:ph sz="quarter" idx="4"/>
          </p:nvPr>
        </p:nvSpPr>
        <p:spPr/>
        <p:txBody>
          <a:bodyPr>
            <a:normAutofit fontScale="92500" lnSpcReduction="20000"/>
          </a:bodyPr>
          <a:lstStyle/>
          <a:p>
            <a:pPr marL="457200" indent="-457200">
              <a:buFont typeface="Arial" panose="020B0604020202020204" pitchFamily="34" charset="0"/>
              <a:buChar char="•"/>
            </a:pPr>
            <a:r>
              <a:rPr lang="en-US" sz="2400" dirty="0"/>
              <a:t>Near-synonyms: </a:t>
            </a:r>
            <a:r>
              <a:rPr lang="en-US" sz="2400" i="1" dirty="0"/>
              <a:t>Simulation</a:t>
            </a:r>
            <a:r>
              <a:rPr lang="en-US" sz="2400" dirty="0"/>
              <a:t> or </a:t>
            </a:r>
            <a:r>
              <a:rPr lang="en-US" sz="2400" i="1" dirty="0"/>
              <a:t>causal</a:t>
            </a:r>
            <a:r>
              <a:rPr lang="en-US" sz="2400" dirty="0"/>
              <a:t>, </a:t>
            </a:r>
            <a:r>
              <a:rPr lang="en-US" sz="2400" i="1" dirty="0"/>
              <a:t>physics-based</a:t>
            </a:r>
            <a:r>
              <a:rPr lang="en-US" sz="2400" dirty="0"/>
              <a:t>, or </a:t>
            </a:r>
            <a:r>
              <a:rPr lang="en-US" sz="2400" i="1" dirty="0"/>
              <a:t>first principles model</a:t>
            </a:r>
          </a:p>
          <a:p>
            <a:pPr marL="457200" indent="-457200">
              <a:buFont typeface="Arial" panose="020B0604020202020204" pitchFamily="34" charset="0"/>
              <a:buChar char="•"/>
            </a:pPr>
            <a:r>
              <a:rPr lang="en-US" sz="2400" dirty="0"/>
              <a:t>Try to represent the dynamics of underlying systems</a:t>
            </a:r>
          </a:p>
          <a:p>
            <a:pPr marL="457200" indent="-457200">
              <a:buFont typeface="Arial" panose="020B0604020202020204" pitchFamily="34" charset="0"/>
              <a:buChar char="•"/>
            </a:pPr>
            <a:r>
              <a:rPr lang="en-US" sz="2400" dirty="0"/>
              <a:t>Advanced example: digital twin.</a:t>
            </a:r>
          </a:p>
          <a:p>
            <a:pPr marL="457200" indent="-457200">
              <a:buFont typeface="Arial" panose="020B0604020202020204" pitchFamily="34" charset="0"/>
              <a:buChar char="•"/>
            </a:pPr>
            <a:r>
              <a:rPr lang="en-US" sz="2400" dirty="0"/>
              <a:t>Simpler examples available in class materials folder online</a:t>
            </a:r>
          </a:p>
          <a:p>
            <a:pPr marL="457200" indent="-457200">
              <a:buFont typeface="Arial" panose="020B0604020202020204" pitchFamily="34" charset="0"/>
              <a:buChar char="•"/>
            </a:pPr>
            <a:r>
              <a:rPr lang="en-US" sz="2400" dirty="0"/>
              <a:t>AI Examples </a:t>
            </a:r>
          </a:p>
        </p:txBody>
      </p:sp>
      <p:pic>
        <p:nvPicPr>
          <p:cNvPr id="10" name="Graphic 9">
            <a:extLst>
              <a:ext uri="{FF2B5EF4-FFF2-40B4-BE49-F238E27FC236}">
                <a16:creationId xmlns:a16="http://schemas.microsoft.com/office/drawing/2014/main" id="{AF3436D6-C26A-A143-D14C-810F05B88C0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86663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914153" y="274321"/>
            <a:ext cx="4363695" cy="584775"/>
          </a:xfrm>
          <a:prstGeom prst="rect">
            <a:avLst/>
          </a:prstGeom>
          <a:noFill/>
        </p:spPr>
        <p:txBody>
          <a:bodyPr wrap="none">
            <a:spAutoFit/>
          </a:bodyPr>
          <a:lstStyle/>
          <a:p>
            <a:pPr algn="ctr">
              <a:defRPr sz="3200" b="1">
                <a:solidFill>
                  <a:srgbClr val="003366"/>
                </a:solidFill>
              </a:defRPr>
            </a:pPr>
            <a:r>
              <a:rPr sz="3200"/>
              <a:t>Types of Models in M&amp;V</a:t>
            </a:r>
          </a:p>
        </p:txBody>
      </p:sp>
      <p:sp>
        <p:nvSpPr>
          <p:cNvPr id="4" name="TextBox 3"/>
          <p:cNvSpPr txBox="1"/>
          <p:nvPr/>
        </p:nvSpPr>
        <p:spPr>
          <a:xfrm>
            <a:off x="1981200" y="1097280"/>
            <a:ext cx="8229600" cy="292388"/>
          </a:xfrm>
          <a:prstGeom prst="rect">
            <a:avLst/>
          </a:prstGeom>
          <a:noFill/>
        </p:spPr>
        <p:txBody>
          <a:bodyPr wrap="square">
            <a:spAutoFit/>
          </a:bodyPr>
          <a:lstStyle/>
          <a:p>
            <a:pPr algn="ctr">
              <a:defRPr sz="1300" b="0">
                <a:solidFill>
                  <a:srgbClr val="646464"/>
                </a:solidFill>
              </a:defRPr>
            </a:pPr>
            <a:r>
              <a:rPr sz="1300"/>
              <a:t>Three approaches to modeling energy use and predicting counterfactual baseline</a:t>
            </a:r>
          </a:p>
        </p:txBody>
      </p:sp>
      <p:sp>
        <p:nvSpPr>
          <p:cNvPr id="5" name="Rectangle 4"/>
          <p:cNvSpPr/>
          <p:nvPr/>
        </p:nvSpPr>
        <p:spPr>
          <a:xfrm>
            <a:off x="1981200" y="1828800"/>
            <a:ext cx="2743200" cy="640080"/>
          </a:xfrm>
          <a:prstGeom prst="rect">
            <a:avLst/>
          </a:prstGeom>
          <a:solidFill>
            <a:srgbClr val="0070C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defRPr>
            </a:pPr>
            <a:r>
              <a:rPr sz="1500"/>
              <a:t>Statistical Models</a:t>
            </a:r>
          </a:p>
        </p:txBody>
      </p:sp>
      <p:sp>
        <p:nvSpPr>
          <p:cNvPr id="6" name="Rectangle 5"/>
          <p:cNvSpPr/>
          <p:nvPr/>
        </p:nvSpPr>
        <p:spPr>
          <a:xfrm>
            <a:off x="1981200" y="2560320"/>
            <a:ext cx="2743200" cy="3474720"/>
          </a:xfrm>
          <a:prstGeom prst="rect">
            <a:avLst/>
          </a:prstGeom>
          <a:solidFill>
            <a:srgbClr val="C8DCFF"/>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03366"/>
                </a:solidFill>
              </a:defRPr>
            </a:pPr>
            <a:r>
              <a:rPr sz="1200"/>
              <a:t>Data-Driven</a:t>
            </a:r>
          </a:p>
          <a:p>
            <a:pPr algn="ctr">
              <a:defRPr sz="1200" b="1">
                <a:solidFill>
                  <a:srgbClr val="003366"/>
                </a:solidFill>
              </a:defRPr>
            </a:pPr>
            <a:endParaRPr sz="1200"/>
          </a:p>
          <a:p>
            <a:pPr algn="ctr">
              <a:defRPr sz="1200" b="1">
                <a:solidFill>
                  <a:srgbClr val="003366"/>
                </a:solidFill>
              </a:defRPr>
            </a:pPr>
            <a:endParaRPr sz="1200"/>
          </a:p>
          <a:p>
            <a:pPr algn="ctr">
              <a:defRPr sz="1200" b="1">
                <a:solidFill>
                  <a:srgbClr val="003366"/>
                </a:solidFill>
              </a:defRPr>
            </a:pPr>
            <a:r>
              <a:rPr sz="1200"/>
              <a:t>• Use measured data</a:t>
            </a:r>
          </a:p>
          <a:p>
            <a:pPr algn="ctr">
              <a:defRPr sz="1200" b="1">
                <a:solidFill>
                  <a:srgbClr val="003366"/>
                </a:solidFill>
              </a:defRPr>
            </a:pPr>
            <a:r>
              <a:rPr sz="1200"/>
              <a:t>• Find correlations</a:t>
            </a:r>
          </a:p>
          <a:p>
            <a:pPr algn="ctr">
              <a:defRPr sz="1200" b="1">
                <a:solidFill>
                  <a:srgbClr val="003366"/>
                </a:solidFill>
              </a:defRPr>
            </a:pPr>
            <a:r>
              <a:rPr sz="1200"/>
              <a:t>• Regression analysis</a:t>
            </a:r>
          </a:p>
          <a:p>
            <a:pPr algn="ctr">
              <a:defRPr sz="1200" b="1">
                <a:solidFill>
                  <a:srgbClr val="003366"/>
                </a:solidFill>
              </a:defRPr>
            </a:pPr>
            <a:r>
              <a:rPr sz="1200"/>
              <a:t>• Time-series</a:t>
            </a:r>
          </a:p>
          <a:p>
            <a:pPr algn="ctr">
              <a:defRPr sz="1200" b="1">
                <a:solidFill>
                  <a:srgbClr val="003366"/>
                </a:solidFill>
              </a:defRPr>
            </a:pPr>
            <a:endParaRPr sz="1200"/>
          </a:p>
          <a:p>
            <a:pPr algn="ctr">
              <a:defRPr sz="1200" b="1">
                <a:solidFill>
                  <a:srgbClr val="003366"/>
                </a:solidFill>
              </a:defRPr>
            </a:pPr>
            <a:r>
              <a:rPr sz="1200"/>
              <a:t>Examples:</a:t>
            </a:r>
          </a:p>
          <a:p>
            <a:pPr algn="ctr">
              <a:defRPr sz="1200" b="1">
                <a:solidFill>
                  <a:srgbClr val="003366"/>
                </a:solidFill>
              </a:defRPr>
            </a:pPr>
            <a:r>
              <a:rPr sz="1200"/>
              <a:t>• Linear regression</a:t>
            </a:r>
          </a:p>
          <a:p>
            <a:pPr algn="ctr">
              <a:defRPr sz="1200" b="1">
                <a:solidFill>
                  <a:srgbClr val="003366"/>
                </a:solidFill>
              </a:defRPr>
            </a:pPr>
            <a:r>
              <a:rPr sz="1200"/>
              <a:t>• TOWT models</a:t>
            </a:r>
          </a:p>
          <a:p>
            <a:pPr algn="ctr">
              <a:defRPr sz="1200" b="1">
                <a:solidFill>
                  <a:srgbClr val="003366"/>
                </a:solidFill>
              </a:defRPr>
            </a:pPr>
            <a:r>
              <a:rPr sz="1200"/>
              <a:t>• Change-point</a:t>
            </a:r>
          </a:p>
          <a:p>
            <a:pPr algn="ctr">
              <a:defRPr sz="1200" b="1">
                <a:solidFill>
                  <a:srgbClr val="003366"/>
                </a:solidFill>
              </a:defRPr>
            </a:pPr>
            <a:r>
              <a:rPr sz="1200"/>
              <a:t>• Machine learning</a:t>
            </a:r>
          </a:p>
        </p:txBody>
      </p:sp>
      <p:sp>
        <p:nvSpPr>
          <p:cNvPr id="7" name="Rectangle 6"/>
          <p:cNvSpPr/>
          <p:nvPr/>
        </p:nvSpPr>
        <p:spPr>
          <a:xfrm>
            <a:off x="4907280" y="1828800"/>
            <a:ext cx="2377440" cy="640080"/>
          </a:xfrm>
          <a:prstGeom prst="rect">
            <a:avLst/>
          </a:prstGeom>
          <a:solidFill>
            <a:srgbClr val="7030A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defRPr>
            </a:pPr>
            <a:r>
              <a:rPr sz="1500"/>
              <a:t>Hybrid Models</a:t>
            </a:r>
          </a:p>
        </p:txBody>
      </p:sp>
      <p:sp>
        <p:nvSpPr>
          <p:cNvPr id="8" name="Rectangle 7"/>
          <p:cNvSpPr/>
          <p:nvPr/>
        </p:nvSpPr>
        <p:spPr>
          <a:xfrm>
            <a:off x="4907280" y="2560320"/>
            <a:ext cx="2377440" cy="3474720"/>
          </a:xfrm>
          <a:prstGeom prst="rect">
            <a:avLst/>
          </a:prstGeom>
          <a:solidFill>
            <a:srgbClr val="E6C8FF"/>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330066"/>
                </a:solidFill>
              </a:defRPr>
            </a:pPr>
            <a:r>
              <a:rPr sz="1200"/>
              <a:t>Combined</a:t>
            </a:r>
          </a:p>
          <a:p>
            <a:pPr algn="ctr">
              <a:defRPr sz="1200" b="1">
                <a:solidFill>
                  <a:srgbClr val="330066"/>
                </a:solidFill>
              </a:defRPr>
            </a:pPr>
            <a:endParaRPr sz="1200"/>
          </a:p>
          <a:p>
            <a:pPr algn="ctr">
              <a:defRPr sz="1200" b="1">
                <a:solidFill>
                  <a:srgbClr val="330066"/>
                </a:solidFill>
              </a:defRPr>
            </a:pPr>
            <a:endParaRPr sz="1200"/>
          </a:p>
          <a:p>
            <a:pPr algn="ctr">
              <a:defRPr sz="1200" b="1">
                <a:solidFill>
                  <a:srgbClr val="330066"/>
                </a:solidFill>
              </a:defRPr>
            </a:pPr>
            <a:r>
              <a:rPr sz="1200"/>
              <a:t>• Use both data</a:t>
            </a:r>
          </a:p>
          <a:p>
            <a:pPr algn="ctr">
              <a:defRPr sz="1200" b="1">
                <a:solidFill>
                  <a:srgbClr val="330066"/>
                </a:solidFill>
              </a:defRPr>
            </a:pPr>
            <a:r>
              <a:rPr sz="1200"/>
              <a:t>   AND physics</a:t>
            </a:r>
          </a:p>
          <a:p>
            <a:pPr algn="ctr">
              <a:defRPr sz="1200" b="1">
                <a:solidFill>
                  <a:srgbClr val="330066"/>
                </a:solidFill>
              </a:defRPr>
            </a:pPr>
            <a:r>
              <a:rPr sz="1200"/>
              <a:t>• Calibrate physics</a:t>
            </a:r>
          </a:p>
          <a:p>
            <a:pPr algn="ctr">
              <a:defRPr sz="1200" b="1">
                <a:solidFill>
                  <a:srgbClr val="330066"/>
                </a:solidFill>
              </a:defRPr>
            </a:pPr>
            <a:r>
              <a:rPr sz="1200"/>
              <a:t>   models with data</a:t>
            </a:r>
          </a:p>
          <a:p>
            <a:pPr algn="ctr">
              <a:defRPr sz="1200" b="1">
                <a:solidFill>
                  <a:srgbClr val="330066"/>
                </a:solidFill>
              </a:defRPr>
            </a:pPr>
            <a:r>
              <a:rPr sz="1200"/>
              <a:t>• Statistical on</a:t>
            </a:r>
          </a:p>
          <a:p>
            <a:pPr algn="ctr">
              <a:defRPr sz="1200" b="1">
                <a:solidFill>
                  <a:srgbClr val="330066"/>
                </a:solidFill>
              </a:defRPr>
            </a:pPr>
            <a:r>
              <a:rPr sz="1200"/>
              <a:t>   physics outputs</a:t>
            </a:r>
          </a:p>
          <a:p>
            <a:pPr algn="ctr">
              <a:defRPr sz="1200" b="1">
                <a:solidFill>
                  <a:srgbClr val="330066"/>
                </a:solidFill>
              </a:defRPr>
            </a:pPr>
            <a:endParaRPr sz="1200"/>
          </a:p>
          <a:p>
            <a:pPr algn="ctr">
              <a:defRPr sz="1200" b="1">
                <a:solidFill>
                  <a:srgbClr val="330066"/>
                </a:solidFill>
              </a:defRPr>
            </a:pPr>
            <a:r>
              <a:rPr sz="1200"/>
              <a:t>Examples:</a:t>
            </a:r>
          </a:p>
          <a:p>
            <a:pPr algn="ctr">
              <a:defRPr sz="1200" b="1">
                <a:solidFill>
                  <a:srgbClr val="330066"/>
                </a:solidFill>
              </a:defRPr>
            </a:pPr>
            <a:r>
              <a:rPr sz="1200"/>
              <a:t>• Calibrated</a:t>
            </a:r>
          </a:p>
          <a:p>
            <a:pPr algn="ctr">
              <a:defRPr sz="1200" b="1">
                <a:solidFill>
                  <a:srgbClr val="330066"/>
                </a:solidFill>
              </a:defRPr>
            </a:pPr>
            <a:r>
              <a:rPr sz="1200"/>
              <a:t>   simulation</a:t>
            </a:r>
          </a:p>
          <a:p>
            <a:pPr algn="ctr">
              <a:defRPr sz="1200" b="1">
                <a:solidFill>
                  <a:srgbClr val="330066"/>
                </a:solidFill>
              </a:defRPr>
            </a:pPr>
            <a:r>
              <a:rPr sz="1200"/>
              <a:t>• Grey-box models</a:t>
            </a:r>
          </a:p>
          <a:p>
            <a:pPr algn="ctr">
              <a:defRPr sz="1200" b="1">
                <a:solidFill>
                  <a:srgbClr val="330066"/>
                </a:solidFill>
              </a:defRPr>
            </a:pPr>
            <a:r>
              <a:rPr sz="1200"/>
              <a:t>• RC models</a:t>
            </a:r>
          </a:p>
        </p:txBody>
      </p:sp>
      <p:sp>
        <p:nvSpPr>
          <p:cNvPr id="9" name="Rectangle 8"/>
          <p:cNvSpPr/>
          <p:nvPr/>
        </p:nvSpPr>
        <p:spPr>
          <a:xfrm>
            <a:off x="7467600" y="1828800"/>
            <a:ext cx="2743200" cy="640080"/>
          </a:xfrm>
          <a:prstGeom prst="rect">
            <a:avLst/>
          </a:prstGeom>
          <a:solidFill>
            <a:srgbClr val="00B050"/>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1">
                <a:solidFill>
                  <a:srgbClr val="FFFFFF"/>
                </a:solidFill>
              </a:defRPr>
            </a:pPr>
            <a:r>
              <a:rPr sz="1500"/>
              <a:t>Physical Models</a:t>
            </a:r>
          </a:p>
        </p:txBody>
      </p:sp>
      <p:sp>
        <p:nvSpPr>
          <p:cNvPr id="10" name="Rectangle 9"/>
          <p:cNvSpPr/>
          <p:nvPr/>
        </p:nvSpPr>
        <p:spPr>
          <a:xfrm>
            <a:off x="7467600" y="2560320"/>
            <a:ext cx="2743200" cy="3474720"/>
          </a:xfrm>
          <a:prstGeom prst="rect">
            <a:avLst/>
          </a:prstGeom>
          <a:solidFill>
            <a:srgbClr val="C8FFC8"/>
          </a:solidFill>
          <a:ln w="19050">
            <a:solidFill>
              <a:srgbClr val="646464"/>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200" b="1">
                <a:solidFill>
                  <a:srgbClr val="006400"/>
                </a:solidFill>
              </a:defRPr>
            </a:pPr>
            <a:r>
              <a:rPr sz="1200"/>
              <a:t>Physics-Based</a:t>
            </a:r>
          </a:p>
          <a:p>
            <a:pPr algn="ctr">
              <a:defRPr sz="1200" b="1">
                <a:solidFill>
                  <a:srgbClr val="006400"/>
                </a:solidFill>
              </a:defRPr>
            </a:pPr>
            <a:endParaRPr sz="1200"/>
          </a:p>
          <a:p>
            <a:pPr algn="ctr">
              <a:defRPr sz="1200" b="1">
                <a:solidFill>
                  <a:srgbClr val="006400"/>
                </a:solidFill>
              </a:defRPr>
            </a:pPr>
            <a:endParaRPr sz="1200"/>
          </a:p>
          <a:p>
            <a:pPr algn="ctr">
              <a:defRPr sz="1200" b="1">
                <a:solidFill>
                  <a:srgbClr val="006400"/>
                </a:solidFill>
              </a:defRPr>
            </a:pPr>
            <a:r>
              <a:rPr sz="1200"/>
              <a:t>• Use engineering</a:t>
            </a:r>
          </a:p>
          <a:p>
            <a:pPr algn="ctr">
              <a:defRPr sz="1200" b="1">
                <a:solidFill>
                  <a:srgbClr val="006400"/>
                </a:solidFill>
              </a:defRPr>
            </a:pPr>
            <a:r>
              <a:rPr sz="1200"/>
              <a:t>   principles</a:t>
            </a:r>
          </a:p>
          <a:p>
            <a:pPr algn="ctr">
              <a:defRPr sz="1200" b="1">
                <a:solidFill>
                  <a:srgbClr val="006400"/>
                </a:solidFill>
              </a:defRPr>
            </a:pPr>
            <a:r>
              <a:rPr sz="1200"/>
              <a:t>• First principles</a:t>
            </a:r>
          </a:p>
          <a:p>
            <a:pPr algn="ctr">
              <a:defRPr sz="1200" b="1">
                <a:solidFill>
                  <a:srgbClr val="006400"/>
                </a:solidFill>
              </a:defRPr>
            </a:pPr>
            <a:r>
              <a:rPr sz="1200"/>
              <a:t>• Heat transfer</a:t>
            </a:r>
          </a:p>
          <a:p>
            <a:pPr algn="ctr">
              <a:defRPr sz="1200" b="1">
                <a:solidFill>
                  <a:srgbClr val="006400"/>
                </a:solidFill>
              </a:defRPr>
            </a:pPr>
            <a:r>
              <a:rPr sz="1200"/>
              <a:t>• Mass balance</a:t>
            </a:r>
          </a:p>
          <a:p>
            <a:pPr algn="ctr">
              <a:defRPr sz="1200" b="1">
                <a:solidFill>
                  <a:srgbClr val="006400"/>
                </a:solidFill>
              </a:defRPr>
            </a:pPr>
            <a:endParaRPr sz="1200"/>
          </a:p>
          <a:p>
            <a:pPr algn="ctr">
              <a:defRPr sz="1200" b="1">
                <a:solidFill>
                  <a:srgbClr val="006400"/>
                </a:solidFill>
              </a:defRPr>
            </a:pPr>
            <a:r>
              <a:rPr sz="1200"/>
              <a:t>Examples:</a:t>
            </a:r>
          </a:p>
          <a:p>
            <a:pPr algn="ctr">
              <a:defRPr sz="1200" b="1">
                <a:solidFill>
                  <a:srgbClr val="006400"/>
                </a:solidFill>
              </a:defRPr>
            </a:pPr>
            <a:r>
              <a:rPr sz="1200"/>
              <a:t>• EnergyPlus</a:t>
            </a:r>
          </a:p>
          <a:p>
            <a:pPr algn="ctr">
              <a:defRPr sz="1200" b="1">
                <a:solidFill>
                  <a:srgbClr val="006400"/>
                </a:solidFill>
              </a:defRPr>
            </a:pPr>
            <a:r>
              <a:rPr sz="1200"/>
              <a:t>• eQUEST</a:t>
            </a:r>
          </a:p>
          <a:p>
            <a:pPr algn="ctr">
              <a:defRPr sz="1200" b="1">
                <a:solidFill>
                  <a:srgbClr val="006400"/>
                </a:solidFill>
              </a:defRPr>
            </a:pPr>
            <a:r>
              <a:rPr sz="1200"/>
              <a:t>• TRACE</a:t>
            </a:r>
          </a:p>
          <a:p>
            <a:pPr algn="ctr">
              <a:defRPr sz="1200" b="1">
                <a:solidFill>
                  <a:srgbClr val="006400"/>
                </a:solidFill>
              </a:defRPr>
            </a:pPr>
            <a:r>
              <a:rPr sz="1200"/>
              <a:t>• Spreadsheet calcs</a:t>
            </a:r>
          </a:p>
        </p:txBody>
      </p:sp>
      <p:sp>
        <p:nvSpPr>
          <p:cNvPr id="11" name="TextBox 10"/>
          <p:cNvSpPr txBox="1"/>
          <p:nvPr/>
        </p:nvSpPr>
        <p:spPr>
          <a:xfrm>
            <a:off x="1981200" y="6217921"/>
            <a:ext cx="8229600" cy="276999"/>
          </a:xfrm>
          <a:prstGeom prst="rect">
            <a:avLst/>
          </a:prstGeom>
          <a:noFill/>
        </p:spPr>
        <p:txBody>
          <a:bodyPr wrap="square">
            <a:spAutoFit/>
          </a:bodyPr>
          <a:lstStyle/>
          <a:p>
            <a:pPr algn="ctr">
              <a:defRPr sz="1200" b="1">
                <a:solidFill>
                  <a:srgbClr val="003366"/>
                </a:solidFill>
              </a:defRPr>
            </a:pPr>
            <a:r>
              <a:rPr sz="1200"/>
              <a:t>Choice depends on: available data, required accuracy, budget, timeline, and stakeholder needs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AA117-F9CF-4B8D-AEF3-9AAF6525F96A}"/>
              </a:ext>
            </a:extLst>
          </p:cNvPr>
          <p:cNvSpPr>
            <a:spLocks noGrp="1"/>
          </p:cNvSpPr>
          <p:nvPr>
            <p:ph type="title"/>
          </p:nvPr>
        </p:nvSpPr>
        <p:spPr/>
        <p:txBody>
          <a:bodyPr/>
          <a:lstStyle/>
          <a:p>
            <a:r>
              <a:rPr lang="en-US" dirty="0"/>
              <a:t>Types of Models</a:t>
            </a:r>
          </a:p>
        </p:txBody>
      </p:sp>
      <p:sp>
        <p:nvSpPr>
          <p:cNvPr id="3" name="Text Placeholder 2">
            <a:extLst>
              <a:ext uri="{FF2B5EF4-FFF2-40B4-BE49-F238E27FC236}">
                <a16:creationId xmlns:a16="http://schemas.microsoft.com/office/drawing/2014/main" id="{66D69E24-DA20-7719-FB6E-F8A90125CAFB}"/>
              </a:ext>
            </a:extLst>
          </p:cNvPr>
          <p:cNvSpPr>
            <a:spLocks noGrp="1"/>
          </p:cNvSpPr>
          <p:nvPr>
            <p:ph type="body" idx="1"/>
          </p:nvPr>
        </p:nvSpPr>
        <p:spPr/>
        <p:txBody>
          <a:bodyPr/>
          <a:lstStyle/>
          <a:p>
            <a:r>
              <a:rPr lang="en-US"/>
              <a:t>Statistical</a:t>
            </a:r>
          </a:p>
        </p:txBody>
      </p:sp>
      <p:sp>
        <p:nvSpPr>
          <p:cNvPr id="5" name="Text Placeholder 4">
            <a:extLst>
              <a:ext uri="{FF2B5EF4-FFF2-40B4-BE49-F238E27FC236}">
                <a16:creationId xmlns:a16="http://schemas.microsoft.com/office/drawing/2014/main" id="{7A12F53A-32BC-5D65-9128-0B5B1772A29E}"/>
              </a:ext>
            </a:extLst>
          </p:cNvPr>
          <p:cNvSpPr>
            <a:spLocks noGrp="1"/>
          </p:cNvSpPr>
          <p:nvPr>
            <p:ph type="body" sz="quarter" idx="3"/>
          </p:nvPr>
        </p:nvSpPr>
        <p:spPr>
          <a:xfrm>
            <a:off x="7010400" y="1681163"/>
            <a:ext cx="5183188" cy="823912"/>
          </a:xfrm>
        </p:spPr>
        <p:txBody>
          <a:bodyPr/>
          <a:lstStyle/>
          <a:p>
            <a:r>
              <a:rPr lang="en-US" dirty="0"/>
              <a:t>Physical</a:t>
            </a:r>
          </a:p>
        </p:txBody>
      </p:sp>
      <p:pic>
        <p:nvPicPr>
          <p:cNvPr id="1026" name="Picture 2">
            <a:extLst>
              <a:ext uri="{FF2B5EF4-FFF2-40B4-BE49-F238E27FC236}">
                <a16:creationId xmlns:a16="http://schemas.microsoft.com/office/drawing/2014/main" id="{2FCA2E05-8D5A-ECB3-0C64-35466C01AD9F}"/>
              </a:ext>
            </a:extLst>
          </p:cNvPr>
          <p:cNvPicPr>
            <a:picLocks noGrp="1" noChangeAspect="1" noChangeArrowheads="1"/>
          </p:cNvPicPr>
          <p:nvPr>
            <p:ph sz="half" idx="2"/>
          </p:nvPr>
        </p:nvPicPr>
        <p:blipFill>
          <a:blip r:embed="rId3"/>
          <a:srcRect/>
          <a:stretch/>
        </p:blipFill>
        <p:spPr bwMode="auto">
          <a:xfrm>
            <a:off x="839788" y="3188670"/>
            <a:ext cx="5157787" cy="23173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618C02E-7CB3-1710-D78F-BB854030D262}"/>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7084391" y="2791618"/>
            <a:ext cx="3530600" cy="3111500"/>
          </a:xfrm>
          <a:prstGeom prst="rect">
            <a:avLst/>
          </a:prstGeom>
          <a:noFill/>
          <a:extLst>
            <a:ext uri="{909E8E84-426E-40DD-AFC4-6F175D3DCCD1}">
              <a14:hiddenFill xmlns:a14="http://schemas.microsoft.com/office/drawing/2010/main">
                <a:solidFill>
                  <a:srgbClr val="FFFFFF"/>
                </a:solidFill>
              </a14:hiddenFill>
            </a:ext>
          </a:extLst>
        </p:spPr>
      </p:pic>
      <p:pic>
        <p:nvPicPr>
          <p:cNvPr id="11" name="Graphic 10">
            <a:extLst>
              <a:ext uri="{FF2B5EF4-FFF2-40B4-BE49-F238E27FC236}">
                <a16:creationId xmlns:a16="http://schemas.microsoft.com/office/drawing/2014/main" id="{A4DD247B-987C-8DB1-5F27-84B381AD525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667759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D9423-B38D-EED9-31D2-3479863961D9}"/>
              </a:ext>
            </a:extLst>
          </p:cNvPr>
          <p:cNvSpPr>
            <a:spLocks noGrp="1"/>
          </p:cNvSpPr>
          <p:nvPr>
            <p:ph type="title"/>
          </p:nvPr>
        </p:nvSpPr>
        <p:spPr/>
        <p:txBody>
          <a:bodyPr/>
          <a:lstStyle/>
          <a:p>
            <a:r>
              <a:rPr lang="en-US"/>
              <a:t>Statistical Models: CausalImpact</a:t>
            </a:r>
          </a:p>
        </p:txBody>
      </p:sp>
      <p:sp>
        <p:nvSpPr>
          <p:cNvPr id="7" name="Content Placeholder 6">
            <a:extLst>
              <a:ext uri="{FF2B5EF4-FFF2-40B4-BE49-F238E27FC236}">
                <a16:creationId xmlns:a16="http://schemas.microsoft.com/office/drawing/2014/main" id="{40076A97-1241-A9AA-1FA1-F349BADC382D}"/>
              </a:ext>
            </a:extLst>
          </p:cNvPr>
          <p:cNvSpPr>
            <a:spLocks noGrp="1"/>
          </p:cNvSpPr>
          <p:nvPr>
            <p:ph idx="1"/>
          </p:nvPr>
        </p:nvSpPr>
        <p:spPr/>
        <p:txBody>
          <a:bodyPr>
            <a:normAutofit/>
          </a:bodyPr>
          <a:lstStyle/>
          <a:p>
            <a:r>
              <a:rPr lang="en-US" sz="2400" dirty="0"/>
              <a:t>A tool for simple Bayesian analysis for M&amp;V.</a:t>
            </a:r>
          </a:p>
          <a:p>
            <a:r>
              <a:rPr lang="en-US" sz="2400" dirty="0"/>
              <a:t>Uses a Bayesian structural time series model to estimate what the outcome variable (e.g., energy consumption) would have been in the absence of the intervention, then compares it to the observed outcome variable to estimate the causal effect of the intervention.</a:t>
            </a:r>
          </a:p>
          <a:p>
            <a:r>
              <a:rPr lang="en-US" sz="2400" dirty="0">
                <a:hlinkClick r:id="rId2"/>
              </a:rPr>
              <a:t>https://google.github.io/CausalImpact/CausalImpact.html</a:t>
            </a:r>
            <a:endParaRPr lang="en-US" sz="2400" dirty="0"/>
          </a:p>
        </p:txBody>
      </p:sp>
    </p:spTree>
    <p:extLst>
      <p:ext uri="{BB962C8B-B14F-4D97-AF65-F5344CB8AC3E}">
        <p14:creationId xmlns:p14="http://schemas.microsoft.com/office/powerpoint/2010/main" val="2211536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97C2D-1252-1AA8-F3C9-68EDF7782379}"/>
              </a:ext>
            </a:extLst>
          </p:cNvPr>
          <p:cNvSpPr>
            <a:spLocks noGrp="1"/>
          </p:cNvSpPr>
          <p:nvPr>
            <p:ph type="title"/>
          </p:nvPr>
        </p:nvSpPr>
        <p:spPr/>
        <p:txBody>
          <a:bodyPr/>
          <a:lstStyle/>
          <a:p>
            <a:r>
              <a:rPr lang="en-US" dirty="0"/>
              <a:t>“Justify” your Statistical Model</a:t>
            </a:r>
          </a:p>
        </p:txBody>
      </p:sp>
      <p:sp>
        <p:nvSpPr>
          <p:cNvPr id="3" name="Content Placeholder 2">
            <a:extLst>
              <a:ext uri="{FF2B5EF4-FFF2-40B4-BE49-F238E27FC236}">
                <a16:creationId xmlns:a16="http://schemas.microsoft.com/office/drawing/2014/main" id="{B66536DF-AD3F-C6BE-2941-D2DD0C7F9FAC}"/>
              </a:ext>
            </a:extLst>
          </p:cNvPr>
          <p:cNvSpPr>
            <a:spLocks noGrp="1"/>
          </p:cNvSpPr>
          <p:nvPr>
            <p:ph idx="1"/>
          </p:nvPr>
        </p:nvSpPr>
        <p:spPr/>
        <p:txBody>
          <a:bodyPr/>
          <a:lstStyle/>
          <a:p>
            <a:r>
              <a:rPr lang="en-US" dirty="0"/>
              <a:t>Correlation is not causation</a:t>
            </a:r>
          </a:p>
          <a:p>
            <a:r>
              <a:rPr lang="en-US" dirty="0"/>
              <a:t>Build a simple physical “explanation” of the observed energy values.</a:t>
            </a:r>
          </a:p>
          <a:p>
            <a:r>
              <a:rPr lang="en-US" dirty="0"/>
              <a:t>Justify any statistical inference of predicted energy. </a:t>
            </a:r>
          </a:p>
        </p:txBody>
      </p:sp>
    </p:spTree>
    <p:extLst>
      <p:ext uri="{BB962C8B-B14F-4D97-AF65-F5344CB8AC3E}">
        <p14:creationId xmlns:p14="http://schemas.microsoft.com/office/powerpoint/2010/main" val="3502624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EAA512-162E-BCF8-50F4-404B69D06075}"/>
              </a:ext>
            </a:extLst>
          </p:cNvPr>
          <p:cNvSpPr>
            <a:spLocks noGrp="1"/>
          </p:cNvSpPr>
          <p:nvPr>
            <p:ph type="title"/>
          </p:nvPr>
        </p:nvSpPr>
        <p:spPr/>
        <p:txBody>
          <a:bodyPr/>
          <a:lstStyle/>
          <a:p>
            <a:r>
              <a:rPr lang="en-US" dirty="0"/>
              <a:t>Physical Models: Tools</a:t>
            </a:r>
          </a:p>
        </p:txBody>
      </p:sp>
      <p:sp>
        <p:nvSpPr>
          <p:cNvPr id="3" name="Content Placeholder 2">
            <a:extLst>
              <a:ext uri="{FF2B5EF4-FFF2-40B4-BE49-F238E27FC236}">
                <a16:creationId xmlns:a16="http://schemas.microsoft.com/office/drawing/2014/main" id="{5FAC6DA0-C8F5-1DEB-AC41-E0537E7BEDC6}"/>
              </a:ext>
            </a:extLst>
          </p:cNvPr>
          <p:cNvSpPr>
            <a:spLocks noGrp="1"/>
          </p:cNvSpPr>
          <p:nvPr>
            <p:ph idx="1"/>
          </p:nvPr>
        </p:nvSpPr>
        <p:spPr/>
        <p:txBody>
          <a:bodyPr/>
          <a:lstStyle/>
          <a:p>
            <a:r>
              <a:rPr lang="en-US" b="1" dirty="0" err="1">
                <a:solidFill>
                  <a:srgbClr val="FF0000"/>
                </a:solidFill>
              </a:rPr>
              <a:t>Energyplus</a:t>
            </a:r>
            <a:r>
              <a:rPr lang="en-US" b="1" dirty="0">
                <a:solidFill>
                  <a:srgbClr val="FF0000"/>
                </a:solidFill>
              </a:rPr>
              <a:t>-MCP – Wow!!!</a:t>
            </a:r>
          </a:p>
          <a:p>
            <a:r>
              <a:rPr lang="en-US" b="1" dirty="0"/>
              <a:t>TRACE 3D</a:t>
            </a:r>
            <a:r>
              <a:rPr lang="en-US" dirty="0"/>
              <a:t> is simulation software for creating detailed physical models of buildings: </a:t>
            </a:r>
            <a:r>
              <a:rPr lang="en-US" dirty="0">
                <a:hlinkClick r:id="rId3"/>
              </a:rPr>
              <a:t>https://www.ibpsa.us/best-directory/trace-3d-plus/</a:t>
            </a:r>
            <a:endParaRPr lang="en-US" dirty="0"/>
          </a:p>
          <a:p>
            <a:r>
              <a:rPr lang="en-US" b="1" dirty="0"/>
              <a:t>MATLAB and Simulink</a:t>
            </a:r>
            <a:r>
              <a:rPr lang="en-US" dirty="0"/>
              <a:t>: </a:t>
            </a:r>
            <a:r>
              <a:rPr lang="en-US" dirty="0">
                <a:hlinkClick r:id="rId4"/>
              </a:rPr>
              <a:t>https://www.mathworks.com/solutions/mathematical-modeling.html</a:t>
            </a:r>
            <a:endParaRPr lang="en-US" dirty="0"/>
          </a:p>
        </p:txBody>
      </p:sp>
    </p:spTree>
    <p:extLst>
      <p:ext uri="{BB962C8B-B14F-4D97-AF65-F5344CB8AC3E}">
        <p14:creationId xmlns:p14="http://schemas.microsoft.com/office/powerpoint/2010/main" val="3064380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6BDC62-2FB2-EA09-1D8B-89C2F188A759}"/>
              </a:ext>
            </a:extLst>
          </p:cNvPr>
          <p:cNvSpPr txBox="1"/>
          <p:nvPr/>
        </p:nvSpPr>
        <p:spPr>
          <a:xfrm>
            <a:off x="448574" y="434154"/>
            <a:ext cx="7004649" cy="5283498"/>
          </a:xfrm>
          <a:prstGeom prst="rect">
            <a:avLst/>
          </a:prstGeom>
          <a:noFill/>
        </p:spPr>
        <p:txBody>
          <a:bodyPr wrap="square" rtlCol="0">
            <a:spAutoFit/>
          </a:bodyPr>
          <a:lstStyle/>
          <a:p>
            <a:pPr>
              <a:spcBef>
                <a:spcPts val="1600"/>
              </a:spcBef>
            </a:pPr>
            <a:r>
              <a:rPr lang="en-US" dirty="0">
                <a:latin typeface="Verdana" panose="020B0604030504040204" pitchFamily="34" charset="0"/>
              </a:rPr>
              <a:t>[MIT meteorologist Kerry Emanuel] articulated a distinction between two types of hurricane forecasts. One is purely statistical. “You have a long record of the phenomenon you’re interested in. And you have a long record of what you consider to be viable predictors—like the wind in a large-scale flow of the atmosphere, or the temperature of the ocean, what have you,” he said. “And without being particularly physical about it, you just use statistics to relate to what you’re trying to predict to those predictors” […]</a:t>
            </a:r>
          </a:p>
          <a:p>
            <a:pPr>
              <a:spcBef>
                <a:spcPts val="1600"/>
              </a:spcBef>
            </a:pPr>
            <a:r>
              <a:rPr lang="en-US" dirty="0">
                <a:latin typeface="Verdana" panose="020B0604030504040204" pitchFamily="34" charset="0"/>
              </a:rPr>
              <a:t>There is an alternative, however, when you have some knowledge of the structure behind the system. This second type of model essentially creates a simulation of the physical mechanics of some portion of the universe. It takes much more work to build than a purely statistical method and requires a more solid understanding of the root causes of the phenomenon. But it is potentially more accurate.</a:t>
            </a:r>
          </a:p>
        </p:txBody>
      </p:sp>
      <p:sp>
        <p:nvSpPr>
          <p:cNvPr id="16" name="Rectangle 15">
            <a:extLst>
              <a:ext uri="{FF2B5EF4-FFF2-40B4-BE49-F238E27FC236}">
                <a16:creationId xmlns:a16="http://schemas.microsoft.com/office/drawing/2014/main" id="{5E2C34FA-2E29-8769-AB5E-890612E4488F}"/>
              </a:ext>
            </a:extLst>
          </p:cNvPr>
          <p:cNvSpPr/>
          <p:nvPr/>
        </p:nvSpPr>
        <p:spPr>
          <a:xfrm>
            <a:off x="1846053" y="6090249"/>
            <a:ext cx="10345947" cy="7677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ndParaRPr>
          </a:p>
        </p:txBody>
      </p:sp>
      <p:pic>
        <p:nvPicPr>
          <p:cNvPr id="15" name="Content Placeholder 14">
            <a:extLst>
              <a:ext uri="{FF2B5EF4-FFF2-40B4-BE49-F238E27FC236}">
                <a16:creationId xmlns:a16="http://schemas.microsoft.com/office/drawing/2014/main" id="{37BFB3FC-E052-7BA6-5210-12F9A53B6063}"/>
              </a:ext>
            </a:extLst>
          </p:cNvPr>
          <p:cNvPicPr>
            <a:picLocks noGrp="1" noChangeAspect="1"/>
          </p:cNvPicPr>
          <p:nvPr>
            <p:ph sz="half" idx="1"/>
          </p:nvPr>
        </p:nvPicPr>
        <p:blipFill>
          <a:blip r:embed="rId3"/>
          <a:stretch>
            <a:fillRect/>
          </a:stretch>
        </p:blipFill>
        <p:spPr>
          <a:xfrm>
            <a:off x="7658100" y="0"/>
            <a:ext cx="4533900" cy="6868723"/>
          </a:xfrm>
        </p:spPr>
      </p:pic>
    </p:spTree>
    <p:extLst>
      <p:ext uri="{BB962C8B-B14F-4D97-AF65-F5344CB8AC3E}">
        <p14:creationId xmlns:p14="http://schemas.microsoft.com/office/powerpoint/2010/main" val="386403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EEC5A-2DE4-0BED-960D-CE4CD23BFC39}"/>
              </a:ext>
            </a:extLst>
          </p:cNvPr>
          <p:cNvSpPr>
            <a:spLocks noGrp="1"/>
          </p:cNvSpPr>
          <p:nvPr>
            <p:ph type="title"/>
          </p:nvPr>
        </p:nvSpPr>
        <p:spPr/>
        <p:txBody>
          <a:bodyPr/>
          <a:lstStyle/>
          <a:p>
            <a:r>
              <a:rPr lang="en-US"/>
              <a:t>The Role of the CMVP</a:t>
            </a:r>
          </a:p>
        </p:txBody>
      </p:sp>
      <p:sp>
        <p:nvSpPr>
          <p:cNvPr id="3" name="Content Placeholder 2">
            <a:extLst>
              <a:ext uri="{FF2B5EF4-FFF2-40B4-BE49-F238E27FC236}">
                <a16:creationId xmlns:a16="http://schemas.microsoft.com/office/drawing/2014/main" id="{EA8AD0F6-BFE7-D426-41C6-795B6826BC65}"/>
              </a:ext>
            </a:extLst>
          </p:cNvPr>
          <p:cNvSpPr>
            <a:spLocks noGrp="1"/>
          </p:cNvSpPr>
          <p:nvPr>
            <p:ph idx="1"/>
          </p:nvPr>
        </p:nvSpPr>
        <p:spPr>
          <a:xfrm>
            <a:off x="838200" y="1690688"/>
            <a:ext cx="10515600" cy="4351338"/>
          </a:xfrm>
        </p:spPr>
        <p:txBody>
          <a:bodyPr>
            <a:normAutofit fontScale="85000" lnSpcReduction="20000"/>
          </a:bodyPr>
          <a:lstStyle/>
          <a:p>
            <a:pPr marL="0" indent="0">
              <a:spcBef>
                <a:spcPts val="1400"/>
              </a:spcBef>
              <a:buNone/>
            </a:pPr>
            <a:r>
              <a:rPr lang="en-US" sz="2600"/>
              <a:t>A CMVP should have a range of knowledge and abilities:</a:t>
            </a:r>
          </a:p>
          <a:p>
            <a:pPr lvl="1">
              <a:spcBef>
                <a:spcPts val="1400"/>
              </a:spcBef>
            </a:pPr>
            <a:r>
              <a:rPr lang="en-US"/>
              <a:t>Grasp the counterfactual method, including its limitations</a:t>
            </a:r>
          </a:p>
          <a:p>
            <a:pPr lvl="1">
              <a:spcBef>
                <a:spcPts val="1400"/>
              </a:spcBef>
            </a:pPr>
            <a:r>
              <a:rPr lang="en-US"/>
              <a:t>Know the limits of science and engineering</a:t>
            </a:r>
          </a:p>
          <a:p>
            <a:pPr lvl="1">
              <a:spcBef>
                <a:spcPts val="1400"/>
              </a:spcBef>
            </a:pPr>
            <a:r>
              <a:rPr lang="en-US"/>
              <a:t>Understand the different contexts in which M&amp;V is applied</a:t>
            </a:r>
          </a:p>
          <a:p>
            <a:pPr lvl="1">
              <a:spcBef>
                <a:spcPts val="1400"/>
              </a:spcBef>
            </a:pPr>
            <a:r>
              <a:rPr lang="en-US"/>
              <a:t>Appreciate the trade-offs required when performing M&amp;V</a:t>
            </a:r>
          </a:p>
          <a:p>
            <a:pPr lvl="1">
              <a:spcBef>
                <a:spcPts val="1400"/>
              </a:spcBef>
            </a:pPr>
            <a:r>
              <a:rPr lang="en-US"/>
              <a:t>Develop or review M&amp;V plans</a:t>
            </a:r>
          </a:p>
          <a:p>
            <a:pPr lvl="1">
              <a:spcBef>
                <a:spcPts val="1400"/>
              </a:spcBef>
            </a:pPr>
            <a:r>
              <a:rPr lang="en-US"/>
              <a:t>Understand who the stakeholders are</a:t>
            </a:r>
          </a:p>
          <a:p>
            <a:pPr lvl="1">
              <a:spcBef>
                <a:spcPts val="1400"/>
              </a:spcBef>
            </a:pPr>
            <a:r>
              <a:rPr lang="en-US"/>
              <a:t>Ensure good communication with stakeholders</a:t>
            </a:r>
          </a:p>
          <a:p>
            <a:pPr lvl="1">
              <a:spcBef>
                <a:spcPts val="1400"/>
              </a:spcBef>
            </a:pPr>
            <a:r>
              <a:rPr lang="en-US"/>
              <a:t>Assemble an effective M&amp;V team</a:t>
            </a:r>
          </a:p>
          <a:p>
            <a:pPr lvl="1">
              <a:spcBef>
                <a:spcPts val="1400"/>
              </a:spcBef>
            </a:pPr>
            <a:r>
              <a:rPr lang="en-US"/>
              <a:t>Design and manage projects</a:t>
            </a:r>
          </a:p>
        </p:txBody>
      </p:sp>
      <p:pic>
        <p:nvPicPr>
          <p:cNvPr id="6" name="Graphic 5">
            <a:extLst>
              <a:ext uri="{FF2B5EF4-FFF2-40B4-BE49-F238E27FC236}">
                <a16:creationId xmlns:a16="http://schemas.microsoft.com/office/drawing/2014/main" id="{0C4753D1-50D0-AF58-E149-AE5FB1DAE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4A9A3708-24B4-75F8-9818-E1EC0442A2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F2D8DCB0-E23C-FADD-AF78-89C30E6E21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3A452FE6-BFB9-B145-CFD1-F1AD132D32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775717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55BC5-9D00-1BE0-E4DF-388A5FA709FD}"/>
              </a:ext>
            </a:extLst>
          </p:cNvPr>
          <p:cNvSpPr>
            <a:spLocks noGrp="1"/>
          </p:cNvSpPr>
          <p:nvPr>
            <p:ph type="title"/>
          </p:nvPr>
        </p:nvSpPr>
        <p:spPr/>
        <p:txBody>
          <a:bodyPr/>
          <a:lstStyle/>
          <a:p>
            <a:r>
              <a:rPr lang="en-US"/>
              <a:t>Additional Expertise Required</a:t>
            </a:r>
          </a:p>
        </p:txBody>
      </p:sp>
      <p:sp>
        <p:nvSpPr>
          <p:cNvPr id="3" name="Content Placeholder 2">
            <a:extLst>
              <a:ext uri="{FF2B5EF4-FFF2-40B4-BE49-F238E27FC236}">
                <a16:creationId xmlns:a16="http://schemas.microsoft.com/office/drawing/2014/main" id="{25B86CD2-F836-232F-CDBE-7BCF74532FA6}"/>
              </a:ext>
            </a:extLst>
          </p:cNvPr>
          <p:cNvSpPr>
            <a:spLocks noGrp="1"/>
          </p:cNvSpPr>
          <p:nvPr>
            <p:ph idx="1"/>
          </p:nvPr>
        </p:nvSpPr>
        <p:spPr/>
        <p:txBody>
          <a:bodyPr>
            <a:normAutofit fontScale="92500" lnSpcReduction="10000"/>
          </a:bodyPr>
          <a:lstStyle/>
          <a:p>
            <a:pPr marL="0" indent="0">
              <a:buNone/>
            </a:pPr>
            <a:r>
              <a:rPr lang="en-US" sz="2600"/>
              <a:t>But a CMVP likely </a:t>
            </a:r>
            <a:r>
              <a:rPr lang="en-US" sz="2600" b="1"/>
              <a:t>won’t</a:t>
            </a:r>
            <a:r>
              <a:rPr lang="en-US" sz="2600"/>
              <a:t> be an expert in all the skills necessary to perform every kind of M&amp;V. Know when to bring in experts in areas such as …</a:t>
            </a:r>
          </a:p>
          <a:p>
            <a:pPr lvl="1">
              <a:spcBef>
                <a:spcPts val="1600"/>
              </a:spcBef>
            </a:pPr>
            <a:r>
              <a:rPr lang="en-US"/>
              <a:t>Energy efficiency proposal evaluation</a:t>
            </a:r>
          </a:p>
          <a:p>
            <a:pPr lvl="1">
              <a:spcBef>
                <a:spcPts val="1600"/>
              </a:spcBef>
            </a:pPr>
            <a:r>
              <a:rPr lang="en-US"/>
              <a:t>Engineering consulting</a:t>
            </a:r>
          </a:p>
          <a:p>
            <a:pPr lvl="1">
              <a:spcBef>
                <a:spcPts val="1600"/>
              </a:spcBef>
            </a:pPr>
            <a:r>
              <a:rPr lang="en-US"/>
              <a:t>Utility rate structures and financial forecasting </a:t>
            </a:r>
          </a:p>
          <a:p>
            <a:pPr lvl="1">
              <a:spcBef>
                <a:spcPts val="1600"/>
              </a:spcBef>
            </a:pPr>
            <a:r>
              <a:rPr lang="en-US"/>
              <a:t>Detailed metering systems</a:t>
            </a:r>
          </a:p>
          <a:p>
            <a:pPr lvl="1">
              <a:spcBef>
                <a:spcPts val="1600"/>
              </a:spcBef>
            </a:pPr>
            <a:r>
              <a:rPr lang="en-US"/>
              <a:t>Certain forms of data and statistical analysis</a:t>
            </a:r>
          </a:p>
          <a:p>
            <a:pPr lvl="1">
              <a:spcBef>
                <a:spcPts val="1600"/>
              </a:spcBef>
            </a:pPr>
            <a:r>
              <a:rPr lang="en-US"/>
              <a:t>Simulation modeling</a:t>
            </a:r>
          </a:p>
        </p:txBody>
      </p:sp>
      <p:pic>
        <p:nvPicPr>
          <p:cNvPr id="6" name="Graphic 5">
            <a:extLst>
              <a:ext uri="{FF2B5EF4-FFF2-40B4-BE49-F238E27FC236}">
                <a16:creationId xmlns:a16="http://schemas.microsoft.com/office/drawing/2014/main" id="{F2178739-8D2F-9E81-E31C-727A9F80E28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537C54E9-2E71-BAEE-E5E3-36B30D026C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811240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EEC5A-2DE4-0BED-960D-CE4CD23BFC39}"/>
              </a:ext>
            </a:extLst>
          </p:cNvPr>
          <p:cNvSpPr>
            <a:spLocks noGrp="1"/>
          </p:cNvSpPr>
          <p:nvPr>
            <p:ph type="title"/>
          </p:nvPr>
        </p:nvSpPr>
        <p:spPr/>
        <p:txBody>
          <a:bodyPr/>
          <a:lstStyle/>
          <a:p>
            <a:r>
              <a:rPr lang="en-US"/>
              <a:t>Types of Stakeholders</a:t>
            </a:r>
          </a:p>
        </p:txBody>
      </p:sp>
      <p:sp>
        <p:nvSpPr>
          <p:cNvPr id="3" name="Content Placeholder 2">
            <a:extLst>
              <a:ext uri="{FF2B5EF4-FFF2-40B4-BE49-F238E27FC236}">
                <a16:creationId xmlns:a16="http://schemas.microsoft.com/office/drawing/2014/main" id="{EA8AD0F6-BFE7-D426-41C6-795B6826BC65}"/>
              </a:ext>
            </a:extLst>
          </p:cNvPr>
          <p:cNvSpPr>
            <a:spLocks noGrp="1"/>
          </p:cNvSpPr>
          <p:nvPr>
            <p:ph idx="1"/>
          </p:nvPr>
        </p:nvSpPr>
        <p:spPr>
          <a:xfrm>
            <a:off x="838200" y="1825625"/>
            <a:ext cx="10515600" cy="1157254"/>
          </a:xfrm>
        </p:spPr>
        <p:txBody>
          <a:bodyPr>
            <a:normAutofit/>
          </a:bodyPr>
          <a:lstStyle/>
          <a:p>
            <a:pPr marL="0" indent="0">
              <a:buNone/>
            </a:pPr>
            <a:r>
              <a:rPr lang="en-US" sz="2400"/>
              <a:t>The CMVP should be aware of the various stakeholders, both direct and indirect, often involved in M&amp;V projects:</a:t>
            </a:r>
          </a:p>
        </p:txBody>
      </p:sp>
      <p:pic>
        <p:nvPicPr>
          <p:cNvPr id="6" name="Graphic 5">
            <a:extLst>
              <a:ext uri="{FF2B5EF4-FFF2-40B4-BE49-F238E27FC236}">
                <a16:creationId xmlns:a16="http://schemas.microsoft.com/office/drawing/2014/main" id="{0C4753D1-50D0-AF58-E149-AE5FB1DAEB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7" name="Graphic 6">
            <a:extLst>
              <a:ext uri="{FF2B5EF4-FFF2-40B4-BE49-F238E27FC236}">
                <a16:creationId xmlns:a16="http://schemas.microsoft.com/office/drawing/2014/main" id="{4A9A3708-24B4-75F8-9818-E1EC0442A25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8" name="Graphic 7">
            <a:extLst>
              <a:ext uri="{FF2B5EF4-FFF2-40B4-BE49-F238E27FC236}">
                <a16:creationId xmlns:a16="http://schemas.microsoft.com/office/drawing/2014/main" id="{F2D8DCB0-E23C-FADD-AF78-89C30E6E21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85314" y="89019"/>
            <a:ext cx="914400" cy="914400"/>
          </a:xfrm>
          <a:prstGeom prst="rect">
            <a:avLst/>
          </a:prstGeom>
        </p:spPr>
      </p:pic>
      <p:pic>
        <p:nvPicPr>
          <p:cNvPr id="9" name="Graphic 8">
            <a:extLst>
              <a:ext uri="{FF2B5EF4-FFF2-40B4-BE49-F238E27FC236}">
                <a16:creationId xmlns:a16="http://schemas.microsoft.com/office/drawing/2014/main" id="{3A452FE6-BFB9-B145-CFD1-F1AD132D321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28514" y="89019"/>
            <a:ext cx="914400" cy="914400"/>
          </a:xfrm>
          <a:prstGeom prst="rect">
            <a:avLst/>
          </a:prstGeom>
        </p:spPr>
      </p:pic>
      <p:sp>
        <p:nvSpPr>
          <p:cNvPr id="15" name="TextBox 14">
            <a:extLst>
              <a:ext uri="{FF2B5EF4-FFF2-40B4-BE49-F238E27FC236}">
                <a16:creationId xmlns:a16="http://schemas.microsoft.com/office/drawing/2014/main" id="{35AAB0A1-7D1A-FC27-821C-D82994B03EFA}"/>
              </a:ext>
            </a:extLst>
          </p:cNvPr>
          <p:cNvSpPr txBox="1"/>
          <p:nvPr/>
        </p:nvSpPr>
        <p:spPr>
          <a:xfrm>
            <a:off x="838200" y="2982879"/>
            <a:ext cx="10018948" cy="2759730"/>
          </a:xfrm>
          <a:prstGeom prst="rect">
            <a:avLst/>
          </a:prstGeom>
          <a:noFill/>
        </p:spPr>
        <p:txBody>
          <a:bodyPr wrap="square" numCol="2" rtlCol="0">
            <a:spAutoFit/>
          </a:bodyPr>
          <a:lstStyle/>
          <a:p>
            <a:pPr marL="742950" lvl="1" indent="-285750">
              <a:spcBef>
                <a:spcPts val="1600"/>
              </a:spcBef>
              <a:buFont typeface="Arial" panose="020B0604020202020204" pitchFamily="34" charset="0"/>
              <a:buChar char="•"/>
            </a:pPr>
            <a:r>
              <a:rPr lang="en-US" sz="2400" dirty="0">
                <a:latin typeface="Verdana" panose="020B0604030504040204" pitchFamily="34" charset="0"/>
              </a:rPr>
              <a:t>ESCO</a:t>
            </a:r>
          </a:p>
          <a:p>
            <a:pPr marL="742950" lvl="1" indent="-285750">
              <a:spcBef>
                <a:spcPts val="1600"/>
              </a:spcBef>
              <a:buFont typeface="Arial" panose="020B0604020202020204" pitchFamily="34" charset="0"/>
              <a:buChar char="•"/>
            </a:pPr>
            <a:r>
              <a:rPr lang="en-US" sz="2400" dirty="0">
                <a:latin typeface="Verdana" panose="020B0604030504040204" pitchFamily="34" charset="0"/>
              </a:rPr>
              <a:t>Utility</a:t>
            </a:r>
          </a:p>
          <a:p>
            <a:pPr marL="742950" lvl="1" indent="-285750">
              <a:spcBef>
                <a:spcPts val="1600"/>
              </a:spcBef>
              <a:buFont typeface="Arial" panose="020B0604020202020204" pitchFamily="34" charset="0"/>
              <a:buChar char="•"/>
            </a:pPr>
            <a:r>
              <a:rPr lang="en-US" sz="2400" dirty="0">
                <a:latin typeface="Verdana" panose="020B0604030504040204" pitchFamily="34" charset="0"/>
              </a:rPr>
              <a:t>Client</a:t>
            </a:r>
          </a:p>
          <a:p>
            <a:pPr marL="742950" lvl="1" indent="-285750">
              <a:spcBef>
                <a:spcPts val="1600"/>
              </a:spcBef>
              <a:buFont typeface="Arial" panose="020B0604020202020204" pitchFamily="34" charset="0"/>
              <a:buChar char="•"/>
            </a:pPr>
            <a:r>
              <a:rPr lang="en-US" sz="2400" dirty="0">
                <a:latin typeface="Verdana" panose="020B0604030504040204" pitchFamily="34" charset="0"/>
              </a:rPr>
              <a:t>Facility users</a:t>
            </a:r>
          </a:p>
          <a:p>
            <a:pPr marL="742950" lvl="1" indent="-285750">
              <a:spcBef>
                <a:spcPts val="1600"/>
              </a:spcBef>
              <a:buFont typeface="Arial" panose="020B0604020202020204" pitchFamily="34" charset="0"/>
              <a:buChar char="•"/>
            </a:pPr>
            <a:r>
              <a:rPr lang="en-US" sz="2400" dirty="0">
                <a:latin typeface="Verdana" panose="020B0604030504040204" pitchFamily="34" charset="0"/>
              </a:rPr>
              <a:t>Financer</a:t>
            </a:r>
          </a:p>
          <a:p>
            <a:pPr marL="742950" lvl="1" indent="-285750">
              <a:spcBef>
                <a:spcPts val="1600"/>
              </a:spcBef>
              <a:buFont typeface="Arial" panose="020B0604020202020204" pitchFamily="34" charset="0"/>
              <a:buChar char="•"/>
            </a:pPr>
            <a:r>
              <a:rPr lang="en-US" sz="2400" dirty="0">
                <a:latin typeface="Verdana" panose="020B0604030504040204" pitchFamily="34" charset="0"/>
              </a:rPr>
              <a:t>Regulator</a:t>
            </a:r>
          </a:p>
          <a:p>
            <a:pPr marL="742950" lvl="1" indent="-285750">
              <a:spcBef>
                <a:spcPts val="1600"/>
              </a:spcBef>
              <a:buFont typeface="Arial" panose="020B0604020202020204" pitchFamily="34" charset="0"/>
              <a:buChar char="•"/>
            </a:pPr>
            <a:r>
              <a:rPr lang="en-US" sz="2400" dirty="0">
                <a:latin typeface="Verdana" panose="020B0604030504040204" pitchFamily="34" charset="0"/>
              </a:rPr>
              <a:t>Government agency</a:t>
            </a:r>
          </a:p>
          <a:p>
            <a:pPr marL="742950" lvl="1" indent="-285750">
              <a:spcBef>
                <a:spcPts val="1600"/>
              </a:spcBef>
              <a:buFont typeface="Arial" panose="020B0604020202020204" pitchFamily="34" charset="0"/>
              <a:buChar char="•"/>
            </a:pPr>
            <a:r>
              <a:rPr lang="en-US" sz="2400" dirty="0">
                <a:latin typeface="Verdana" panose="020B0604030504040204" pitchFamily="34" charset="0"/>
              </a:rPr>
              <a:t>Program implementer</a:t>
            </a:r>
          </a:p>
          <a:p>
            <a:pPr marL="742950" lvl="1" indent="-285750">
              <a:spcBef>
                <a:spcPts val="1600"/>
              </a:spcBef>
              <a:buFont typeface="Arial" panose="020B0604020202020204" pitchFamily="34" charset="0"/>
              <a:buChar char="•"/>
            </a:pPr>
            <a:r>
              <a:rPr lang="en-US" sz="2400" dirty="0">
                <a:latin typeface="Verdana" panose="020B0604030504040204" pitchFamily="34" charset="0"/>
              </a:rPr>
              <a:t>Program evaluator</a:t>
            </a:r>
          </a:p>
          <a:p>
            <a:pPr marL="742950" lvl="1" indent="-285750">
              <a:spcBef>
                <a:spcPts val="1600"/>
              </a:spcBef>
              <a:buFont typeface="Arial" panose="020B0604020202020204" pitchFamily="34" charset="0"/>
              <a:buChar char="•"/>
            </a:pPr>
            <a:r>
              <a:rPr lang="en-US" sz="2400" dirty="0">
                <a:latin typeface="Verdana" panose="020B0604030504040204" pitchFamily="34" charset="0"/>
              </a:rPr>
              <a:t>ESG evaluator</a:t>
            </a:r>
          </a:p>
        </p:txBody>
      </p:sp>
    </p:spTree>
    <p:extLst>
      <p:ext uri="{BB962C8B-B14F-4D97-AF65-F5344CB8AC3E}">
        <p14:creationId xmlns:p14="http://schemas.microsoft.com/office/powerpoint/2010/main" val="38425708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1E108-A669-9AEB-5C12-FE07438DE2C3}"/>
              </a:ext>
            </a:extLst>
          </p:cNvPr>
          <p:cNvSpPr>
            <a:spLocks noGrp="1"/>
          </p:cNvSpPr>
          <p:nvPr>
            <p:ph type="title"/>
          </p:nvPr>
        </p:nvSpPr>
        <p:spPr/>
        <p:txBody>
          <a:bodyPr/>
          <a:lstStyle/>
          <a:p>
            <a:r>
              <a:rPr lang="en-US"/>
              <a:t>The Multiple Roles of CMVPs</a:t>
            </a:r>
          </a:p>
        </p:txBody>
      </p:sp>
      <p:sp>
        <p:nvSpPr>
          <p:cNvPr id="3" name="Content Placeholder 2">
            <a:extLst>
              <a:ext uri="{FF2B5EF4-FFF2-40B4-BE49-F238E27FC236}">
                <a16:creationId xmlns:a16="http://schemas.microsoft.com/office/drawing/2014/main" id="{921DF471-7E96-3748-A8F6-E19E96DF638F}"/>
              </a:ext>
            </a:extLst>
          </p:cNvPr>
          <p:cNvSpPr>
            <a:spLocks noGrp="1"/>
          </p:cNvSpPr>
          <p:nvPr>
            <p:ph idx="1"/>
          </p:nvPr>
        </p:nvSpPr>
        <p:spPr>
          <a:xfrm>
            <a:off x="838200" y="1538288"/>
            <a:ext cx="10515600" cy="4486275"/>
          </a:xfrm>
        </p:spPr>
        <p:txBody>
          <a:bodyPr>
            <a:normAutofit lnSpcReduction="10000"/>
          </a:bodyPr>
          <a:lstStyle/>
          <a:p>
            <a:r>
              <a:rPr lang="en-US" sz="2400"/>
              <a:t>In any energy efficiency project, there may be multiple CMVPs working on behalf of different parties and playing various roles. Consider the Saudi Arabian context:</a:t>
            </a:r>
          </a:p>
          <a:p>
            <a:pPr marL="457200" indent="-457200">
              <a:buFont typeface="Arial" panose="020B0604020202020204" pitchFamily="34" charset="0"/>
              <a:buChar char="•"/>
            </a:pPr>
            <a:r>
              <a:rPr lang="en-US" sz="2400" b="1"/>
              <a:t>ESCO</a:t>
            </a:r>
            <a:r>
              <a:rPr lang="en-US" sz="2400"/>
              <a:t>: Private company working under the Super ESCO</a:t>
            </a:r>
          </a:p>
          <a:p>
            <a:pPr marL="1143000" lvl="1" indent="-457200">
              <a:buFont typeface="Courier New" panose="02070309020205020404" pitchFamily="49" charset="0"/>
              <a:buChar char="o"/>
            </a:pPr>
            <a:r>
              <a:rPr lang="en-US"/>
              <a:t>CMVP collects audit data and submits M&amp;V plan.</a:t>
            </a:r>
          </a:p>
          <a:p>
            <a:pPr marL="457200" indent="-457200">
              <a:buFont typeface="Arial" panose="020B0604020202020204" pitchFamily="34" charset="0"/>
              <a:buChar char="•"/>
            </a:pPr>
            <a:r>
              <a:rPr lang="en-US" sz="2400" b="1"/>
              <a:t>Super ESCO</a:t>
            </a:r>
            <a:r>
              <a:rPr lang="en-US" sz="2400"/>
              <a:t>: Tarshid</a:t>
            </a:r>
          </a:p>
          <a:p>
            <a:pPr marL="1143000" lvl="1" indent="-457200">
              <a:buFont typeface="Courier New" panose="02070309020205020404" pitchFamily="49" charset="0"/>
              <a:buChar char="o"/>
            </a:pPr>
            <a:r>
              <a:rPr lang="en-US"/>
              <a:t>CMVP reviews audit and M&amp;V plans from ESCOs.</a:t>
            </a:r>
          </a:p>
          <a:p>
            <a:pPr marL="457200" indent="-457200">
              <a:buFont typeface="Arial" panose="020B0604020202020204" pitchFamily="34" charset="0"/>
              <a:buChar char="•"/>
            </a:pPr>
            <a:r>
              <a:rPr lang="en-US" sz="2400" b="1"/>
              <a:t>Regulator</a:t>
            </a:r>
            <a:r>
              <a:rPr lang="en-US" sz="2400"/>
              <a:t>: Saudi Energy Efficiency Center (SEEC)</a:t>
            </a:r>
          </a:p>
          <a:p>
            <a:pPr marL="1143000" lvl="1" indent="-457200">
              <a:buFont typeface="Courier New" panose="02070309020205020404" pitchFamily="49" charset="0"/>
              <a:buChar char="o"/>
            </a:pPr>
            <a:r>
              <a:rPr lang="en-US"/>
              <a:t>CMVP approves audit and M&amp;V plans from Tarshid.</a:t>
            </a:r>
          </a:p>
        </p:txBody>
      </p:sp>
    </p:spTree>
    <p:extLst>
      <p:ext uri="{BB962C8B-B14F-4D97-AF65-F5344CB8AC3E}">
        <p14:creationId xmlns:p14="http://schemas.microsoft.com/office/powerpoint/2010/main" val="2933906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C1ECC-AA72-3742-A4F4-65691B94819B}"/>
              </a:ext>
            </a:extLst>
          </p:cNvPr>
          <p:cNvSpPr>
            <a:spLocks noGrp="1"/>
          </p:cNvSpPr>
          <p:nvPr>
            <p:ph type="title"/>
          </p:nvPr>
        </p:nvSpPr>
        <p:spPr/>
        <p:txBody>
          <a:bodyPr/>
          <a:lstStyle/>
          <a:p>
            <a:r>
              <a:rPr lang="en-US"/>
              <a:t>Professional Judgment</a:t>
            </a:r>
          </a:p>
        </p:txBody>
      </p:sp>
      <p:sp>
        <p:nvSpPr>
          <p:cNvPr id="3" name="Content Placeholder 2">
            <a:extLst>
              <a:ext uri="{FF2B5EF4-FFF2-40B4-BE49-F238E27FC236}">
                <a16:creationId xmlns:a16="http://schemas.microsoft.com/office/drawing/2014/main" id="{6E1FBFB4-1E91-E9FD-9DDC-2F558CAE9DBA}"/>
              </a:ext>
            </a:extLst>
          </p:cNvPr>
          <p:cNvSpPr>
            <a:spLocks noGrp="1"/>
          </p:cNvSpPr>
          <p:nvPr>
            <p:ph idx="1"/>
          </p:nvPr>
        </p:nvSpPr>
        <p:spPr/>
        <p:txBody>
          <a:bodyPr vert="horz" lIns="91440" tIns="45720" rIns="91440" bIns="45720" rtlCol="0" anchor="t">
            <a:normAutofit/>
          </a:bodyPr>
          <a:lstStyle/>
          <a:p>
            <a:pPr marL="0" indent="0">
              <a:lnSpc>
                <a:spcPct val="100000"/>
              </a:lnSpc>
              <a:spcBef>
                <a:spcPts val="1800"/>
              </a:spcBef>
              <a:buNone/>
            </a:pPr>
            <a:r>
              <a:rPr lang="en-US" sz="2400" dirty="0"/>
              <a:t>Because of the role of hypotheticals in the counterfactual method, there is no single correct way to perform M&amp;V, and there is no such thing as definitive “truth” in reporting avoided energy.</a:t>
            </a:r>
          </a:p>
          <a:p>
            <a:pPr marL="0" indent="0">
              <a:lnSpc>
                <a:spcPct val="100000"/>
              </a:lnSpc>
              <a:spcBef>
                <a:spcPts val="1800"/>
              </a:spcBef>
              <a:buNone/>
            </a:pPr>
            <a:r>
              <a:rPr lang="en-US" sz="2400" dirty="0"/>
              <a:t>As a result, certified measurement and verification professionals must always exercise some degree of judgment.</a:t>
            </a:r>
          </a:p>
          <a:p>
            <a:pPr marL="0" indent="0">
              <a:lnSpc>
                <a:spcPct val="100000"/>
              </a:lnSpc>
              <a:spcBef>
                <a:spcPts val="1800"/>
              </a:spcBef>
              <a:buNone/>
            </a:pPr>
            <a:endParaRPr lang="en-US" sz="2400" dirty="0"/>
          </a:p>
          <a:p>
            <a:pPr marL="0" indent="0">
              <a:lnSpc>
                <a:spcPct val="100000"/>
              </a:lnSpc>
              <a:spcBef>
                <a:spcPts val="1800"/>
              </a:spcBef>
              <a:buNone/>
            </a:pPr>
            <a:r>
              <a:rPr lang="en-US" sz="2400" dirty="0"/>
              <a:t>And Technicians!!!  Not everyone wants to deal with uncertainty!</a:t>
            </a:r>
          </a:p>
        </p:txBody>
      </p:sp>
      <p:pic>
        <p:nvPicPr>
          <p:cNvPr id="30" name="Graphic 29">
            <a:extLst>
              <a:ext uri="{FF2B5EF4-FFF2-40B4-BE49-F238E27FC236}">
                <a16:creationId xmlns:a16="http://schemas.microsoft.com/office/drawing/2014/main" id="{3D87F4F8-1BFA-9B91-088B-EE52536E13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31" name="Graphic 30">
            <a:extLst>
              <a:ext uri="{FF2B5EF4-FFF2-40B4-BE49-F238E27FC236}">
                <a16:creationId xmlns:a16="http://schemas.microsoft.com/office/drawing/2014/main" id="{98707EA8-D1DC-239F-50AC-6432562E629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399714" y="89019"/>
            <a:ext cx="914400" cy="914400"/>
          </a:xfrm>
          <a:prstGeom prst="rect">
            <a:avLst/>
          </a:prstGeom>
        </p:spPr>
      </p:pic>
      <p:pic>
        <p:nvPicPr>
          <p:cNvPr id="33" name="Graphic 32">
            <a:extLst>
              <a:ext uri="{FF2B5EF4-FFF2-40B4-BE49-F238E27FC236}">
                <a16:creationId xmlns:a16="http://schemas.microsoft.com/office/drawing/2014/main" id="{E124823E-2E40-CEE1-E450-09F3D27C7A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914881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971A538-BEEA-2E66-0B2F-F860E8C72056}"/>
              </a:ext>
            </a:extLst>
          </p:cNvPr>
          <p:cNvSpPr/>
          <p:nvPr/>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ndParaRPr>
          </a:p>
        </p:txBody>
      </p:sp>
      <p:pic>
        <p:nvPicPr>
          <p:cNvPr id="7" name="Picture 6">
            <a:extLst>
              <a:ext uri="{FF2B5EF4-FFF2-40B4-BE49-F238E27FC236}">
                <a16:creationId xmlns:a16="http://schemas.microsoft.com/office/drawing/2014/main" id="{42011AC8-3E61-8B72-C37A-914856D39DA3}"/>
              </a:ext>
            </a:extLst>
          </p:cNvPr>
          <p:cNvPicPr>
            <a:picLocks noChangeAspect="1"/>
          </p:cNvPicPr>
          <p:nvPr/>
        </p:nvPicPr>
        <p:blipFill>
          <a:blip r:embed="rId3"/>
          <a:stretch>
            <a:fillRect/>
          </a:stretch>
        </p:blipFill>
        <p:spPr>
          <a:xfrm>
            <a:off x="2334905" y="89019"/>
            <a:ext cx="7722552" cy="6858000"/>
          </a:xfrm>
          <a:prstGeom prst="rect">
            <a:avLst/>
          </a:prstGeom>
        </p:spPr>
      </p:pic>
      <p:cxnSp>
        <p:nvCxnSpPr>
          <p:cNvPr id="10" name="Straight Connector 9">
            <a:extLst>
              <a:ext uri="{FF2B5EF4-FFF2-40B4-BE49-F238E27FC236}">
                <a16:creationId xmlns:a16="http://schemas.microsoft.com/office/drawing/2014/main" id="{ECD0B74C-9AA3-809E-E9E3-58364C05D889}"/>
              </a:ext>
            </a:extLst>
          </p:cNvPr>
          <p:cNvCxnSpPr/>
          <p:nvPr/>
        </p:nvCxnSpPr>
        <p:spPr>
          <a:xfrm>
            <a:off x="2225177"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C72599-91B3-92AF-3D8C-E3D3C2D2DBFB}"/>
              </a:ext>
            </a:extLst>
          </p:cNvPr>
          <p:cNvCxnSpPr/>
          <p:nvPr/>
        </p:nvCxnSpPr>
        <p:spPr>
          <a:xfrm>
            <a:off x="9957276" y="0"/>
            <a:ext cx="0" cy="6858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9" name="Graphic 8">
            <a:extLst>
              <a:ext uri="{FF2B5EF4-FFF2-40B4-BE49-F238E27FC236}">
                <a16:creationId xmlns:a16="http://schemas.microsoft.com/office/drawing/2014/main" id="{46AE5462-9546-67CD-E3D3-A89AAEE310E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645902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971A538-BEEA-2E66-0B2F-F860E8C72056}"/>
              </a:ext>
            </a:extLst>
          </p:cNvPr>
          <p:cNvSpPr/>
          <p:nvPr/>
        </p:nvSpPr>
        <p:spPr>
          <a:xfrm>
            <a:off x="0" y="368489"/>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Verdana" panose="020B0604030504040204" pitchFamily="34" charset="0"/>
            </a:endParaRPr>
          </a:p>
        </p:txBody>
      </p:sp>
      <p:grpSp>
        <p:nvGrpSpPr>
          <p:cNvPr id="2" name="Group 1">
            <a:extLst>
              <a:ext uri="{FF2B5EF4-FFF2-40B4-BE49-F238E27FC236}">
                <a16:creationId xmlns:a16="http://schemas.microsoft.com/office/drawing/2014/main" id="{3CDA9D34-1593-4E4E-0001-226080E9F9EE}"/>
              </a:ext>
            </a:extLst>
          </p:cNvPr>
          <p:cNvGrpSpPr/>
          <p:nvPr/>
        </p:nvGrpSpPr>
        <p:grpSpPr>
          <a:xfrm>
            <a:off x="159027" y="1077246"/>
            <a:ext cx="12192000" cy="5485681"/>
            <a:chOff x="0" y="1283300"/>
            <a:chExt cx="12192000" cy="5485681"/>
          </a:xfrm>
        </p:grpSpPr>
        <p:pic>
          <p:nvPicPr>
            <p:cNvPr id="7" name="Picture 6">
              <a:extLst>
                <a:ext uri="{FF2B5EF4-FFF2-40B4-BE49-F238E27FC236}">
                  <a16:creationId xmlns:a16="http://schemas.microsoft.com/office/drawing/2014/main" id="{42011AC8-3E61-8B72-C37A-914856D39DA3}"/>
                </a:ext>
              </a:extLst>
            </p:cNvPr>
            <p:cNvPicPr>
              <a:picLocks noChangeAspect="1"/>
            </p:cNvPicPr>
            <p:nvPr/>
          </p:nvPicPr>
          <p:blipFill>
            <a:blip r:embed="rId3"/>
            <a:srcRect/>
            <a:stretch/>
          </p:blipFill>
          <p:spPr>
            <a:xfrm>
              <a:off x="0" y="1283300"/>
              <a:ext cx="12192000" cy="5485681"/>
            </a:xfrm>
            <a:prstGeom prst="rect">
              <a:avLst/>
            </a:prstGeom>
          </p:spPr>
        </p:pic>
        <p:cxnSp>
          <p:nvCxnSpPr>
            <p:cNvPr id="13" name="Straight Connector 12">
              <a:extLst>
                <a:ext uri="{FF2B5EF4-FFF2-40B4-BE49-F238E27FC236}">
                  <a16:creationId xmlns:a16="http://schemas.microsoft.com/office/drawing/2014/main" id="{AEAE92E0-752B-C317-0206-4CD2440793DF}"/>
                </a:ext>
              </a:extLst>
            </p:cNvPr>
            <p:cNvCxnSpPr>
              <a:cxnSpLocks/>
            </p:cNvCxnSpPr>
            <p:nvPr/>
          </p:nvCxnSpPr>
          <p:spPr>
            <a:xfrm flipH="1">
              <a:off x="0" y="6768981"/>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6C30B75-5F02-0A70-78C4-562AD4014139}"/>
                </a:ext>
              </a:extLst>
            </p:cNvPr>
            <p:cNvCxnSpPr>
              <a:cxnSpLocks/>
            </p:cNvCxnSpPr>
            <p:nvPr/>
          </p:nvCxnSpPr>
          <p:spPr>
            <a:xfrm flipH="1">
              <a:off x="0" y="1283300"/>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9" name="Graphic 8">
            <a:extLst>
              <a:ext uri="{FF2B5EF4-FFF2-40B4-BE49-F238E27FC236}">
                <a16:creationId xmlns:a16="http://schemas.microsoft.com/office/drawing/2014/main" id="{3E9CFAE1-B02C-9DBE-7B79-40029127FB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97014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C1ECC-AA72-3742-A4F4-65691B94819B}"/>
              </a:ext>
            </a:extLst>
          </p:cNvPr>
          <p:cNvSpPr>
            <a:spLocks noGrp="1"/>
          </p:cNvSpPr>
          <p:nvPr>
            <p:ph type="title"/>
          </p:nvPr>
        </p:nvSpPr>
        <p:spPr/>
        <p:txBody>
          <a:bodyPr/>
          <a:lstStyle/>
          <a:p>
            <a:r>
              <a:rPr lang="en-US"/>
              <a:t>Professional Judgment</a:t>
            </a:r>
          </a:p>
        </p:txBody>
      </p:sp>
      <p:sp>
        <p:nvSpPr>
          <p:cNvPr id="3" name="Content Placeholder 2">
            <a:extLst>
              <a:ext uri="{FF2B5EF4-FFF2-40B4-BE49-F238E27FC236}">
                <a16:creationId xmlns:a16="http://schemas.microsoft.com/office/drawing/2014/main" id="{6E1FBFB4-1E91-E9FD-9DDC-2F558CAE9DBA}"/>
              </a:ext>
            </a:extLst>
          </p:cNvPr>
          <p:cNvSpPr>
            <a:spLocks noGrp="1"/>
          </p:cNvSpPr>
          <p:nvPr>
            <p:ph idx="1"/>
          </p:nvPr>
        </p:nvSpPr>
        <p:spPr/>
        <p:txBody>
          <a:bodyPr vert="horz" lIns="91440" tIns="45720" rIns="91440" bIns="45720" rtlCol="0" anchor="t">
            <a:normAutofit/>
          </a:bodyPr>
          <a:lstStyle/>
          <a:p>
            <a:pPr marL="0" indent="0">
              <a:lnSpc>
                <a:spcPct val="100000"/>
              </a:lnSpc>
              <a:spcBef>
                <a:spcPts val="1800"/>
              </a:spcBef>
              <a:buNone/>
            </a:pPr>
            <a:r>
              <a:rPr lang="en-US" sz="2400"/>
              <a:t>Even so, all parties to an energy management project must regard the adjusted baseline model as sensible or “accurate.”</a:t>
            </a:r>
          </a:p>
          <a:p>
            <a:pPr marL="0" indent="0">
              <a:lnSpc>
                <a:spcPct val="100000"/>
              </a:lnSpc>
              <a:spcBef>
                <a:spcPts val="1800"/>
              </a:spcBef>
              <a:buNone/>
            </a:pPr>
            <a:r>
              <a:rPr lang="en-US" sz="2400"/>
              <a:t>The basic goal of M&amp;V: that reasonable people can agree that the process has been conducted with sound judgment.</a:t>
            </a:r>
          </a:p>
          <a:p>
            <a:pPr marL="342900" indent="-342900">
              <a:lnSpc>
                <a:spcPct val="100000"/>
              </a:lnSpc>
              <a:spcBef>
                <a:spcPts val="1800"/>
              </a:spcBef>
              <a:buFont typeface="Arial" panose="020B0604020202020204" pitchFamily="34" charset="0"/>
              <a:buChar char="•"/>
            </a:pPr>
            <a:r>
              <a:rPr lang="en-US" sz="2400"/>
              <a:t>Different people will select different models.</a:t>
            </a:r>
          </a:p>
          <a:p>
            <a:pPr marL="342900" indent="-342900">
              <a:lnSpc>
                <a:spcPct val="100000"/>
              </a:lnSpc>
              <a:spcBef>
                <a:spcPts val="1800"/>
              </a:spcBef>
              <a:buFont typeface="Arial" panose="020B0604020202020204" pitchFamily="34" charset="0"/>
              <a:buChar char="•"/>
            </a:pPr>
            <a:r>
              <a:rPr lang="en-US" sz="2400"/>
              <a:t>Need to compromise.</a:t>
            </a:r>
          </a:p>
          <a:p>
            <a:pPr marL="342900" indent="-342900">
              <a:lnSpc>
                <a:spcPct val="100000"/>
              </a:lnSpc>
              <a:spcBef>
                <a:spcPts val="1800"/>
              </a:spcBef>
              <a:buFont typeface="Arial" panose="020B0604020202020204" pitchFamily="34" charset="0"/>
              <a:buChar char="•"/>
            </a:pPr>
            <a:r>
              <a:rPr lang="en-US" sz="2400"/>
              <a:t>Consider costs and benefits. </a:t>
            </a:r>
          </a:p>
          <a:p>
            <a:pPr marL="0" indent="0">
              <a:lnSpc>
                <a:spcPct val="100000"/>
              </a:lnSpc>
              <a:spcBef>
                <a:spcPts val="1800"/>
              </a:spcBef>
              <a:buNone/>
            </a:pPr>
            <a:endParaRPr lang="en-US" sz="2400"/>
          </a:p>
          <a:p>
            <a:pPr marL="0" indent="0">
              <a:lnSpc>
                <a:spcPct val="100000"/>
              </a:lnSpc>
              <a:spcBef>
                <a:spcPts val="1800"/>
              </a:spcBef>
              <a:buNone/>
            </a:pPr>
            <a:endParaRPr lang="en-US" sz="2400"/>
          </a:p>
        </p:txBody>
      </p:sp>
      <p:pic>
        <p:nvPicPr>
          <p:cNvPr id="18" name="Graphic 17">
            <a:extLst>
              <a:ext uri="{FF2B5EF4-FFF2-40B4-BE49-F238E27FC236}">
                <a16:creationId xmlns:a16="http://schemas.microsoft.com/office/drawing/2014/main" id="{007C0941-8B5C-20A4-F57E-8A1AB04570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19" name="Graphic 18">
            <a:extLst>
              <a:ext uri="{FF2B5EF4-FFF2-40B4-BE49-F238E27FC236}">
                <a16:creationId xmlns:a16="http://schemas.microsoft.com/office/drawing/2014/main" id="{0A1388EB-7816-F5DB-0105-171644FCB5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399714" y="89019"/>
            <a:ext cx="914400" cy="914400"/>
          </a:xfrm>
          <a:prstGeom prst="rect">
            <a:avLst/>
          </a:prstGeom>
        </p:spPr>
      </p:pic>
      <p:pic>
        <p:nvPicPr>
          <p:cNvPr id="21" name="Graphic 20">
            <a:extLst>
              <a:ext uri="{FF2B5EF4-FFF2-40B4-BE49-F238E27FC236}">
                <a16:creationId xmlns:a16="http://schemas.microsoft.com/office/drawing/2014/main" id="{1948EE3E-B56E-4C25-AC0D-29ECD154318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68693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527A3-0B17-15D8-F1FA-99589FCC9109}"/>
              </a:ext>
            </a:extLst>
          </p:cNvPr>
          <p:cNvSpPr>
            <a:spLocks noGrp="1"/>
          </p:cNvSpPr>
          <p:nvPr>
            <p:ph type="title"/>
          </p:nvPr>
        </p:nvSpPr>
        <p:spPr/>
        <p:txBody>
          <a:bodyPr/>
          <a:lstStyle/>
          <a:p>
            <a:r>
              <a:rPr lang="en-US"/>
              <a:t>Uncertainty (and Statistics)</a:t>
            </a:r>
          </a:p>
        </p:txBody>
      </p:sp>
      <p:sp>
        <p:nvSpPr>
          <p:cNvPr id="3" name="Content Placeholder 2">
            <a:extLst>
              <a:ext uri="{FF2B5EF4-FFF2-40B4-BE49-F238E27FC236}">
                <a16:creationId xmlns:a16="http://schemas.microsoft.com/office/drawing/2014/main" id="{E4A1A1AB-09D8-1425-E03D-D3DFC9075E6A}"/>
              </a:ext>
            </a:extLst>
          </p:cNvPr>
          <p:cNvSpPr>
            <a:spLocks noGrp="1"/>
          </p:cNvSpPr>
          <p:nvPr>
            <p:ph sz="half" idx="1"/>
          </p:nvPr>
        </p:nvSpPr>
        <p:spPr/>
        <p:txBody>
          <a:bodyPr>
            <a:normAutofit fontScale="92500"/>
          </a:bodyPr>
          <a:lstStyle/>
          <a:p>
            <a:r>
              <a:rPr lang="en-US" sz="2400" dirty="0"/>
              <a:t>In M&amp;V, there are many potential sources of uncertainty:</a:t>
            </a:r>
          </a:p>
          <a:p>
            <a:pPr marL="457200" indent="-457200">
              <a:buFont typeface="Arial" panose="020B0604020202020204" pitchFamily="34" charset="0"/>
              <a:buChar char="•"/>
            </a:pPr>
            <a:r>
              <a:rPr lang="en-US" sz="2400" dirty="0"/>
              <a:t>Modeling</a:t>
            </a:r>
          </a:p>
          <a:p>
            <a:pPr marL="457200" indent="-457200">
              <a:buFont typeface="Arial" panose="020B0604020202020204" pitchFamily="34" charset="0"/>
              <a:buChar char="•"/>
            </a:pPr>
            <a:r>
              <a:rPr lang="en-US" sz="2400" dirty="0"/>
              <a:t>Sampling</a:t>
            </a:r>
          </a:p>
          <a:p>
            <a:pPr marL="457200" indent="-457200">
              <a:buFont typeface="Arial" panose="020B0604020202020204" pitchFamily="34" charset="0"/>
              <a:buChar char="•"/>
            </a:pPr>
            <a:r>
              <a:rPr lang="en-US" sz="2400" dirty="0"/>
              <a:t>Measurement</a:t>
            </a:r>
          </a:p>
        </p:txBody>
      </p:sp>
      <p:sp>
        <p:nvSpPr>
          <p:cNvPr id="4" name="Content Placeholder 3">
            <a:extLst>
              <a:ext uri="{FF2B5EF4-FFF2-40B4-BE49-F238E27FC236}">
                <a16:creationId xmlns:a16="http://schemas.microsoft.com/office/drawing/2014/main" id="{162D8419-D482-1551-7131-DE35BE872765}"/>
              </a:ext>
            </a:extLst>
          </p:cNvPr>
          <p:cNvSpPr>
            <a:spLocks noGrp="1"/>
          </p:cNvSpPr>
          <p:nvPr>
            <p:ph sz="half" idx="2"/>
          </p:nvPr>
        </p:nvSpPr>
        <p:spPr/>
        <p:txBody>
          <a:bodyPr>
            <a:normAutofit fontScale="92500"/>
          </a:bodyPr>
          <a:lstStyle/>
          <a:p>
            <a:r>
              <a:rPr lang="en-US" sz="2400"/>
              <a:t>For the CMVP, uncertainty mainly comes into play in two ways:</a:t>
            </a:r>
          </a:p>
          <a:p>
            <a:pPr marL="514350" indent="-514350">
              <a:buFont typeface="+mj-lt"/>
              <a:buAutoNum type="arabicPeriod"/>
            </a:pPr>
            <a:r>
              <a:rPr lang="en-US" sz="2400">
                <a:cs typeface="Semplicita Pro"/>
              </a:rPr>
              <a:t>In </a:t>
            </a:r>
            <a:r>
              <a:rPr lang="en-US" sz="2400" b="1">
                <a:cs typeface="Semplicita Pro"/>
              </a:rPr>
              <a:t>planning</a:t>
            </a:r>
            <a:r>
              <a:rPr lang="en-US" sz="2400">
                <a:cs typeface="Semplicita Pro"/>
              </a:rPr>
              <a:t>: How can uncertainty be used to develop an optimal and cost-effective plan? Where is Murphy’s Law going to rear its head?</a:t>
            </a:r>
          </a:p>
          <a:p>
            <a:pPr marL="514350" indent="-514350">
              <a:buFont typeface="+mj-lt"/>
              <a:buAutoNum type="arabicPeriod"/>
            </a:pPr>
            <a:r>
              <a:rPr lang="en-US" sz="2400">
                <a:cs typeface="Semplicita Pro"/>
              </a:rPr>
              <a:t>In </a:t>
            </a:r>
            <a:r>
              <a:rPr lang="en-US" sz="2400" b="1">
                <a:cs typeface="Semplicita Pro"/>
              </a:rPr>
              <a:t>reporting</a:t>
            </a:r>
            <a:r>
              <a:rPr lang="en-US" sz="2400">
                <a:cs typeface="Semplicita Pro"/>
              </a:rPr>
              <a:t>: How is uncertainty “quantified” and communicated?</a:t>
            </a:r>
          </a:p>
        </p:txBody>
      </p:sp>
      <p:pic>
        <p:nvPicPr>
          <p:cNvPr id="7" name="Graphic 6">
            <a:extLst>
              <a:ext uri="{FF2B5EF4-FFF2-40B4-BE49-F238E27FC236}">
                <a16:creationId xmlns:a16="http://schemas.microsoft.com/office/drawing/2014/main" id="{DB4010D2-E284-28F1-4B1E-C81B211087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8" name="Graphic 7">
            <a:extLst>
              <a:ext uri="{FF2B5EF4-FFF2-40B4-BE49-F238E27FC236}">
                <a16:creationId xmlns:a16="http://schemas.microsoft.com/office/drawing/2014/main" id="{2F621068-0F5A-34B2-3D1C-49B4D7A55C7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90677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Sources of Uncertainty in M&amp;V</a:t>
            </a:r>
          </a:p>
        </p:txBody>
      </p:sp>
      <p:pic>
        <p:nvPicPr>
          <p:cNvPr id="3" name="Picture 2" descr="AEE_Logo.gif"/>
          <p:cNvPicPr>
            <a:picLocks noChangeAspect="1"/>
          </p:cNvPicPr>
          <p:nvPr/>
        </p:nvPicPr>
        <p:blipFill>
          <a:blip r:embed="rId3"/>
          <a:stretch>
            <a:fillRect/>
          </a:stretch>
        </p:blipFill>
        <p:spPr>
          <a:xfrm>
            <a:off x="1798321" y="6400800"/>
            <a:ext cx="825305" cy="365760"/>
          </a:xfrm>
          <a:prstGeom prst="rect">
            <a:avLst/>
          </a:prstGeom>
        </p:spPr>
      </p:pic>
      <p:sp>
        <p:nvSpPr>
          <p:cNvPr id="4" name="TextBox 3"/>
          <p:cNvSpPr txBox="1"/>
          <p:nvPr/>
        </p:nvSpPr>
        <p:spPr>
          <a:xfrm>
            <a:off x="1981200" y="1051560"/>
            <a:ext cx="8229600" cy="320040"/>
          </a:xfrm>
          <a:prstGeom prst="rect">
            <a:avLst/>
          </a:prstGeom>
          <a:noFill/>
        </p:spPr>
        <p:txBody>
          <a:bodyPr wrap="square">
            <a:spAutoFit/>
          </a:bodyPr>
          <a:lstStyle/>
          <a:p>
            <a:pPr algn="l">
              <a:defRPr sz="1500" b="1">
                <a:solidFill>
                  <a:srgbClr val="0070C0"/>
                </a:solidFill>
                <a:latin typeface="Calibri"/>
              </a:defRPr>
            </a:pPr>
            <a:r>
              <a:rPr sz="1500"/>
              <a:t>Three types of uncertainty affect both baseline and reporting periods:</a:t>
            </a:r>
          </a:p>
        </p:txBody>
      </p:sp>
      <p:sp>
        <p:nvSpPr>
          <p:cNvPr id="5" name="Rectangle 4"/>
          <p:cNvSpPr/>
          <p:nvPr/>
        </p:nvSpPr>
        <p:spPr>
          <a:xfrm>
            <a:off x="1981200" y="1463040"/>
            <a:ext cx="2651760" cy="36576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Measurement Uncertainty</a:t>
            </a:r>
          </a:p>
        </p:txBody>
      </p:sp>
      <p:sp>
        <p:nvSpPr>
          <p:cNvPr id="6" name="TextBox 5"/>
          <p:cNvSpPr txBox="1"/>
          <p:nvPr/>
        </p:nvSpPr>
        <p:spPr>
          <a:xfrm>
            <a:off x="1981200" y="1920240"/>
            <a:ext cx="2651760" cy="1280160"/>
          </a:xfrm>
          <a:prstGeom prst="rect">
            <a:avLst/>
          </a:prstGeom>
          <a:noFill/>
        </p:spPr>
        <p:txBody>
          <a:bodyPr wrap="square">
            <a:spAutoFit/>
          </a:bodyPr>
          <a:lstStyle/>
          <a:p>
            <a:pPr>
              <a:spcAft>
                <a:spcPts val="600"/>
              </a:spcAft>
              <a:defRPr sz="1100">
                <a:solidFill>
                  <a:srgbClr val="000000"/>
                </a:solidFill>
                <a:latin typeface="Calibri"/>
              </a:defRPr>
            </a:pPr>
            <a:r>
              <a:rPr sz="1100"/>
              <a:t>Meter accuracy (±1-2%)</a:t>
            </a:r>
          </a:p>
          <a:p>
            <a:pPr>
              <a:spcAft>
                <a:spcPts val="600"/>
              </a:spcAft>
              <a:defRPr sz="1100">
                <a:solidFill>
                  <a:srgbClr val="000000"/>
                </a:solidFill>
                <a:latin typeface="Calibri"/>
              </a:defRPr>
            </a:pPr>
            <a:r>
              <a:rPr sz="1100"/>
              <a:t>Sensor precision</a:t>
            </a:r>
          </a:p>
          <a:p>
            <a:pPr>
              <a:spcAft>
                <a:spcPts val="600"/>
              </a:spcAft>
              <a:defRPr sz="1100">
                <a:solidFill>
                  <a:srgbClr val="000000"/>
                </a:solidFill>
                <a:latin typeface="Calibri"/>
              </a:defRPr>
            </a:pPr>
            <a:r>
              <a:rPr sz="1100"/>
              <a:t>Calibration drift</a:t>
            </a:r>
          </a:p>
          <a:p>
            <a:pPr>
              <a:spcAft>
                <a:spcPts val="600"/>
              </a:spcAft>
              <a:defRPr sz="1100">
                <a:solidFill>
                  <a:srgbClr val="000000"/>
                </a:solidFill>
                <a:latin typeface="Calibri"/>
              </a:defRPr>
            </a:pPr>
            <a:r>
              <a:rPr sz="1100"/>
              <a:t>Installation errors</a:t>
            </a:r>
          </a:p>
          <a:p>
            <a:pPr>
              <a:spcAft>
                <a:spcPts val="600"/>
              </a:spcAft>
              <a:defRPr sz="1100">
                <a:solidFill>
                  <a:srgbClr val="000000"/>
                </a:solidFill>
                <a:latin typeface="Calibri"/>
              </a:defRPr>
            </a:pPr>
            <a:r>
              <a:rPr sz="1100"/>
              <a:t>Data acquisition errors</a:t>
            </a:r>
          </a:p>
        </p:txBody>
      </p:sp>
      <p:sp>
        <p:nvSpPr>
          <p:cNvPr id="7" name="Rectangle 6"/>
          <p:cNvSpPr/>
          <p:nvPr/>
        </p:nvSpPr>
        <p:spPr>
          <a:xfrm>
            <a:off x="4770120" y="1463040"/>
            <a:ext cx="2651760" cy="36576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Sampling Uncertainty</a:t>
            </a:r>
          </a:p>
        </p:txBody>
      </p:sp>
      <p:sp>
        <p:nvSpPr>
          <p:cNvPr id="8" name="TextBox 7"/>
          <p:cNvSpPr txBox="1"/>
          <p:nvPr/>
        </p:nvSpPr>
        <p:spPr>
          <a:xfrm>
            <a:off x="4770120" y="1920240"/>
            <a:ext cx="2651760" cy="1280160"/>
          </a:xfrm>
          <a:prstGeom prst="rect">
            <a:avLst/>
          </a:prstGeom>
          <a:noFill/>
        </p:spPr>
        <p:txBody>
          <a:bodyPr wrap="square">
            <a:spAutoFit/>
          </a:bodyPr>
          <a:lstStyle/>
          <a:p>
            <a:pPr>
              <a:spcAft>
                <a:spcPts val="600"/>
              </a:spcAft>
              <a:defRPr sz="1100">
                <a:solidFill>
                  <a:srgbClr val="000000"/>
                </a:solidFill>
                <a:latin typeface="Calibri"/>
              </a:defRPr>
            </a:pPr>
            <a:r>
              <a:rPr sz="1100"/>
              <a:t>Sample size effects</a:t>
            </a:r>
          </a:p>
          <a:p>
            <a:pPr>
              <a:spcAft>
                <a:spcPts val="600"/>
              </a:spcAft>
              <a:defRPr sz="1100">
                <a:solidFill>
                  <a:srgbClr val="000000"/>
                </a:solidFill>
                <a:latin typeface="Calibri"/>
              </a:defRPr>
            </a:pPr>
            <a:r>
              <a:rPr sz="1100"/>
              <a:t>Selection bias</a:t>
            </a:r>
          </a:p>
          <a:p>
            <a:pPr>
              <a:spcAft>
                <a:spcPts val="600"/>
              </a:spcAft>
              <a:defRPr sz="1100">
                <a:solidFill>
                  <a:srgbClr val="000000"/>
                </a:solidFill>
                <a:latin typeface="Calibri"/>
              </a:defRPr>
            </a:pPr>
            <a:r>
              <a:rPr sz="1100"/>
              <a:t>Temporal sampling</a:t>
            </a:r>
          </a:p>
          <a:p>
            <a:pPr>
              <a:spcAft>
                <a:spcPts val="600"/>
              </a:spcAft>
              <a:defRPr sz="1100">
                <a:solidFill>
                  <a:srgbClr val="000000"/>
                </a:solidFill>
                <a:latin typeface="Calibri"/>
              </a:defRPr>
            </a:pPr>
            <a:r>
              <a:rPr sz="1100"/>
              <a:t>Spatial sampling</a:t>
            </a:r>
          </a:p>
          <a:p>
            <a:pPr>
              <a:spcAft>
                <a:spcPts val="600"/>
              </a:spcAft>
              <a:defRPr sz="1100">
                <a:solidFill>
                  <a:srgbClr val="000000"/>
                </a:solidFill>
                <a:latin typeface="Calibri"/>
              </a:defRPr>
            </a:pPr>
            <a:r>
              <a:rPr sz="1100"/>
              <a:t>Confidence intervals</a:t>
            </a:r>
          </a:p>
        </p:txBody>
      </p:sp>
      <p:sp>
        <p:nvSpPr>
          <p:cNvPr id="9" name="Rectangle 8"/>
          <p:cNvSpPr/>
          <p:nvPr/>
        </p:nvSpPr>
        <p:spPr>
          <a:xfrm>
            <a:off x="7559040" y="1463040"/>
            <a:ext cx="2651760" cy="36576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Modeling Uncertainty</a:t>
            </a:r>
          </a:p>
        </p:txBody>
      </p:sp>
      <p:sp>
        <p:nvSpPr>
          <p:cNvPr id="10" name="TextBox 9"/>
          <p:cNvSpPr txBox="1"/>
          <p:nvPr/>
        </p:nvSpPr>
        <p:spPr>
          <a:xfrm>
            <a:off x="7559040" y="1920240"/>
            <a:ext cx="2651760" cy="1280160"/>
          </a:xfrm>
          <a:prstGeom prst="rect">
            <a:avLst/>
          </a:prstGeom>
          <a:noFill/>
        </p:spPr>
        <p:txBody>
          <a:bodyPr wrap="square">
            <a:spAutoFit/>
          </a:bodyPr>
          <a:lstStyle/>
          <a:p>
            <a:pPr>
              <a:spcAft>
                <a:spcPts val="600"/>
              </a:spcAft>
              <a:defRPr sz="1100">
                <a:solidFill>
                  <a:srgbClr val="000000"/>
                </a:solidFill>
                <a:latin typeface="Calibri"/>
              </a:defRPr>
            </a:pPr>
            <a:r>
              <a:rPr sz="1100"/>
              <a:t>Model selection</a:t>
            </a:r>
          </a:p>
          <a:p>
            <a:pPr>
              <a:spcAft>
                <a:spcPts val="600"/>
              </a:spcAft>
              <a:defRPr sz="1100">
                <a:solidFill>
                  <a:srgbClr val="000000"/>
                </a:solidFill>
                <a:latin typeface="Calibri"/>
              </a:defRPr>
            </a:pPr>
            <a:r>
              <a:rPr sz="1100"/>
              <a:t>Model fit (RMSE)</a:t>
            </a:r>
          </a:p>
          <a:p>
            <a:pPr>
              <a:spcAft>
                <a:spcPts val="600"/>
              </a:spcAft>
              <a:defRPr sz="1100">
                <a:solidFill>
                  <a:srgbClr val="000000"/>
                </a:solidFill>
                <a:latin typeface="Calibri"/>
              </a:defRPr>
            </a:pPr>
            <a:r>
              <a:rPr sz="1100"/>
              <a:t>Coefficient errors</a:t>
            </a:r>
          </a:p>
          <a:p>
            <a:pPr>
              <a:spcAft>
                <a:spcPts val="600"/>
              </a:spcAft>
              <a:defRPr sz="1100">
                <a:solidFill>
                  <a:srgbClr val="000000"/>
                </a:solidFill>
                <a:latin typeface="Calibri"/>
              </a:defRPr>
            </a:pPr>
            <a:r>
              <a:rPr sz="1100"/>
              <a:t>Extrapolation risks</a:t>
            </a:r>
          </a:p>
          <a:p>
            <a:pPr>
              <a:spcAft>
                <a:spcPts val="600"/>
              </a:spcAft>
              <a:defRPr sz="1100">
                <a:solidFill>
                  <a:srgbClr val="000000"/>
                </a:solidFill>
                <a:latin typeface="Calibri"/>
              </a:defRPr>
            </a:pPr>
            <a:r>
              <a:rPr sz="1100"/>
              <a:t>Parameter estimation</a:t>
            </a:r>
          </a:p>
        </p:txBody>
      </p:sp>
      <p:sp>
        <p:nvSpPr>
          <p:cNvPr id="11" name="Rectangle 10"/>
          <p:cNvSpPr/>
          <p:nvPr/>
        </p:nvSpPr>
        <p:spPr>
          <a:xfrm>
            <a:off x="1981200" y="3383280"/>
            <a:ext cx="8229600" cy="3200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These uncertainties apply to BOTH periods:</a:t>
            </a:r>
          </a:p>
        </p:txBody>
      </p:sp>
      <p:sp>
        <p:nvSpPr>
          <p:cNvPr id="12" name="Rectangle 11"/>
          <p:cNvSpPr/>
          <p:nvPr/>
        </p:nvSpPr>
        <p:spPr>
          <a:xfrm>
            <a:off x="1981200" y="3794760"/>
            <a:ext cx="4114800" cy="320040"/>
          </a:xfrm>
          <a:prstGeom prst="rect">
            <a:avLst/>
          </a:prstGeom>
          <a:solidFill>
            <a:srgbClr val="7F7F7F"/>
          </a:solidFill>
          <a:ln>
            <a:solidFill>
              <a:srgbClr val="7F7F7F"/>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Baseline Period</a:t>
            </a:r>
          </a:p>
        </p:txBody>
      </p:sp>
      <p:sp>
        <p:nvSpPr>
          <p:cNvPr id="13" name="TextBox 12"/>
          <p:cNvSpPr txBox="1"/>
          <p:nvPr/>
        </p:nvSpPr>
        <p:spPr>
          <a:xfrm>
            <a:off x="1981200" y="4206241"/>
            <a:ext cx="4114800" cy="754053"/>
          </a:xfrm>
          <a:prstGeom prst="rect">
            <a:avLst/>
          </a:prstGeom>
          <a:noFill/>
        </p:spPr>
        <p:txBody>
          <a:bodyPr wrap="square">
            <a:spAutoFit/>
          </a:bodyPr>
          <a:lstStyle/>
          <a:p>
            <a:pPr>
              <a:spcAft>
                <a:spcPts val="600"/>
              </a:spcAft>
              <a:defRPr sz="1100">
                <a:solidFill>
                  <a:srgbClr val="000000"/>
                </a:solidFill>
                <a:latin typeface="Calibri"/>
              </a:defRPr>
            </a:pPr>
            <a:r>
              <a:rPr sz="1100"/>
              <a:t>Measurement: Meter accuracy in baseline data collection</a:t>
            </a:r>
          </a:p>
          <a:p>
            <a:pPr>
              <a:spcAft>
                <a:spcPts val="600"/>
              </a:spcAft>
              <a:defRPr sz="1100">
                <a:solidFill>
                  <a:srgbClr val="000000"/>
                </a:solidFill>
                <a:latin typeface="Calibri"/>
              </a:defRPr>
            </a:pPr>
            <a:r>
              <a:rPr sz="1100"/>
              <a:t>Sampling: Limited baseline data points, fixture surveys</a:t>
            </a:r>
          </a:p>
          <a:p>
            <a:pPr>
              <a:spcAft>
                <a:spcPts val="600"/>
              </a:spcAft>
              <a:defRPr sz="1100">
                <a:solidFill>
                  <a:srgbClr val="000000"/>
                </a:solidFill>
                <a:latin typeface="Calibri"/>
              </a:defRPr>
            </a:pPr>
            <a:r>
              <a:rPr sz="1100"/>
              <a:t>Modeling: Baseline model fit (CV(RMSE), R²), parameter estimates</a:t>
            </a:r>
          </a:p>
        </p:txBody>
      </p:sp>
      <p:sp>
        <p:nvSpPr>
          <p:cNvPr id="14" name="Rectangle 13"/>
          <p:cNvSpPr/>
          <p:nvPr/>
        </p:nvSpPr>
        <p:spPr>
          <a:xfrm>
            <a:off x="6096000" y="3794760"/>
            <a:ext cx="4114800" cy="320040"/>
          </a:xfrm>
          <a:prstGeom prst="rect">
            <a:avLst/>
          </a:prstGeom>
          <a:solidFill>
            <a:srgbClr val="7F7F7F"/>
          </a:solidFill>
          <a:ln>
            <a:solidFill>
              <a:srgbClr val="7F7F7F"/>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Reporting Period</a:t>
            </a:r>
          </a:p>
        </p:txBody>
      </p:sp>
      <p:sp>
        <p:nvSpPr>
          <p:cNvPr id="15" name="TextBox 14"/>
          <p:cNvSpPr txBox="1"/>
          <p:nvPr/>
        </p:nvSpPr>
        <p:spPr>
          <a:xfrm>
            <a:off x="6096000" y="4206240"/>
            <a:ext cx="4114800" cy="923330"/>
          </a:xfrm>
          <a:prstGeom prst="rect">
            <a:avLst/>
          </a:prstGeom>
          <a:noFill/>
        </p:spPr>
        <p:txBody>
          <a:bodyPr wrap="square">
            <a:spAutoFit/>
          </a:bodyPr>
          <a:lstStyle/>
          <a:p>
            <a:pPr>
              <a:spcAft>
                <a:spcPts val="600"/>
              </a:spcAft>
              <a:defRPr sz="1100">
                <a:solidFill>
                  <a:srgbClr val="000000"/>
                </a:solidFill>
                <a:latin typeface="Calibri"/>
              </a:defRPr>
            </a:pPr>
            <a:r>
              <a:rPr sz="1100"/>
              <a:t>Measurement: Meter accuracy in post-retrofit data</a:t>
            </a:r>
          </a:p>
          <a:p>
            <a:pPr>
              <a:spcAft>
                <a:spcPts val="600"/>
              </a:spcAft>
              <a:defRPr sz="1100">
                <a:solidFill>
                  <a:srgbClr val="000000"/>
                </a:solidFill>
                <a:latin typeface="Calibri"/>
              </a:defRPr>
            </a:pPr>
            <a:r>
              <a:rPr sz="1100"/>
              <a:t>Sampling: Spot measurements, verification samples</a:t>
            </a:r>
          </a:p>
          <a:p>
            <a:pPr>
              <a:spcAft>
                <a:spcPts val="600"/>
              </a:spcAft>
              <a:defRPr sz="1100">
                <a:solidFill>
                  <a:srgbClr val="000000"/>
                </a:solidFill>
                <a:latin typeface="Calibri"/>
              </a:defRPr>
            </a:pPr>
            <a:r>
              <a:rPr sz="1100"/>
              <a:t>Modeling: Counterfactual uncertainty follows baseline model uncertainty</a:t>
            </a:r>
          </a:p>
        </p:txBody>
      </p:sp>
      <p:sp>
        <p:nvSpPr>
          <p:cNvPr id="16" name="Rectangle 15"/>
          <p:cNvSpPr/>
          <p:nvPr/>
        </p:nvSpPr>
        <p:spPr>
          <a:xfrm>
            <a:off x="1981200" y="5440680"/>
            <a:ext cx="8229600" cy="365760"/>
          </a:xfrm>
          <a:prstGeom prst="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dirty="0"/>
              <a:t>Key Concept: Counterfactual uncertainty </a:t>
            </a:r>
            <a:r>
              <a:rPr lang="en-US" sz="1400" dirty="0"/>
              <a:t>is a function of</a:t>
            </a:r>
            <a:r>
              <a:rPr sz="1400" dirty="0"/>
              <a:t> Baseline model uncertainty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6BB5C72-1E6E-08FC-F333-883F136D3CB9}"/>
              </a:ext>
            </a:extLst>
          </p:cNvPr>
          <p:cNvSpPr>
            <a:spLocks noGrp="1"/>
          </p:cNvSpPr>
          <p:nvPr>
            <p:ph type="title"/>
          </p:nvPr>
        </p:nvSpPr>
        <p:spPr>
          <a:xfrm>
            <a:off x="838200" y="365125"/>
            <a:ext cx="10515600" cy="1325563"/>
          </a:xfrm>
        </p:spPr>
        <p:txBody>
          <a:bodyPr anchor="ctr">
            <a:normAutofit/>
          </a:bodyPr>
          <a:lstStyle/>
          <a:p>
            <a:r>
              <a:rPr lang="en-US" dirty="0"/>
              <a:t>Fractional </a:t>
            </a:r>
            <a:r>
              <a:rPr lang="en-US"/>
              <a:t>Savings Uncertainty </a:t>
            </a:r>
            <a:endParaRPr lang="en-US" dirty="0"/>
          </a:p>
        </p:txBody>
      </p:sp>
      <p:sp>
        <p:nvSpPr>
          <p:cNvPr id="10" name="Content Placeholder 3">
            <a:extLst>
              <a:ext uri="{FF2B5EF4-FFF2-40B4-BE49-F238E27FC236}">
                <a16:creationId xmlns:a16="http://schemas.microsoft.com/office/drawing/2014/main" id="{460A1B52-5FB1-1E91-5C5A-2CB86C6F085D}"/>
              </a:ext>
            </a:extLst>
          </p:cNvPr>
          <p:cNvSpPr>
            <a:spLocks noGrp="1"/>
          </p:cNvSpPr>
          <p:nvPr>
            <p:ph sz="half" idx="1"/>
          </p:nvPr>
        </p:nvSpPr>
        <p:spPr>
          <a:xfrm>
            <a:off x="838200" y="1825625"/>
            <a:ext cx="5181600" cy="4351338"/>
          </a:xfrm>
        </p:spPr>
        <p:txBody>
          <a:bodyPr>
            <a:normAutofit/>
          </a:bodyPr>
          <a:lstStyle/>
          <a:p>
            <a:r>
              <a:rPr lang="en-US" dirty="0"/>
              <a:t>The 'adjusted baseline model’ contains the RMSE from the baseline model. But this diminishes over time. </a:t>
            </a:r>
            <a:r>
              <a:rPr lang="en-US"/>
              <a:t>(See FSU in Statistics)</a:t>
            </a:r>
          </a:p>
          <a:p>
            <a:endParaRPr lang="en-US" dirty="0"/>
          </a:p>
        </p:txBody>
      </p:sp>
      <p:pic>
        <p:nvPicPr>
          <p:cNvPr id="3" name="Picture 2">
            <a:extLst>
              <a:ext uri="{FF2B5EF4-FFF2-40B4-BE49-F238E27FC236}">
                <a16:creationId xmlns:a16="http://schemas.microsoft.com/office/drawing/2014/main" id="{CEF7FA26-A4F4-1938-4ABB-47749A655742}"/>
              </a:ext>
            </a:extLst>
          </p:cNvPr>
          <p:cNvPicPr>
            <a:picLocks noChangeAspect="1"/>
          </p:cNvPicPr>
          <p:nvPr/>
        </p:nvPicPr>
        <p:blipFill>
          <a:blip r:embed="rId2"/>
          <a:stretch>
            <a:fillRect/>
          </a:stretch>
        </p:blipFill>
        <p:spPr>
          <a:xfrm>
            <a:off x="6587330" y="1410494"/>
            <a:ext cx="4766469" cy="4766469"/>
          </a:xfrm>
          <a:prstGeom prst="rect">
            <a:avLst/>
          </a:prstGeom>
          <a:noFill/>
        </p:spPr>
      </p:pic>
    </p:spTree>
    <p:extLst>
      <p:ext uri="{BB962C8B-B14F-4D97-AF65-F5344CB8AC3E}">
        <p14:creationId xmlns:p14="http://schemas.microsoft.com/office/powerpoint/2010/main" val="323888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Uncertainty Examples in M&amp;V</a:t>
            </a:r>
          </a:p>
        </p:txBody>
      </p:sp>
      <p:pic>
        <p:nvPicPr>
          <p:cNvPr id="3" name="Picture 2" descr="AEE_Logo.gif"/>
          <p:cNvPicPr>
            <a:picLocks noChangeAspect="1"/>
          </p:cNvPicPr>
          <p:nvPr/>
        </p:nvPicPr>
        <p:blipFill>
          <a:blip r:embed="rId2"/>
          <a:stretch>
            <a:fillRect/>
          </a:stretch>
        </p:blipFill>
        <p:spPr>
          <a:xfrm>
            <a:off x="1798321" y="6400800"/>
            <a:ext cx="825305" cy="365760"/>
          </a:xfrm>
          <a:prstGeom prst="rect">
            <a:avLst/>
          </a:prstGeom>
        </p:spPr>
      </p:pic>
      <p:sp>
        <p:nvSpPr>
          <p:cNvPr id="4" name="Rectangle 3"/>
          <p:cNvSpPr/>
          <p:nvPr/>
        </p:nvSpPr>
        <p:spPr>
          <a:xfrm>
            <a:off x="1981200" y="1051560"/>
            <a:ext cx="8229600" cy="32004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Example 1: Whole Building Regression (Modeling Uncertainty)</a:t>
            </a:r>
          </a:p>
        </p:txBody>
      </p:sp>
      <p:sp>
        <p:nvSpPr>
          <p:cNvPr id="5" name="TextBox 4"/>
          <p:cNvSpPr txBox="1"/>
          <p:nvPr/>
        </p:nvSpPr>
        <p:spPr>
          <a:xfrm>
            <a:off x="2164080" y="1463040"/>
            <a:ext cx="7863840" cy="868680"/>
          </a:xfrm>
          <a:prstGeom prst="rect">
            <a:avLst/>
          </a:prstGeom>
          <a:noFill/>
        </p:spPr>
        <p:txBody>
          <a:bodyPr wrap="square">
            <a:spAutoFit/>
          </a:bodyPr>
          <a:lstStyle/>
          <a:p>
            <a:pPr algn="l">
              <a:defRPr sz="1000" b="0">
                <a:solidFill>
                  <a:srgbClr val="000000"/>
                </a:solidFill>
                <a:latin typeface="Calibri"/>
              </a:defRPr>
            </a:pPr>
            <a:r>
              <a:rPr sz="1000"/>
              <a:t>Baseline Model: Energy = 100,000 + 50 × HDD (R² = 0.92, RMSE = 15,000 kWh/month)</a:t>
            </a:r>
          </a:p>
          <a:p>
            <a:pPr algn="l">
              <a:defRPr sz="1000" b="0">
                <a:solidFill>
                  <a:srgbClr val="000000"/>
                </a:solidFill>
                <a:latin typeface="Calibri"/>
              </a:defRPr>
            </a:pPr>
            <a:r>
              <a:rPr sz="1000"/>
              <a:t>CV(RMSE) = RMSE / Mean Energy = 15,000 / 300,000 = 5.0%</a:t>
            </a:r>
          </a:p>
          <a:p>
            <a:pPr algn="l">
              <a:defRPr sz="1000" b="0">
                <a:solidFill>
                  <a:srgbClr val="000000"/>
                </a:solidFill>
                <a:latin typeface="Calibri"/>
              </a:defRPr>
            </a:pPr>
            <a:r>
              <a:rPr sz="1000"/>
              <a:t>Post-retrofit savings: 60,000 kWh/year</a:t>
            </a:r>
          </a:p>
          <a:p>
            <a:pPr algn="l">
              <a:defRPr sz="1000" b="0">
                <a:solidFill>
                  <a:srgbClr val="000000"/>
                </a:solidFill>
                <a:latin typeface="Calibri"/>
              </a:defRPr>
            </a:pPr>
            <a:r>
              <a:rPr sz="1000"/>
              <a:t>Fractional Savings Uncertainty (FSU) ≈ 2 × CV(RMSE) / √(months) = 2 × 5.0% / √12 = 2.9%</a:t>
            </a:r>
          </a:p>
          <a:p>
            <a:pPr algn="l">
              <a:defRPr sz="1000" b="0">
                <a:solidFill>
                  <a:srgbClr val="000000"/>
                </a:solidFill>
                <a:latin typeface="Calibri"/>
              </a:defRPr>
            </a:pPr>
            <a:r>
              <a:rPr sz="1000"/>
              <a:t>Reported savings: 60,000 kWh/year ± 1,740 kWh (at 68% confidence)</a:t>
            </a:r>
          </a:p>
        </p:txBody>
      </p:sp>
      <p:sp>
        <p:nvSpPr>
          <p:cNvPr id="6" name="Rectangle 5"/>
          <p:cNvSpPr/>
          <p:nvPr/>
        </p:nvSpPr>
        <p:spPr>
          <a:xfrm>
            <a:off x="1981200" y="2514600"/>
            <a:ext cx="8229600" cy="32004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Example 2: Lighting Retrofit (Sampling Uncertainty)</a:t>
            </a:r>
          </a:p>
        </p:txBody>
      </p:sp>
      <p:sp>
        <p:nvSpPr>
          <p:cNvPr id="7" name="TextBox 6"/>
          <p:cNvSpPr txBox="1"/>
          <p:nvPr/>
        </p:nvSpPr>
        <p:spPr>
          <a:xfrm>
            <a:off x="2164080" y="2926081"/>
            <a:ext cx="7863840" cy="1169551"/>
          </a:xfrm>
          <a:prstGeom prst="rect">
            <a:avLst/>
          </a:prstGeom>
          <a:noFill/>
        </p:spPr>
        <p:txBody>
          <a:bodyPr wrap="square">
            <a:spAutoFit/>
          </a:bodyPr>
          <a:lstStyle/>
          <a:p>
            <a:pPr algn="l">
              <a:defRPr sz="1000" b="0">
                <a:solidFill>
                  <a:srgbClr val="000000"/>
                </a:solidFill>
                <a:latin typeface="Calibri"/>
              </a:defRPr>
            </a:pPr>
            <a:r>
              <a:rPr sz="1000"/>
              <a:t>Baseline: 500 fixtures, sample 50 fixtures (10%) to measure wattage</a:t>
            </a:r>
          </a:p>
          <a:p>
            <a:pPr algn="l">
              <a:defRPr sz="1000" b="0">
                <a:solidFill>
                  <a:srgbClr val="000000"/>
                </a:solidFill>
                <a:latin typeface="Calibri"/>
              </a:defRPr>
            </a:pPr>
            <a:r>
              <a:rPr sz="1000"/>
              <a:t>Sample mean: 95W, Sample std dev: 12W</a:t>
            </a:r>
          </a:p>
          <a:p>
            <a:pPr algn="l">
              <a:defRPr sz="1000" b="0">
                <a:solidFill>
                  <a:srgbClr val="000000"/>
                </a:solidFill>
                <a:latin typeface="Calibri"/>
              </a:defRPr>
            </a:pPr>
            <a:r>
              <a:rPr sz="1000"/>
              <a:t>Standard error (SE) = σ / √n = 12 / √50 = 1.7W</a:t>
            </a:r>
          </a:p>
          <a:p>
            <a:pPr algn="l">
              <a:defRPr sz="1000" b="0">
                <a:solidFill>
                  <a:srgbClr val="000000"/>
                </a:solidFill>
                <a:latin typeface="Calibri"/>
              </a:defRPr>
            </a:pPr>
            <a:r>
              <a:rPr sz="1000"/>
              <a:t>Confidence interval (95%): 95W ± (1.96 × 1.7) = 95W ± 3.3W → [91.7W, 98.3W]</a:t>
            </a:r>
          </a:p>
          <a:p>
            <a:pPr algn="l">
              <a:defRPr sz="1000" b="0">
                <a:solidFill>
                  <a:srgbClr val="000000"/>
                </a:solidFill>
                <a:latin typeface="Calibri"/>
              </a:defRPr>
            </a:pPr>
            <a:r>
              <a:rPr sz="1000"/>
              <a:t>Baseline uncertainty: ±3.5% from sampling</a:t>
            </a:r>
          </a:p>
          <a:p>
            <a:pPr algn="l">
              <a:defRPr sz="1000" b="0">
                <a:solidFill>
                  <a:srgbClr val="000000"/>
                </a:solidFill>
                <a:latin typeface="Calibri"/>
              </a:defRPr>
            </a:pPr>
            <a:r>
              <a:rPr sz="1000"/>
              <a:t>Total baseline load: 500 fixtures × 95W × 3,000 hrs = 142,500 kWh/yr ± 5,000 kWh</a:t>
            </a:r>
          </a:p>
          <a:p>
            <a:pPr algn="l">
              <a:defRPr sz="1000" b="0">
                <a:solidFill>
                  <a:srgbClr val="000000"/>
                </a:solidFill>
                <a:latin typeface="Calibri"/>
              </a:defRPr>
            </a:pPr>
            <a:r>
              <a:rPr sz="1000"/>
              <a:t>Note: Larger samples reduce uncertainty (n=100 → SE=1.2W, CI=±2.4W)</a:t>
            </a:r>
          </a:p>
        </p:txBody>
      </p:sp>
      <p:sp>
        <p:nvSpPr>
          <p:cNvPr id="8" name="Rectangle 7"/>
          <p:cNvSpPr/>
          <p:nvPr/>
        </p:nvSpPr>
        <p:spPr>
          <a:xfrm>
            <a:off x="1981200" y="4069080"/>
            <a:ext cx="8229600" cy="32004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Example 3: Chiller Retrofit (Measurement Uncertainty)</a:t>
            </a:r>
          </a:p>
        </p:txBody>
      </p:sp>
      <p:sp>
        <p:nvSpPr>
          <p:cNvPr id="9" name="TextBox 8"/>
          <p:cNvSpPr txBox="1"/>
          <p:nvPr/>
        </p:nvSpPr>
        <p:spPr>
          <a:xfrm>
            <a:off x="2164080" y="4480560"/>
            <a:ext cx="7863840" cy="1554272"/>
          </a:xfrm>
          <a:prstGeom prst="rect">
            <a:avLst/>
          </a:prstGeom>
          <a:noFill/>
        </p:spPr>
        <p:txBody>
          <a:bodyPr wrap="square">
            <a:spAutoFit/>
          </a:bodyPr>
          <a:lstStyle/>
          <a:p>
            <a:pPr algn="l">
              <a:defRPr sz="950" b="0">
                <a:solidFill>
                  <a:srgbClr val="000000"/>
                </a:solidFill>
                <a:latin typeface="Calibri"/>
              </a:defRPr>
            </a:pPr>
            <a:r>
              <a:rPr sz="950"/>
              <a:t>Measurement equation: Energy = Flow × ΔT × Cp × time</a:t>
            </a:r>
          </a:p>
          <a:p>
            <a:pPr algn="l">
              <a:defRPr sz="950" b="0">
                <a:solidFill>
                  <a:srgbClr val="000000"/>
                </a:solidFill>
                <a:latin typeface="Calibri"/>
              </a:defRPr>
            </a:pPr>
            <a:r>
              <a:rPr sz="950"/>
              <a:t>Component uncertainties:</a:t>
            </a:r>
          </a:p>
          <a:p>
            <a:pPr algn="l">
              <a:defRPr sz="950" b="0">
                <a:solidFill>
                  <a:srgbClr val="000000"/>
                </a:solidFill>
                <a:latin typeface="Calibri"/>
              </a:defRPr>
            </a:pPr>
            <a:r>
              <a:rPr sz="950"/>
              <a:t>  • Flow meter: ±1.5% (calibrated, class 1)</a:t>
            </a:r>
          </a:p>
          <a:p>
            <a:pPr algn="l">
              <a:defRPr sz="950" b="0">
                <a:solidFill>
                  <a:srgbClr val="000000"/>
                </a:solidFill>
                <a:latin typeface="Calibri"/>
              </a:defRPr>
            </a:pPr>
            <a:r>
              <a:rPr sz="950"/>
              <a:t>  • Temperature sensors: ±0.3°C (at ΔT = 10°C → ±3%)</a:t>
            </a:r>
          </a:p>
          <a:p>
            <a:pPr algn="l">
              <a:defRPr sz="950" b="0">
                <a:solidFill>
                  <a:srgbClr val="000000"/>
                </a:solidFill>
                <a:latin typeface="Calibri"/>
              </a:defRPr>
            </a:pPr>
            <a:r>
              <a:rPr sz="950"/>
              <a:t>  • Time: negligible</a:t>
            </a:r>
          </a:p>
          <a:p>
            <a:pPr algn="l">
              <a:defRPr sz="950" b="0">
                <a:solidFill>
                  <a:srgbClr val="000000"/>
                </a:solidFill>
                <a:latin typeface="Calibri"/>
              </a:defRPr>
            </a:pPr>
            <a:r>
              <a:rPr sz="950"/>
              <a:t>Combined measurement uncertainty (root sum square):</a:t>
            </a:r>
          </a:p>
          <a:p>
            <a:pPr algn="l">
              <a:defRPr sz="950" b="0">
                <a:solidFill>
                  <a:srgbClr val="000000"/>
                </a:solidFill>
                <a:latin typeface="Calibri"/>
              </a:defRPr>
            </a:pPr>
            <a:r>
              <a:rPr sz="950"/>
              <a:t>  U_total = √[(1.5%)² + (3%)²] = √[0.0225% + 9%] = 3.4%</a:t>
            </a:r>
          </a:p>
          <a:p>
            <a:pPr algn="l">
              <a:defRPr sz="950" b="0">
                <a:solidFill>
                  <a:srgbClr val="000000"/>
                </a:solidFill>
                <a:latin typeface="Calibri"/>
              </a:defRPr>
            </a:pPr>
            <a:r>
              <a:rPr sz="950"/>
              <a:t>Baseline measurement: 1,000 MWh/yr ± 34 MWh (baseline period)</a:t>
            </a:r>
          </a:p>
          <a:p>
            <a:pPr algn="l">
              <a:defRPr sz="950" b="0">
                <a:solidFill>
                  <a:srgbClr val="000000"/>
                </a:solidFill>
                <a:latin typeface="Calibri"/>
              </a:defRPr>
            </a:pPr>
            <a:r>
              <a:rPr sz="950"/>
              <a:t>Reporting measurement: 850 MWh/yr ± 29 MWh (reporting period)</a:t>
            </a:r>
          </a:p>
          <a:p>
            <a:pPr algn="l">
              <a:defRPr sz="950" b="0">
                <a:solidFill>
                  <a:srgbClr val="000000"/>
                </a:solidFill>
                <a:latin typeface="Calibri"/>
              </a:defRPr>
            </a:pPr>
            <a:r>
              <a:rPr sz="950"/>
              <a:t>Savings: 150 MWh/yr, Combined uncertainty: √(34² + 29²) = 45 MWh → Savings = 150 ± 45 MWh (30%)</a:t>
            </a:r>
          </a:p>
        </p:txBody>
      </p:sp>
      <p:sp>
        <p:nvSpPr>
          <p:cNvPr id="10" name="TextBox 9"/>
          <p:cNvSpPr txBox="1"/>
          <p:nvPr/>
        </p:nvSpPr>
        <p:spPr>
          <a:xfrm>
            <a:off x="1981200" y="6035041"/>
            <a:ext cx="8229600" cy="430887"/>
          </a:xfrm>
          <a:prstGeom prst="rect">
            <a:avLst/>
          </a:prstGeom>
          <a:noFill/>
        </p:spPr>
        <p:txBody>
          <a:bodyPr wrap="square">
            <a:spAutoFit/>
          </a:bodyPr>
          <a:lstStyle/>
          <a:p>
            <a:pPr algn="l">
              <a:defRPr sz="1100" b="1">
                <a:solidFill>
                  <a:srgbClr val="003366"/>
                </a:solidFill>
                <a:latin typeface="Calibri"/>
              </a:defRPr>
            </a:pPr>
            <a:r>
              <a:rPr sz="1100"/>
              <a:t>Key Takeaway: All three uncertainty types must be considered in M&amp;V planning. Larger uncertainties require more conservative M&amp;V approaches or increased measurement rigor.</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73935" y="274321"/>
            <a:ext cx="2444131" cy="646331"/>
          </a:xfrm>
          <a:prstGeom prst="rect">
            <a:avLst/>
          </a:prstGeom>
          <a:noFill/>
        </p:spPr>
        <p:txBody>
          <a:bodyPr wrap="none">
            <a:spAutoFit/>
          </a:bodyPr>
          <a:lstStyle/>
          <a:p>
            <a:pPr algn="ctr">
              <a:defRPr sz="3600" b="1">
                <a:solidFill>
                  <a:srgbClr val="3B5998"/>
                </a:solidFill>
              </a:defRPr>
            </a:pPr>
            <a:r>
              <a:rPr sz="3600"/>
              <a:t>Uncertainty</a:t>
            </a:r>
          </a:p>
        </p:txBody>
      </p:sp>
      <p:sp>
        <p:nvSpPr>
          <p:cNvPr id="4" name="TextBox 3"/>
          <p:cNvSpPr txBox="1"/>
          <p:nvPr/>
        </p:nvSpPr>
        <p:spPr>
          <a:xfrm>
            <a:off x="1981200" y="1645920"/>
            <a:ext cx="2743200" cy="923330"/>
          </a:xfrm>
          <a:prstGeom prst="rect">
            <a:avLst/>
          </a:prstGeom>
          <a:noFill/>
        </p:spPr>
        <p:txBody>
          <a:bodyPr wrap="square">
            <a:spAutoFit/>
          </a:bodyPr>
          <a:lstStyle/>
          <a:p>
            <a:pPr algn="ctr">
              <a:defRPr sz="4000" b="0">
                <a:solidFill>
                  <a:srgbClr val="000000"/>
                </a:solidFill>
              </a:defRPr>
            </a:pPr>
            <a:r>
              <a:rPr sz="5400"/>
              <a:t>🎲</a:t>
            </a:r>
          </a:p>
        </p:txBody>
      </p:sp>
      <p:sp>
        <p:nvSpPr>
          <p:cNvPr id="5" name="TextBox 4"/>
          <p:cNvSpPr txBox="1"/>
          <p:nvPr/>
        </p:nvSpPr>
        <p:spPr>
          <a:xfrm>
            <a:off x="1981200" y="2194561"/>
            <a:ext cx="2743200" cy="646331"/>
          </a:xfrm>
          <a:prstGeom prst="rect">
            <a:avLst/>
          </a:prstGeom>
          <a:noFill/>
        </p:spPr>
        <p:txBody>
          <a:bodyPr wrap="square">
            <a:spAutoFit/>
          </a:bodyPr>
          <a:lstStyle/>
          <a:p>
            <a:pPr algn="ctr">
              <a:defRPr sz="2400" b="1">
                <a:solidFill>
                  <a:srgbClr val="000000"/>
                </a:solidFill>
              </a:defRPr>
            </a:pPr>
            <a:r>
              <a:rPr sz="3600"/>
              <a:t>Aleatory</a:t>
            </a:r>
          </a:p>
        </p:txBody>
      </p:sp>
      <p:sp>
        <p:nvSpPr>
          <p:cNvPr id="6" name="TextBox 5"/>
          <p:cNvSpPr txBox="1"/>
          <p:nvPr/>
        </p:nvSpPr>
        <p:spPr>
          <a:xfrm>
            <a:off x="1981200" y="2758085"/>
            <a:ext cx="2743200" cy="2062103"/>
          </a:xfrm>
          <a:prstGeom prst="rect">
            <a:avLst/>
          </a:prstGeom>
          <a:noFill/>
        </p:spPr>
        <p:txBody>
          <a:bodyPr wrap="square">
            <a:spAutoFit/>
          </a:bodyPr>
          <a:lstStyle/>
          <a:p>
            <a:pPr>
              <a:defRPr sz="1400">
                <a:solidFill>
                  <a:srgbClr val="000000"/>
                </a:solidFill>
              </a:defRPr>
            </a:pPr>
            <a:r>
              <a:rPr sz="1600" dirty="0"/>
              <a:t>Natural variation of inputs and parameters</a:t>
            </a:r>
          </a:p>
          <a:p>
            <a:pPr>
              <a:defRPr sz="1400">
                <a:solidFill>
                  <a:srgbClr val="000000"/>
                </a:solidFill>
              </a:defRPr>
            </a:pPr>
            <a:endParaRPr sz="1600" dirty="0"/>
          </a:p>
          <a:p>
            <a:pPr>
              <a:defRPr sz="1400">
                <a:solidFill>
                  <a:srgbClr val="000000"/>
                </a:solidFill>
              </a:defRPr>
            </a:pPr>
            <a:r>
              <a:rPr sz="1600" dirty="0"/>
              <a:t>Inherent randomness in system behavior</a:t>
            </a:r>
          </a:p>
          <a:p>
            <a:pPr>
              <a:defRPr sz="1400">
                <a:solidFill>
                  <a:srgbClr val="000000"/>
                </a:solidFill>
              </a:defRPr>
            </a:pPr>
            <a:endParaRPr sz="1600" dirty="0"/>
          </a:p>
          <a:p>
            <a:pPr>
              <a:defRPr sz="1400">
                <a:solidFill>
                  <a:srgbClr val="000000"/>
                </a:solidFill>
              </a:defRPr>
            </a:pPr>
            <a:r>
              <a:rPr sz="1600" dirty="0"/>
              <a:t>Can be quantified as standard error or RMSE</a:t>
            </a:r>
          </a:p>
        </p:txBody>
      </p:sp>
      <p:sp>
        <p:nvSpPr>
          <p:cNvPr id="7" name="TextBox 6"/>
          <p:cNvSpPr txBox="1"/>
          <p:nvPr/>
        </p:nvSpPr>
        <p:spPr>
          <a:xfrm>
            <a:off x="4907280" y="1645920"/>
            <a:ext cx="2377440" cy="923330"/>
          </a:xfrm>
          <a:prstGeom prst="rect">
            <a:avLst/>
          </a:prstGeom>
          <a:noFill/>
        </p:spPr>
        <p:txBody>
          <a:bodyPr wrap="square">
            <a:spAutoFit/>
          </a:bodyPr>
          <a:lstStyle/>
          <a:p>
            <a:pPr algn="ctr">
              <a:defRPr sz="4000" b="0">
                <a:solidFill>
                  <a:srgbClr val="000000"/>
                </a:solidFill>
              </a:defRPr>
            </a:pPr>
            <a:r>
              <a:rPr sz="5400" dirty="0"/>
              <a:t>❓</a:t>
            </a:r>
          </a:p>
        </p:txBody>
      </p:sp>
      <p:sp>
        <p:nvSpPr>
          <p:cNvPr id="8" name="TextBox 7"/>
          <p:cNvSpPr txBox="1"/>
          <p:nvPr/>
        </p:nvSpPr>
        <p:spPr>
          <a:xfrm>
            <a:off x="4907280" y="2194561"/>
            <a:ext cx="2377440" cy="646331"/>
          </a:xfrm>
          <a:prstGeom prst="rect">
            <a:avLst/>
          </a:prstGeom>
          <a:noFill/>
        </p:spPr>
        <p:txBody>
          <a:bodyPr wrap="square">
            <a:spAutoFit/>
          </a:bodyPr>
          <a:lstStyle/>
          <a:p>
            <a:pPr algn="ctr">
              <a:defRPr sz="2400" b="1">
                <a:solidFill>
                  <a:srgbClr val="000000"/>
                </a:solidFill>
              </a:defRPr>
            </a:pPr>
            <a:r>
              <a:rPr sz="3600"/>
              <a:t>Epistemic</a:t>
            </a:r>
          </a:p>
        </p:txBody>
      </p:sp>
      <p:sp>
        <p:nvSpPr>
          <p:cNvPr id="9" name="TextBox 8"/>
          <p:cNvSpPr txBox="1"/>
          <p:nvPr/>
        </p:nvSpPr>
        <p:spPr>
          <a:xfrm>
            <a:off x="4907280" y="2758085"/>
            <a:ext cx="2377440" cy="2308324"/>
          </a:xfrm>
          <a:prstGeom prst="rect">
            <a:avLst/>
          </a:prstGeom>
          <a:noFill/>
        </p:spPr>
        <p:txBody>
          <a:bodyPr wrap="square">
            <a:spAutoFit/>
          </a:bodyPr>
          <a:lstStyle/>
          <a:p>
            <a:pPr>
              <a:defRPr sz="1400">
                <a:solidFill>
                  <a:srgbClr val="000000"/>
                </a:solidFill>
              </a:defRPr>
            </a:pPr>
            <a:r>
              <a:rPr sz="1600" dirty="0"/>
              <a:t>Lack of knowledge about the system</a:t>
            </a:r>
          </a:p>
          <a:p>
            <a:pPr>
              <a:defRPr sz="1400">
                <a:solidFill>
                  <a:srgbClr val="000000"/>
                </a:solidFill>
              </a:defRPr>
            </a:pPr>
            <a:endParaRPr sz="1600" dirty="0"/>
          </a:p>
          <a:p>
            <a:pPr>
              <a:defRPr sz="1400">
                <a:solidFill>
                  <a:srgbClr val="000000"/>
                </a:solidFill>
              </a:defRPr>
            </a:pPr>
            <a:r>
              <a:rPr sz="1600" dirty="0"/>
              <a:t>Could be reduced with better data or measurement</a:t>
            </a:r>
          </a:p>
          <a:p>
            <a:pPr>
              <a:defRPr sz="1400">
                <a:solidFill>
                  <a:srgbClr val="000000"/>
                </a:solidFill>
              </a:defRPr>
            </a:pPr>
            <a:endParaRPr sz="1600" dirty="0"/>
          </a:p>
          <a:p>
            <a:pPr>
              <a:defRPr sz="1400">
                <a:solidFill>
                  <a:srgbClr val="000000"/>
                </a:solidFill>
              </a:defRPr>
            </a:pPr>
            <a:r>
              <a:rPr sz="1600" dirty="0"/>
              <a:t>Parameter estimation errors</a:t>
            </a:r>
          </a:p>
        </p:txBody>
      </p:sp>
      <p:sp>
        <p:nvSpPr>
          <p:cNvPr id="10" name="TextBox 9"/>
          <p:cNvSpPr txBox="1"/>
          <p:nvPr/>
        </p:nvSpPr>
        <p:spPr>
          <a:xfrm>
            <a:off x="7467600" y="1645920"/>
            <a:ext cx="2743200" cy="923330"/>
          </a:xfrm>
          <a:prstGeom prst="rect">
            <a:avLst/>
          </a:prstGeom>
          <a:noFill/>
        </p:spPr>
        <p:txBody>
          <a:bodyPr wrap="square">
            <a:spAutoFit/>
          </a:bodyPr>
          <a:lstStyle/>
          <a:p>
            <a:pPr algn="ctr">
              <a:defRPr sz="4000" b="0">
                <a:solidFill>
                  <a:srgbClr val="000000"/>
                </a:solidFill>
              </a:defRPr>
            </a:pPr>
            <a:r>
              <a:rPr sz="5400"/>
              <a:t>🔄</a:t>
            </a:r>
          </a:p>
        </p:txBody>
      </p:sp>
      <p:sp>
        <p:nvSpPr>
          <p:cNvPr id="11" name="TextBox 10"/>
          <p:cNvSpPr txBox="1"/>
          <p:nvPr/>
        </p:nvSpPr>
        <p:spPr>
          <a:xfrm>
            <a:off x="7467600" y="2194561"/>
            <a:ext cx="2743200" cy="646331"/>
          </a:xfrm>
          <a:prstGeom prst="rect">
            <a:avLst/>
          </a:prstGeom>
          <a:noFill/>
        </p:spPr>
        <p:txBody>
          <a:bodyPr wrap="square">
            <a:spAutoFit/>
          </a:bodyPr>
          <a:lstStyle/>
          <a:p>
            <a:pPr algn="ctr">
              <a:defRPr sz="2400" b="1">
                <a:solidFill>
                  <a:srgbClr val="000000"/>
                </a:solidFill>
              </a:defRPr>
            </a:pPr>
            <a:r>
              <a:rPr sz="3600"/>
              <a:t>Ontological</a:t>
            </a:r>
          </a:p>
        </p:txBody>
      </p:sp>
      <p:sp>
        <p:nvSpPr>
          <p:cNvPr id="12" name="TextBox 11"/>
          <p:cNvSpPr txBox="1"/>
          <p:nvPr/>
        </p:nvSpPr>
        <p:spPr>
          <a:xfrm>
            <a:off x="7467600" y="2758085"/>
            <a:ext cx="2743200" cy="1815882"/>
          </a:xfrm>
          <a:prstGeom prst="rect">
            <a:avLst/>
          </a:prstGeom>
          <a:noFill/>
        </p:spPr>
        <p:txBody>
          <a:bodyPr wrap="square">
            <a:spAutoFit/>
          </a:bodyPr>
          <a:lstStyle/>
          <a:p>
            <a:pPr>
              <a:defRPr sz="1400">
                <a:solidFill>
                  <a:srgbClr val="000000"/>
                </a:solidFill>
              </a:defRPr>
            </a:pPr>
            <a:r>
              <a:rPr sz="1600" dirty="0"/>
              <a:t>Uncertainty about system structure or existence</a:t>
            </a:r>
          </a:p>
          <a:p>
            <a:pPr>
              <a:defRPr sz="1400">
                <a:solidFill>
                  <a:srgbClr val="000000"/>
                </a:solidFill>
              </a:defRPr>
            </a:pPr>
            <a:endParaRPr sz="1600" dirty="0"/>
          </a:p>
          <a:p>
            <a:pPr>
              <a:defRPr sz="1400">
                <a:solidFill>
                  <a:srgbClr val="000000"/>
                </a:solidFill>
              </a:defRPr>
            </a:pPr>
            <a:r>
              <a:rPr sz="1600" dirty="0"/>
              <a:t>Non-routine events: unknown system changes</a:t>
            </a:r>
          </a:p>
          <a:p>
            <a:pPr>
              <a:defRPr sz="1400">
                <a:solidFill>
                  <a:srgbClr val="000000"/>
                </a:solidFill>
              </a:defRPr>
            </a:pPr>
            <a:endParaRPr sz="1600" dirty="0"/>
          </a:p>
          <a:p>
            <a:pPr>
              <a:defRPr sz="1400">
                <a:solidFill>
                  <a:srgbClr val="000000"/>
                </a:solidFill>
              </a:defRPr>
            </a:pPr>
            <a:r>
              <a:rPr sz="1600" dirty="0"/>
              <a:t>Static factors that changed</a:t>
            </a:r>
          </a:p>
        </p:txBody>
      </p:sp>
      <p:sp>
        <p:nvSpPr>
          <p:cNvPr id="13" name="TextBox 12"/>
          <p:cNvSpPr txBox="1"/>
          <p:nvPr/>
        </p:nvSpPr>
        <p:spPr>
          <a:xfrm>
            <a:off x="1981200" y="5394961"/>
            <a:ext cx="2743200" cy="430887"/>
          </a:xfrm>
          <a:prstGeom prst="rect">
            <a:avLst/>
          </a:prstGeom>
          <a:noFill/>
        </p:spPr>
        <p:txBody>
          <a:bodyPr wrap="square">
            <a:spAutoFit/>
          </a:bodyPr>
          <a:lstStyle/>
          <a:p>
            <a:pPr algn="ctr">
              <a:defRPr sz="1100" b="0">
                <a:solidFill>
                  <a:srgbClr val="646464"/>
                </a:solidFill>
              </a:defRPr>
            </a:pPr>
            <a:r>
              <a:rPr sz="1100"/>
              <a:t>M&amp;V Example:</a:t>
            </a:r>
          </a:p>
          <a:p>
            <a:pPr algn="ctr">
              <a:defRPr sz="1100" b="0">
                <a:solidFill>
                  <a:srgbClr val="646464"/>
                </a:solidFill>
              </a:defRPr>
            </a:pPr>
            <a:r>
              <a:rPr sz="1100"/>
              <a:t>Weather variation, occupancy patterns</a:t>
            </a:r>
          </a:p>
        </p:txBody>
      </p:sp>
      <p:sp>
        <p:nvSpPr>
          <p:cNvPr id="14" name="TextBox 13"/>
          <p:cNvSpPr txBox="1"/>
          <p:nvPr/>
        </p:nvSpPr>
        <p:spPr>
          <a:xfrm>
            <a:off x="4907280" y="5394960"/>
            <a:ext cx="2377440" cy="600164"/>
          </a:xfrm>
          <a:prstGeom prst="rect">
            <a:avLst/>
          </a:prstGeom>
          <a:noFill/>
        </p:spPr>
        <p:txBody>
          <a:bodyPr wrap="square">
            <a:spAutoFit/>
          </a:bodyPr>
          <a:lstStyle/>
          <a:p>
            <a:pPr algn="ctr">
              <a:defRPr sz="1100" b="0">
                <a:solidFill>
                  <a:srgbClr val="646464"/>
                </a:solidFill>
              </a:defRPr>
            </a:pPr>
            <a:r>
              <a:rPr sz="1100"/>
              <a:t>M&amp;V Example:</a:t>
            </a:r>
          </a:p>
          <a:p>
            <a:pPr algn="ctr">
              <a:defRPr sz="1100" b="0">
                <a:solidFill>
                  <a:srgbClr val="646464"/>
                </a:solidFill>
              </a:defRPr>
            </a:pPr>
            <a:r>
              <a:rPr sz="1100"/>
              <a:t>Unknown equipment specs, infiltration rates</a:t>
            </a:r>
          </a:p>
        </p:txBody>
      </p:sp>
      <p:sp>
        <p:nvSpPr>
          <p:cNvPr id="15" name="TextBox 14"/>
          <p:cNvSpPr txBox="1"/>
          <p:nvPr/>
        </p:nvSpPr>
        <p:spPr>
          <a:xfrm>
            <a:off x="7467600" y="5394960"/>
            <a:ext cx="2743200" cy="600164"/>
          </a:xfrm>
          <a:prstGeom prst="rect">
            <a:avLst/>
          </a:prstGeom>
          <a:noFill/>
        </p:spPr>
        <p:txBody>
          <a:bodyPr wrap="square">
            <a:spAutoFit/>
          </a:bodyPr>
          <a:lstStyle/>
          <a:p>
            <a:pPr algn="ctr">
              <a:defRPr sz="1100" b="0">
                <a:solidFill>
                  <a:srgbClr val="646464"/>
                </a:solidFill>
              </a:defRPr>
            </a:pPr>
            <a:r>
              <a:rPr sz="1100"/>
              <a:t>M&amp;V Example:</a:t>
            </a:r>
          </a:p>
          <a:p>
            <a:pPr algn="ctr">
              <a:defRPr sz="1100" b="0">
                <a:solidFill>
                  <a:srgbClr val="646464"/>
                </a:solidFill>
              </a:defRPr>
            </a:pPr>
            <a:r>
              <a:rPr sz="1100"/>
              <a:t>Equipment failure, tenant changes, new loads</a:t>
            </a:r>
          </a:p>
        </p:txBody>
      </p:sp>
      <p:sp>
        <p:nvSpPr>
          <p:cNvPr id="16" name="TextBox 15"/>
          <p:cNvSpPr txBox="1"/>
          <p:nvPr/>
        </p:nvSpPr>
        <p:spPr>
          <a:xfrm>
            <a:off x="1981200" y="6217920"/>
            <a:ext cx="8229600" cy="369332"/>
          </a:xfrm>
          <a:prstGeom prst="rect">
            <a:avLst/>
          </a:prstGeom>
          <a:noFill/>
        </p:spPr>
        <p:txBody>
          <a:bodyPr wrap="square">
            <a:spAutoFit/>
          </a:bodyPr>
          <a:lstStyle/>
          <a:p>
            <a:pPr algn="ctr">
              <a:defRPr sz="900" b="0">
                <a:solidFill>
                  <a:srgbClr val="646464"/>
                </a:solidFill>
              </a:defRPr>
            </a:pPr>
            <a:r>
              <a:rPr sz="900"/>
              <a:t>Further Reading: Nathan Wayne Porter and Vincent Andrew Mousseau,</a:t>
            </a:r>
          </a:p>
          <a:p>
            <a:pPr algn="ctr">
              <a:defRPr sz="900" b="0">
                <a:solidFill>
                  <a:srgbClr val="646464"/>
                </a:solidFill>
              </a:defRPr>
            </a:pPr>
            <a:r>
              <a:rPr sz="900"/>
              <a:t>"Understanding Aleatory and Epistemic Parameter Uncertainty in Statistical Models."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8B15A-9021-714D-896B-A8712847ACE6}"/>
              </a:ext>
            </a:extLst>
          </p:cNvPr>
          <p:cNvSpPr>
            <a:spLocks noGrp="1"/>
          </p:cNvSpPr>
          <p:nvPr>
            <p:ph type="title"/>
          </p:nvPr>
        </p:nvSpPr>
        <p:spPr/>
        <p:txBody>
          <a:bodyPr/>
          <a:lstStyle/>
          <a:p>
            <a:r>
              <a:rPr lang="en-US"/>
              <a:t>Uncertainty</a:t>
            </a:r>
          </a:p>
        </p:txBody>
      </p:sp>
      <p:sp>
        <p:nvSpPr>
          <p:cNvPr id="3" name="Content Placeholder 2">
            <a:extLst>
              <a:ext uri="{FF2B5EF4-FFF2-40B4-BE49-F238E27FC236}">
                <a16:creationId xmlns:a16="http://schemas.microsoft.com/office/drawing/2014/main" id="{2E0CD4C5-5D8E-A646-38B4-2A6C3E966E5B}"/>
              </a:ext>
            </a:extLst>
          </p:cNvPr>
          <p:cNvSpPr>
            <a:spLocks noGrp="1"/>
          </p:cNvSpPr>
          <p:nvPr>
            <p:ph sz="half" idx="1"/>
          </p:nvPr>
        </p:nvSpPr>
        <p:spPr>
          <a:xfrm>
            <a:off x="838200" y="1825625"/>
            <a:ext cx="4048125" cy="4351338"/>
          </a:xfrm>
        </p:spPr>
        <p:txBody>
          <a:bodyPr>
            <a:normAutofit/>
          </a:bodyPr>
          <a:lstStyle/>
          <a:p>
            <a:pPr>
              <a:lnSpc>
                <a:spcPct val="90000"/>
              </a:lnSpc>
            </a:pPr>
            <a:r>
              <a:rPr lang="en-US" sz="2000">
                <a:cs typeface="Semplicita Pro"/>
              </a:rPr>
              <a:t>Because the M&amp;V process cannot produce a perfect answer that contains no uncertainty, the CMVP must ask, “How much M&amp;V is enough?” </a:t>
            </a:r>
          </a:p>
          <a:p>
            <a:pPr>
              <a:lnSpc>
                <a:spcPct val="90000"/>
              </a:lnSpc>
            </a:pPr>
            <a:r>
              <a:rPr lang="en-US" sz="2000">
                <a:cs typeface="Semplicita Pro"/>
              </a:rPr>
              <a:t>In other words, it is necessary to balance M&amp;V efforts, which aim at reducing uncertainty, and cost.</a:t>
            </a:r>
          </a:p>
        </p:txBody>
      </p:sp>
      <p:sp>
        <p:nvSpPr>
          <p:cNvPr id="4" name="Content Placeholder 3">
            <a:extLst>
              <a:ext uri="{FF2B5EF4-FFF2-40B4-BE49-F238E27FC236}">
                <a16:creationId xmlns:a16="http://schemas.microsoft.com/office/drawing/2014/main" id="{11C49B28-E751-0D85-68A5-2D9A10207AA9}"/>
              </a:ext>
            </a:extLst>
          </p:cNvPr>
          <p:cNvSpPr>
            <a:spLocks noGrp="1"/>
          </p:cNvSpPr>
          <p:nvPr>
            <p:ph sz="half" idx="2"/>
          </p:nvPr>
        </p:nvSpPr>
        <p:spPr>
          <a:xfrm>
            <a:off x="5529262" y="1825625"/>
            <a:ext cx="5824537" cy="4351338"/>
          </a:xfrm>
        </p:spPr>
        <p:txBody>
          <a:bodyPr>
            <a:normAutofit/>
          </a:bodyPr>
          <a:lstStyle/>
          <a:p>
            <a:r>
              <a:rPr lang="en-US" sz="3200" b="1"/>
              <a:t>Risk Management</a:t>
            </a:r>
            <a:r>
              <a:rPr lang="en-US" sz="3200"/>
              <a:t>: The process of identification, analysis, and acceptance or mitigation of uncertainty in investment decisions.</a:t>
            </a:r>
          </a:p>
          <a:p>
            <a:r>
              <a:rPr lang="en-US" sz="3200"/>
              <a:t>—</a:t>
            </a:r>
            <a:r>
              <a:rPr lang="en-US" sz="3200" i="1"/>
              <a:t>Investopedia</a:t>
            </a:r>
          </a:p>
        </p:txBody>
      </p:sp>
      <p:pic>
        <p:nvPicPr>
          <p:cNvPr id="5" name="Graphic 4">
            <a:extLst>
              <a:ext uri="{FF2B5EF4-FFF2-40B4-BE49-F238E27FC236}">
                <a16:creationId xmlns:a16="http://schemas.microsoft.com/office/drawing/2014/main" id="{3F631A9F-B0B3-4D66-0F55-1AB8FC2E6CE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6" name="Graphic 5">
            <a:extLst>
              <a:ext uri="{FF2B5EF4-FFF2-40B4-BE49-F238E27FC236}">
                <a16:creationId xmlns:a16="http://schemas.microsoft.com/office/drawing/2014/main" id="{19320E60-B77C-6F05-C7F0-DC995D2C85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4054454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Understanding Confidence Intervals</a:t>
            </a:r>
          </a:p>
        </p:txBody>
      </p:sp>
      <p:pic>
        <p:nvPicPr>
          <p:cNvPr id="3" name="Picture 2" descr="AEE_Logo.gif"/>
          <p:cNvPicPr>
            <a:picLocks noChangeAspect="1"/>
          </p:cNvPicPr>
          <p:nvPr/>
        </p:nvPicPr>
        <p:blipFill>
          <a:blip r:embed="rId2"/>
          <a:stretch>
            <a:fillRect/>
          </a:stretch>
        </p:blipFill>
        <p:spPr>
          <a:xfrm>
            <a:off x="1798321" y="6400800"/>
            <a:ext cx="825305" cy="365760"/>
          </a:xfrm>
          <a:prstGeom prst="rect">
            <a:avLst/>
          </a:prstGeom>
        </p:spPr>
      </p:pic>
      <p:pic>
        <p:nvPicPr>
          <p:cNvPr id="4" name="Picture 3" descr="gaussian_confidence_intervals.png"/>
          <p:cNvPicPr>
            <a:picLocks noChangeAspect="1"/>
          </p:cNvPicPr>
          <p:nvPr/>
        </p:nvPicPr>
        <p:blipFill>
          <a:blip r:embed="rId3"/>
          <a:stretch>
            <a:fillRect/>
          </a:stretch>
        </p:blipFill>
        <p:spPr>
          <a:xfrm>
            <a:off x="1981200" y="1171712"/>
            <a:ext cx="7623544" cy="4548458"/>
          </a:xfrm>
          <a:prstGeom prst="rect">
            <a:avLst/>
          </a:prstGeom>
        </p:spPr>
      </p:pic>
      <p:sp>
        <p:nvSpPr>
          <p:cNvPr id="5" name="TextBox 4"/>
          <p:cNvSpPr txBox="1"/>
          <p:nvPr/>
        </p:nvSpPr>
        <p:spPr>
          <a:xfrm>
            <a:off x="2066261" y="5773480"/>
            <a:ext cx="8229600" cy="430887"/>
          </a:xfrm>
          <a:prstGeom prst="rect">
            <a:avLst/>
          </a:prstGeom>
          <a:noFill/>
        </p:spPr>
        <p:txBody>
          <a:bodyPr wrap="square">
            <a:spAutoFit/>
          </a:bodyPr>
          <a:lstStyle/>
          <a:p>
            <a:pPr algn="l">
              <a:defRPr sz="1100" b="0">
                <a:solidFill>
                  <a:srgbClr val="003366"/>
                </a:solidFill>
                <a:latin typeface="Calibri"/>
              </a:defRPr>
            </a:pPr>
            <a:r>
              <a:rPr sz="1100" dirty="0"/>
              <a:t>Key Concept: 68% confidence = ±1 standard deviation (</a:t>
            </a:r>
            <a:r>
              <a:rPr sz="1100" dirty="0" err="1"/>
              <a:t>σ</a:t>
            </a:r>
            <a:r>
              <a:rPr sz="1100" dirty="0"/>
              <a:t>), 95% confidence = ±1.96σ</a:t>
            </a:r>
          </a:p>
          <a:p>
            <a:pPr algn="l">
              <a:defRPr sz="1100" b="0">
                <a:solidFill>
                  <a:srgbClr val="003366"/>
                </a:solidFill>
                <a:latin typeface="Calibri"/>
              </a:defRPr>
            </a:pPr>
            <a:r>
              <a:rPr sz="1100" dirty="0"/>
              <a:t>In M&amp;V, we typically report at 90% or 95% confidence levels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Three Sources of Uncertainty in M&amp;V</a:t>
            </a:r>
          </a:p>
        </p:txBody>
      </p:sp>
      <p:pic>
        <p:nvPicPr>
          <p:cNvPr id="3" name="Picture 2" descr="AEE_Logo.gif"/>
          <p:cNvPicPr>
            <a:picLocks noChangeAspect="1"/>
          </p:cNvPicPr>
          <p:nvPr/>
        </p:nvPicPr>
        <p:blipFill>
          <a:blip r:embed="rId2"/>
          <a:stretch>
            <a:fillRect/>
          </a:stretch>
        </p:blipFill>
        <p:spPr>
          <a:xfrm>
            <a:off x="1798321" y="6400800"/>
            <a:ext cx="825305" cy="365760"/>
          </a:xfrm>
          <a:prstGeom prst="rect">
            <a:avLst/>
          </a:prstGeom>
        </p:spPr>
      </p:pic>
      <p:sp>
        <p:nvSpPr>
          <p:cNvPr id="4" name="Rectangle 3"/>
          <p:cNvSpPr/>
          <p:nvPr/>
        </p:nvSpPr>
        <p:spPr>
          <a:xfrm>
            <a:off x="1981200" y="1051560"/>
            <a:ext cx="2651760" cy="32004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Measurement</a:t>
            </a:r>
          </a:p>
        </p:txBody>
      </p:sp>
      <p:sp>
        <p:nvSpPr>
          <p:cNvPr id="5" name="TextBox 4"/>
          <p:cNvSpPr txBox="1"/>
          <p:nvPr/>
        </p:nvSpPr>
        <p:spPr>
          <a:xfrm>
            <a:off x="1981200" y="1463040"/>
            <a:ext cx="2651760" cy="1000274"/>
          </a:xfrm>
          <a:prstGeom prst="rect">
            <a:avLst/>
          </a:prstGeom>
          <a:noFill/>
        </p:spPr>
        <p:txBody>
          <a:bodyPr wrap="square">
            <a:spAutoFit/>
          </a:bodyPr>
          <a:lstStyle/>
          <a:p>
            <a:pPr>
              <a:spcAft>
                <a:spcPts val="600"/>
              </a:spcAft>
              <a:defRPr sz="1100">
                <a:solidFill>
                  <a:srgbClr val="000000"/>
                </a:solidFill>
                <a:latin typeface="Calibri"/>
              </a:defRPr>
            </a:pPr>
            <a:r>
              <a:rPr sz="1100"/>
              <a:t>Meter accuracy</a:t>
            </a:r>
          </a:p>
          <a:p>
            <a:pPr>
              <a:spcAft>
                <a:spcPts val="600"/>
              </a:spcAft>
              <a:defRPr sz="1100">
                <a:solidFill>
                  <a:srgbClr val="000000"/>
                </a:solidFill>
                <a:latin typeface="Calibri"/>
              </a:defRPr>
            </a:pPr>
            <a:r>
              <a:rPr sz="1100"/>
              <a:t>Sensor precision</a:t>
            </a:r>
          </a:p>
          <a:p>
            <a:pPr>
              <a:spcAft>
                <a:spcPts val="600"/>
              </a:spcAft>
              <a:defRPr sz="1100">
                <a:solidFill>
                  <a:srgbClr val="000000"/>
                </a:solidFill>
                <a:latin typeface="Calibri"/>
              </a:defRPr>
            </a:pPr>
            <a:r>
              <a:rPr sz="1100"/>
              <a:t>Calibration drift</a:t>
            </a:r>
          </a:p>
          <a:p>
            <a:pPr>
              <a:spcAft>
                <a:spcPts val="600"/>
              </a:spcAft>
              <a:defRPr sz="1100">
                <a:solidFill>
                  <a:srgbClr val="000000"/>
                </a:solidFill>
                <a:latin typeface="Calibri"/>
              </a:defRPr>
            </a:pPr>
            <a:r>
              <a:rPr sz="1100"/>
              <a:t>Installation errors</a:t>
            </a:r>
          </a:p>
        </p:txBody>
      </p:sp>
      <p:sp>
        <p:nvSpPr>
          <p:cNvPr id="6" name="Rectangle 5"/>
          <p:cNvSpPr/>
          <p:nvPr/>
        </p:nvSpPr>
        <p:spPr>
          <a:xfrm>
            <a:off x="4770120" y="1051560"/>
            <a:ext cx="2651760" cy="32004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Sampling</a:t>
            </a:r>
          </a:p>
        </p:txBody>
      </p:sp>
      <p:sp>
        <p:nvSpPr>
          <p:cNvPr id="7" name="TextBox 6"/>
          <p:cNvSpPr txBox="1"/>
          <p:nvPr/>
        </p:nvSpPr>
        <p:spPr>
          <a:xfrm>
            <a:off x="4770120" y="1463040"/>
            <a:ext cx="2651760" cy="1000274"/>
          </a:xfrm>
          <a:prstGeom prst="rect">
            <a:avLst/>
          </a:prstGeom>
          <a:noFill/>
        </p:spPr>
        <p:txBody>
          <a:bodyPr wrap="square">
            <a:spAutoFit/>
          </a:bodyPr>
          <a:lstStyle/>
          <a:p>
            <a:pPr>
              <a:spcAft>
                <a:spcPts val="600"/>
              </a:spcAft>
              <a:defRPr sz="1100">
                <a:solidFill>
                  <a:srgbClr val="000000"/>
                </a:solidFill>
                <a:latin typeface="Calibri"/>
              </a:defRPr>
            </a:pPr>
            <a:r>
              <a:rPr sz="1100"/>
              <a:t>Sample size effects</a:t>
            </a:r>
          </a:p>
          <a:p>
            <a:pPr>
              <a:spcAft>
                <a:spcPts val="600"/>
              </a:spcAft>
              <a:defRPr sz="1100">
                <a:solidFill>
                  <a:srgbClr val="000000"/>
                </a:solidFill>
                <a:latin typeface="Calibri"/>
              </a:defRPr>
            </a:pPr>
            <a:r>
              <a:rPr sz="1100"/>
              <a:t>Selection bias</a:t>
            </a:r>
          </a:p>
          <a:p>
            <a:pPr>
              <a:spcAft>
                <a:spcPts val="600"/>
              </a:spcAft>
              <a:defRPr sz="1100">
                <a:solidFill>
                  <a:srgbClr val="000000"/>
                </a:solidFill>
                <a:latin typeface="Calibri"/>
              </a:defRPr>
            </a:pPr>
            <a:r>
              <a:rPr sz="1100"/>
              <a:t>Temporal sampling</a:t>
            </a:r>
          </a:p>
          <a:p>
            <a:pPr>
              <a:spcAft>
                <a:spcPts val="600"/>
              </a:spcAft>
              <a:defRPr sz="1100">
                <a:solidFill>
                  <a:srgbClr val="000000"/>
                </a:solidFill>
                <a:latin typeface="Calibri"/>
              </a:defRPr>
            </a:pPr>
            <a:r>
              <a:rPr sz="1100"/>
              <a:t>Confidence intervals</a:t>
            </a:r>
          </a:p>
        </p:txBody>
      </p:sp>
      <p:sp>
        <p:nvSpPr>
          <p:cNvPr id="8" name="Rectangle 7"/>
          <p:cNvSpPr/>
          <p:nvPr/>
        </p:nvSpPr>
        <p:spPr>
          <a:xfrm>
            <a:off x="7559040" y="1051560"/>
            <a:ext cx="2651760" cy="32004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Modeling</a:t>
            </a:r>
          </a:p>
        </p:txBody>
      </p:sp>
      <p:sp>
        <p:nvSpPr>
          <p:cNvPr id="9" name="TextBox 8"/>
          <p:cNvSpPr txBox="1"/>
          <p:nvPr/>
        </p:nvSpPr>
        <p:spPr>
          <a:xfrm>
            <a:off x="7559040" y="1463040"/>
            <a:ext cx="2651760" cy="1000274"/>
          </a:xfrm>
          <a:prstGeom prst="rect">
            <a:avLst/>
          </a:prstGeom>
          <a:noFill/>
        </p:spPr>
        <p:txBody>
          <a:bodyPr wrap="square">
            <a:spAutoFit/>
          </a:bodyPr>
          <a:lstStyle/>
          <a:p>
            <a:pPr>
              <a:spcAft>
                <a:spcPts val="600"/>
              </a:spcAft>
              <a:defRPr sz="1100">
                <a:solidFill>
                  <a:srgbClr val="000000"/>
                </a:solidFill>
                <a:latin typeface="Calibri"/>
              </a:defRPr>
            </a:pPr>
            <a:r>
              <a:rPr sz="1100"/>
              <a:t>Model fit (RMSE)</a:t>
            </a:r>
          </a:p>
          <a:p>
            <a:pPr>
              <a:spcAft>
                <a:spcPts val="600"/>
              </a:spcAft>
              <a:defRPr sz="1100">
                <a:solidFill>
                  <a:srgbClr val="000000"/>
                </a:solidFill>
                <a:latin typeface="Calibri"/>
              </a:defRPr>
            </a:pPr>
            <a:r>
              <a:rPr sz="1100"/>
              <a:t>Coefficient errors</a:t>
            </a:r>
          </a:p>
          <a:p>
            <a:pPr>
              <a:spcAft>
                <a:spcPts val="600"/>
              </a:spcAft>
              <a:defRPr sz="1100">
                <a:solidFill>
                  <a:srgbClr val="000000"/>
                </a:solidFill>
                <a:latin typeface="Calibri"/>
              </a:defRPr>
            </a:pPr>
            <a:r>
              <a:rPr sz="1100"/>
              <a:t>Extrapolation risks</a:t>
            </a:r>
          </a:p>
          <a:p>
            <a:pPr>
              <a:spcAft>
                <a:spcPts val="600"/>
              </a:spcAft>
              <a:defRPr sz="1100">
                <a:solidFill>
                  <a:srgbClr val="000000"/>
                </a:solidFill>
                <a:latin typeface="Calibri"/>
              </a:defRPr>
            </a:pPr>
            <a:r>
              <a:rPr sz="1100"/>
              <a:t>Parameter estimates</a:t>
            </a:r>
          </a:p>
        </p:txBody>
      </p:sp>
      <p:sp>
        <p:nvSpPr>
          <p:cNvPr id="10" name="Rectangle 9"/>
          <p:cNvSpPr/>
          <p:nvPr/>
        </p:nvSpPr>
        <p:spPr>
          <a:xfrm>
            <a:off x="1981200" y="2560320"/>
            <a:ext cx="8229600" cy="27432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Apply to BOTH Baseline and Reporting Periods</a:t>
            </a:r>
          </a:p>
        </p:txBody>
      </p:sp>
      <p:sp>
        <p:nvSpPr>
          <p:cNvPr id="11" name="TextBox 10"/>
          <p:cNvSpPr txBox="1"/>
          <p:nvPr/>
        </p:nvSpPr>
        <p:spPr>
          <a:xfrm>
            <a:off x="1981200" y="2926080"/>
            <a:ext cx="4114800" cy="274320"/>
          </a:xfrm>
          <a:prstGeom prst="rect">
            <a:avLst/>
          </a:prstGeom>
          <a:noFill/>
        </p:spPr>
        <p:txBody>
          <a:bodyPr wrap="square">
            <a:spAutoFit/>
          </a:bodyPr>
          <a:lstStyle/>
          <a:p>
            <a:pPr algn="l">
              <a:defRPr sz="1200" b="1">
                <a:solidFill>
                  <a:srgbClr val="7F7F7F"/>
                </a:solidFill>
                <a:latin typeface="Calibri"/>
              </a:defRPr>
            </a:pPr>
            <a:r>
              <a:rPr sz="1200"/>
              <a:t>BASELINE PERIOD</a:t>
            </a:r>
          </a:p>
        </p:txBody>
      </p:sp>
      <p:sp>
        <p:nvSpPr>
          <p:cNvPr id="12" name="TextBox 11"/>
          <p:cNvSpPr txBox="1"/>
          <p:nvPr/>
        </p:nvSpPr>
        <p:spPr>
          <a:xfrm>
            <a:off x="1981200" y="3246120"/>
            <a:ext cx="4114800" cy="707886"/>
          </a:xfrm>
          <a:prstGeom prst="rect">
            <a:avLst/>
          </a:prstGeom>
          <a:noFill/>
        </p:spPr>
        <p:txBody>
          <a:bodyPr wrap="square">
            <a:spAutoFit/>
          </a:bodyPr>
          <a:lstStyle/>
          <a:p>
            <a:pPr>
              <a:spcAft>
                <a:spcPts val="600"/>
              </a:spcAft>
              <a:defRPr sz="1000">
                <a:solidFill>
                  <a:srgbClr val="000000"/>
                </a:solidFill>
                <a:latin typeface="Calibri"/>
              </a:defRPr>
            </a:pPr>
            <a:r>
              <a:rPr sz="1000"/>
              <a:t>Measurement: Meter accuracy in data collection</a:t>
            </a:r>
          </a:p>
          <a:p>
            <a:pPr>
              <a:spcAft>
                <a:spcPts val="600"/>
              </a:spcAft>
              <a:defRPr sz="1000">
                <a:solidFill>
                  <a:srgbClr val="000000"/>
                </a:solidFill>
                <a:latin typeface="Calibri"/>
              </a:defRPr>
            </a:pPr>
            <a:r>
              <a:rPr sz="1000"/>
              <a:t>Sampling: Limited baseline data points</a:t>
            </a:r>
          </a:p>
          <a:p>
            <a:pPr>
              <a:spcAft>
                <a:spcPts val="600"/>
              </a:spcAft>
              <a:defRPr sz="1000">
                <a:solidFill>
                  <a:srgbClr val="000000"/>
                </a:solidFill>
                <a:latin typeface="Calibri"/>
              </a:defRPr>
            </a:pPr>
            <a:r>
              <a:rPr sz="1000"/>
              <a:t>Modeling: Baseline model fit (CV(RMSE))</a:t>
            </a:r>
          </a:p>
        </p:txBody>
      </p:sp>
      <p:sp>
        <p:nvSpPr>
          <p:cNvPr id="13" name="TextBox 12"/>
          <p:cNvSpPr txBox="1"/>
          <p:nvPr/>
        </p:nvSpPr>
        <p:spPr>
          <a:xfrm>
            <a:off x="6096000" y="2926080"/>
            <a:ext cx="4114800" cy="274320"/>
          </a:xfrm>
          <a:prstGeom prst="rect">
            <a:avLst/>
          </a:prstGeom>
          <a:noFill/>
        </p:spPr>
        <p:txBody>
          <a:bodyPr wrap="square">
            <a:spAutoFit/>
          </a:bodyPr>
          <a:lstStyle/>
          <a:p>
            <a:pPr algn="l">
              <a:defRPr sz="1200" b="1">
                <a:solidFill>
                  <a:srgbClr val="7F7F7F"/>
                </a:solidFill>
                <a:latin typeface="Calibri"/>
              </a:defRPr>
            </a:pPr>
            <a:r>
              <a:rPr sz="1200"/>
              <a:t>REPORTING PERIOD</a:t>
            </a:r>
          </a:p>
        </p:txBody>
      </p:sp>
      <p:sp>
        <p:nvSpPr>
          <p:cNvPr id="14" name="TextBox 13"/>
          <p:cNvSpPr txBox="1"/>
          <p:nvPr/>
        </p:nvSpPr>
        <p:spPr>
          <a:xfrm>
            <a:off x="6096000" y="3246120"/>
            <a:ext cx="4114800" cy="707886"/>
          </a:xfrm>
          <a:prstGeom prst="rect">
            <a:avLst/>
          </a:prstGeom>
          <a:noFill/>
        </p:spPr>
        <p:txBody>
          <a:bodyPr wrap="square">
            <a:spAutoFit/>
          </a:bodyPr>
          <a:lstStyle/>
          <a:p>
            <a:pPr>
              <a:spcAft>
                <a:spcPts val="600"/>
              </a:spcAft>
              <a:defRPr sz="1000">
                <a:solidFill>
                  <a:srgbClr val="000000"/>
                </a:solidFill>
                <a:latin typeface="Calibri"/>
              </a:defRPr>
            </a:pPr>
            <a:r>
              <a:rPr sz="1000"/>
              <a:t>Measurement: Meter accuracy post-retrofit</a:t>
            </a:r>
          </a:p>
          <a:p>
            <a:pPr>
              <a:spcAft>
                <a:spcPts val="600"/>
              </a:spcAft>
              <a:defRPr sz="1000">
                <a:solidFill>
                  <a:srgbClr val="000000"/>
                </a:solidFill>
                <a:latin typeface="Calibri"/>
              </a:defRPr>
            </a:pPr>
            <a:r>
              <a:rPr sz="1000"/>
              <a:t>Sampling: Verification spot measurements</a:t>
            </a:r>
          </a:p>
          <a:p>
            <a:pPr>
              <a:spcAft>
                <a:spcPts val="600"/>
              </a:spcAft>
              <a:defRPr sz="1000">
                <a:solidFill>
                  <a:srgbClr val="000000"/>
                </a:solidFill>
                <a:latin typeface="Calibri"/>
              </a:defRPr>
            </a:pPr>
            <a:r>
              <a:rPr sz="1000"/>
              <a:t>Modeling: Counterfactual = Baseline model</a:t>
            </a:r>
          </a:p>
        </p:txBody>
      </p:sp>
      <p:pic>
        <p:nvPicPr>
          <p:cNvPr id="15" name="Picture 14" descr="gaussian_uncertainty_propagation.png"/>
          <p:cNvPicPr>
            <a:picLocks noChangeAspect="1"/>
          </p:cNvPicPr>
          <p:nvPr/>
        </p:nvPicPr>
        <p:blipFill>
          <a:blip r:embed="rId3"/>
          <a:stretch>
            <a:fillRect/>
          </a:stretch>
        </p:blipFill>
        <p:spPr>
          <a:xfrm>
            <a:off x="4150111" y="4139842"/>
            <a:ext cx="3795955" cy="2260958"/>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gaussian_uncertainty_propagation.png">
            <a:extLst>
              <a:ext uri="{FF2B5EF4-FFF2-40B4-BE49-F238E27FC236}">
                <a16:creationId xmlns:a16="http://schemas.microsoft.com/office/drawing/2014/main" id="{B3EC7A29-547B-9CF1-33BD-8916A42FE707}"/>
              </a:ext>
            </a:extLst>
          </p:cNvPr>
          <p:cNvPicPr>
            <a:picLocks noChangeAspect="1"/>
          </p:cNvPicPr>
          <p:nvPr/>
        </p:nvPicPr>
        <p:blipFill>
          <a:blip r:embed="rId2"/>
          <a:stretch>
            <a:fillRect/>
          </a:stretch>
        </p:blipFill>
        <p:spPr>
          <a:xfrm>
            <a:off x="2321311" y="839973"/>
            <a:ext cx="7765253" cy="5007935"/>
          </a:xfrm>
          <a:prstGeom prst="rect">
            <a:avLst/>
          </a:prstGeom>
        </p:spPr>
      </p:pic>
    </p:spTree>
    <p:extLst>
      <p:ext uri="{BB962C8B-B14F-4D97-AF65-F5344CB8AC3E}">
        <p14:creationId xmlns:p14="http://schemas.microsoft.com/office/powerpoint/2010/main" val="287185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Example 2: Sampling Uncertainty (Lighting)</a:t>
            </a:r>
          </a:p>
        </p:txBody>
      </p:sp>
      <p:pic>
        <p:nvPicPr>
          <p:cNvPr id="3" name="Picture 2" descr="AEE_Logo.gif"/>
          <p:cNvPicPr>
            <a:picLocks noChangeAspect="1"/>
          </p:cNvPicPr>
          <p:nvPr/>
        </p:nvPicPr>
        <p:blipFill>
          <a:blip r:embed="rId2"/>
          <a:stretch>
            <a:fillRect/>
          </a:stretch>
        </p:blipFill>
        <p:spPr>
          <a:xfrm>
            <a:off x="1798321" y="6400800"/>
            <a:ext cx="825305" cy="365760"/>
          </a:xfrm>
          <a:prstGeom prst="rect">
            <a:avLst/>
          </a:prstGeom>
        </p:spPr>
      </p:pic>
      <p:pic>
        <p:nvPicPr>
          <p:cNvPr id="4" name="Picture 3" descr="gaussian_sampling_effect.png"/>
          <p:cNvPicPr>
            <a:picLocks noChangeAspect="1"/>
          </p:cNvPicPr>
          <p:nvPr/>
        </p:nvPicPr>
        <p:blipFill>
          <a:blip r:embed="rId3"/>
          <a:stretch>
            <a:fillRect/>
          </a:stretch>
        </p:blipFill>
        <p:spPr>
          <a:xfrm>
            <a:off x="1798320" y="1051561"/>
            <a:ext cx="8595360" cy="3718799"/>
          </a:xfrm>
          <a:prstGeom prst="rect">
            <a:avLst/>
          </a:prstGeom>
        </p:spPr>
      </p:pic>
      <p:sp>
        <p:nvSpPr>
          <p:cNvPr id="5" name="Rectangle 4"/>
          <p:cNvSpPr/>
          <p:nvPr/>
        </p:nvSpPr>
        <p:spPr>
          <a:xfrm>
            <a:off x="1981200" y="4754880"/>
            <a:ext cx="8229600" cy="22860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200" b="1">
                <a:solidFill>
                  <a:srgbClr val="FFFFFF"/>
                </a:solidFill>
                <a:latin typeface="Calibri"/>
              </a:defRPr>
            </a:pPr>
            <a:r>
              <a:rPr sz="1200"/>
              <a:t>Calculation Example</a:t>
            </a:r>
          </a:p>
        </p:txBody>
      </p:sp>
      <p:sp>
        <p:nvSpPr>
          <p:cNvPr id="6" name="TextBox 5"/>
          <p:cNvSpPr txBox="1"/>
          <p:nvPr/>
        </p:nvSpPr>
        <p:spPr>
          <a:xfrm>
            <a:off x="1981200" y="5029200"/>
            <a:ext cx="8229600" cy="677108"/>
          </a:xfrm>
          <a:prstGeom prst="rect">
            <a:avLst/>
          </a:prstGeom>
          <a:noFill/>
        </p:spPr>
        <p:txBody>
          <a:bodyPr wrap="square">
            <a:spAutoFit/>
          </a:bodyPr>
          <a:lstStyle/>
          <a:p>
            <a:pPr algn="l">
              <a:defRPr sz="950" b="0">
                <a:solidFill>
                  <a:srgbClr val="000000"/>
                </a:solidFill>
                <a:latin typeface="Calibri"/>
              </a:defRPr>
            </a:pPr>
            <a:r>
              <a:rPr sz="950"/>
              <a:t>500 fixtures total, sample 50 (10%)  |  Sample mean: 95W, std dev: 12W</a:t>
            </a:r>
          </a:p>
          <a:p>
            <a:pPr algn="l">
              <a:defRPr sz="950" b="0">
                <a:solidFill>
                  <a:srgbClr val="000000"/>
                </a:solidFill>
                <a:latin typeface="Calibri"/>
              </a:defRPr>
            </a:pPr>
            <a:r>
              <a:rPr sz="950"/>
              <a:t>Standard Error (SE) = 12 / √50 = 1.7W  |  95% CI: 95W ± (1.96 × 1.7) = 95W ± 3.3W</a:t>
            </a:r>
          </a:p>
          <a:p>
            <a:pPr algn="l">
              <a:defRPr sz="950" b="0">
                <a:solidFill>
                  <a:srgbClr val="000000"/>
                </a:solidFill>
                <a:latin typeface="Calibri"/>
              </a:defRPr>
            </a:pPr>
            <a:r>
              <a:rPr sz="950"/>
              <a:t>Baseline: 500 × 95W × 3,000 hrs = 142,500 ± 5,000 kWh/yr  |  Uncertainty: ±3.5%</a:t>
            </a:r>
          </a:p>
          <a:p>
            <a:pPr algn="l">
              <a:defRPr sz="950" b="0">
                <a:solidFill>
                  <a:srgbClr val="000000"/>
                </a:solidFill>
                <a:latin typeface="Calibri"/>
              </a:defRPr>
            </a:pPr>
            <a:r>
              <a:rPr sz="950"/>
              <a:t>Key Insight: Doubling sample size (n=100) reduces uncertainty to ±2.4W (±2.5%)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Example 3: Measurement Uncertainty (Chiller)</a:t>
            </a:r>
          </a:p>
        </p:txBody>
      </p:sp>
      <p:pic>
        <p:nvPicPr>
          <p:cNvPr id="3" name="Picture 2" descr="AEE_Logo.gif"/>
          <p:cNvPicPr>
            <a:picLocks noChangeAspect="1"/>
          </p:cNvPicPr>
          <p:nvPr/>
        </p:nvPicPr>
        <p:blipFill>
          <a:blip r:embed="rId2"/>
          <a:stretch>
            <a:fillRect/>
          </a:stretch>
        </p:blipFill>
        <p:spPr>
          <a:xfrm>
            <a:off x="1798321" y="6400800"/>
            <a:ext cx="825305" cy="365760"/>
          </a:xfrm>
          <a:prstGeom prst="rect">
            <a:avLst/>
          </a:prstGeom>
        </p:spPr>
      </p:pic>
      <p:pic>
        <p:nvPicPr>
          <p:cNvPr id="4" name="Picture 3" descr="gaussian_measurement_uncertainty.png"/>
          <p:cNvPicPr>
            <a:picLocks noChangeAspect="1"/>
          </p:cNvPicPr>
          <p:nvPr/>
        </p:nvPicPr>
        <p:blipFill>
          <a:blip r:embed="rId3"/>
          <a:stretch>
            <a:fillRect/>
          </a:stretch>
        </p:blipFill>
        <p:spPr>
          <a:xfrm>
            <a:off x="1798320" y="1051561"/>
            <a:ext cx="8595360" cy="5119593"/>
          </a:xfrm>
          <a:prstGeom prst="rect">
            <a:avLst/>
          </a:prstGeom>
        </p:spPr>
      </p:pic>
      <p:sp>
        <p:nvSpPr>
          <p:cNvPr id="5" name="Rectangle 4"/>
          <p:cNvSpPr/>
          <p:nvPr/>
        </p:nvSpPr>
        <p:spPr>
          <a:xfrm>
            <a:off x="1981200" y="4754880"/>
            <a:ext cx="8229600" cy="22860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200" b="1">
                <a:solidFill>
                  <a:srgbClr val="FFFFFF"/>
                </a:solidFill>
                <a:latin typeface="Calibri"/>
              </a:defRPr>
            </a:pPr>
            <a:r>
              <a:rPr sz="1200"/>
              <a:t>Calculation Example</a:t>
            </a:r>
          </a:p>
        </p:txBody>
      </p:sp>
      <p:sp>
        <p:nvSpPr>
          <p:cNvPr id="6" name="TextBox 5"/>
          <p:cNvSpPr txBox="1"/>
          <p:nvPr/>
        </p:nvSpPr>
        <p:spPr>
          <a:xfrm>
            <a:off x="1981200" y="5029200"/>
            <a:ext cx="8229600" cy="677108"/>
          </a:xfrm>
          <a:prstGeom prst="rect">
            <a:avLst/>
          </a:prstGeom>
          <a:noFill/>
        </p:spPr>
        <p:txBody>
          <a:bodyPr wrap="square">
            <a:spAutoFit/>
          </a:bodyPr>
          <a:lstStyle/>
          <a:p>
            <a:pPr algn="l">
              <a:defRPr sz="950" b="0">
                <a:solidFill>
                  <a:srgbClr val="000000"/>
                </a:solidFill>
                <a:latin typeface="Calibri"/>
              </a:defRPr>
            </a:pPr>
            <a:r>
              <a:rPr sz="950"/>
              <a:t>Measurement: Energy = Flow × ΔT × Cp  |  Flow meter: ±1.5%, Temp sensors: ±3%</a:t>
            </a:r>
          </a:p>
          <a:p>
            <a:pPr algn="l">
              <a:defRPr sz="950" b="0">
                <a:solidFill>
                  <a:srgbClr val="000000"/>
                </a:solidFill>
                <a:latin typeface="Calibri"/>
              </a:defRPr>
            </a:pPr>
            <a:r>
              <a:rPr sz="950"/>
              <a:t>Combined (RSS): √[(1.5%)² + (3%)²] = 3.4%  |  Baseline: 1,000 ± 34 MWh, Reporting: 850 ± 29 MWh</a:t>
            </a:r>
          </a:p>
          <a:p>
            <a:pPr algn="l">
              <a:defRPr sz="950" b="0">
                <a:solidFill>
                  <a:srgbClr val="000000"/>
                </a:solidFill>
                <a:latin typeface="Calibri"/>
              </a:defRPr>
            </a:pPr>
            <a:r>
              <a:rPr sz="950"/>
              <a:t>Savings: 150 MWh  |  Combined uncertainty: √(34² + 29²) = 45 MWh</a:t>
            </a:r>
          </a:p>
          <a:p>
            <a:pPr algn="l">
              <a:defRPr sz="950" b="0">
                <a:solidFill>
                  <a:srgbClr val="000000"/>
                </a:solidFill>
                <a:latin typeface="Calibri"/>
              </a:defRPr>
            </a:pPr>
            <a:r>
              <a:rPr sz="950"/>
              <a:t>Result: 150 ± 45 MWh (±30%)  |  Small difference of large numbers → high relative uncertainty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0" y="0"/>
            <a:ext cx="9144000" cy="822960"/>
          </a:xfrm>
          <a:prstGeom prst="rect">
            <a:avLst/>
          </a:prstGeom>
          <a:solidFill>
            <a:srgbClr val="003366"/>
          </a:solidFill>
          <a:ln>
            <a:noFill/>
          </a:ln>
        </p:spPr>
        <p:style>
          <a:lnRef idx="1">
            <a:schemeClr val="accent1"/>
          </a:lnRef>
          <a:fillRef idx="3">
            <a:schemeClr val="accent1"/>
          </a:fillRef>
          <a:effectRef idx="2">
            <a:schemeClr val="accent1"/>
          </a:effectRef>
          <a:fontRef idx="minor">
            <a:schemeClr val="lt1"/>
          </a:fontRef>
        </p:style>
        <p:txBody>
          <a:bodyPr wrap="square" lIns="274320" rtlCol="0" anchor="ctr"/>
          <a:lstStyle/>
          <a:p>
            <a:pPr algn="l">
              <a:defRPr sz="2800" b="1">
                <a:solidFill>
                  <a:srgbClr val="FFFFFF"/>
                </a:solidFill>
                <a:latin typeface="Calibri"/>
              </a:defRPr>
            </a:pPr>
            <a:r>
              <a:rPr sz="2800"/>
              <a:t>Key Takeaways: Uncertainty in M&amp;V</a:t>
            </a:r>
          </a:p>
        </p:txBody>
      </p:sp>
      <p:pic>
        <p:nvPicPr>
          <p:cNvPr id="3" name="Picture 2" descr="AEE_Logo.gif"/>
          <p:cNvPicPr>
            <a:picLocks noChangeAspect="1"/>
          </p:cNvPicPr>
          <p:nvPr/>
        </p:nvPicPr>
        <p:blipFill>
          <a:blip r:embed="rId2"/>
          <a:stretch>
            <a:fillRect/>
          </a:stretch>
        </p:blipFill>
        <p:spPr>
          <a:xfrm>
            <a:off x="1798321" y="6400800"/>
            <a:ext cx="825305" cy="365760"/>
          </a:xfrm>
          <a:prstGeom prst="rect">
            <a:avLst/>
          </a:prstGeom>
        </p:spPr>
      </p:pic>
      <p:sp>
        <p:nvSpPr>
          <p:cNvPr id="4" name="Rectangle 3"/>
          <p:cNvSpPr/>
          <p:nvPr/>
        </p:nvSpPr>
        <p:spPr>
          <a:xfrm>
            <a:off x="1981200" y="1097280"/>
            <a:ext cx="8229600" cy="320040"/>
          </a:xfrm>
          <a:prstGeom prst="rect">
            <a:avLst/>
          </a:prstGeom>
          <a:solidFill>
            <a:srgbClr val="0070C0"/>
          </a:solidFill>
          <a:ln>
            <a:solidFill>
              <a:srgbClr val="0070C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1. Three Types of Uncertainty</a:t>
            </a:r>
          </a:p>
        </p:txBody>
      </p:sp>
      <p:sp>
        <p:nvSpPr>
          <p:cNvPr id="5" name="TextBox 4"/>
          <p:cNvSpPr txBox="1"/>
          <p:nvPr/>
        </p:nvSpPr>
        <p:spPr>
          <a:xfrm>
            <a:off x="2164080" y="1508760"/>
            <a:ext cx="7863840" cy="594360"/>
          </a:xfrm>
          <a:prstGeom prst="rect">
            <a:avLst/>
          </a:prstGeom>
          <a:noFill/>
        </p:spPr>
        <p:txBody>
          <a:bodyPr wrap="square">
            <a:spAutoFit/>
          </a:bodyPr>
          <a:lstStyle/>
          <a:p>
            <a:pPr algn="l">
              <a:defRPr sz="1100" b="0">
                <a:solidFill>
                  <a:srgbClr val="000000"/>
                </a:solidFill>
                <a:latin typeface="Calibri"/>
              </a:defRPr>
            </a:pPr>
            <a:r>
              <a:rPr sz="1100"/>
              <a:t>Measurement (meter accuracy), Sampling (sample size effects), Modeling (RMSE/CV(RMSE))</a:t>
            </a:r>
          </a:p>
          <a:p>
            <a:pPr algn="l">
              <a:defRPr sz="1100" b="0">
                <a:solidFill>
                  <a:srgbClr val="000000"/>
                </a:solidFill>
                <a:latin typeface="Calibri"/>
              </a:defRPr>
            </a:pPr>
            <a:r>
              <a:rPr sz="1100"/>
              <a:t>All three affect BOTH baseline and reporting periods</a:t>
            </a:r>
          </a:p>
          <a:p>
            <a:pPr algn="l">
              <a:defRPr sz="1100" b="0">
                <a:solidFill>
                  <a:srgbClr val="000000"/>
                </a:solidFill>
                <a:latin typeface="Calibri"/>
              </a:defRPr>
            </a:pPr>
            <a:r>
              <a:rPr sz="1100"/>
              <a:t>Must consider ALL types in M&amp;V planning</a:t>
            </a:r>
          </a:p>
        </p:txBody>
      </p:sp>
      <p:sp>
        <p:nvSpPr>
          <p:cNvPr id="6" name="Rectangle 5"/>
          <p:cNvSpPr/>
          <p:nvPr/>
        </p:nvSpPr>
        <p:spPr>
          <a:xfrm>
            <a:off x="1981200" y="2240280"/>
            <a:ext cx="8229600" cy="320040"/>
          </a:xfrm>
          <a:prstGeom prst="rect">
            <a:avLst/>
          </a:prstGeom>
          <a:solidFill>
            <a:srgbClr val="ED7D31"/>
          </a:solidFill>
          <a:ln>
            <a:solidFill>
              <a:srgbClr val="ED7D3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2. Counterfactual Uncertainty = Baseline Model Uncertainty</a:t>
            </a:r>
          </a:p>
        </p:txBody>
      </p:sp>
      <p:sp>
        <p:nvSpPr>
          <p:cNvPr id="7" name="TextBox 6"/>
          <p:cNvSpPr txBox="1"/>
          <p:nvPr/>
        </p:nvSpPr>
        <p:spPr>
          <a:xfrm>
            <a:off x="2164080" y="2651760"/>
            <a:ext cx="7863840" cy="594360"/>
          </a:xfrm>
          <a:prstGeom prst="rect">
            <a:avLst/>
          </a:prstGeom>
          <a:noFill/>
        </p:spPr>
        <p:txBody>
          <a:bodyPr wrap="square">
            <a:spAutoFit/>
          </a:bodyPr>
          <a:lstStyle/>
          <a:p>
            <a:pPr algn="l">
              <a:defRPr sz="1100" b="0">
                <a:solidFill>
                  <a:srgbClr val="000000"/>
                </a:solidFill>
                <a:latin typeface="Calibri"/>
              </a:defRPr>
            </a:pPr>
            <a:r>
              <a:rPr sz="1100" dirty="0"/>
              <a:t>The adjusted baseline model has the SAME uncertainty as the baseline model</a:t>
            </a:r>
            <a:r>
              <a:rPr lang="en-US" sz="1100" dirty="0"/>
              <a:t> (with one reading)</a:t>
            </a:r>
            <a:endParaRPr sz="1100" dirty="0"/>
          </a:p>
          <a:p>
            <a:pPr algn="l">
              <a:defRPr sz="1100" b="0">
                <a:solidFill>
                  <a:srgbClr val="000000"/>
                </a:solidFill>
                <a:latin typeface="Calibri"/>
              </a:defRPr>
            </a:pPr>
            <a:r>
              <a:rPr sz="1100" dirty="0"/>
              <a:t>Why? Because it IS the baseline model applied to current conditions</a:t>
            </a:r>
          </a:p>
          <a:p>
            <a:pPr algn="l">
              <a:defRPr sz="1100" b="0">
                <a:solidFill>
                  <a:srgbClr val="000000"/>
                </a:solidFill>
                <a:latin typeface="Calibri"/>
              </a:defRPr>
            </a:pPr>
            <a:r>
              <a:rPr sz="1100" dirty="0"/>
              <a:t>This is why baseline model quality (low CV(RMSE)) is critical</a:t>
            </a:r>
          </a:p>
        </p:txBody>
      </p:sp>
      <p:sp>
        <p:nvSpPr>
          <p:cNvPr id="8" name="Rectangle 7"/>
          <p:cNvSpPr/>
          <p:nvPr/>
        </p:nvSpPr>
        <p:spPr>
          <a:xfrm>
            <a:off x="1981200" y="3383280"/>
            <a:ext cx="8229600" cy="320040"/>
          </a:xfrm>
          <a:prstGeom prst="rect">
            <a:avLst/>
          </a:prstGeom>
          <a:solidFill>
            <a:srgbClr val="70AD47"/>
          </a:solidFill>
          <a:ln>
            <a:solidFill>
              <a:srgbClr val="70AD47"/>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400" b="1">
                <a:solidFill>
                  <a:srgbClr val="FFFFFF"/>
                </a:solidFill>
                <a:latin typeface="Calibri"/>
              </a:defRPr>
            </a:pPr>
            <a:r>
              <a:rPr sz="1400"/>
              <a:t>3. Uncertainties Combine Using Root Sum Square (RSS)</a:t>
            </a:r>
          </a:p>
        </p:txBody>
      </p:sp>
      <p:sp>
        <p:nvSpPr>
          <p:cNvPr id="9" name="TextBox 8"/>
          <p:cNvSpPr txBox="1"/>
          <p:nvPr/>
        </p:nvSpPr>
        <p:spPr>
          <a:xfrm>
            <a:off x="2164080" y="3794760"/>
            <a:ext cx="7863840" cy="594360"/>
          </a:xfrm>
          <a:prstGeom prst="rect">
            <a:avLst/>
          </a:prstGeom>
          <a:noFill/>
        </p:spPr>
        <p:txBody>
          <a:bodyPr wrap="square">
            <a:spAutoFit/>
          </a:bodyPr>
          <a:lstStyle/>
          <a:p>
            <a:pPr algn="l">
              <a:defRPr sz="1100" b="0">
                <a:solidFill>
                  <a:srgbClr val="000000"/>
                </a:solidFill>
                <a:latin typeface="Calibri"/>
              </a:defRPr>
            </a:pPr>
            <a:r>
              <a:rPr sz="1100"/>
              <a:t>U_total = √[(U₁)² + (U₂)² + (U₃)²]  |  Example: √[(34)² + (29)²] = 45 MWh</a:t>
            </a:r>
          </a:p>
          <a:p>
            <a:pPr algn="l">
              <a:defRPr sz="1100" b="0">
                <a:solidFill>
                  <a:srgbClr val="000000"/>
                </a:solidFill>
                <a:latin typeface="Calibri"/>
              </a:defRPr>
            </a:pPr>
            <a:r>
              <a:rPr sz="1100"/>
              <a:t>For savings: Small difference of large numbers → high relative uncertainty</a:t>
            </a:r>
          </a:p>
          <a:p>
            <a:pPr algn="l">
              <a:defRPr sz="1100" b="0">
                <a:solidFill>
                  <a:srgbClr val="000000"/>
                </a:solidFill>
                <a:latin typeface="Calibri"/>
              </a:defRPr>
            </a:pPr>
            <a:r>
              <a:rPr sz="1100"/>
              <a:t>Rule of thumb: Savings should be &gt;2× measurement/modeling uncertainty</a:t>
            </a:r>
          </a:p>
        </p:txBody>
      </p:sp>
      <p:sp>
        <p:nvSpPr>
          <p:cNvPr id="10" name="Rectangle 9"/>
          <p:cNvSpPr/>
          <p:nvPr/>
        </p:nvSpPr>
        <p:spPr>
          <a:xfrm>
            <a:off x="1981200" y="4572000"/>
            <a:ext cx="8229600" cy="22860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200" b="1">
                <a:solidFill>
                  <a:srgbClr val="FFFFFF"/>
                </a:solidFill>
                <a:latin typeface="Calibri"/>
              </a:defRPr>
            </a:pPr>
            <a:r>
              <a:rPr sz="1200"/>
              <a:t>Typical Uncertainty Values in M&amp;V</a:t>
            </a:r>
          </a:p>
        </p:txBody>
      </p:sp>
      <p:sp>
        <p:nvSpPr>
          <p:cNvPr id="11" name="TextBox 10"/>
          <p:cNvSpPr txBox="1"/>
          <p:nvPr/>
        </p:nvSpPr>
        <p:spPr>
          <a:xfrm>
            <a:off x="1981200" y="4846320"/>
            <a:ext cx="8229600" cy="553998"/>
          </a:xfrm>
          <a:prstGeom prst="rect">
            <a:avLst/>
          </a:prstGeom>
          <a:noFill/>
        </p:spPr>
        <p:txBody>
          <a:bodyPr wrap="square">
            <a:spAutoFit/>
          </a:bodyPr>
          <a:lstStyle/>
          <a:p>
            <a:pPr algn="l">
              <a:defRPr sz="1000" b="0">
                <a:solidFill>
                  <a:srgbClr val="000000"/>
                </a:solidFill>
                <a:latin typeface="Calibri"/>
              </a:defRPr>
            </a:pPr>
            <a:r>
              <a:rPr sz="1000"/>
              <a:t>Measurement: ±1-3% (revenue-grade meters)  |  Sampling: ±3-10% (depends on sample size)</a:t>
            </a:r>
          </a:p>
          <a:p>
            <a:pPr algn="l">
              <a:defRPr sz="1000" b="0">
                <a:solidFill>
                  <a:srgbClr val="000000"/>
                </a:solidFill>
                <a:latin typeface="Calibri"/>
              </a:defRPr>
            </a:pPr>
            <a:r>
              <a:rPr sz="1000"/>
              <a:t>Modeling: ±5-20% CV(RMSE) (whole building)  |  FSU: Target &lt;10% (good M&amp;V), &lt;20% (acceptable)</a:t>
            </a:r>
          </a:p>
          <a:p>
            <a:pPr algn="l">
              <a:defRPr sz="1000" b="0">
                <a:solidFill>
                  <a:srgbClr val="000000"/>
                </a:solidFill>
                <a:latin typeface="Calibri"/>
              </a:defRPr>
            </a:pPr>
            <a:r>
              <a:rPr sz="1000"/>
              <a:t>Confidence levels: Typically 90-95% in M&amp;V reporting</a:t>
            </a:r>
          </a:p>
        </p:txBody>
      </p:sp>
      <p:sp>
        <p:nvSpPr>
          <p:cNvPr id="12" name="Rectangle 11"/>
          <p:cNvSpPr/>
          <p:nvPr/>
        </p:nvSpPr>
        <p:spPr>
          <a:xfrm>
            <a:off x="1981200" y="5715000"/>
            <a:ext cx="8229600" cy="411480"/>
          </a:xfrm>
          <a:prstGeom prst="rect">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defRPr sz="1300" b="1">
                <a:solidFill>
                  <a:srgbClr val="FFFFFF"/>
                </a:solidFill>
                <a:latin typeface="Calibri"/>
              </a:defRPr>
            </a:pPr>
            <a:r>
              <a:rPr sz="1300"/>
              <a:t>Bottom Line: Quantify ALL uncertainty sources → Identify dominant source → Focus reduction efforts where they matter most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3A4E3-2385-5590-1D3E-01CA0438D297}"/>
              </a:ext>
            </a:extLst>
          </p:cNvPr>
          <p:cNvSpPr>
            <a:spLocks noGrp="1"/>
          </p:cNvSpPr>
          <p:nvPr>
            <p:ph type="title"/>
          </p:nvPr>
        </p:nvSpPr>
        <p:spPr/>
        <p:txBody>
          <a:bodyPr/>
          <a:lstStyle/>
          <a:p>
            <a:r>
              <a:rPr lang="en-US"/>
              <a:t>Examples of Risks</a:t>
            </a:r>
          </a:p>
        </p:txBody>
      </p:sp>
      <p:sp>
        <p:nvSpPr>
          <p:cNvPr id="3" name="Content Placeholder 2">
            <a:extLst>
              <a:ext uri="{FF2B5EF4-FFF2-40B4-BE49-F238E27FC236}">
                <a16:creationId xmlns:a16="http://schemas.microsoft.com/office/drawing/2014/main" id="{E380B5DE-B10D-825B-0BAD-9BAC14E4A632}"/>
              </a:ext>
            </a:extLst>
          </p:cNvPr>
          <p:cNvSpPr>
            <a:spLocks noGrp="1"/>
          </p:cNvSpPr>
          <p:nvPr>
            <p:ph sz="half" idx="1"/>
          </p:nvPr>
        </p:nvSpPr>
        <p:spPr/>
        <p:txBody>
          <a:bodyPr>
            <a:noAutofit/>
          </a:bodyPr>
          <a:lstStyle/>
          <a:p>
            <a:r>
              <a:rPr lang="en-US" sz="1700" b="1"/>
              <a:t>Stock Market</a:t>
            </a:r>
            <a:r>
              <a:rPr lang="en-US" sz="1700"/>
              <a:t>: Investing in individual stocks carries the risk of price volatility. For example, if you buy shares in a tech company, the stock price can fluctuate significantly in response to market news, economic conditions, or company-specific factors.</a:t>
            </a:r>
          </a:p>
          <a:p>
            <a:r>
              <a:rPr lang="en-US" sz="1700" b="1"/>
              <a:t>Market Risk</a:t>
            </a:r>
            <a:r>
              <a:rPr lang="en-US" sz="1700"/>
              <a:t>: Market risk, also known as systematic risk, is the risk associated with broader economic factors that affect all investments. For example, an economic recession can lead to a decline in the value of various asset classes, impacting the overall market.</a:t>
            </a:r>
          </a:p>
        </p:txBody>
      </p:sp>
      <p:sp>
        <p:nvSpPr>
          <p:cNvPr id="4" name="Content Placeholder 3">
            <a:extLst>
              <a:ext uri="{FF2B5EF4-FFF2-40B4-BE49-F238E27FC236}">
                <a16:creationId xmlns:a16="http://schemas.microsoft.com/office/drawing/2014/main" id="{61D8770B-79BD-FFDE-058C-11B7D5BA8370}"/>
              </a:ext>
            </a:extLst>
          </p:cNvPr>
          <p:cNvSpPr>
            <a:spLocks noGrp="1"/>
          </p:cNvSpPr>
          <p:nvPr>
            <p:ph sz="half" idx="2"/>
          </p:nvPr>
        </p:nvSpPr>
        <p:spPr/>
        <p:txBody>
          <a:bodyPr>
            <a:noAutofit/>
          </a:bodyPr>
          <a:lstStyle/>
          <a:p>
            <a:r>
              <a:rPr lang="en-US" sz="1700" b="1"/>
              <a:t>Credit</a:t>
            </a:r>
            <a:r>
              <a:rPr lang="en-US" sz="1700"/>
              <a:t>: When lending money, there is a risk that the borrower may default on their loan payments. This is known as credit risk. For instance, when you buy corporate bonds, there is a risk that the issuing company may not be able to meet its debt obligations.</a:t>
            </a:r>
          </a:p>
          <a:p>
            <a:r>
              <a:rPr lang="en-US" sz="1700" b="1"/>
              <a:t>Currency</a:t>
            </a:r>
            <a:r>
              <a:rPr lang="en-US" sz="1700"/>
              <a:t>: If you invest in foreign assets or trade internationally, you are exposed to currency risk. Fluctuations in exchange rates can impact the value of your investments. For instance, if you invest in a foreign stock and the value of the foreign currency drops, your investment’s value in your home currency may decrease.</a:t>
            </a:r>
          </a:p>
        </p:txBody>
      </p:sp>
      <p:pic>
        <p:nvPicPr>
          <p:cNvPr id="5" name="Graphic 4">
            <a:extLst>
              <a:ext uri="{FF2B5EF4-FFF2-40B4-BE49-F238E27FC236}">
                <a16:creationId xmlns:a16="http://schemas.microsoft.com/office/drawing/2014/main" id="{7FCA3D7C-6B5E-A27D-83AF-506F9344E7A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6" name="Graphic 5">
            <a:extLst>
              <a:ext uri="{FF2B5EF4-FFF2-40B4-BE49-F238E27FC236}">
                <a16:creationId xmlns:a16="http://schemas.microsoft.com/office/drawing/2014/main" id="{10162B37-9AB7-9D00-D3B3-72FD597C8B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338775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3A4E3-2385-5590-1D3E-01CA0438D297}"/>
              </a:ext>
            </a:extLst>
          </p:cNvPr>
          <p:cNvSpPr>
            <a:spLocks noGrp="1"/>
          </p:cNvSpPr>
          <p:nvPr>
            <p:ph type="title"/>
          </p:nvPr>
        </p:nvSpPr>
        <p:spPr/>
        <p:txBody>
          <a:bodyPr/>
          <a:lstStyle/>
          <a:p>
            <a:r>
              <a:rPr lang="en-US"/>
              <a:t>Examples of Rewards</a:t>
            </a:r>
          </a:p>
        </p:txBody>
      </p:sp>
      <p:sp>
        <p:nvSpPr>
          <p:cNvPr id="3" name="Content Placeholder 2">
            <a:extLst>
              <a:ext uri="{FF2B5EF4-FFF2-40B4-BE49-F238E27FC236}">
                <a16:creationId xmlns:a16="http://schemas.microsoft.com/office/drawing/2014/main" id="{E380B5DE-B10D-825B-0BAD-9BAC14E4A632}"/>
              </a:ext>
            </a:extLst>
          </p:cNvPr>
          <p:cNvSpPr>
            <a:spLocks noGrp="1"/>
          </p:cNvSpPr>
          <p:nvPr>
            <p:ph sz="half" idx="1"/>
          </p:nvPr>
        </p:nvSpPr>
        <p:spPr/>
        <p:txBody>
          <a:bodyPr>
            <a:noAutofit/>
          </a:bodyPr>
          <a:lstStyle/>
          <a:p>
            <a:r>
              <a:rPr lang="en-US" sz="1700" b="1"/>
              <a:t>Stock Market</a:t>
            </a:r>
            <a:r>
              <a:rPr lang="en-US" sz="1700"/>
              <a:t>: Historically, the stock market has provided higher returns compared to safer investments like bonds or savings accounts. Investors who accept the volatility and risk of the stock market can potentially earn significant rewards through capital appreciation and dividends.</a:t>
            </a:r>
          </a:p>
          <a:p>
            <a:r>
              <a:rPr lang="en-US" sz="1700" b="1"/>
              <a:t>High-Yield Bonds</a:t>
            </a:r>
            <a:r>
              <a:rPr lang="en-US" sz="1700"/>
              <a:t>: High-yield or junk bonds offer higher interest rates compared to investment-grade bonds. Investors who are willing to take on the credit risk associated with these bonds can potentially earn greater interest income.</a:t>
            </a:r>
          </a:p>
        </p:txBody>
      </p:sp>
      <p:sp>
        <p:nvSpPr>
          <p:cNvPr id="4" name="Content Placeholder 3">
            <a:extLst>
              <a:ext uri="{FF2B5EF4-FFF2-40B4-BE49-F238E27FC236}">
                <a16:creationId xmlns:a16="http://schemas.microsoft.com/office/drawing/2014/main" id="{61D8770B-79BD-FFDE-058C-11B7D5BA8370}"/>
              </a:ext>
            </a:extLst>
          </p:cNvPr>
          <p:cNvSpPr>
            <a:spLocks noGrp="1"/>
          </p:cNvSpPr>
          <p:nvPr>
            <p:ph sz="half" idx="2"/>
          </p:nvPr>
        </p:nvSpPr>
        <p:spPr/>
        <p:txBody>
          <a:bodyPr>
            <a:noAutofit/>
          </a:bodyPr>
          <a:lstStyle/>
          <a:p>
            <a:r>
              <a:rPr lang="en-US" sz="1700" b="1"/>
              <a:t>Venture Capital Investments</a:t>
            </a:r>
            <a:r>
              <a:rPr lang="en-US" sz="1700"/>
              <a:t>: Investing in startups and early-stage companies involves high risk, but it can also yield substantial rewards if the company becomes successful. Venture capitalists often seek significant returns on their investments when funding innovative companies.</a:t>
            </a:r>
          </a:p>
          <a:p>
            <a:r>
              <a:rPr lang="en-US" sz="1700" b="1"/>
              <a:t>Options and Derivatives</a:t>
            </a:r>
            <a:r>
              <a:rPr lang="en-US" sz="1700"/>
              <a:t>: Options and derivatives can offer the potential for large returns, but they are highly leveraged and come with significant risk. Traders who use these financial instruments can profit from price movements in underlying assets but may also face substantial losses.</a:t>
            </a:r>
          </a:p>
        </p:txBody>
      </p:sp>
      <p:pic>
        <p:nvPicPr>
          <p:cNvPr id="5" name="Graphic 4">
            <a:extLst>
              <a:ext uri="{FF2B5EF4-FFF2-40B4-BE49-F238E27FC236}">
                <a16:creationId xmlns:a16="http://schemas.microsoft.com/office/drawing/2014/main" id="{D101D211-434A-63D2-E3E2-993B9DABAD6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6" name="Graphic 5">
            <a:extLst>
              <a:ext uri="{FF2B5EF4-FFF2-40B4-BE49-F238E27FC236}">
                <a16:creationId xmlns:a16="http://schemas.microsoft.com/office/drawing/2014/main" id="{E9790FDE-2185-4B05-2C5A-98E73DE2D23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34459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AD63B-05CA-1142-69E8-8EBF7EE857E3}"/>
              </a:ext>
            </a:extLst>
          </p:cNvPr>
          <p:cNvSpPr>
            <a:spLocks noGrp="1"/>
          </p:cNvSpPr>
          <p:nvPr>
            <p:ph type="title"/>
          </p:nvPr>
        </p:nvSpPr>
        <p:spPr/>
        <p:txBody>
          <a:bodyPr/>
          <a:lstStyle/>
          <a:p>
            <a:r>
              <a:rPr lang="en-US"/>
              <a:t>How Much M&amp;V Is Enough?</a:t>
            </a:r>
          </a:p>
        </p:txBody>
      </p:sp>
      <p:sp>
        <p:nvSpPr>
          <p:cNvPr id="3" name="Content Placeholder 2">
            <a:extLst>
              <a:ext uri="{FF2B5EF4-FFF2-40B4-BE49-F238E27FC236}">
                <a16:creationId xmlns:a16="http://schemas.microsoft.com/office/drawing/2014/main" id="{161E8AFC-F511-6669-070A-66ABF1454A8A}"/>
              </a:ext>
            </a:extLst>
          </p:cNvPr>
          <p:cNvSpPr>
            <a:spLocks noGrp="1"/>
          </p:cNvSpPr>
          <p:nvPr>
            <p:ph idx="1"/>
          </p:nvPr>
        </p:nvSpPr>
        <p:spPr/>
        <p:txBody>
          <a:bodyPr>
            <a:normAutofit/>
          </a:bodyPr>
          <a:lstStyle/>
          <a:p>
            <a:r>
              <a:rPr lang="en-US" sz="2400" dirty="0"/>
              <a:t>One answer is “the minimum that is both acceptable to all parties and meets the project and </a:t>
            </a:r>
            <a:r>
              <a:rPr lang="en-US" sz="2400" b="1" dirty="0"/>
              <a:t>outside requirements</a:t>
            </a:r>
            <a:r>
              <a:rPr lang="en-US" sz="2400" dirty="0"/>
              <a:t>.”</a:t>
            </a:r>
          </a:p>
          <a:p>
            <a:r>
              <a:rPr lang="en-US" sz="2400" dirty="0"/>
              <a:t>Another answer is “as little uncertainty as possible.” But then another question arises: what is the </a:t>
            </a:r>
            <a:r>
              <a:rPr lang="en-US" sz="2400" b="1" dirty="0"/>
              <a:t>cost</a:t>
            </a:r>
            <a:r>
              <a:rPr lang="en-US" sz="2400" dirty="0"/>
              <a:t> of reducing uncertainty, and what is the </a:t>
            </a:r>
            <a:r>
              <a:rPr lang="en-US" sz="2400" b="1" dirty="0"/>
              <a:t>benefit</a:t>
            </a:r>
            <a:r>
              <a:rPr lang="en-US" sz="2400" dirty="0"/>
              <a:t>?</a:t>
            </a:r>
          </a:p>
        </p:txBody>
      </p:sp>
      <p:pic>
        <p:nvPicPr>
          <p:cNvPr id="6" name="Graphic 5">
            <a:extLst>
              <a:ext uri="{FF2B5EF4-FFF2-40B4-BE49-F238E27FC236}">
                <a16:creationId xmlns:a16="http://schemas.microsoft.com/office/drawing/2014/main" id="{B07645E4-9935-72DA-F6EC-278BB7AFEF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8F63B8A6-9DCA-01D9-80A6-9243E08D46F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585895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00203C2-B1F5-8E85-01B3-5DB8AAA1A38E}"/>
              </a:ext>
            </a:extLst>
          </p:cNvPr>
          <p:cNvSpPr>
            <a:spLocks noGrp="1"/>
          </p:cNvSpPr>
          <p:nvPr>
            <p:ph type="title"/>
          </p:nvPr>
        </p:nvSpPr>
        <p:spPr/>
        <p:txBody>
          <a:bodyPr/>
          <a:lstStyle/>
          <a:p>
            <a:r>
              <a:rPr lang="en-US"/>
              <a:t>How Much M&amp;V Is Enough?</a:t>
            </a:r>
          </a:p>
        </p:txBody>
      </p:sp>
      <p:pic>
        <p:nvPicPr>
          <p:cNvPr id="7" name="Graphic 6">
            <a:extLst>
              <a:ext uri="{FF2B5EF4-FFF2-40B4-BE49-F238E27FC236}">
                <a16:creationId xmlns:a16="http://schemas.microsoft.com/office/drawing/2014/main" id="{F7D22321-6AB2-B1CD-635B-9472EAD67C67}"/>
              </a:ext>
            </a:extLst>
          </p:cNvPr>
          <p:cNvPicPr>
            <a:picLocks noChangeAspect="1"/>
          </p:cNvPicPr>
          <p:nvPr/>
        </p:nvPicPr>
        <p:blipFill>
          <a:blip r:embed="rId2"/>
          <a:srcRect/>
          <a:stretch/>
        </p:blipFill>
        <p:spPr>
          <a:xfrm>
            <a:off x="852892" y="2043324"/>
            <a:ext cx="10486217" cy="3081316"/>
          </a:xfrm>
          <a:prstGeom prst="rect">
            <a:avLst/>
          </a:prstGeom>
        </p:spPr>
      </p:pic>
      <p:pic>
        <p:nvPicPr>
          <p:cNvPr id="6" name="Graphic 5">
            <a:extLst>
              <a:ext uri="{FF2B5EF4-FFF2-40B4-BE49-F238E27FC236}">
                <a16:creationId xmlns:a16="http://schemas.microsoft.com/office/drawing/2014/main" id="{63B7EAEB-AD55-F386-DED4-B3FE8A28DDA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9" name="Graphic 8">
            <a:extLst>
              <a:ext uri="{FF2B5EF4-FFF2-40B4-BE49-F238E27FC236}">
                <a16:creationId xmlns:a16="http://schemas.microsoft.com/office/drawing/2014/main" id="{0F710C99-FC1D-5560-0E28-8B3FB7FCD5D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40735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4A231A65-DDBF-C56D-8394-7BC96B4EBF15}"/>
              </a:ext>
            </a:extLst>
          </p:cNvPr>
          <p:cNvSpPr>
            <a:spLocks noGrp="1"/>
          </p:cNvSpPr>
          <p:nvPr>
            <p:ph idx="1"/>
          </p:nvPr>
        </p:nvSpPr>
        <p:spPr>
          <a:xfrm>
            <a:off x="838200" y="1253331"/>
            <a:ext cx="10515600" cy="4351338"/>
          </a:xfrm>
        </p:spPr>
        <p:txBody>
          <a:bodyPr anchor="ctr">
            <a:normAutofit/>
          </a:bodyPr>
          <a:lstStyle/>
          <a:p>
            <a:pPr marL="0" indent="0">
              <a:buNone/>
            </a:pPr>
            <a:r>
              <a:rPr lang="en-US" sz="3600" b="1" i="1">
                <a:latin typeface="Verdana" panose="020B0604030504040204" pitchFamily="34" charset="0"/>
                <a:ea typeface="+mj-ea"/>
                <a:cs typeface="+mj-cs"/>
              </a:rPr>
              <a:t>How much M&amp;V is enough?</a:t>
            </a:r>
            <a:r>
              <a:rPr lang="en-US" sz="3600" b="1" i="1">
                <a:ea typeface="+mj-ea"/>
                <a:cs typeface="+mj-cs"/>
              </a:rPr>
              <a:t> </a:t>
            </a:r>
            <a:r>
              <a:rPr lang="en-US" sz="3600" i="1"/>
              <a:t>is always an open question. A CMVP works within contextual constraints to determine the optimal amount of M&amp;V.</a:t>
            </a:r>
          </a:p>
        </p:txBody>
      </p:sp>
      <p:pic>
        <p:nvPicPr>
          <p:cNvPr id="6" name="Graphic 5">
            <a:extLst>
              <a:ext uri="{FF2B5EF4-FFF2-40B4-BE49-F238E27FC236}">
                <a16:creationId xmlns:a16="http://schemas.microsoft.com/office/drawing/2014/main" id="{D3CC909F-F286-418F-16FA-5FD066873C7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14114" y="89019"/>
            <a:ext cx="914400" cy="914400"/>
          </a:xfrm>
          <a:prstGeom prst="rect">
            <a:avLst/>
          </a:prstGeom>
        </p:spPr>
      </p:pic>
      <p:pic>
        <p:nvPicPr>
          <p:cNvPr id="8" name="Graphic 7">
            <a:extLst>
              <a:ext uri="{FF2B5EF4-FFF2-40B4-BE49-F238E27FC236}">
                <a16:creationId xmlns:a16="http://schemas.microsoft.com/office/drawing/2014/main" id="{032EF0FB-13CA-F126-F73E-52EC85EB8DD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240633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CBCFC-090C-0EA2-8C0F-AD84C1D00504}"/>
              </a:ext>
            </a:extLst>
          </p:cNvPr>
          <p:cNvSpPr>
            <a:spLocks noGrp="1"/>
          </p:cNvSpPr>
          <p:nvPr>
            <p:ph type="title"/>
          </p:nvPr>
        </p:nvSpPr>
        <p:spPr/>
        <p:txBody>
          <a:bodyPr/>
          <a:lstStyle/>
          <a:p>
            <a:r>
              <a:rPr lang="en-US"/>
              <a:t>Uncertainty and Savings</a:t>
            </a:r>
          </a:p>
        </p:txBody>
      </p:sp>
      <p:sp>
        <p:nvSpPr>
          <p:cNvPr id="3" name="Content Placeholder 2">
            <a:extLst>
              <a:ext uri="{FF2B5EF4-FFF2-40B4-BE49-F238E27FC236}">
                <a16:creationId xmlns:a16="http://schemas.microsoft.com/office/drawing/2014/main" id="{768C81ED-C39A-7DF1-5747-379E343D9934}"/>
              </a:ext>
            </a:extLst>
          </p:cNvPr>
          <p:cNvSpPr>
            <a:spLocks noGrp="1"/>
          </p:cNvSpPr>
          <p:nvPr>
            <p:ph sz="half" idx="1"/>
          </p:nvPr>
        </p:nvSpPr>
        <p:spPr/>
        <p:txBody>
          <a:bodyPr>
            <a:normAutofit/>
          </a:bodyPr>
          <a:lstStyle/>
          <a:p>
            <a:r>
              <a:rPr lang="en-US" sz="2400"/>
              <a:t>The relationship between uncertainty and savings can be confusing.</a:t>
            </a:r>
          </a:p>
          <a:p>
            <a:r>
              <a:rPr lang="en-US" sz="2400"/>
              <a:t>Remember: </a:t>
            </a:r>
            <a:r>
              <a:rPr lang="en-US" sz="2400" i="1"/>
              <a:t>More or less uncertainty doesn’t mean more or less savings</a:t>
            </a:r>
            <a:r>
              <a:rPr lang="en-US" sz="2400"/>
              <a:t>.</a:t>
            </a:r>
          </a:p>
        </p:txBody>
      </p:sp>
      <p:pic>
        <p:nvPicPr>
          <p:cNvPr id="18" name="Graphic 17">
            <a:extLst>
              <a:ext uri="{FF2B5EF4-FFF2-40B4-BE49-F238E27FC236}">
                <a16:creationId xmlns:a16="http://schemas.microsoft.com/office/drawing/2014/main" id="{03EED5EF-F1AE-2C70-7401-73D9E11BA9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89514" y="1233334"/>
            <a:ext cx="4597983" cy="4391331"/>
          </a:xfrm>
          <a:prstGeom prst="rect">
            <a:avLst/>
          </a:prstGeom>
        </p:spPr>
      </p:pic>
      <p:pic>
        <p:nvPicPr>
          <p:cNvPr id="7" name="Graphic 6">
            <a:extLst>
              <a:ext uri="{FF2B5EF4-FFF2-40B4-BE49-F238E27FC236}">
                <a16:creationId xmlns:a16="http://schemas.microsoft.com/office/drawing/2014/main" id="{2DA93690-44CC-0D9A-C6AB-1D99C579F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14114" y="89019"/>
            <a:ext cx="914400" cy="914400"/>
          </a:xfrm>
          <a:prstGeom prst="rect">
            <a:avLst/>
          </a:prstGeom>
        </p:spPr>
      </p:pic>
      <p:pic>
        <p:nvPicPr>
          <p:cNvPr id="8" name="Graphic 7">
            <a:extLst>
              <a:ext uri="{FF2B5EF4-FFF2-40B4-BE49-F238E27FC236}">
                <a16:creationId xmlns:a16="http://schemas.microsoft.com/office/drawing/2014/main" id="{3D5AC669-318F-C16D-ADF6-ED8DB443A2B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228514" y="89019"/>
            <a:ext cx="914400" cy="914400"/>
          </a:xfrm>
          <a:prstGeom prst="rect">
            <a:avLst/>
          </a:prstGeom>
        </p:spPr>
      </p:pic>
    </p:spTree>
    <p:extLst>
      <p:ext uri="{BB962C8B-B14F-4D97-AF65-F5344CB8AC3E}">
        <p14:creationId xmlns:p14="http://schemas.microsoft.com/office/powerpoint/2010/main" val="1657712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diagram&#10;&#10;Description automatically generated">
            <a:extLst>
              <a:ext uri="{FF2B5EF4-FFF2-40B4-BE49-F238E27FC236}">
                <a16:creationId xmlns:a16="http://schemas.microsoft.com/office/drawing/2014/main" id="{1EDEB5C2-9C94-D848-46E1-D05C18D43868}"/>
              </a:ext>
            </a:extLst>
          </p:cNvPr>
          <p:cNvPicPr>
            <a:picLocks noChangeAspect="1"/>
          </p:cNvPicPr>
          <p:nvPr/>
        </p:nvPicPr>
        <p:blipFill>
          <a:blip r:embed="rId3"/>
          <a:stretch>
            <a:fillRect/>
          </a:stretch>
        </p:blipFill>
        <p:spPr>
          <a:xfrm>
            <a:off x="1155031" y="771043"/>
            <a:ext cx="9408695" cy="5315914"/>
          </a:xfrm>
          <a:prstGeom prst="rect">
            <a:avLst/>
          </a:prstGeom>
          <a:noFill/>
        </p:spPr>
      </p:pic>
    </p:spTree>
    <p:extLst>
      <p:ext uri="{BB962C8B-B14F-4D97-AF65-F5344CB8AC3E}">
        <p14:creationId xmlns:p14="http://schemas.microsoft.com/office/powerpoint/2010/main" val="455849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1D6DC-CF09-593F-5F91-0D9710697794}"/>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2C88031D-9F91-9097-A0AA-58962F42D0F8}"/>
              </a:ext>
            </a:extLst>
          </p:cNvPr>
          <p:cNvSpPr>
            <a:spLocks noGrp="1"/>
          </p:cNvSpPr>
          <p:nvPr>
            <p:ph idx="1"/>
          </p:nvPr>
        </p:nvSpPr>
        <p:spPr/>
        <p:txBody>
          <a:bodyPr>
            <a:normAutofit/>
          </a:bodyPr>
          <a:lstStyle/>
          <a:p>
            <a:pPr marL="457200" indent="-457200">
              <a:lnSpc>
                <a:spcPct val="100000"/>
              </a:lnSpc>
              <a:spcBef>
                <a:spcPts val="1600"/>
              </a:spcBef>
              <a:buFont typeface="Arial" panose="020B0604020202020204" pitchFamily="34" charset="0"/>
              <a:buChar char="•"/>
            </a:pPr>
            <a:r>
              <a:rPr lang="en-US" sz="2400"/>
              <a:t>The counterfactual method, which compares actual performance observed during the reporting period to a prediction of “what would have happened” had the project not been implemented, is the fundamental theory that drives most M&amp;V protocols and standards.</a:t>
            </a:r>
          </a:p>
          <a:p>
            <a:pPr marL="457200" indent="-457200">
              <a:lnSpc>
                <a:spcPct val="100000"/>
              </a:lnSpc>
              <a:spcBef>
                <a:spcPts val="1600"/>
              </a:spcBef>
              <a:buFont typeface="Arial" panose="020B0604020202020204" pitchFamily="34" charset="0"/>
              <a:buChar char="•"/>
            </a:pPr>
            <a:r>
              <a:rPr lang="en-US" sz="2400"/>
              <a:t>The other significant approach is performance verification—direct assessment of a system’s actual performance to determine whether it meets specified performance standards.</a:t>
            </a:r>
          </a:p>
          <a:p>
            <a:pPr marL="457200" indent="-457200">
              <a:lnSpc>
                <a:spcPct val="100000"/>
              </a:lnSpc>
              <a:spcBef>
                <a:spcPts val="1600"/>
              </a:spcBef>
              <a:buFont typeface="Arial" panose="020B0604020202020204" pitchFamily="34" charset="0"/>
              <a:buChar char="•"/>
            </a:pPr>
            <a:r>
              <a:rPr lang="en-US" sz="2400"/>
              <a:t>What distinguishes a CMVP is that a CMVP must exercise skilled professional judgment when conducting M&amp;V.</a:t>
            </a:r>
          </a:p>
        </p:txBody>
      </p:sp>
    </p:spTree>
    <p:extLst>
      <p:ext uri="{BB962C8B-B14F-4D97-AF65-F5344CB8AC3E}">
        <p14:creationId xmlns:p14="http://schemas.microsoft.com/office/powerpoint/2010/main" val="15762377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5373D-953D-D83F-FDF4-310ABCD30723}"/>
              </a:ext>
            </a:extLst>
          </p:cNvPr>
          <p:cNvSpPr>
            <a:spLocks noGrp="1"/>
          </p:cNvSpPr>
          <p:nvPr>
            <p:ph type="title"/>
          </p:nvPr>
        </p:nvSpPr>
        <p:spPr/>
        <p:txBody>
          <a:bodyPr/>
          <a:lstStyle/>
          <a:p>
            <a:r>
              <a:rPr lang="en-US"/>
              <a:t>Discussion</a:t>
            </a:r>
          </a:p>
        </p:txBody>
      </p:sp>
      <p:sp>
        <p:nvSpPr>
          <p:cNvPr id="3" name="Content Placeholder 2">
            <a:extLst>
              <a:ext uri="{FF2B5EF4-FFF2-40B4-BE49-F238E27FC236}">
                <a16:creationId xmlns:a16="http://schemas.microsoft.com/office/drawing/2014/main" id="{417422E8-DE5E-B25E-2548-54DCDFD282C8}"/>
              </a:ext>
            </a:extLst>
          </p:cNvPr>
          <p:cNvSpPr>
            <a:spLocks noGrp="1"/>
          </p:cNvSpPr>
          <p:nvPr>
            <p:ph idx="1"/>
          </p:nvPr>
        </p:nvSpPr>
        <p:spPr/>
        <p:txBody>
          <a:bodyPr>
            <a:normAutofit/>
          </a:bodyPr>
          <a:lstStyle/>
          <a:p>
            <a:r>
              <a:rPr lang="en-US" sz="2400"/>
              <a:t>How do “savings” compare to…</a:t>
            </a:r>
          </a:p>
          <a:p>
            <a:pPr marL="457200" indent="-457200">
              <a:buFont typeface="Arial" panose="020B0604020202020204" pitchFamily="34" charset="0"/>
              <a:buChar char="•"/>
            </a:pPr>
            <a:r>
              <a:rPr lang="en-US" sz="2400"/>
              <a:t>Benchmarks?</a:t>
            </a:r>
          </a:p>
          <a:p>
            <a:pPr marL="457200" indent="-457200">
              <a:buFont typeface="Arial" panose="020B0604020202020204" pitchFamily="34" charset="0"/>
              <a:buChar char="•"/>
            </a:pPr>
            <a:r>
              <a:rPr lang="en-US" sz="2400"/>
              <a:t>Energy Star Portfolio Manager?</a:t>
            </a:r>
          </a:p>
          <a:p>
            <a:pPr marL="457200" indent="-457200">
              <a:buFont typeface="Arial" panose="020B0604020202020204" pitchFamily="34" charset="0"/>
              <a:buChar char="•"/>
            </a:pPr>
            <a:r>
              <a:rPr lang="en-US" sz="2400"/>
              <a:t>Performance Standards?</a:t>
            </a:r>
          </a:p>
          <a:p>
            <a:pPr marL="457200" indent="-457200">
              <a:buFont typeface="Arial" panose="020B0604020202020204" pitchFamily="34" charset="0"/>
              <a:buChar char="•"/>
            </a:pPr>
            <a:r>
              <a:rPr lang="en-US" sz="2400"/>
              <a:t>Performance Targets?</a:t>
            </a:r>
          </a:p>
          <a:p>
            <a:pPr marL="457200" indent="-457200">
              <a:buFont typeface="Arial" panose="020B0604020202020204" pitchFamily="34" charset="0"/>
              <a:buChar char="•"/>
            </a:pPr>
            <a:r>
              <a:rPr lang="en-US" sz="2400"/>
              <a:t>Net Zero Concept?</a:t>
            </a:r>
          </a:p>
        </p:txBody>
      </p:sp>
    </p:spTree>
    <p:extLst>
      <p:ext uri="{BB962C8B-B14F-4D97-AF65-F5344CB8AC3E}">
        <p14:creationId xmlns:p14="http://schemas.microsoft.com/office/powerpoint/2010/main" val="3629139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44D42-3CD7-9D28-8051-7F091AFF71A1}"/>
              </a:ext>
            </a:extLst>
          </p:cNvPr>
          <p:cNvSpPr>
            <a:spLocks noGrp="1"/>
          </p:cNvSpPr>
          <p:nvPr>
            <p:ph type="title"/>
          </p:nvPr>
        </p:nvSpPr>
        <p:spPr/>
        <p:txBody>
          <a:bodyPr/>
          <a:lstStyle/>
          <a:p>
            <a:r>
              <a:rPr lang="en-US" b="0" dirty="0"/>
              <a:t>Module 1: Fundamental Concepts</a:t>
            </a:r>
            <a:endParaRPr lang="en-US" dirty="0"/>
          </a:p>
        </p:txBody>
      </p:sp>
      <p:sp>
        <p:nvSpPr>
          <p:cNvPr id="3" name="Content Placeholder 2">
            <a:extLst>
              <a:ext uri="{FF2B5EF4-FFF2-40B4-BE49-F238E27FC236}">
                <a16:creationId xmlns:a16="http://schemas.microsoft.com/office/drawing/2014/main" id="{7EB6C184-3AF8-B5C9-A7A6-8BEE1A3BEF5C}"/>
              </a:ext>
            </a:extLst>
          </p:cNvPr>
          <p:cNvSpPr>
            <a:spLocks noGrp="1"/>
          </p:cNvSpPr>
          <p:nvPr>
            <p:ph idx="1"/>
          </p:nvPr>
        </p:nvSpPr>
        <p:spPr/>
        <p:txBody>
          <a:bodyPr/>
          <a:lstStyle/>
          <a:p>
            <a:pPr marL="514350" indent="-514350">
              <a:buFont typeface="+mj-lt"/>
              <a:buAutoNum type="arabicPeriod"/>
            </a:pPr>
            <a:r>
              <a:rPr lang="en-US" sz="2400" dirty="0"/>
              <a:t>Why is professional judgment essential in the application of the counterfactual method in M&amp;V, and what are some examples of when it is most critical?</a:t>
            </a:r>
          </a:p>
          <a:p>
            <a:pPr marL="514350" indent="-514350">
              <a:buFont typeface="+mj-lt"/>
              <a:buAutoNum type="arabicPeriod"/>
            </a:pPr>
            <a:r>
              <a:rPr lang="en-US" sz="2400" dirty="0"/>
              <a:t>What is the difference between a baseline and an adjusted baseline model, and why must M&amp;V practitioners agree on the process ahead of time?</a:t>
            </a:r>
          </a:p>
          <a:p>
            <a:pPr marL="514350" indent="-514350">
              <a:buFont typeface="+mj-lt"/>
              <a:buAutoNum type="arabicPeriod"/>
            </a:pPr>
            <a:r>
              <a:rPr lang="en-US" sz="2400" dirty="0"/>
              <a:t>How do aleatory and epistemic uncertainty affect the planning and reporting phases of an M&amp;V project? Give a practical example of each. What about ontological? </a:t>
            </a:r>
          </a:p>
          <a:p>
            <a:pPr marL="514350" indent="-514350">
              <a:buFont typeface="+mj-lt"/>
              <a:buAutoNum type="arabicPeriod"/>
            </a:pPr>
            <a:endParaRPr lang="en-US" dirty="0"/>
          </a:p>
        </p:txBody>
      </p:sp>
    </p:spTree>
    <p:extLst>
      <p:ext uri="{BB962C8B-B14F-4D97-AF65-F5344CB8AC3E}">
        <p14:creationId xmlns:p14="http://schemas.microsoft.com/office/powerpoint/2010/main" val="759983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2007 - 2010">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Workbooks">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Workbooks">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orkbooks" id="{97888F8D-FCE6-4A54-972D-8F39DFCC3DF7}" vid="{B9283D6F-5C70-4FF0-A54C-00C549D04FED}"/>
    </a:ext>
  </a:extLst>
</a:theme>
</file>

<file path=ppt/theme/theme5.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DiamondGrid">
      <a:dk1>
        <a:srgbClr val="2D2E2D"/>
      </a:dk1>
      <a:lt1>
        <a:sysClr val="window" lastClr="FFFFFF"/>
      </a:lt1>
      <a:dk2>
        <a:srgbClr val="000000"/>
      </a:dk2>
      <a:lt2>
        <a:srgbClr val="EAEAEA"/>
      </a:lt2>
      <a:accent1>
        <a:srgbClr val="D15A3E"/>
      </a:accent1>
      <a:accent2>
        <a:srgbClr val="B2B2B2"/>
      </a:accent2>
      <a:accent3>
        <a:srgbClr val="4F91A1"/>
      </a:accent3>
      <a:accent4>
        <a:srgbClr val="F0BA34"/>
      </a:accent4>
      <a:accent5>
        <a:srgbClr val="AEB733"/>
      </a:accent5>
      <a:accent6>
        <a:srgbClr val="926397"/>
      </a:accent6>
      <a:hlink>
        <a:srgbClr val="4F91A1"/>
      </a:hlink>
      <a:folHlink>
        <a:srgbClr val="808080"/>
      </a:folHlink>
    </a:clrScheme>
    <a:fontScheme name="Arial">
      <a:maj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rial"/>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0a3e92f2-5613-46e7-b45d-3aef96e77e3b" xsi:nil="true"/>
    <lcf76f155ced4ddcb4097134ff3c332f xmlns="eede6f60-fd02-4aa8-96b3-c6d8596d5a0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8908EB78113947A2551702793187F6" ma:contentTypeVersion="20" ma:contentTypeDescription="Create a new document." ma:contentTypeScope="" ma:versionID="8fa1d89827d6287d4aa55d021510eae1">
  <xsd:schema xmlns:xsd="http://www.w3.org/2001/XMLSchema" xmlns:xs="http://www.w3.org/2001/XMLSchema" xmlns:p="http://schemas.microsoft.com/office/2006/metadata/properties" xmlns:ns2="eede6f60-fd02-4aa8-96b3-c6d8596d5a0b" xmlns:ns3="0a3e92f2-5613-46e7-b45d-3aef96e77e3b" targetNamespace="http://schemas.microsoft.com/office/2006/metadata/properties" ma:root="true" ma:fieldsID="f205a015fb39f47bd8f6727bb7547130" ns2:_="" ns3:_="">
    <xsd:import namespace="eede6f60-fd02-4aa8-96b3-c6d8596d5a0b"/>
    <xsd:import namespace="0a3e92f2-5613-46e7-b45d-3aef96e77e3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ServiceObjectDetectorVersions" minOccurs="0"/>
                <xsd:element ref="ns2:MediaServiceSearchProperties" minOccurs="0"/>
                <xsd:element ref="ns2:MediaServiceBillingMetadata" minOccurs="0"/>
                <xsd:element ref="ns2: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de6f60-fd02-4aa8-96b3-c6d8596d5a0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1cda971e-2c5b-4836-b7b3-048297a31dd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a3e92f2-5613-46e7-b45d-3aef96e77e3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1b9f90b-3c36-435b-ab9f-2f962144757d}" ma:internalName="TaxCatchAll" ma:showField="CatchAllData" ma:web="0a3e92f2-5613-46e7-b45d-3aef96e77e3b">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6F8726B-B980-4ED5-9F11-E65DB1718071}">
  <ds:schemaRefs>
    <ds:schemaRef ds:uri="http://schemas.microsoft.com/office/2006/documentManagement/types"/>
    <ds:schemaRef ds:uri="http://schemas.openxmlformats.org/package/2006/metadata/core-properties"/>
    <ds:schemaRef ds:uri="eede6f60-fd02-4aa8-96b3-c6d8596d5a0b"/>
    <ds:schemaRef ds:uri="http://purl.org/dc/terms/"/>
    <ds:schemaRef ds:uri="http://purl.org/dc/elements/1.1/"/>
    <ds:schemaRef ds:uri="http://www.w3.org/XML/1998/namespace"/>
    <ds:schemaRef ds:uri="http://purl.org/dc/dcmitype/"/>
    <ds:schemaRef ds:uri="http://schemas.microsoft.com/office/infopath/2007/PartnerControls"/>
    <ds:schemaRef ds:uri="0a3e92f2-5613-46e7-b45d-3aef96e77e3b"/>
    <ds:schemaRef ds:uri="http://schemas.microsoft.com/office/2006/metadata/properties"/>
  </ds:schemaRefs>
</ds:datastoreItem>
</file>

<file path=customXml/itemProps2.xml><?xml version="1.0" encoding="utf-8"?>
<ds:datastoreItem xmlns:ds="http://schemas.openxmlformats.org/officeDocument/2006/customXml" ds:itemID="{68522EBF-7F57-48BC-9298-D12EEBDB2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ede6f60-fd02-4aa8-96b3-c6d8596d5a0b"/>
    <ds:schemaRef ds:uri="0a3e92f2-5613-46e7-b45d-3aef96e77e3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8BF64DB-D942-4A20-80F1-FB121BB9C91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35464</TotalTime>
  <Words>6553</Words>
  <Application>Microsoft Macintosh PowerPoint</Application>
  <PresentationFormat>Widescreen</PresentationFormat>
  <Paragraphs>716</Paragraphs>
  <Slides>75</Slides>
  <Notes>40</Notes>
  <HiddenSlides>0</HiddenSlides>
  <MMClips>0</MMClips>
  <ScaleCrop>false</ScaleCrop>
  <HeadingPairs>
    <vt:vector size="6" baseType="variant">
      <vt:variant>
        <vt:lpstr>Fonts Used</vt:lpstr>
      </vt:variant>
      <vt:variant>
        <vt:i4>10</vt:i4>
      </vt:variant>
      <vt:variant>
        <vt:lpstr>Theme</vt:lpstr>
      </vt:variant>
      <vt:variant>
        <vt:i4>4</vt:i4>
      </vt:variant>
      <vt:variant>
        <vt:lpstr>Slide Titles</vt:lpstr>
      </vt:variant>
      <vt:variant>
        <vt:i4>75</vt:i4>
      </vt:variant>
    </vt:vector>
  </HeadingPairs>
  <TitlesOfParts>
    <vt:vector size="89" baseType="lpstr">
      <vt:lpstr>Calibri Light</vt:lpstr>
      <vt:lpstr>Semplicita Pro</vt:lpstr>
      <vt:lpstr>-webkit-standard</vt:lpstr>
      <vt:lpstr>Segoe UI Semibold</vt:lpstr>
      <vt:lpstr>Courier New</vt:lpstr>
      <vt:lpstr>Verdana</vt:lpstr>
      <vt:lpstr>Aptos Display</vt:lpstr>
      <vt:lpstr>Arial</vt:lpstr>
      <vt:lpstr>Aptos</vt:lpstr>
      <vt:lpstr>Segoe UI Light</vt:lpstr>
      <vt:lpstr>Office Theme</vt:lpstr>
      <vt:lpstr>Workbooks</vt:lpstr>
      <vt:lpstr>Custom Design</vt:lpstr>
      <vt:lpstr>1_Workbooks</vt:lpstr>
      <vt:lpstr>MODULE 1 Fundamental Concepts</vt:lpstr>
      <vt:lpstr>Learning Objectives</vt:lpstr>
      <vt:lpstr>What Is M&amp;V?</vt:lpstr>
      <vt:lpstr> THE CENTRAL CHALLENGE OF M&amp;V </vt:lpstr>
      <vt:lpstr>Baseline vs. Counterfactual </vt:lpstr>
      <vt:lpstr>PowerPoint Presentation</vt:lpstr>
      <vt:lpstr>Denominator</vt:lpstr>
      <vt:lpstr>Baseline vs. Counterfactual - A Critical Distinction" </vt:lpstr>
      <vt:lpstr>The Counterfactual Method</vt:lpstr>
      <vt:lpstr>The Counterfactual Method</vt:lpstr>
      <vt:lpstr>Buildings Evolve</vt:lpstr>
      <vt:lpstr>What Is Energy (and carbon) Management?</vt:lpstr>
      <vt:lpstr>Brief History of Energy Management</vt:lpstr>
      <vt:lpstr>History of M&amp;V Documents</vt:lpstr>
      <vt:lpstr>M&amp;V, Step by Step</vt:lpstr>
      <vt:lpstr>M&amp;V, Step by Step</vt:lpstr>
      <vt:lpstr>Hurdles</vt:lpstr>
      <vt:lpstr>PowerPoint Presentation</vt:lpstr>
      <vt:lpstr>Related Disciplines</vt:lpstr>
      <vt:lpstr>1) Performance Verification</vt:lpstr>
      <vt:lpstr>PowerPoint Presentation</vt:lpstr>
      <vt:lpstr>Key Performance Indicators (KPIs)</vt:lpstr>
      <vt:lpstr>What is a Building Performance Standard (BPS)?</vt:lpstr>
      <vt:lpstr>How BPS Functions as a KPI</vt:lpstr>
      <vt:lpstr>Benefits of Framing BPS as a KPI</vt:lpstr>
      <vt:lpstr>2) The Counterfactual Method</vt:lpstr>
      <vt:lpstr>PowerPoint Presentation</vt:lpstr>
      <vt:lpstr>PowerPoint Presentation</vt:lpstr>
      <vt:lpstr>PowerPoint Presentation</vt:lpstr>
      <vt:lpstr>The Counterfactual Method</vt:lpstr>
      <vt:lpstr>Counterfactuals – Two Types </vt:lpstr>
      <vt:lpstr>Modeling</vt:lpstr>
      <vt:lpstr>Terminology - </vt:lpstr>
      <vt:lpstr>PowerPoint Presentation</vt:lpstr>
      <vt:lpstr>Spherical Cow</vt:lpstr>
      <vt:lpstr>PowerPoint Presentation</vt:lpstr>
      <vt:lpstr>Other Uses for Models</vt:lpstr>
      <vt:lpstr>Other Uses for Models</vt:lpstr>
      <vt:lpstr>Three Types of Models</vt:lpstr>
      <vt:lpstr>PowerPoint Presentation</vt:lpstr>
      <vt:lpstr>Types of Models</vt:lpstr>
      <vt:lpstr>Statistical Models: CausalImpact</vt:lpstr>
      <vt:lpstr>“Justify” your Statistical Model</vt:lpstr>
      <vt:lpstr>Physical Models: Tools</vt:lpstr>
      <vt:lpstr>PowerPoint Presentation</vt:lpstr>
      <vt:lpstr>The Role of the CMVP</vt:lpstr>
      <vt:lpstr>Additional Expertise Required</vt:lpstr>
      <vt:lpstr>Types of Stakeholders</vt:lpstr>
      <vt:lpstr>The Multiple Roles of CMVPs</vt:lpstr>
      <vt:lpstr>Professional Judgment</vt:lpstr>
      <vt:lpstr>PowerPoint Presentation</vt:lpstr>
      <vt:lpstr>PowerPoint Presentation</vt:lpstr>
      <vt:lpstr>Professional Judgment</vt:lpstr>
      <vt:lpstr>Uncertainty (and Statistics)</vt:lpstr>
      <vt:lpstr>PowerPoint Presentation</vt:lpstr>
      <vt:lpstr>Fractional Savings Uncertainty </vt:lpstr>
      <vt:lpstr>PowerPoint Presentation</vt:lpstr>
      <vt:lpstr>PowerPoint Presentation</vt:lpstr>
      <vt:lpstr>Uncertainty</vt:lpstr>
      <vt:lpstr>PowerPoint Presentation</vt:lpstr>
      <vt:lpstr>PowerPoint Presentation</vt:lpstr>
      <vt:lpstr>PowerPoint Presentation</vt:lpstr>
      <vt:lpstr>PowerPoint Presentation</vt:lpstr>
      <vt:lpstr>PowerPoint Presentation</vt:lpstr>
      <vt:lpstr>PowerPoint Presentation</vt:lpstr>
      <vt:lpstr>Examples of Risks</vt:lpstr>
      <vt:lpstr>Examples of Rewards</vt:lpstr>
      <vt:lpstr>How Much M&amp;V Is Enough?</vt:lpstr>
      <vt:lpstr>How Much M&amp;V Is Enough?</vt:lpstr>
      <vt:lpstr>PowerPoint Presentation</vt:lpstr>
      <vt:lpstr>Uncertainty and Savings</vt:lpstr>
      <vt:lpstr>PowerPoint Presentation</vt:lpstr>
      <vt:lpstr>Key Takeaways</vt:lpstr>
      <vt:lpstr>Discussion</vt:lpstr>
      <vt:lpstr>Module 1: Fundamental Concepts</vt:lpstr>
    </vt:vector>
  </TitlesOfParts>
  <Manager/>
  <Company>Association of Energy Engineers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AEE Certified Training Template</dc:title>
  <dc:subject>Version 1.0 January 1, 2019</dc:subject>
  <dc:creator>Michael Hewson</dc:creator>
  <cp:keywords/>
  <dc:description/>
  <cp:lastModifiedBy>Steve Kromer</cp:lastModifiedBy>
  <cp:revision>68</cp:revision>
  <cp:lastPrinted>2023-09-28T19:47:32Z</cp:lastPrinted>
  <dcterms:created xsi:type="dcterms:W3CDTF">2018-12-23T18:03:31Z</dcterms:created>
  <dcterms:modified xsi:type="dcterms:W3CDTF">2026-03-23T19:19:50Z</dcterms:modified>
  <cp:category>Certified Training Material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0x010100F68908EB78113947A2551702793187F6</vt:lpwstr>
  </property>
  <property fmtid="{D5CDD505-2E9C-101B-9397-08002B2CF9AE}" pid="3" name="MediaServiceImageTags">
    <vt:lpwstr/>
  </property>
  <property fmtid="{D5CDD505-2E9C-101B-9397-08002B2CF9AE}" pid="4" name="Order">
    <vt:r8>622700</vt:r8>
  </property>
  <property fmtid="{D5CDD505-2E9C-101B-9397-08002B2CF9AE}" pid="5" name="xd_Signature">
    <vt:bool>false</vt:bool>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y fmtid="{D5CDD505-2E9C-101B-9397-08002B2CF9AE}" pid="12" name="_ExtendedDescription">
    <vt:lpwstr/>
  </property>
</Properties>
</file>